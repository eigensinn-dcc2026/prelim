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96bea93c041ba" /><Relationship Type="http://schemas.openxmlformats.org/officeDocument/2006/relationships/extended-properties" Target="/docProps/app.xml" Id="Rc64517c632cf4d55" /><Relationship Type="http://schemas.openxmlformats.org/officeDocument/2006/relationships/officeDocument" Target="/ppt/presentation.xml" Id="Rb07d8c70dc014d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fcd816601441f0"/>
  </p:sldMasterIdLst>
  <p:notesMasterIdLst>
    <p:notesMasterId xmlns:r="http://schemas.openxmlformats.org/officeDocument/2006/relationships" r:id="Rf8f302d82d1c42b1"/>
  </p:notesMasterIdLst>
  <p:sldIdLst>
    <p:sldId xmlns:r="http://schemas.openxmlformats.org/officeDocument/2006/relationships" id="256" r:id="Ra28c021a454f4fa3"/>
    <p:sldId xmlns:r="http://schemas.openxmlformats.org/officeDocument/2006/relationships" id="257" r:id="R8e56bea470b147f0"/>
    <p:sldId xmlns:r="http://schemas.openxmlformats.org/officeDocument/2006/relationships" id="258" r:id="Rbc8d7479f3ac4a30"/>
    <p:sldId xmlns:r="http://schemas.openxmlformats.org/officeDocument/2006/relationships" id="259" r:id="R1b95eddf1c714844"/>
    <p:sldId xmlns:r="http://schemas.openxmlformats.org/officeDocument/2006/relationships" id="260" r:id="R81c66be2cad14e6b"/>
    <p:sldId xmlns:r="http://schemas.openxmlformats.org/officeDocument/2006/relationships" id="261" r:id="Rf0ff1df6d86242c9"/>
    <p:sldId xmlns:r="http://schemas.openxmlformats.org/officeDocument/2006/relationships" id="262" r:id="Rc1c952a8d1ca4ce0"/>
    <p:sldId xmlns:r="http://schemas.openxmlformats.org/officeDocument/2006/relationships" id="263" r:id="Rc39b03d7f8b9459d"/>
    <p:sldId xmlns:r="http://schemas.openxmlformats.org/officeDocument/2006/relationships" id="264" r:id="R1e986a6bad494320"/>
    <p:sldId xmlns:r="http://schemas.openxmlformats.org/officeDocument/2006/relationships" id="265" r:id="Ra0f1614b68f741a9"/>
    <p:sldId xmlns:r="http://schemas.openxmlformats.org/officeDocument/2006/relationships" id="266" r:id="R6e4f76df018245f8"/>
    <p:sldId xmlns:r="http://schemas.openxmlformats.org/officeDocument/2006/relationships" id="267" r:id="Re823c064354d46b0"/>
    <p:sldId xmlns:r="http://schemas.openxmlformats.org/officeDocument/2006/relationships" id="268" r:id="Rfaca5c4991924c67"/>
    <p:sldId xmlns:r="http://schemas.openxmlformats.org/officeDocument/2006/relationships" id="269" r:id="R5964afbf2f6f47f4"/>
    <p:sldId xmlns:r="http://schemas.openxmlformats.org/officeDocument/2006/relationships" id="270" r:id="R2aab32f8a8dc4bf5"/>
    <p:sldId xmlns:r="http://schemas.openxmlformats.org/officeDocument/2006/relationships" id="271" r:id="R6331087bb7b242e9"/>
    <p:sldId xmlns:r="http://schemas.openxmlformats.org/officeDocument/2006/relationships" id="272" r:id="R15f86c4195d84a7f"/>
    <p:sldId xmlns:r="http://schemas.openxmlformats.org/officeDocument/2006/relationships" id="273" r:id="Rfc098f59e9ae4d14"/>
    <p:sldId xmlns:r="http://schemas.openxmlformats.org/officeDocument/2006/relationships" id="274" r:id="R9ce2c27f2e674616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cde7bdcbc94893" /><Relationship Type="http://schemas.openxmlformats.org/officeDocument/2006/relationships/slideMaster" Target="/ppt/slideMasters/slideMaster1.xml" Id="R40fcd816601441f0" /><Relationship Type="http://schemas.openxmlformats.org/officeDocument/2006/relationships/notesMaster" Target="/ppt/notesMasters/notesMaster1.xml" Id="Rf8f302d82d1c42b1" /><Relationship Type="http://schemas.openxmlformats.org/officeDocument/2006/relationships/presProps" Target="/ppt/presProps.xml" Id="R0736cfcadd53460f" /><Relationship Type="http://schemas.openxmlformats.org/officeDocument/2006/relationships/viewProps" Target="/ppt/viewProps.xml" Id="R952eebc1dbff4505" /><Relationship Type="http://schemas.openxmlformats.org/officeDocument/2006/relationships/tableStyles" Target="/ppt/tableStyles.xml" Id="R6bd5e5c4f05944bf" /><Relationship Type="http://schemas.openxmlformats.org/officeDocument/2006/relationships/slide" Target="/ppt/slides/slide1.xml" Id="Ra28c021a454f4fa3" /><Relationship Type="http://schemas.openxmlformats.org/officeDocument/2006/relationships/slide" Target="/ppt/slides/slide2.xml" Id="R8e56bea470b147f0" /><Relationship Type="http://schemas.openxmlformats.org/officeDocument/2006/relationships/slide" Target="/ppt/slides/slide3.xml" Id="Rbc8d7479f3ac4a30" /><Relationship Type="http://schemas.openxmlformats.org/officeDocument/2006/relationships/slide" Target="/ppt/slides/slide4.xml" Id="R1b95eddf1c714844" /><Relationship Type="http://schemas.openxmlformats.org/officeDocument/2006/relationships/slide" Target="/ppt/slides/slide5.xml" Id="R81c66be2cad14e6b" /><Relationship Type="http://schemas.openxmlformats.org/officeDocument/2006/relationships/slide" Target="/ppt/slides/slide6.xml" Id="Rf0ff1df6d86242c9" /><Relationship Type="http://schemas.openxmlformats.org/officeDocument/2006/relationships/slide" Target="/ppt/slides/slide7.xml" Id="Rc1c952a8d1ca4ce0" /><Relationship Type="http://schemas.openxmlformats.org/officeDocument/2006/relationships/slide" Target="/ppt/slides/slide8.xml" Id="Rc39b03d7f8b9459d" /><Relationship Type="http://schemas.openxmlformats.org/officeDocument/2006/relationships/slide" Target="/ppt/slides/slide9.xml" Id="R1e986a6bad494320" /><Relationship Type="http://schemas.openxmlformats.org/officeDocument/2006/relationships/slide" Target="/ppt/slides/slide10.xml" Id="Ra0f1614b68f741a9" /><Relationship Type="http://schemas.openxmlformats.org/officeDocument/2006/relationships/slide" Target="/ppt/slides/slide11.xml" Id="R6e4f76df018245f8" /><Relationship Type="http://schemas.openxmlformats.org/officeDocument/2006/relationships/slide" Target="/ppt/slides/slide12.xml" Id="Re823c064354d46b0" /><Relationship Type="http://schemas.openxmlformats.org/officeDocument/2006/relationships/slide" Target="/ppt/slides/slide13.xml" Id="Rfaca5c4991924c67" /><Relationship Type="http://schemas.openxmlformats.org/officeDocument/2006/relationships/slide" Target="/ppt/slides/slide14.xml" Id="R5964afbf2f6f47f4" /><Relationship Type="http://schemas.openxmlformats.org/officeDocument/2006/relationships/slide" Target="/ppt/slides/slide15.xml" Id="R2aab32f8a8dc4bf5" /><Relationship Type="http://schemas.openxmlformats.org/officeDocument/2006/relationships/slide" Target="/ppt/slides/slide16.xml" Id="R6331087bb7b242e9" /><Relationship Type="http://schemas.openxmlformats.org/officeDocument/2006/relationships/slide" Target="/ppt/slides/slide17.xml" Id="R15f86c4195d84a7f" /><Relationship Type="http://schemas.openxmlformats.org/officeDocument/2006/relationships/slide" Target="/ppt/slides/slide18.xml" Id="Rfc098f59e9ae4d14" /><Relationship Type="http://schemas.openxmlformats.org/officeDocument/2006/relationships/slide" Target="/ppt/slides/slide19.xml" Id="R9ce2c27f2e67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df88ea442f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528dce062a4800" /><Relationship Type="http://schemas.openxmlformats.org/officeDocument/2006/relationships/notesMaster" Target="/ppt/notesMasters/notesMaster1.xml" Id="Rf2ba238fed674f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bf1d400be74d0b" /><Relationship Type="http://schemas.openxmlformats.org/officeDocument/2006/relationships/notesMaster" Target="/ppt/notesMasters/notesMaster1.xml" Id="R28ace8d0cbd747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c37893b26b4961" /><Relationship Type="http://schemas.openxmlformats.org/officeDocument/2006/relationships/notesMaster" Target="/ppt/notesMasters/notesMaster1.xml" Id="R9c4f8519038540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2e8cf11f304b13" /><Relationship Type="http://schemas.openxmlformats.org/officeDocument/2006/relationships/notesMaster" Target="/ppt/notesMasters/notesMaster1.xml" Id="R45c1e6414a6e4e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1c7a20eb004bf0" /><Relationship Type="http://schemas.openxmlformats.org/officeDocument/2006/relationships/notesMaster" Target="/ppt/notesMasters/notesMaster1.xml" Id="R91b9dbc297bc40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d851da0a4a424c" /><Relationship Type="http://schemas.openxmlformats.org/officeDocument/2006/relationships/notesMaster" Target="/ppt/notesMasters/notesMaster1.xml" Id="Rc0b6f9931c4640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e4bfe8a9314ceb" /><Relationship Type="http://schemas.openxmlformats.org/officeDocument/2006/relationships/notesMaster" Target="/ppt/notesMasters/notesMaster1.xml" Id="R792684f79887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5432bf13644635" /><Relationship Type="http://schemas.openxmlformats.org/officeDocument/2006/relationships/notesMaster" Target="/ppt/notesMasters/notesMaster1.xml" Id="R6484a830666447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1d87e9dfb84283" /><Relationship Type="http://schemas.openxmlformats.org/officeDocument/2006/relationships/notesMaster" Target="/ppt/notesMasters/notesMaster1.xml" Id="Ra87bab8ae43d47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2390293da84caf" /><Relationship Type="http://schemas.openxmlformats.org/officeDocument/2006/relationships/notesMaster" Target="/ppt/notesMasters/notesMaster1.xml" Id="R9fa608f134cf44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6d72d69bd94d3a" /><Relationship Type="http://schemas.openxmlformats.org/officeDocument/2006/relationships/notesMaster" Target="/ppt/notesMasters/notesMaster1.xml" Id="R709cd5b05ead4d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e9b6fc3e1486a" /><Relationship Type="http://schemas.openxmlformats.org/officeDocument/2006/relationships/notesMaster" Target="/ppt/notesMasters/notesMaster1.xml" Id="R6c43989e100d4a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77072ab4154ea5" /><Relationship Type="http://schemas.openxmlformats.org/officeDocument/2006/relationships/notesMaster" Target="/ppt/notesMasters/notesMaster1.xml" Id="R7c4530c2dfb940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932bfc7ed44545" /><Relationship Type="http://schemas.openxmlformats.org/officeDocument/2006/relationships/notesMaster" Target="/ppt/notesMasters/notesMaster1.xml" Id="R5605df141ce540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3df38ec73340de" /><Relationship Type="http://schemas.openxmlformats.org/officeDocument/2006/relationships/notesMaster" Target="/ppt/notesMasters/notesMaster1.xml" Id="R7115cdc60e0847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147f87e899477e" /><Relationship Type="http://schemas.openxmlformats.org/officeDocument/2006/relationships/notesMaster" Target="/ppt/notesMasters/notesMaster1.xml" Id="R73178533ba9f4b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56734ee9394afc" /><Relationship Type="http://schemas.openxmlformats.org/officeDocument/2006/relationships/notesMaster" Target="/ppt/notesMasters/notesMaster1.xml" Id="Rdc2640ee2f0149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26832310794687" /><Relationship Type="http://schemas.openxmlformats.org/officeDocument/2006/relationships/notesMaster" Target="/ppt/notesMasters/notesMaster1.xml" Id="R0f62202c7a344f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ac9bc517ff46e9" /><Relationship Type="http://schemas.openxmlformats.org/officeDocument/2006/relationships/notesMaster" Target="/ppt/notesMasters/notesMaster1.xml" Id="Rd7d79cfd5d5e4b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템플릿(D+AICC PPT 대학부 템플릿.pptx) 슬라이드1 그대로. 이 장에는 글자를 추가하지 않음 — 프로젝트·팀 정보는 다음 장(2p)에서 제시.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타이틀. 공식 표지 바로 뒤에 배치해 제목·팀명을 보강.현황 확인: 2026-10-10 KST. Sources:</a:t>
            </a:r>
            <a:br/>
            <a:r>
              <a:t>https://github.com/eigensinn-dcc2026/prelim/blob/98e0676/reports/eda/eda_report.md</a:t>
            </a:r>
            <a:br/>
            <a:r>
              <a:t>https://kbig.kr/portal/kbig/camp.page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br/>
            <a:r>
              <a:t>https://github.com/eigensinn-dcc2026/prelim/blob/98e0676/reports/eda/eda_report.md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step0 저장소 README의 W2~W6 로드맵과 실습 산출물 기준.현황 확인: 2026-10-10 KST. Sources:</a:t>
            </a:r>
            <a:br/>
            <a:r>
              <a:t>https://github.com/eigensinn-dcc2026/prelim/blob/98e0676/reports/eda/eda_report.md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WORKFLOW.md의 리뷰·기록 체계와 주요 실험 반복 검증 기준.현황 확인: 2026-10-10 KST. Sources:</a:t>
            </a:r>
            <a:br/>
            <a:r>
              <a:t>https://github.com/eigensinn-dcc2026/prelim/blob/98e0676/reports/eda/eda_report.md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M2-RERUN-001의 발화 수, 통합 EDA의 Training·Validation 통화 수.현황 확인: 2026-10-10 KST. Sources:</a:t>
            </a:r>
            <a:br/>
            <a:r>
              <a:t>https://github.com/eigensinn-dcc2026/prelim/blob/98e0676/reports/eda/eda_report.md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reports/eda/figures의 실제 EDA 그래프와 보고서에 근거.현황 확인: 2026-10-10 KST. Sources:</a:t>
            </a:r>
            <a:br/>
            <a:r>
              <a:t>https://github.com/eigensinn-dcc2026/prelim/blob/98e0676/reports/eda/eda_report.md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M1/M2는 통화 단위 분할, M3는 JSON 샘플 단위 80:20 multilabel stratified split, 분할 seed 42.현황 확인: 2026-10-10 KST. Sources:</a:t>
            </a:r>
            <a:br/>
            <a:r>
              <a:t>https://github.com/eigensinn-dcc2026/prelim/blob/98e0676/reports/eda/eda_report.md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endParaRPr/>
          </a:p>
          <a:p xmlns:a="http://schemas.openxmlformats.org/drawingml/2006/main">
            <a:r>
              <a:t>https://github.com/eigensinn-dcc2026/prelim/blob/98e0676/docs/experiment_log.md</a:t>
            </a:r>
            <a:endParaRPr/>
          </a:p>
          <a:p xmlns:a="http://schemas.openxmlformats.org/drawingml/2006/main">
            <a:r>
              <a:t>https://github.com/eigensinn-dcc2026/prelim/blob/98e0676/docs/decisions.md</a:t>
            </a:r>
            <a:endParaRPr/>
          </a:p>
          <a:p xmlns:a="http://schemas.openxmlformats.org/drawingml/2006/main">
            <a:r>
              <a:t>최종 선택 반영: 2026-10-10. 로컬 근거: reports/mission1/m1_xvec001_official_validation.json, reports/mission2/m2_final_candidate_comparison.json, reports/mission3/official_val/roberta003_submission_check.json. M2 최종 가중치 미확보.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endParaRPr/>
          </a:p>
          <a:p xmlns:a="http://schemas.openxmlformats.org/drawingml/2006/main">
            <a:r>
              <a:t>https://github.com/eigensinn-dcc2026/prelim/blob/98e0676/docs/experiment_log.md</a:t>
            </a:r>
            <a:endParaRPr/>
          </a:p>
          <a:p xmlns:a="http://schemas.openxmlformats.org/drawingml/2006/main">
            <a:r>
              <a:t>https://github.com/eigensinn-dcc2026/prelim/blob/98e0676/docs/decisions.md</a:t>
            </a:r>
            <a:endParaRPr/>
          </a:p>
          <a:p xmlns:a="http://schemas.openxmlformats.org/drawingml/2006/main">
            <a:r>
              <a:t>최종 선택 반영: 2026-10-10. 로컬 근거: reports/mission1/m1_xvec001_official_validation.json, reports/mission2/m2_final_candidate_comparison.json, reports/mission3/official_val/roberta003_submission_check.json. M2 최종 가중치 미확보.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br/>
            <a:r>
              <a:t>https://github.com/eigensinn-dcc2026/prelim/blob/98e0676/docs/experiment_log.md</a:t>
            </a:r>
            <a:br/>
            <a:r>
              <a:t>https://github.com/eigensinn-dcc2026/prelim/blob/98e0676/docs/decisions.md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endParaRPr/>
          </a:p>
          <a:p xmlns:a="http://schemas.openxmlformats.org/drawingml/2006/main">
            <a:r>
              <a:t>https://github.com/eigensinn-dcc2026/prelim/blob/98e0676/docs/experiment_log.md</a:t>
            </a:r>
            <a:endParaRPr/>
          </a:p>
          <a:p xmlns:a="http://schemas.openxmlformats.org/drawingml/2006/main">
            <a:r>
              <a:t>https://github.com/eigensinn-dcc2026/prelim/blob/98e0676/docs/decisions.md</a:t>
            </a:r>
            <a:endParaRPr/>
          </a:p>
          <a:p xmlns:a="http://schemas.openxmlformats.org/drawingml/2006/main">
            <a:r>
              <a:t>최종 선택 반영: 2026-10-10. 로컬 근거: reports/mission1/m1_xvec001_official_validation.json, reports/mission2/m2_final_candidate_comparison.json, reports/mission3/official_val/roberta003_submission_check.json. M2 최종 가중치 미확보.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M2-SSL-001: 공식 Validation을 사용하지 않은 4,000통화 내부 파일럿.현황 확인: 2026-10-10 KST. Sources:</a:t>
            </a:r>
            <a:br/>
            <a:r>
              <a:t>https://github.com/eigensinn-dcc2026/prelim/blob/98e0676/docs/experiment_log.md</a:t>
            </a:r>
            <a:br/>
            <a:r>
              <a:t>https://github.com/eigensinn-dcc2026/prelim/blob/98e0676/docs/decisions.md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endParaRPr/>
          </a:p>
          <a:p xmlns:a="http://schemas.openxmlformats.org/drawingml/2006/main">
            <a:r>
              <a:t>https://github.com/eigensinn-dcc2026/prelim/blob/98e0676/docs/experiment_log.md</a:t>
            </a:r>
            <a:endParaRPr/>
          </a:p>
          <a:p xmlns:a="http://schemas.openxmlformats.org/drawingml/2006/main">
            <a:r>
              <a:t>https://github.com/eigensinn-dcc2026/prelim/blob/98e0676/docs/decisions.md</a:t>
            </a:r>
            <a:endParaRPr/>
          </a:p>
          <a:p xmlns:a="http://schemas.openxmlformats.org/drawingml/2006/main">
            <a:r>
              <a:t>최종 선택 반영: 2026-10-10. 로컬 근거: reports/mission1/m1_xvec001_official_validation.json, reports/mission2/m2_final_candidate_comparison.json, reports/mission3/official_val/roberta003_submission_check.json. M2 최종 가중치 미확보.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endParaRPr/>
          </a:p>
          <a:p xmlns:a="http://schemas.openxmlformats.org/drawingml/2006/main">
            <a:r>
              <a:t>https://github.com/eigensinn-dcc2026/prelim/blob/98e0676/docs/experiment_log.md</a:t>
            </a:r>
            <a:endParaRPr/>
          </a:p>
          <a:p xmlns:a="http://schemas.openxmlformats.org/drawingml/2006/main">
            <a:r>
              <a:t>https://github.com/eigensinn-dcc2026/prelim/blob/98e0676/docs/decisions.md</a:t>
            </a:r>
            <a:endParaRPr/>
          </a:p>
          <a:p xmlns:a="http://schemas.openxmlformats.org/drawingml/2006/main">
            <a:r>
              <a:t>https://github.com/eigensinn-dcc2026/prelim/blob/98e0676/reports/mission3/official_val/README.md</a:t>
            </a:r>
            <a:endParaRPr/>
          </a:p>
          <a:p xmlns:a="http://schemas.openxmlformats.org/drawingml/2006/main">
            <a:r>
              <a:t>https://github.com/eigensinn-dcc2026/prelim/blob/98e0676/reports/mission3/ensemble/README.md</a:t>
            </a:r>
            <a:endParaRPr/>
          </a:p>
          <a:p xmlns:a="http://schemas.openxmlformats.org/drawingml/2006/main">
            <a:r>
              <a:t>최종 선택 반영: 2026-10-10. 로컬 근거: reports/mission1/m1_xvec001_official_validation.json, reports/mission2/m2_final_candidate_comparison.json, reports/mission3/official_val/roberta003_submission_check.json. M2 최종 가중치 미확보.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endParaRPr/>
          </a:p>
          <a:p xmlns:a="http://schemas.openxmlformats.org/drawingml/2006/main">
            <a:r>
              <a:t>https://github.com/eigensinn-dcc2026/prelim/blob/98e0676/docs/experiment_log.md</a:t>
            </a:r>
            <a:endParaRPr/>
          </a:p>
          <a:p xmlns:a="http://schemas.openxmlformats.org/drawingml/2006/main">
            <a:r>
              <a:t>https://github.com/eigensinn-dcc2026/prelim/blob/98e0676/docs/decisions.md</a:t>
            </a:r>
            <a:endParaRPr/>
          </a:p>
          <a:p xmlns:a="http://schemas.openxmlformats.org/drawingml/2006/main">
            <a:r>
              <a:t>https://github.com/eigensinn-dcc2026/prelim/blob/98e0676/reports/mission3/official_val/README.md</a:t>
            </a:r>
            <a:endParaRPr/>
          </a:p>
          <a:p xmlns:a="http://schemas.openxmlformats.org/drawingml/2006/main">
            <a:r>
              <a:t>https://github.com/eigensinn-dcc2026/prelim/blob/98e0676/reports/mission3/ensemble/README.md</a:t>
            </a:r>
            <a:endParaRPr/>
          </a:p>
          <a:p xmlns:a="http://schemas.openxmlformats.org/drawingml/2006/main">
            <a:r>
              <a:t>최종 선택 반영: 2026-10-10. 로컬 근거: reports/mission1/m1_xvec001_official_validation.json, reports/mission2/m2_final_candidate_comparison.json, reports/mission3/official_val/roberta003_submission_check.json. M2 최종 가중치 미확보.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현황 확인: 2026-10-10 KST. Sources:</a:t>
            </a:r>
            <a:endParaRPr/>
          </a:p>
          <a:p xmlns:a="http://schemas.openxmlformats.org/drawingml/2006/main">
            <a:r>
              <a:t>https://github.com/eigensinn-dcc2026/prelim/blob/98e0676/docs/experiment_log.md</a:t>
            </a:r>
            <a:endParaRPr/>
          </a:p>
          <a:p xmlns:a="http://schemas.openxmlformats.org/drawingml/2006/main">
            <a:r>
              <a:t>https://github.com/eigensinn-dcc2026/prelim/blob/98e0676/docs/decisions.md</a:t>
            </a:r>
            <a:endParaRPr/>
          </a:p>
          <a:p xmlns:a="http://schemas.openxmlformats.org/drawingml/2006/main">
            <a:r>
              <a:t>https://github.com/eigensinn-dcc2026/prelim/blob/98e0676/reports/mission3/official_val/README.md</a:t>
            </a:r>
            <a:endParaRPr/>
          </a:p>
          <a:p xmlns:a="http://schemas.openxmlformats.org/drawingml/2006/main">
            <a:r>
              <a:t>https://github.com/eigensinn-dcc2026/prelim/blob/98e0676/reports/mission3/ensemble/README.md</a:t>
            </a:r>
            <a:endParaRPr/>
          </a:p>
          <a:p xmlns:a="http://schemas.openxmlformats.org/drawingml/2006/main">
            <a:r>
              <a:t>최종 선택 반영: 2026-10-10. 로컬 근거: reports/mission1/m1_xvec001_official_validation.json, reports/mission2/m2_final_candidate_comparison.json, reports/mission3/official_val/roberta003_submission_check.json. M2 최종 가중치 미확보.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출제문제 12쪽 필수 항목 '사회안전 시사점'이 이 장의 핵심. 미션별 결과 장의 시사점 한 줄과 표현을 맞출 것.현황 확인: 2026-10-10 KST. Sources:</a:t>
            </a:r>
            <a:endParaRPr/>
          </a:p>
          <a:p xmlns:a="http://schemas.openxmlformats.org/drawingml/2006/main">
            <a:r>
              <a:t>https://github.com/eigensinn-dcc2026/prelim/blob/98e0676/reports/eda/eda_report.md</a:t>
            </a:r>
            <a:endParaRPr/>
          </a:p>
          <a:p xmlns:a="http://schemas.openxmlformats.org/drawingml/2006/main">
            <a:r>
              <a:t>https://kbig.kr/portal/kbig/camp.page</a:t>
            </a:r>
            <a:endParaRPr/>
          </a:p>
          <a:p xmlns:a="http://schemas.openxmlformats.org/drawingml/2006/main">
            <a:r>
              <a:t>최종 선택 반영: 2026-10-10. 로컬 근거: reports/mission1/m1_xvec001_official_validation.json, reports/mission2/m2_final_candidate_comparison.json, reports/mission3/official_val/roberta003_submission_check.json. M2 최종 가중치 미확보.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템플릿(슬라이드4) 그대로. 흰 여백(약 2.1~2.9in)에만 팀 정보를 얹음 — 배너 그래픽은 건드리지 않음.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2d7b12736464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fa83eac50a4dee" /><Relationship Type="http://schemas.openxmlformats.org/officeDocument/2006/relationships/slideLayout" Target="/ppt/slideLayouts/slideLayout1.xml" Id="Rc98351ec14ee452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8351ec14ee452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caa6537ea48fc" /><Relationship Type="http://schemas.openxmlformats.org/officeDocument/2006/relationships/image" Target="/ppt/media/image.png" Id="Rb8ddf8020c294801" /><Relationship Type="http://schemas.openxmlformats.org/officeDocument/2006/relationships/notesSlide" Target="/ppt/notesSlides/notesSlide1.xml" Id="R0436d1587de148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db49b042c4ed6" /><Relationship Type="http://schemas.openxmlformats.org/officeDocument/2006/relationships/notesSlide" Target="/ppt/notesSlides/notesSlide2.xml" Id="R2924563bee8c4a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e2664c7544dd3" /><Relationship Type="http://schemas.openxmlformats.org/officeDocument/2006/relationships/image" Target="/ppt/media/image2.png" Id="Rfb1496b2340b4bde" /><Relationship Type="http://schemas.openxmlformats.org/officeDocument/2006/relationships/notesSlide" Target="/ppt/notesSlides/notesSlide3.xml" Id="R80047ad2456046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0dc8c244b47b1" /><Relationship Type="http://schemas.openxmlformats.org/officeDocument/2006/relationships/image" Target="/ppt/media/image3.png" Id="Ra4fcd80a252a48c7" /><Relationship Type="http://schemas.openxmlformats.org/officeDocument/2006/relationships/notesSlide" Target="/ppt/notesSlides/notesSlide4.xml" Id="R664be44d254b4d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54cf130914285" /><Relationship Type="http://schemas.openxmlformats.org/officeDocument/2006/relationships/image" Target="/ppt/media/image4.png" Id="R34269ac006164597" /><Relationship Type="http://schemas.openxmlformats.org/officeDocument/2006/relationships/notesSlide" Target="/ppt/notesSlides/notesSlide5.xml" Id="R994c5078ed80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2a7744486450a" /><Relationship Type="http://schemas.openxmlformats.org/officeDocument/2006/relationships/image" Target="/ppt/media/image5.png" Id="R588012ecabb44020" /><Relationship Type="http://schemas.openxmlformats.org/officeDocument/2006/relationships/notesSlide" Target="/ppt/notesSlides/notesSlide6.xml" Id="Rbc5aaf7ac53849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6ead48f084244" /><Relationship Type="http://schemas.openxmlformats.org/officeDocument/2006/relationships/image" Target="/ppt/media/image6.png" Id="Rd88f28f91d7a4c6b" /><Relationship Type="http://schemas.openxmlformats.org/officeDocument/2006/relationships/image" Target="/ppt/media/image7.png" Id="Ref93cff46d1f42bb" /><Relationship Type="http://schemas.openxmlformats.org/officeDocument/2006/relationships/image" Target="/ppt/media/image8.png" Id="R2e9fc04781e74c73" /><Relationship Type="http://schemas.openxmlformats.org/officeDocument/2006/relationships/image" Target="/ppt/media/image9.png" Id="R15e11b969e9c422b" /><Relationship Type="http://schemas.openxmlformats.org/officeDocument/2006/relationships/notesSlide" Target="/ppt/notesSlides/notesSlide7.xml" Id="R474d9931797446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feaceb2984e43" /><Relationship Type="http://schemas.openxmlformats.org/officeDocument/2006/relationships/image" Target="/ppt/media/image10.png" Id="R65b831bfa9e44ac5" /><Relationship Type="http://schemas.openxmlformats.org/officeDocument/2006/relationships/notesSlide" Target="/ppt/notesSlides/notesSlide8.xml" Id="R3c50bffd3e7f4e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5f19fd7aa4764" /><Relationship Type="http://schemas.openxmlformats.org/officeDocument/2006/relationships/image" Target="/ppt/media/image11.png" Id="Re86606ad9cf14459" /><Relationship Type="http://schemas.openxmlformats.org/officeDocument/2006/relationships/notesSlide" Target="/ppt/notesSlides/notesSlide9.xml" Id="R65523a46d4fb41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b1726dbe247d7" /><Relationship Type="http://schemas.openxmlformats.org/officeDocument/2006/relationships/image" Target="/ppt/media/image12.png" Id="R1f26b29ff1594999" /><Relationship Type="http://schemas.openxmlformats.org/officeDocument/2006/relationships/chart" Target="/ppt/slides/charts/chart1.xml" Id="R340904112b254e3b" /><Relationship Type="http://schemas.openxmlformats.org/officeDocument/2006/relationships/notesSlide" Target="/ppt/notesSlides/notesSlide10.xml" Id="R7bbf5a86a09d4e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2da9c88df4d55" /><Relationship Type="http://schemas.openxmlformats.org/officeDocument/2006/relationships/image" Target="/ppt/media/image13.png" Id="R00e3a43b73734d65" /><Relationship Type="http://schemas.openxmlformats.org/officeDocument/2006/relationships/notesSlide" Target="/ppt/notesSlides/notesSlide11.xml" Id="R5c3a0bcf391c42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dbb48194a46b9" /><Relationship Type="http://schemas.openxmlformats.org/officeDocument/2006/relationships/image" Target="/ppt/media/image14.png" Id="Rb53c47865523403e" /><Relationship Type="http://schemas.openxmlformats.org/officeDocument/2006/relationships/chart" Target="/ppt/slides/charts/chart2.xml" Id="Rca030d2bc0814bfb" /><Relationship Type="http://schemas.openxmlformats.org/officeDocument/2006/relationships/notesSlide" Target="/ppt/notesSlides/notesSlide12.xml" Id="R85782a7940774e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029e11db447bf" /><Relationship Type="http://schemas.openxmlformats.org/officeDocument/2006/relationships/image" Target="/ppt/media/image15.png" Id="Ra3842ede4f8b46dd" /><Relationship Type="http://schemas.openxmlformats.org/officeDocument/2006/relationships/notesSlide" Target="/ppt/notesSlides/notesSlide13.xml" Id="R9d7342c70b8244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1cd93ea1441f0" /><Relationship Type="http://schemas.openxmlformats.org/officeDocument/2006/relationships/image" Target="/ppt/media/image16.png" Id="R2f0029cd472e41fa" /><Relationship Type="http://schemas.openxmlformats.org/officeDocument/2006/relationships/notesSlide" Target="/ppt/notesSlides/notesSlide14.xml" Id="R9a1054d1036f46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41d587e3643f0" /><Relationship Type="http://schemas.openxmlformats.org/officeDocument/2006/relationships/image" Target="/ppt/media/image17.png" Id="Rf046fba2e4114154" /><Relationship Type="http://schemas.openxmlformats.org/officeDocument/2006/relationships/chart" Target="/ppt/slides/charts/chart3.xml" Id="R6bdeb96870af4082" /><Relationship Type="http://schemas.openxmlformats.org/officeDocument/2006/relationships/notesSlide" Target="/ppt/notesSlides/notesSlide15.xml" Id="Rf4d604d23fe548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58691e2f943eb" /><Relationship Type="http://schemas.openxmlformats.org/officeDocument/2006/relationships/image" Target="/ppt/media/image18.png" Id="R69e3f3852bd44317" /><Relationship Type="http://schemas.openxmlformats.org/officeDocument/2006/relationships/notesSlide" Target="/ppt/notesSlides/notesSlide16.xml" Id="Rf5a80e517f7a43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82c860a264d52" /><Relationship Type="http://schemas.openxmlformats.org/officeDocument/2006/relationships/image" Target="/ppt/media/image19.png" Id="R0924c497cefa447e" /><Relationship Type="http://schemas.openxmlformats.org/officeDocument/2006/relationships/notesSlide" Target="/ppt/notesSlides/notesSlide17.xml" Id="R487383dfa91340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de12d4bd64a8c" /><Relationship Type="http://schemas.openxmlformats.org/officeDocument/2006/relationships/image" Target="/ppt/media/image20.png" Id="Rd5c99cb8ee2e4429" /><Relationship Type="http://schemas.openxmlformats.org/officeDocument/2006/relationships/notesSlide" Target="/ppt/notesSlides/notesSlide18.xml" Id="Rf45b28c10cf04f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bab2b2e6c47e2" /><Relationship Type="http://schemas.openxmlformats.org/officeDocument/2006/relationships/image" Target="/ppt/media/image21.png" Id="R4ecb7c9d8b1246a8" /><Relationship Type="http://schemas.openxmlformats.org/officeDocument/2006/relationships/notesSlide" Target="/ppt/notesSlides/notesSlide19.xml" Id="R1e9daba5732a427e" /></Relationships>
</file>

<file path=ppt/slides/charts/_rels/chart1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1.xlsx" /></Relationships>
</file>

<file path=ppt/slides/charts/_rels/chart2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2.xlsx" /></Relationships>
</file>

<file path=ppt/slides/charts/_rels/chart3.xml.rels><?xml version='1.0' encoding='utf-8'?>
<Relationships xmlns="http://schemas.openxmlformats.org/package/2006/relationships"><Relationship Id="rId1" Type="http://schemas.openxmlformats.org/officeDocument/2006/relationships/package" Target="../../embeddings/Microsoft_Excel_Worksheet3.xlsx" 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title>
      <c:tx>
        <c:rich>
          <a:bodyPr/>
          <a:lstStyle/>
          <a:p>
            <a:r>
              <a:rPr sz="1200" b="0" i="0" u="none" strike="noStrike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모델별 Accuracy (%)</a:t>
            </a:r>
          </a:p>
        </c:rich>
      </c:tx>
      <c:overlay val="0"/>
      <c:txPr>
        <a:bodyPr anchorCtr="1"/>
        <a:lstStyle/>
        <a:p>
          <a:pPr>
            <a:defRPr sz="1200" b="0" i="0" u="none" strike="noStrike">
              <a:solidFill>
                <a:srgbClr val="212121"/>
              </a:solidFill>
              <a:latin typeface="맑은 고딕"/>
              <a:ea typeface="맑은 고딕"/>
              <a:cs typeface="맑은 고딕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9DDA"/>
            </a:solidFill>
          </c:spPr>
          <c:invertIfNegative val="0"/>
          <c:dPt>
            <c:idx val="0"/>
            <c:invertIfNegative val="0"/>
            <c:spPr>
              <a:solidFill>
                <a:srgbClr val="009DDA"/>
              </a:solidFill>
            </c:spPr>
          </c:dPt>
          <c:dPt>
            <c:idx val="1"/>
            <c:invertIfNegative val="0"/>
            <c:spPr>
              <a:solidFill>
                <a:srgbClr val="2F4E91"/>
              </a:solidFill>
            </c:spPr>
          </c:dPt>
          <c:dLbls>
            <c:numFmt formatCode="0.00" sourceLinked="0"/>
            <c:txPr>
              <a:bodyPr anchorCtr="1"/>
              <a:lstStyle/>
              <a:p>
                <a:pPr>
                  <a:defRPr sz="1200" b="1" i="0" u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GBM</c:v>
                </c:pt>
                <c:pt idx="1">
                  <c:v>LR (채택)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95.10989010989</c:v>
                </c:pt>
                <c:pt idx="1">
                  <c:v>97.47252747252701</c:v>
                </c:pt>
              </c:numCache>
            </c:numRef>
          </c:val>
        </c:ser>
        <c:dLbls>
          <c:numFmt formatCode="0.00" sourceLinked="0"/>
          <c:txPr>
            <a:bodyPr anchorCtr="1"/>
            <a:lstStyle/>
            <a:p>
              <a:pPr>
                <a:defRPr sz="1200" b="1" i="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212121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>
              <a:solidFill>
                <a:srgbClr val="E0E0E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title>
      <c:tx>
        <c:rich>
          <a:bodyPr/>
          <a:lstStyle/>
          <a:p>
            <a:r>
              <a:rPr sz="1200" b="0" i="0" u="none" strike="noStrike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공식 Validation Accuracy (%)</a:t>
            </a:r>
          </a:p>
        </c:rich>
      </c:tx>
      <c:overlay val="0"/>
      <c:txPr>
        <a:bodyPr anchorCtr="1"/>
        <a:lstStyle/>
        <a:p>
          <a:pPr>
            <a:defRPr sz="1200" b="0" i="0" u="none" strike="noStrike">
              <a:solidFill>
                <a:srgbClr val="212121"/>
              </a:solidFill>
              <a:latin typeface="맑은 고딕"/>
              <a:ea typeface="맑은 고딕"/>
              <a:cs typeface="맑은 고딕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0E0E0"/>
            </a:solidFill>
          </c:spPr>
          <c:invertIfNegative val="0"/>
          <c:dPt>
            <c:idx val="0"/>
            <c:invertIfNegative val="0"/>
            <c:spPr>
              <a:solidFill>
                <a:srgbClr val="E0E0E0"/>
              </a:solidFill>
            </c:spPr>
          </c:dPt>
          <c:dPt>
            <c:idx val="1"/>
            <c:invertIfNegative val="0"/>
            <c:spPr>
              <a:solidFill>
                <a:srgbClr val="009DDA"/>
              </a:solidFill>
            </c:spPr>
          </c:dPt>
          <c:dPt>
            <c:idx val="2"/>
            <c:invertIfNegative val="0"/>
            <c:spPr>
              <a:solidFill>
                <a:srgbClr val="2F4E91"/>
              </a:solidFill>
            </c:spPr>
          </c:dPt>
          <c:dLbls>
            <c:numFmt formatCode="0.00" sourceLinked="0"/>
            <c:txPr>
              <a:bodyPr anchorCtr="1"/>
              <a:lstStyle/>
              <a:p>
                <a:pPr>
                  <a:defRPr sz="1200" b="1" i="0" u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L1 GBM</c:v>
                </c:pt>
                <c:pt idx="1">
                  <c:v>이전 앙상블
(참고)</c:v>
                </c:pt>
                <c:pt idx="2">
                  <c:v>원본 재학습
(후보)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86.44</c:v>
                </c:pt>
                <c:pt idx="1">
                  <c:v>91.55</c:v>
                </c:pt>
                <c:pt idx="2">
                  <c:v>91.48999999999999</c:v>
                </c:pt>
              </c:numCache>
            </c:numRef>
          </c:val>
        </c:ser>
        <c:dLbls>
          <c:numFmt formatCode="0.00" sourceLinked="0"/>
          <c:txPr>
            <a:bodyPr anchorCtr="1"/>
            <a:lstStyle/>
            <a:p>
              <a:pPr>
                <a:defRPr sz="1200" b="1" i="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212121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93"/>
          <c:min val="80"/>
        </c:scaling>
        <c:delete val="0"/>
        <c:axPos val="l"/>
        <c:majorGridlines>
          <c:spPr>
            <a:ln w="6350">
              <a:solidFill>
                <a:srgbClr val="E0E0E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title>
      <c:tx>
        <c:rich>
          <a:bodyPr/>
          <a:lstStyle/>
          <a:p>
            <a:r>
              <a:rPr sz="1200" b="0" i="0" u="none" strike="noStrike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공식 Validation Macro F1</a:t>
            </a:r>
          </a:p>
        </c:rich>
      </c:tx>
      <c:overlay val="0"/>
      <c:txPr>
        <a:bodyPr anchorCtr="1"/>
        <a:lstStyle/>
        <a:p>
          <a:pPr>
            <a:defRPr sz="1200" b="0" i="0" u="none" strike="noStrike">
              <a:solidFill>
                <a:srgbClr val="212121"/>
              </a:solidFill>
              <a:latin typeface="맑은 고딕"/>
              <a:ea typeface="맑은 고딕"/>
              <a:cs typeface="맑은 고딕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E0E0E0"/>
            </a:solidFill>
          </c:spPr>
          <c:invertIfNegative val="0"/>
          <c:dPt>
            <c:idx val="0"/>
            <c:invertIfNegative val="0"/>
            <c:spPr>
              <a:solidFill>
                <a:srgbClr val="E0E0E0"/>
              </a:solidFill>
            </c:spPr>
          </c:dPt>
          <c:dPt>
            <c:idx val="1"/>
            <c:invertIfNegative val="0"/>
            <c:spPr>
              <a:solidFill>
                <a:srgbClr val="009DDA"/>
              </a:solidFill>
            </c:spPr>
          </c:dPt>
          <c:dPt>
            <c:idx val="2"/>
            <c:invertIfNegative val="0"/>
            <c:spPr>
              <a:solidFill>
                <a:srgbClr val="009DDA"/>
              </a:solidFill>
            </c:spPr>
          </c:dPt>
          <c:dPt>
            <c:idx val="3"/>
            <c:invertIfNegative val="0"/>
            <c:spPr>
              <a:solidFill>
                <a:srgbClr val="2F4E91"/>
              </a:solidFill>
            </c:spPr>
          </c:dPt>
          <c:dLbls>
            <c:numFmt formatCode="0.0000" sourceLinked="0"/>
            <c:txPr>
              <a:bodyPr anchorCtr="1"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TF-IDF</c:v>
                </c:pt>
                <c:pt idx="1">
                  <c:v>KcBERT-005
(현 제출본)</c:v>
                </c:pt>
                <c:pt idx="2">
                  <c:v>KcBERT-012</c:v>
                </c:pt>
                <c:pt idx="3">
                  <c:v>RoBERTa-003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0.5689</c:v>
                </c:pt>
                <c:pt idx="1">
                  <c:v>0.6246</c:v>
                </c:pt>
                <c:pt idx="2">
                  <c:v>0.6351</c:v>
                </c:pt>
                <c:pt idx="3">
                  <c:v>0.6433</c:v>
                </c:pt>
              </c:numCache>
            </c:numRef>
          </c:val>
        </c:ser>
        <c:dLbls>
          <c:numFmt formatCode="0.0000" sourceLinked="0"/>
          <c:txPr>
            <a:bodyPr anchorCtr="1"/>
            <a:lstStyle/>
            <a:p>
              <a:pPr>
                <a:defRPr sz="1100" b="1" i="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000" b="0" i="0" u="none" strike="noStrike">
                <a:solidFill>
                  <a:srgbClr val="212121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0.68"/>
          <c:min val="0.5"/>
        </c:scaling>
        <c:delete val="0"/>
        <c:axPos val="l"/>
        <c:majorGridlines>
          <c:spPr>
            <a:ln w="6350">
              <a:solidFill>
                <a:srgbClr val="E0E0E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B3EB4F0-9138-43A8-BCBF-643648649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df8020c2948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98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88E35E-3247-40E5-9073-9926B5C4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91C3331-956F-4B0D-AF91-38736A3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B68E548-8A07-477E-A0D1-E2D83DFA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300A290-5054-46A5-90B4-A87E90A9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EFB40B9-EC83-4FB8-9E28-725CBF21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AA94374-153B-4A2F-9CF5-736DFB1B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2A7D027-1224-4449-888A-AD9520E7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3046066-CD1F-4825-A2D3-CF24FAD6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251984B-1E2C-4CBC-8630-BB74251C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CE28402-85B4-42DD-AB75-5DCF9C4E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7A3BB5-8FA0-4EA4-A0FE-92A285B6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E31CABE-969A-42E7-9192-C658FC5C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04294E2-D804-4661-8D2D-7DB47A76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2070EF9-A661-4A48-B7E1-798320CA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97852CD-8D18-42B2-ACC1-4A1180F9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5AAF05D-1CAA-4557-BEA3-492602C3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5060726-7280-4D27-B7CC-C8B3C851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B4E9B57-7835-46D8-AD0D-09174B21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8E61615-00D2-4659-839D-6815931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1E141E5-BAE5-4D02-B3BF-93ACEE90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B86E31A-AE8C-419E-9944-AE28027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74F5B63-CEC2-4674-8524-8AAE6102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AF0297-D422-41AD-B8A5-3C09E49F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DA213F0-8D95-461A-B3AF-08C20BB1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0C89A6A-AC58-4094-8F59-6E83898F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E1E2099-EE57-4DA9-ACB0-AB01520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6A959B1-4D02-4E5A-B430-00604D04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DBB6029-8B91-4BCD-B673-F7D084E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8FFD692-860B-44EA-AC5D-D95AEE17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77A2AB8-AFDE-45F5-9D2D-E3039652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8C7C2B4-63F2-4E89-986E-D6406266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A1A8F43-CE79-4716-806B-9F4F463F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A341AC1-83B2-4F85-96B7-5230AC87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1755E5D9-3B55-405B-B68D-6773AE8F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B7F5BAD-7786-42F3-A98A-58D2D4B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DEA5545-3C39-40D2-92DA-FCB2C529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C2ADAB8-DBF9-48BA-BB63-E0675C9F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A89F3A9-12C0-49D7-974A-FB19816E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394ACE5-419A-44E7-A601-4FE1CA75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0BFAA457-7B97-4262-84A9-3B3746D7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41364825-192C-41F2-8115-0022D3F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C6C1C0B-8288-4F77-9CAD-E48B18C4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9856F1CB-8F85-4AF3-94F9-BAC4E4A8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1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F0F3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A8D5646E-14C8-4D0A-B825-754B8F0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502920"/>
            <a:ext cx="2011680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526D5951-FBE6-406F-9A06-0A243AA4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50292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대학부 예선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DB9A7654-6CCD-4544-9E6A-430B2C75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2026 데이터+AI 크리에이터 캠프  |  결과 정리</a:t>
            </a:r>
            <a:endParaRPr sz="13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F68E0412-2011-4626-8BA3-1A8DB26E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12772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전화대화 음성 및 전사 데이터를 이용한</a:t>
            </a:r>
            <a:endParaRPr sz="28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A447787D-E125-4BAB-89EB-3DDD6521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1127729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응급상황 인식</a:t>
            </a:r>
            <a:endParaRPr sz="44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A8DD28A2-F5BB-4CC0-8CC0-CABA7267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112772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: Mission 1~3 수행 결과 정리</a:t>
            </a:r>
            <a:endParaRPr sz="200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B2E19DB9-A2E7-431B-A8A1-D4210259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768" y="4572000"/>
            <a:ext cx="58521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15A704E0-EEC5-4087-9162-6133474C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768" y="4572000"/>
            <a:ext cx="5852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팀 eigensinn</a:t>
            </a:r>
            <a:r>
              <a:rPr sz="15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   김장수 · 김광희 · 지연우 · 이수빈 · 조지은</a:t>
            </a:r>
            <a:endParaRPr sz="15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0D86A2B6-DD9A-4BDA-BA8B-8823B902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895" y="630936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제출 예정 2026. 10. 14  /  현황 10. 10 기준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73692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64DB08FE-20D9-4AE2-B72F-02CDBD2F28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496b2340b4b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0E547B0-45FE-42FE-A0AA-AB368647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6618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목차</a:t>
            </a:r>
            <a:endParaRPr sz="28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8AE6084-AF6E-4CDF-B56A-D2D5653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61358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DCE3EC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sz="9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A25836F-8DB2-4665-BF4D-0C83E5DB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252214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준비 과정</a:t>
            </a:r>
            <a:endParaRPr sz="2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B29C9AF-1058-45F2-85CF-3A33A3A7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2339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1AE7965-6B60-4EF5-B9E1-E56C1270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252214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1. 사전 학습 로드맵</a:t>
            </a:r>
            <a:endParaRPr sz="1400"/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2. 팀 구성과 협업 체계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86E1A5A-F2D1-4D4D-BB0F-8237746D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104" y="1920240"/>
            <a:ext cx="261358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DCE3EC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sz="9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98066D0-E6E3-40A0-B32F-9BB67E48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544" y="2880360"/>
            <a:ext cx="252214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데이터 분석</a:t>
            </a:r>
            <a:endParaRPr sz="22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8C16B62-FA32-4F23-B4BF-9BF8DA81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544" y="3520440"/>
            <a:ext cx="2339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EB43147-2222-4B2C-ABBC-3514E5B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544" y="3703320"/>
            <a:ext cx="252214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1. 데이터 개요와 대회 규칙</a:t>
            </a:r>
            <a:endParaRPr sz="1400"/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2. EDA 핵심 발견</a:t>
            </a:r>
            <a:endParaRPr sz="1400"/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3. 공통 파이프라인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DA6E441-8176-44CD-B5E7-7483FCB6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1920240"/>
            <a:ext cx="261358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DCE3EC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sz="9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071E963-8401-4647-8587-B6A8B2FE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880360"/>
            <a:ext cx="252214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미션별 수행</a:t>
            </a:r>
            <a:endParaRPr sz="2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F538513-2009-4589-B39C-62C0B97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520440"/>
            <a:ext cx="2339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330B0A7-EEDA-4493-9F84-3A51FEC1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703320"/>
            <a:ext cx="252214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1. Mission 1  신고자 성별 분류</a:t>
            </a:r>
            <a:endParaRPr sz="1400"/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2. Mission 2  신고자/대원 분류</a:t>
            </a:r>
            <a:endParaRPr sz="1400"/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   (+ 다른 접근 비교)</a:t>
            </a:r>
            <a:endParaRPr sz="1400"/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3. Mission 3  환자 증상 인식</a:t>
            </a:r>
            <a:endParaRPr sz="1400"/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   (+ 추가 실험 비교)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6FEFFBF-0533-4A5D-BA82-580646D5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911" y="1920240"/>
            <a:ext cx="261358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DCE3EC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sz="96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4CD28B4-563F-4670-A8C2-BB2B7E32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351" y="2880360"/>
            <a:ext cx="252214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종합 및 시사점</a:t>
            </a:r>
            <a:endParaRPr sz="22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D176332-73F1-40F0-9FE5-6D153ABF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351" y="3520440"/>
            <a:ext cx="2339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C9DC3ED-15BA-4CC4-9C4C-96969E8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351" y="3703320"/>
            <a:ext cx="252214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1. 성능 요약과 교훈</a:t>
            </a:r>
            <a:endParaRPr sz="1400"/>
          </a:p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2. 사회안전 시사점과 향후 계획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273059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05A0ABC-F0EE-475B-9402-2089FB027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cd80a252a48c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98F1174-652E-4512-B756-D0F75E6B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01  준비 과정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C87226B-A159-4A9E-A843-38F94079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4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F812E11-923E-4FE4-AC55-3457B84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40E1BE0-DA9A-44EB-BAC6-4E765E02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(1) 발대식 전 사전 학습 로드맵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B01F0E1-2D99-4174-BD9D-329EB42A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896A668-79A7-4984-B618-C9085392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처음 보는 데이터로도  QA → Baseline → 검증 → 통제 실험 → 제출  흐름을 끝까지 돌 수 있도록 대회 전에 미리 연습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06864A9-C659-4DFF-B759-13B630BB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1627632" cy="192024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D9996E4-BC11-46BA-9B2C-B280BB75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1627632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6DD39A-5CDA-4B24-8F4A-BFB4C046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16276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410F65D-82CF-4281-A4D6-FDDCFC1E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W1  기초</a:t>
            </a:r>
            <a:endParaRPr sz="1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886D7E6-6762-43FA-910E-EFBF3063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98648"/>
            <a:ext cx="13533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Python·pandas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타이타닉 EDA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(결측치·분포)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9EA897F-4C93-459B-9074-03ADB292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8" y="310896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2D7D72F-C1DA-4266-AAD5-0112B8C7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133" y="2331720"/>
            <a:ext cx="1627632" cy="192024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FA33CA3-A1F3-4409-8BDA-726A62CF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133" y="2331720"/>
            <a:ext cx="1627632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D3D356E-4C3B-4518-AD60-0DA18795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133" y="2606040"/>
            <a:ext cx="16276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13CBE4D-9599-4A4C-9A6E-32BA42AD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133" y="2331720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W2  Baseline</a:t>
            </a:r>
            <a:endParaRPr sz="1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A3DC074-0BE6-404C-B1C5-6967E69E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293" y="2898648"/>
            <a:ext cx="13533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첫 모델 학습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실험 로그 작성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(Titanic 등)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E777D89-E6DB-484D-AE4E-C9548571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331" y="310896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2796080-57C0-4668-842B-585BEF47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065" y="2331720"/>
            <a:ext cx="1627632" cy="192024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AA4D2AF-8A57-4E0E-A9B4-CC599D67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065" y="2331720"/>
            <a:ext cx="1627632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AB950C6-38EC-4D39-8BAA-4859948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065" y="2606040"/>
            <a:ext cx="16276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7FE877D-9756-4A76-8399-B53BBB2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065" y="2331720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W3  데이터 QA</a:t>
            </a:r>
            <a:endParaRPr sz="14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3328AF0-DFC9-4553-A17E-74ABD038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225" y="2898648"/>
            <a:ext cx="13533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CIFAR-10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누락·중복·분포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점검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211F0EE-B379-4374-BAAD-C7E8426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264" y="310896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E4A1A21-6897-4900-B95D-A4CEF828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998" y="2331720"/>
            <a:ext cx="1627632" cy="192024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656F96A5-5BBC-4027-BCD2-DDB1436E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998" y="2331720"/>
            <a:ext cx="1627632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9D42B0F-9721-4908-B637-614398C8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998" y="2606040"/>
            <a:ext cx="16276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A2758AA-C038-42AB-8A30-50CA423F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998" y="2331720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W4  통제 실험</a:t>
            </a:r>
            <a:endParaRPr sz="14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A489E4C-1487-4F77-89BB-58894904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158" y="2898648"/>
            <a:ext cx="13533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baseline 결함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감사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변수 하나씩 비교</a:t>
            </a:r>
            <a:endParaRPr sz="12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BE4F804-05CE-4BF8-BA7C-856CE643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196" y="310896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218DDA3-928D-44D0-AD7D-57C8C11D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931" y="2331720"/>
            <a:ext cx="1627632" cy="192024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8737BED-E259-4A9A-BCB5-AC5FDB5D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931" y="2331720"/>
            <a:ext cx="1627632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4DDAACC-7830-40A8-AFEB-15432EAC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931" y="2606040"/>
            <a:ext cx="16276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C469EB84-796A-4CDA-B857-0D7908E7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931" y="2331720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W5  데이터 정제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8B63690-8342-4658-8004-3AC97C2B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091" y="2898648"/>
            <a:ext cx="13533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이상치 점수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기준값 사전 고정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3조건 비교</a:t>
            </a:r>
            <a:endParaRPr sz="12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80839119-C106-48B7-B10A-9684841B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129" y="310896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45255B69-C9C5-44E3-9D8E-93169C1C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863" y="2331720"/>
            <a:ext cx="1627632" cy="192024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074516EF-0DFF-4481-94CB-3400D05F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863" y="2331720"/>
            <a:ext cx="1627632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6557B51D-D780-48B6-B8C4-98AC527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863" y="2606040"/>
            <a:ext cx="16276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87D90193-1E3D-466D-B5C4-41E44F2F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863" y="2331720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W6  제출 연습</a:t>
            </a:r>
            <a:endParaRPr sz="14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944824B3-D812-427D-88EA-C7AEA84B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2898648"/>
            <a:ext cx="13533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제출 패키지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채점 스크립트</a:t>
            </a:r>
            <a:endParaRPr sz="120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8C1C6C6C-5336-4A17-9B4F-3786917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11277295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30A1625-81D0-4739-84E2-213DB8A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572000"/>
            <a:ext cx="3657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💡</a:t>
            </a:r>
            <a:endParaRPr sz="18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1F32C182-7048-4BCE-B4AE-EB5C9F99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10591495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예선에 그대로 가져온 습관  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데이터 무결성 점검을 모델보다 먼저  ·  실험마다 ID와 로그 남기기  ·  한 번에 변수 하나만 바꿔 비교  ·  기준값은 결과를 보기 전에 고정</a:t>
            </a:r>
            <a:endParaRPr sz="13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C023B56C-617F-49A3-8A0A-A4299543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GitHub eigensinn-dcc2026/step0 (2026.07.14 ~ 08.23), 팀원별 notebooks/ 및 outputs/ 실습 산출물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947381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3CF493D-E742-40C3-A1D3-9CD3FE5AE1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69ac0061645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D1A6C03-7C8F-48DD-B65C-E872EB46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01  준비 과정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471CBFB-FE75-4B59-AAE1-DBA41223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5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B0AC847-DEE6-40CB-83A3-910BC77B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9BA0DAF-8C22-4A81-A6B5-CBD73A2E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(2) 팀 구성과 협업 체계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A998E7F-430E-42B9-B195-D662736F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092C16D-30BF-4858-BEE0-7B73A5C2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5명이 한 저장소에서 충돌 없이 일하도록  규칙 · 자동 검사 · 기록 체계를 먼저 만들고 미션에 들어감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C38D157-A40E-40DB-950C-D49DBECC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역할 분담</a:t>
            </a:r>
            <a:endParaRPr sz="1800"/>
          </a:p>
        </p:txBody>
      </p:sp>
      <p:graphicFrame>
        <p:nvGraphicFramePr>
          <p:cNvPr id="43" name="Table 0">
            <a:extLst xmlns:a="http://schemas.openxmlformats.org/drawingml/2006/main">
              <a:ext uri="{FF2B5EF4-FFF2-40B4-BE49-F238E27FC236}">
                <a16:creationId xmlns:a16="http://schemas.microsoft.com/office/drawing/2014/main" id="{FE4B93B1-EE3D-4C4F-AC22-BEFC01582D1F}"/>
              </a:ext>
            </a:extLst>
          </p:cNvPr>
          <p:cNvGraphicFramePr/>
          <p:nvPr/>
        </p:nvGraphicFramePr>
        <p:xfrm>
          <a:off xmlns:a="http://schemas.openxmlformats.org/drawingml/2006/main" x="457200" y="2651760"/>
          <a:ext xmlns:a="http://schemas.openxmlformats.org/drawingml/2006/main" cx="9144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5840"/>
                <a:gridCol w="1828800"/>
                <a:gridCol w="219456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준비기 역할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예선 담당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김장수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모델링·통합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1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김광희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품질·매핑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1 · 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지연우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검증·오분류 분석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이수빈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시각화·리포팅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3 · 오류분석 취합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조지은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정형 모델링·EDA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3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7E93AA4-9455-4135-8665-DDE5243F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94560"/>
            <a:ext cx="569945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GitHub 작업 흐름</a:t>
            </a:r>
            <a:endParaRPr sz="18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2113065-10AE-49B3-AFF9-49E7C233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51760"/>
            <a:ext cx="960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1C1FF8A-92B6-4921-A0F1-ADA2C7BE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51760"/>
            <a:ext cx="960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main에서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브랜치 생성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7FC10C5-D749-4070-B2A2-D73080F2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509" y="2926080"/>
            <a:ext cx="12801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067A0788-7DE4-4875-BBD2-20FD0044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874" y="2651760"/>
            <a:ext cx="960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743F6D7-2715-428E-BA01-7A402370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874" y="2651760"/>
            <a:ext cx="960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실험·코드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작성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00B3417D-EF2A-41AA-B96C-8EB0DC99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343" y="2926080"/>
            <a:ext cx="12801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91891C3-CBF7-4E65-9760-75A8FDD5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708" y="2651760"/>
            <a:ext cx="960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3C61B7B-23C4-4D90-AFD2-522A94A2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708" y="2651760"/>
            <a:ext cx="960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PR 작성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(템플릿)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941AFC1-A887-4620-9297-E5BA4622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177" y="2926080"/>
            <a:ext cx="12801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07E1B6D-5810-4D79-B4F4-368A22BB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541" y="2651760"/>
            <a:ext cx="960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E429370-47D7-4168-AA39-A143D7CE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541" y="2651760"/>
            <a:ext cx="960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검사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(CI·병합 판정)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8B6C9088-DDAC-4495-A030-172661E3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10" y="2926080"/>
            <a:ext cx="12801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D226CA42-3A46-49AC-BE39-950D094B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2651760"/>
            <a:ext cx="960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7D28898-54AB-42E2-9537-9D4E7950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2651760"/>
            <a:ext cx="960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팀원 리뷰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후 병합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9620DA9-12F9-4D7F-8DAA-1DA6B2E2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2712568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E6147990-5C87-4DF7-82D2-FDF887A4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0480"/>
            <a:ext cx="24382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docs/experiment_log.md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5E89F13-3A83-4EEB-B8B3-F8A175EA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2438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무엇을 했고 결과는?</a:t>
            </a:r>
            <a:endParaRPr sz="14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59686C41-9D3C-46D8-845A-9FFCD960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34840"/>
            <a:ext cx="243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실험 ID · 날짜 · 데이터 규모 · 분할 · seed · 결과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0F0935CC-CFCA-44A1-9755-6605221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928" y="3749040"/>
            <a:ext cx="2712568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F0978923-8AA3-4043-B7DA-74D09EF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88" y="3840480"/>
            <a:ext cx="24382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docs/decisions.md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A2CA40-D4DE-4943-838D-73E2D2EE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88" y="4114800"/>
            <a:ext cx="2438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왜 채택·기각했나?</a:t>
            </a:r>
            <a:endParaRPr sz="14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FDF98D8-EE4C-4197-9CC3-AC2AA9E4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88" y="4434840"/>
            <a:ext cx="243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결정 · 이유 · 후속 조치 (기각한 실험도 기록)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88995F65-8948-438C-89B6-431E3330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074920"/>
            <a:ext cx="189981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PR</a:t>
            </a:r>
            <a:endParaRPr sz="3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03B82048-7873-4FA6-8759-1AA099DA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788152"/>
            <a:ext cx="189981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팀원 리뷰 후 병합</a:t>
            </a:r>
            <a:endParaRPr sz="12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CFE5EDD-00A4-4ED0-8B16-056F2AAA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858" y="5074920"/>
            <a:ext cx="189981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3 seeds</a:t>
            </a:r>
            <a:endParaRPr sz="30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B6E5C646-D380-46C0-97B7-711B9598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858" y="5788152"/>
            <a:ext cx="189981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주요 실험 반복 검증</a:t>
            </a:r>
            <a:endParaRPr sz="12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F19AC293-A4A6-4E7A-8A3F-36467318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677" y="5074920"/>
            <a:ext cx="189981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M1–M3</a:t>
            </a:r>
            <a:endParaRPr sz="30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E8485394-D723-4089-A869-C56D469D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677" y="5788152"/>
            <a:ext cx="189981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실험 ID와 채택·기각 기록</a:t>
            </a:r>
            <a:endParaRPr sz="12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2DD2C0E1-A6B2-4044-BF99-67E186D1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2240280"/>
            <a:ext cx="15544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DD2"/>
          </a:solidFill>
          <a:ln xmlns:a="http://schemas.openxmlformats.org/drawingml/2006/main" w="12700">
            <a:solidFill>
              <a:srgbClr val="FFCDD2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39D6A8E6-145F-4DB5-88C7-7CBDCA7D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224028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53935"/>
                </a:solidFill>
                <a:latin typeface="맑은 고딕"/>
                <a:ea typeface="맑은 고딕"/>
                <a:cs typeface="맑은 고딕"/>
              </a:rPr>
              <a:t>현황 · 10/10 기준</a:t>
            </a:r>
            <a:endParaRPr sz="10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39EF07E1-9091-4438-82EF-6D04EE01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GitHub eigensinn-dcc2026/prelim — WORKFLOW.md, .github/workflows (pr-ci, pr-verdict), docs/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865151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62D3FCC-6013-4C74-9B5A-7AE3998354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012ecabb4402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D4817C1-D6F0-43B7-BA84-AFD09455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02  데이터 분석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1135BE5-C021-406E-99B5-0BA1D95D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6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B722CA5-2DBF-4363-99AD-F15DE6A9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6DCF4D1-E410-49B6-A4BB-6546B71D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(1) 데이터 개요와 대회 규칙 준수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E22792F-2786-47B1-8A1A-06AD3116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F4B7596-FEBF-4EA4-84AF-99411D9F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AI-Hub 119 신고접수 음성·전사 데이터 — 규칙 위반 가능성을 설계 단계에서부터 차단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CD59524-1C60-4972-AA87-594A4D47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5120640" cy="397764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D8089D7-220E-4D66-ABD8-88908679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744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데이터셋</a:t>
            </a:r>
            <a:endParaRPr sz="1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E268C57-A7B2-49B3-B0E4-B2621C05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4663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AI-Hub 「위급상황 음성/음향(고도화) — 119 지능형 신고접수 음성 인식 데이터」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BE352DF-3179-4F95-A81B-0FE5A7A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24028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C1C872D-397B-450F-BA38-F7D8D90B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29000"/>
            <a:ext cx="2057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음성(WAV)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통화 녹음 원본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37BC69E-9D14-4651-BB0A-44D16A70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29000"/>
            <a:ext cx="224028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C29E47C-A77F-4E85-880F-94648280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2057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전사·라벨(JSON)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발화 구간·화자·성별·증상 등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D30D8E3-A53C-46CD-A42E-366D920E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1554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29,200</a:t>
            </a:r>
            <a:endParaRPr sz="26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E03940F-B189-4F1D-9FC8-6C97FC1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379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학습 통화 수 (서울)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F6B52EF-C911-4DF4-BD44-32E75925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480560"/>
            <a:ext cx="1554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889,358</a:t>
            </a:r>
            <a:endParaRPr sz="2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975D563-DECE-4C27-9EA4-D88A289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519379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M2 학습 발화 수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CBA57AB-DD79-4A8A-A93A-4D876C3B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80560"/>
            <a:ext cx="1554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3,640</a:t>
            </a:r>
            <a:endParaRPr sz="26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508B0EE-F138-45BD-8536-D62CE039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9379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Validation 통화 수</a:t>
            </a:r>
            <a:endParaRPr sz="12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D40FB312-13DE-4303-8E70-FBCD3699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0280"/>
            <a:ext cx="5790895" cy="397764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79E701E-EF64-4226-AD20-1CF13F8D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7440"/>
            <a:ext cx="5333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우리가 지킨 대회 규칙</a:t>
            </a:r>
            <a:endParaRPr sz="1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CEEEFA4-D252-496C-A7BA-DE3667D2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89864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F83C758-BC26-4BF3-9F6A-F0F55A39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89864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  <a:endParaRPr sz="13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CAC4390-4294-4608-820D-ABBF47B5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80360"/>
            <a:ext cx="483077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학습에는 서울 Training 데이터만 사용</a:t>
            </a:r>
            <a:endParaRPr sz="13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2DE8C444-2BC2-40A9-83A3-39C61B7A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5584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53114D9-DA6B-424B-AEAC-744354F1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5584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  <a:endParaRPr sz="13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7E74870-71CF-4F54-AFCE-F75EA199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7560"/>
            <a:ext cx="483077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Validation은 모델 선택·평가에만 사용 (학습 투입 없음)</a:t>
            </a:r>
            <a:endParaRPr sz="13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9736A8FB-A072-444A-94CE-1D51F9CB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1304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AA77508-E9A8-415A-BE91-EF2BAE9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1304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  <a:endParaRPr sz="13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16AFA33-56D9-48D3-B68D-5108DD9F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4760"/>
            <a:ext cx="483077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미션별 지정 입력만 사용 — M2는 발화 조각 하나만</a:t>
            </a:r>
            <a:endParaRPr sz="13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55A1C9C-0F18-4984-A712-F4A8397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27024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B3757BE6-579D-4797-9159-DEB7553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27024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  <a:endParaRPr sz="13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F1DDBAA-E91F-4A09-A7E2-F62ECEE5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483077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라벨에 따라 다른 전처리, 평가 데이터 전용 전처리 없음</a:t>
            </a:r>
            <a:endParaRPr sz="13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F033098-41FE-4E77-BB63-F1C80CCF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72744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8DB0E4CB-90A3-4E1A-8AD9-A12A63DA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72744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  <a:endParaRPr sz="13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1D34CCFA-4E88-472E-8F3E-31E02BCE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9160"/>
            <a:ext cx="483077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최종 판정 기준값 0.5 고정 (클래스별 조정 없음)</a:t>
            </a:r>
            <a:endParaRPr sz="13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B6D8833-9F2D-46D5-8BEA-094DE4C0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8464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EAF1B189-18FA-4A2C-B0DC-34FBCEF5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8464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  <a:endParaRPr sz="13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E4BEFC88-3242-40F0-A834-5B88044A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66360"/>
            <a:ext cx="483077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상용 AI API 미사용, 공개 오픈소스 라이브러리만 사용</a:t>
            </a:r>
            <a:endParaRPr sz="130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9D03CEF0-9C49-4E0F-8970-BB96B247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64184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35FE24FA-E2AC-43BB-8157-18B42426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64184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  <a:endParaRPr sz="13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A3B5CE0B-C087-4401-8E7E-1CE62CBB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23560"/>
            <a:ext cx="483077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M2 text 근거 라벨 수정 금지, 제공된 speaker 라벨로 재학습</a:t>
            </a:r>
            <a:endParaRPr sz="13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C0E9D3D0-594A-463E-828A-84614D44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대학부 예선 출제문제 5·8쪽 조건, 주최측 답변 10/01(라벨), 10/05(발화 독립), threshold 안내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501097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9588595-A2CD-47F9-B3DA-72CD430A9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f28f91d7a4c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8266A05-7E12-4863-8CD8-9CFE04A6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02  데이터 분석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5C2752A-CC7E-41AD-9855-863EC0B2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7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3171374-19D4-4EE8-BFD7-D0D196D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E15E5C3-F198-4B10-A467-B8FC3D5E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(2) EDA 핵심 발견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3DF4616-50A1-4061-A034-7AD422D4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E6E84DA-9BA9-4F73-A72E-28DADC9C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세 미션 모두 단일 변수로는 못 가른다 — 성별만 균형 잡혀 있고, 길이·증상 빈도는 모델이 함께 보정해야 할 불균형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48EC82D-FBF5-45E7-8043-1AE266EB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3576218" cy="3977640"/>
          </a:xfrm>
          <a:prstGeom xmlns:a="http://schemas.openxmlformats.org/drawingml/2006/main" prst="roundRect">
            <a:avLst>
              <a:gd name="adj" fmla="val 2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864BFE2-E2DD-42C3-ADB7-74D699AD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59152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화자별 발화 길이</a:t>
            </a:r>
            <a:endParaRPr sz="15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9113CB0-A410-4AC4-B938-AB1D0AA4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61488"/>
            <a:ext cx="321045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pic>
        <p:nvPicPr>
          <p:cNvPr id="12" name="Image 1">
            <a:extLst xmlns:a="http://schemas.openxmlformats.org/drawingml/2006/main">
              <a:ext uri="{FF2B5EF4-FFF2-40B4-BE49-F238E27FC236}">
                <a16:creationId xmlns:a16="http://schemas.microsoft.com/office/drawing/2014/main" id="{CC8B2BC5-EE1D-4573-A7D9-02254300E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3cff46d1f42b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3232" y="2834640"/>
            <a:ext cx="3064154" cy="18196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3815E92-03A2-4290-BF45-89C3A960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321045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발견  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신고자가 긴 발화(≥4초)에서 대원보다 비중이 높지만(14.0% vs 7.9%), 짧은 구간은 서로 겹침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설계 반영  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길이만으로는 못 가름 → 음향 특징(M2 L1)과 전체 소리 모양(M2 L2)까지 함께 사용</a:t>
            </a:r>
            <a:endParaRPr sz="11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42B3B62-71B7-45B8-B1B6-54936F7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2240280"/>
            <a:ext cx="3576218" cy="3977640"/>
          </a:xfrm>
          <a:prstGeom xmlns:a="http://schemas.openxmlformats.org/drawingml/2006/main" prst="roundRect">
            <a:avLst>
              <a:gd name="adj" fmla="val 2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4DD50F3-B5C0-4060-AB13-6143FAB6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8" y="2359152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성별 구성 (Mission 1)</a:t>
            </a:r>
            <a:endParaRPr sz="15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CB5A841-BCA3-4770-869A-4B10B1B1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8" y="2761488"/>
            <a:ext cx="321045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pic>
        <p:nvPicPr>
          <p:cNvPr id="17" name="Image 2">
            <a:extLst xmlns:a="http://schemas.openxmlformats.org/drawingml/2006/main">
              <a:ext uri="{FF2B5EF4-FFF2-40B4-BE49-F238E27FC236}">
                <a16:creationId xmlns:a16="http://schemas.microsoft.com/office/drawing/2014/main" id="{A9372B19-BECB-4FC7-9D15-1C1E9C238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fc04781e74c7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63770" y="2834640"/>
            <a:ext cx="3064154" cy="1819656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306BB2BE-0E90-4953-8132-C1C47B5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8" y="4846320"/>
            <a:ext cx="321045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발견  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Training 53.2:46.8, Validation 53.8:46.2 — 분할 간 차이 1%p 이내로 균형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설계 반영  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클래스 불균형 보정이 불필요 → 기본 LR·GBM 그대로 사용</a:t>
            </a:r>
            <a:endParaRPr sz="11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2CE6B1CE-696B-4DE1-9498-48CAFD2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2240280"/>
            <a:ext cx="3576218" cy="3977640"/>
          </a:xfrm>
          <a:prstGeom xmlns:a="http://schemas.openxmlformats.org/drawingml/2006/main" prst="roundRect">
            <a:avLst>
              <a:gd name="adj" fmla="val 2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1D39F484-C960-4584-894C-1EB8FCA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2359152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증상 9종 유병률 (Mission 3)</a:t>
            </a:r>
            <a:endParaRPr sz="15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EFB8C7BF-4130-46A3-ADA9-6650D64D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2761488"/>
            <a:ext cx="321045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pic>
        <p:nvPicPr>
          <p:cNvPr id="22" name="Image 3">
            <a:extLst xmlns:a="http://schemas.openxmlformats.org/drawingml/2006/main">
              <a:ext uri="{FF2B5EF4-FFF2-40B4-BE49-F238E27FC236}">
                <a16:creationId xmlns:a16="http://schemas.microsoft.com/office/drawing/2014/main" id="{3B0C110E-BC0E-4CA1-9B7B-65F171B142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11b969e9c42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14309" y="2834640"/>
            <a:ext cx="3064154" cy="1819656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29093920-BF28-4472-975C-47F3987D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57" y="4846320"/>
            <a:ext cx="321045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발견  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복통·어지러움 20%대 vs 두통·오심 10%대 — 최대 2배 이상 차이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설계 반영  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Macro F1은 희소 증상에 민감 → 증상별 성능을 따로 점검 (15p)</a:t>
            </a:r>
            <a:endParaRPr sz="115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A6FFBCC6-5109-4B79-9182-F63D53B2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reports/eda/eda_report.md, reports/eda/figures/ (PR #23, 2026.09.21)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534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EE1739B-579D-4103-8B6A-9A85BF6C2C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831bfa9e44ac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48F09CD-F1A9-4171-9EA7-6D92E7D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02  데이터 분석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D186DB1-23A1-4438-A14B-F6CDEE55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8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ED7F144-B51A-426C-BF44-245113BA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6F856E8-71EE-4105-8F22-D3282539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(3) 세 미션 공통 파이프라인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ADD3CE1-8D72-40B2-8CD2-A604D082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251EF3-73F2-43B5-9368-88424CC2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데이터 무결성 검증부터 inference.py 1회 실행까지 — 세 미션이 같은 뼈대 위에서 동작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25480FB-8B45-4D17-BC2B-D2646A1F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920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627A3F-E299-4DFE-9AF7-6305C8DD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75606EF-890C-45B4-AD3B-42ED0297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FC87CB4-EFF6-46AE-BD5B-CE44F157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원본 데이터</a:t>
            </a:r>
            <a:endParaRPr sz="1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566942A-82A1-48C9-BED1-F3B58E23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52928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WAV 음성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JSON 전사·라벨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83647D-3ABC-4F2F-A0E5-1802077E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8936" y="3017520"/>
            <a:ext cx="256032" cy="3657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DD262FD-148B-4697-B264-53BC25E9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64" y="2286000"/>
            <a:ext cx="1920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DC150D5-3833-4FED-9836-87158AC9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64" y="228600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A6C820D-DCAD-49CC-9302-7630E93E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64" y="256032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24C9B85-F56B-4116-AA85-D0934D81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64" y="228600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무결성 검증</a:t>
            </a:r>
            <a:endParaRPr sz="1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80790F1-F5F8-47AE-84FF-E3C14047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624" y="2852928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WAV↔JSON 매칭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manifest 생성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누락·중복 점검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AFFF2FB-1E56-4CBB-89E2-208B19E2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200" y="3017520"/>
            <a:ext cx="256032" cy="3657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C2B3104-36BD-4220-9BBB-ADBF1ED1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2286000"/>
            <a:ext cx="1920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41785A04-97AC-4AF9-8051-8AC4F7D3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228600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2BF3EA9-0C98-4FDA-94EE-BA483C8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256032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77FC84-0109-4DA0-8164-BCBB1EF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228600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미션별 데이터</a:t>
            </a:r>
            <a:endParaRPr sz="14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CFC4CC2-39FE-43DA-8DA0-8F777D2A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852928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음성: 발화 구간 추출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텍스트: 전사 정리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4ECFDDA-1A7F-4839-B3CC-CB4D1A2F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464" y="3017520"/>
            <a:ext cx="256032" cy="3657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C9EE09D-D93C-44DA-A4A7-6CBFE9E6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91" y="2286000"/>
            <a:ext cx="1920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EFB5738-9FDB-43DE-906E-10F0655E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91" y="228600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5B7D615-9B14-442B-8B1A-5B6BE3FC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91" y="256032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3D346E9-F682-4D8D-AA56-E03E51E7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91" y="228600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· 평가</a:t>
            </a:r>
            <a:endParaRPr sz="14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16B661F-A8F2-4F08-9F17-7C41153D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151" y="2852928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미션별 고정 분할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공식 Validation 평가</a:t>
            </a:r>
            <a:endParaRPr sz="12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244EAD43-6270-42A0-BC9A-DB2A7DD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27" y="3017520"/>
            <a:ext cx="256032" cy="3657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7131DA3A-A49E-4872-9717-52678B49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55" y="2286000"/>
            <a:ext cx="19202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A5D1047B-5AA0-45D2-B4F7-BD259E7F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55" y="228600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7E5F1B71-E1D5-4FD7-9EE8-33632C30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55" y="256032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9EF7FC03-CD61-4410-94DA-99E9FBAA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55" y="228600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 · 제출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18F047BB-EEF4-430E-B45C-B78139F5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415" y="2852928"/>
            <a:ext cx="16459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실험 로그 JSON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inference.py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1회 실행 → CSV</a:t>
            </a:r>
            <a:endParaRPr sz="12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7914D4CE-EFB6-42DB-8389-3A64E5C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4343400"/>
            <a:ext cx="4259504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C72D003-487B-45BC-88BB-0A4DD2EB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4343400"/>
            <a:ext cx="398518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음성 경로   </a:t>
            </a:r>
            <a:r>
              <a:rPr sz="12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M1 · M2  —  음향 특징 · 스펙트로그램</a:t>
            </a:r>
            <a:endParaRPr sz="12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64F54A4-EBD1-4B72-889A-0A453E63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4846320"/>
            <a:ext cx="4259504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FE2841AD-3414-47D4-800A-41BC210D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4846320"/>
            <a:ext cx="398518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텍스트 경로   </a:t>
            </a:r>
            <a:r>
              <a:rPr sz="12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M3  —  전사 텍스트</a:t>
            </a:r>
            <a:endParaRPr sz="120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4AD904E-1EFE-4040-837F-67B4147C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06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재현성 장치</a:t>
            </a:r>
            <a:endParaRPr sz="16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5D78C4BC-4C37-41F0-BFC4-1834AA30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2682164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3F748338-F593-4079-BDDA-8BAA0C92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268216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seed = 42 고정</a:t>
            </a:r>
            <a:endParaRPr sz="120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157BCACC-635C-44F3-B7D4-6314B753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244" y="5852160"/>
            <a:ext cx="2682164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ED421ED-8425-49D4-A980-CBF13BEB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244" y="5852160"/>
            <a:ext cx="268216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M3: JSON 80:20 층화 분할</a:t>
            </a:r>
            <a:endParaRPr sz="1200"/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DA230C84-CD85-43E5-AF56-961387C0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5852160"/>
            <a:ext cx="2682164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7BD6A502-FF8E-4B78-BBE9-0FDB3278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288" y="5852160"/>
            <a:ext cx="268216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자동 테스트 (pytest · CI)</a:t>
            </a:r>
            <a:endParaRPr sz="1200"/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1AC1F12-BE59-4FCD-A29E-7B1DFB7C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331" y="5852160"/>
            <a:ext cx="2682164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78C29EE0-63F8-40A3-89C3-EF5E9C65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331" y="5852160"/>
            <a:ext cx="268216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결과는 JSON 로그로 저장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8824663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84971D2-4DF6-489E-BF81-0D62E9EA1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606ad9cf1445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C2C2C72-9FDE-47F2-9F00-DBD84D70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03  미션별 수행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2FCAFA7-B2DC-48AF-AA59-D16F6E1A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9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EBFAF2-4BA4-4B43-BF15-5755954C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4F9B8F2-08A9-4B49-B71E-9B11AF44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Mission 1  신고자 성별 분류 — 문제 정의와 접근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BF93813-F6E1-42D4-8CDC-7AAB04FE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1515A83-BA7F-495F-942A-B6BE0464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WavLM 화자 임베딩과 음향 통계를 결합해 공식 성별 분류 성능을 개선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39A8C84-685C-4E4F-8303-51D26E34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3749040" cy="397764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FD8D436-D3B9-4B97-92F0-A268723E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7440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문제 정의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7EED00F-2F73-4220-83F2-BA34D9EC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5CDC8EC-DDEC-4257-B2FA-37648058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41E76EF-E88B-4743-BA02-9F76ED1E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6207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 발화 음성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(startAt · endAt · speaker만 사용)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D673EB1-A9A1-4F9E-B101-D954E65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29D7F4-3F85-4589-8A9C-B95D3EB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C1126BD-3C59-4C05-AC96-401F418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8503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남 / 여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A5A66B7-03BD-4825-B168-2D492960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0FBF73A-85A6-4BA9-AA21-58C2F50D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3B22FA4-BA93-4D4B-94F1-D6D82FCA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50799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Accuracy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F5FD7C7-8073-4D9B-AAAD-88128A1C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CBC756D-3342-4454-B5FC-1CD18A44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제약</a:t>
            </a:r>
            <a:endParaRPr sz="12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5F94C8C-5526-425A-88D7-A07D3691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3095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그 외 라벨 사용 불가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70DA061-A78C-43C4-B428-42AA3805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0280"/>
            <a:ext cx="71624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모델 구성</a:t>
            </a:r>
            <a:endParaRPr sz="1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EBCE646-C9C1-4BF7-B14E-772F3B6D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571538-B177-41D7-A4DF-29C3B64C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BCA9422-E673-4423-9C91-686B2B4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10471CA-B0D0-40B1-9EA5-0A5BA68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구간 추출</a:t>
            </a:r>
            <a:endParaRPr sz="14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28D4E7A-2E2F-4033-98C7-08F08B72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 발화만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잘라내기</a:t>
            </a:r>
            <a:endParaRPr sz="12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32872A2-2C7E-49BB-ADEE-1DF70E3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421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FBB72DE-FD96-4943-AE3D-D53D9263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525FE982-A5C7-4816-9763-00EAF946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410CC6E-6011-4DC6-AA3E-9033F4DC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F402E0E0-981B-4C91-A6EA-CF00985A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음향 특징</a:t>
            </a:r>
            <a:endParaRPr sz="14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CD51EA66-7F33-40E4-95E0-FEC20A65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402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52D 음향 통계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+ 512D WavLM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E602E0B-35B2-406B-958B-885E52EA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664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9433D62A-952C-452D-854F-1299927C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A7761EF0-1829-4C0B-BC28-BA0BD0E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83F641AD-A252-416B-ADAD-D02E3914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B3182742-F424-4641-B4DA-78243C2D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분류 모델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CCA51A5-2312-40D8-BB3B-43FC43C4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645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로지스틱 회귀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(LR)</a:t>
            </a:r>
            <a:endParaRPr sz="120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A5A1DA06-9708-489D-BAD6-50932172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906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E5E8CDD-F0B5-4F6A-8CA8-770D0392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843C8DD9-6536-4FE2-84BF-F8954F8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636CBD29-8FC7-43CF-9296-F387A23A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EF4B920D-810D-4B56-A61C-51507175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  <a:endParaRPr sz="14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A20E8228-4654-474A-B810-F3791F99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남/여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(기준값 0.5)</a:t>
            </a:r>
            <a:endParaRPr sz="12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41A23429-DAA0-4ABC-ADD6-FB348D7B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6280"/>
            <a:ext cx="71624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왜 이 방법인가</a:t>
            </a:r>
            <a:endParaRPr sz="18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EC93712B-11C0-44FC-941C-71EA0E34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7760"/>
            <a:ext cx="7162495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 구간 전체의 음향 통계와 앞 20초 화자 임베딩을 결합</a:t>
            </a:r>
            <a:endParaRPr sz="13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동일 고정 LR head로 내부 97.38%, 공식 97.47% 확인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기존 52D LR 공식 </a:t>
            </a: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97.47%</a:t>
            </a: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 대비 +2.36%p로 채택</a:t>
            </a:r>
          </a:p>
        </p:txBody>
      </p:sp>
    </p:spTree>
    <p:extLst>
      <p:ext uri="{BB962C8B-B14F-4D97-AF65-F5344CB8AC3E}">
        <p14:creationId xmlns:p14="http://schemas.microsoft.com/office/powerpoint/2010/main" val="313732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975EAF2-0DDD-4620-A6AD-7E7C8241E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6b29ff159499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42CD030-49AB-4037-9184-3575DFB9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03  미션별 수행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EC6F22B-765E-4A53-8F49-A91114F5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10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51CA296-E3BB-4E02-95A1-8A65980A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EEC1905-7682-4F32-AD6C-E8114626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Mission 1  신고자 성별 분류 — 결과와 시사점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BA0947B-44B8-4F0A-AA6E-883C8347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77F44BD-D30E-47F1-8CEF-1DBF8CC5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WavLM+52D LR 공식 97.47%, 기존 52D LR </a:t>
            </a: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97.47%</a:t>
            </a: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 대비 +2.36%p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16B21C6-6C53-4C52-9CBA-F95FAD73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868680"/>
            <a:ext cx="15544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DD2"/>
          </a:solidFill>
          <a:ln xmlns:a="http://schemas.openxmlformats.org/drawingml/2006/main" w="12700">
            <a:solidFill>
              <a:srgbClr val="FFCDD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CB25F21-0D0E-453E-9CEF-353C9152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86868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53935"/>
                </a:solidFill>
                <a:latin typeface="맑은 고딕"/>
                <a:ea typeface="맑은 고딕"/>
                <a:cs typeface="맑은 고딕"/>
              </a:rPr>
              <a:t>잠정 · 10/10 기준</a:t>
            </a:r>
            <a:endParaRPr sz="1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13B0D4-9531-4B6F-ABB6-5237BD4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6675120" cy="397764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F49A7E8-22D1-450E-8E71-736A44C7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97.47%</a:t>
            </a:r>
            <a:endParaRPr sz="4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827CBFD-84B4-4803-A750-D6D06634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3639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Accuracy (공식 Validation)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AABC27C-3F3D-400A-8BC8-1DE488C8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3,548 / 3,640 정답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오분류 92건</a:t>
            </a:r>
          </a:p>
        </p:txBody>
      </p:sp>
      <p:graphicFrame>
        <p:nvGraphicFramePr>
          <p:cNvPr id="15" name="Chart 0">
            <a:extLst xmlns:a="http://schemas.openxmlformats.org/drawingml/2006/main">
              <a:ext uri="{FF2B5EF4-FFF2-40B4-BE49-F238E27FC236}">
                <a16:creationId xmlns:a16="http://schemas.microsoft.com/office/drawing/2014/main" id="{D65143AB-95C7-490B-92BA-E04F7FD9172A}"/>
              </a:ext>
            </a:extLst>
          </p:cNvPr>
          <p:cNvGraphicFramePr/>
          <p:nvPr/>
        </p:nvGraphicFramePr>
        <p:xfrm>
          <a:off xmlns:a="http://schemas.openxmlformats.org/drawingml/2006/main" x="3108960" y="2377440"/>
          <a:ext xmlns:a="http://schemas.openxmlformats.org/drawingml/2006/main" cx="384048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0904112b254e3b"/>
          </a:graphicData>
        </a:graphic>
      </p:graphicFrame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D8254CE4-7FE5-4F9A-BA72-5A6BC190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240280"/>
            <a:ext cx="432785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FD00383-1B8E-45D5-8C30-A97B984F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31720"/>
            <a:ext cx="3962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결과 분석</a:t>
            </a:r>
            <a:endParaRPr sz="15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9A8315D-7E18-418F-B36C-A795D804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3962095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오류 감소  기존 178건에서 92건으로 감소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분할 검증  내부 97.38%, 공식 97.47%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성별 recall  여성 97.96%, 남성 96.91%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5604743-6529-4552-A4EA-0372101C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977640"/>
            <a:ext cx="4327855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FBB652E-8445-4159-8ED1-C72E3D15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050792"/>
            <a:ext cx="39620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재현 정보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C172415-E5F9-4864-AADE-17E0CE62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343400"/>
            <a:ext cx="39620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564D + StandardScaler + LR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T4 batch 1, 공식 평가 1,212.6초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615E8EF-93EE-421B-900B-3CBEFBE5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074920"/>
            <a:ext cx="4327855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E8F5E9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09699BD-829A-4650-87D6-7C87BF30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365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💡</a:t>
            </a:r>
            <a:endParaRPr sz="18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AC68F7B-38C5-406D-96D7-73BB8B5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074920"/>
            <a:ext cx="364205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사회안전 시사점  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성별 정보 자동 기록을 접수 보조에 활용 가능. 실제 업무 효과는 추가 검증 필요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0FF65299-0580-4714-A99A-AAC223A2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reports/mission1/m1_xvec001_official_validation.json (10/10 GPU 평가)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07063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0BF088B8-083D-4C92-A4B5-3156BBA7F8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3a43b73734d6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4DA8F5-B96E-4339-BA8E-23A8A7B0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03  미션별 수행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4B70EDA-1726-4AAC-A737-25A007F1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11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34841BD-6BCB-4E9D-BBDF-BE4AB0C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128B72D-C765-4838-B726-ABBF0A9C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Mission 2  신고자/119대원 분류 — 문제 정의와 접근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F92BEEF-4868-4679-89A7-B64D8113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E5B0C0-0759-44E5-B8AB-334F1E3E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규칙상 '발화 하나만 보고' 판단해야 함 — 통화 전체 정보 없이 목소리 자체에서 화자를 구분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00FE523-F393-46DD-8FAB-657842AE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3749040" cy="397764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A82FDD3-F7AE-49E1-ACE5-FD9113ED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7440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문제 정의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E21138D-D17F-4A9C-B619-FFE28AB8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EB3A886-BCC0-45F3-9CA1-4D04FCF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5DC8DF3-77FC-4379-8AF8-FF481391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6207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한 사람의 한 발화 조각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(startAt~endAt 구간만)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E7E5E34-4AD0-4E02-95BC-DA43256B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B4BD4E3-E83A-467D-A2E0-4A0B560C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1A02B96-66C6-4CE8-A461-BC177373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8503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신고자(1) / 119대원(0)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27F614E-3869-4746-A4EF-F8FFAC9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AC33C33-95ED-4C1B-808E-896D0EF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157A4FF-F464-4B4A-BBAE-7445790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50799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Accuracy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796AE2F-B3A3-4C64-B4F1-835F3BC6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4B2FBCC-5109-4CC1-84E6-3827D874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제약</a:t>
            </a:r>
            <a:endParaRPr sz="12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0BB9EE2-E72B-4A08-8BC6-7BBB4C1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3095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text · 발화 순서 · 다른 발화 정보 사용 불가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2442C54-C513-4E03-A9FC-956E10D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0280"/>
            <a:ext cx="71624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모델 구성</a:t>
            </a:r>
            <a:endParaRPr sz="1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D7F02B0-4631-4149-9233-C39E129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48D87CC-81B2-46C3-A75D-EFB0884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564677-7CBF-4C49-99C0-6841460B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C362345-D2F0-4BEC-82A1-EE4A255D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Baseline</a:t>
            </a:r>
            <a:endParaRPr sz="14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F914546-FC35-4C11-AAEA-B4C68393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음향 통계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+ LightGBM</a:t>
            </a:r>
            <a:endParaRPr sz="12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318CC8C8-E3C5-4EA1-BAE9-3B619AC5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421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3E3C6F4-1A87-4DDF-B6AA-321D0F22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3D0C62DC-24B2-4231-A8D0-CDB5518B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B27F8DFA-4210-4DBB-92F0-63069307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439C052-572B-4CA8-A860-D22097F8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L1</a:t>
            </a:r>
            <a:endParaRPr sz="14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EA41403-CC19-4B86-8ABC-F98F7996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402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음향 특징 확장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+ GBM</a:t>
            </a:r>
            <a:endParaRPr sz="120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656C304C-4D68-4B65-AE4C-BAAE54D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664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922D95A5-8B13-42F6-BAC9-07DC5E0E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557428F7-093D-406F-AF72-67093B23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20AA6EA9-172D-4B0D-B947-C8DF2568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FE619DEF-96AA-4810-A922-FE075EB8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L2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0D35510-F019-4FEB-835B-A1D477CC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645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Mel-spectrogram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+ CNN</a:t>
            </a:r>
            <a:endParaRPr sz="120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D473FEAE-CC58-4135-982D-0B22BDC9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906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D98F7BF-54D8-48EF-B5EC-7D69EB03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E28E7943-1E9F-47B8-BED4-10EFDF8E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802863B4-E690-48B6-ACDE-C6968EB7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F6076D6D-440C-47BF-A77F-42F07BFD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  <a:endParaRPr sz="14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8839CE83-CA31-4AEB-9FA0-48D74B1F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신고자/대원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(기준값 0.5)</a:t>
            </a:r>
            <a:endParaRPr sz="12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EAA5BA64-9946-40A9-A264-73F75880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6280"/>
            <a:ext cx="71624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왜 이 방법인가</a:t>
            </a:r>
            <a:endParaRPr sz="18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21ABF7B8-F555-4C6E-B4EB-0E2D5F5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7760"/>
            <a:ext cx="7162495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상황실 대원은 전화 헤드셋·일정한 말투, 신고자는 휴대전화·잡음·긴박함 → 음향 차이 존재</a:t>
            </a:r>
            <a:endParaRPr sz="13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통계 특징(L1)으로 한계 확인 후, 소리 모양 전체를 이미지처럼 보는 CNN(L2)으로 확장</a:t>
            </a:r>
            <a:endParaRPr sz="13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통화 단위 정보(같은 통화 다른 발화 비교)는 규칙 위반이라 설계에서 제외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224495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0B447A25-A7AA-41FB-B1DA-689C15B6E1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c47865523403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B8B5770-F30F-4DA8-9879-9D316FC5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03  미션별 수행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367261-CFCC-4CC6-ADAD-D499058B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12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ED3C867-CA3A-42DC-9FFD-2CDA0649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9E61846-F570-4AB9-BCB9-75AC46D6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Mission 2  신고자/119대원 분류 — 결과와 시사점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5DD8965-A763-44D9-B740-96CBB97F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9676F6D-B8D1-43FA-85DE-D7F6F1B4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공식 Validation L1 86.44%, 원본 재학습 L2 3-seed 앙상블 91.49%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0DCE3E1-62FD-43DA-A890-9ED2CC54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868680"/>
            <a:ext cx="15544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DD2"/>
          </a:solidFill>
          <a:ln xmlns:a="http://schemas.openxmlformats.org/drawingml/2006/main" w="12700">
            <a:solidFill>
              <a:srgbClr val="FFCDD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60748C-1FF6-4B72-B5A4-3A00127A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86868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53935"/>
                </a:solidFill>
                <a:latin typeface="맑은 고딕"/>
                <a:ea typeface="맑은 고딕"/>
                <a:cs typeface="맑은 고딕"/>
              </a:rPr>
              <a:t>잠정 · 10/10 기준</a:t>
            </a:r>
            <a:endParaRPr sz="1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AF4DEA-5CBF-4662-A358-F3E9EC6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6675120" cy="397764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2" name="Chart 0">
            <a:extLst xmlns:a="http://schemas.openxmlformats.org/drawingml/2006/main">
              <a:ext uri="{FF2B5EF4-FFF2-40B4-BE49-F238E27FC236}">
                <a16:creationId xmlns:a16="http://schemas.microsoft.com/office/drawing/2014/main" id="{C9FBF1C3-204B-4ACB-BA1A-74F5EEB7147D}"/>
              </a:ext>
            </a:extLst>
          </p:cNvPr>
          <p:cNvGraphicFramePr/>
          <p:nvPr/>
        </p:nvGraphicFramePr>
        <p:xfrm>
          <a:off xmlns:a="http://schemas.openxmlformats.org/drawingml/2006/main" x="640080" y="2377440"/>
          <a:ext xmlns:a="http://schemas.openxmlformats.org/drawingml/2006/main" cx="420624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030d2bc0814bfb"/>
          </a:graphicData>
        </a:graphic>
      </p:graphicFrame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2B0851C-911B-4150-A161-AA63BE6C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43200"/>
            <a:ext cx="2103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E53935"/>
                </a:solidFill>
                <a:latin typeface="맑은 고딕"/>
                <a:ea typeface="맑은 고딕"/>
                <a:cs typeface="맑은 고딕"/>
              </a:rPr>
              <a:t>+5.05%p</a:t>
            </a:r>
            <a:endParaRPr sz="3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2930C0-1C37-41DA-883F-B0707EB1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56432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동일 공식 Val의 L1 대비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BD5D18E-93E3-4438-A60C-43833548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114800"/>
            <a:ext cx="21031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이전 91.55%는 참고용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원본 재학습 후보 유지</a:t>
            </a:r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최종 가중치 확보 필요</a:t>
            </a:r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공식 점수 재현 대기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7A1E981-B6C9-4738-8708-2B1BD78E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240280"/>
            <a:ext cx="432785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6DD9E69-1066-46B2-83CC-A1F75363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31720"/>
            <a:ext cx="3962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결과 분석</a:t>
            </a:r>
            <a:endParaRPr sz="15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0E7AEDB-D05F-4ECB-A9AC-E023C947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3962095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오류가 몰린 곳  </a:t>
            </a: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1초 미만 짧은 발화("네", "여보세요")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데이터 규모  </a:t>
            </a: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대원 recall 87.15%, 신고자 95.51%. 제공된 JSON 라벨로 재학습</a:t>
            </a:r>
            <a:endParaRPr sz="12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C62B5D2-195C-4AB2-8736-2DB15D39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977640"/>
            <a:ext cx="4327855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13ADA45-87CA-4C53-A3D6-61101ED5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050792"/>
            <a:ext cx="39620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재현 정보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B136DF7-7474-47BA-BB0A-2F65E719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343400"/>
            <a:ext cx="39620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1,265,862 파라미터(3모델), CPU batch 1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공식 Val 111,947발화, 85.3분(45.7ms/발화)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C7E239A-3DD4-43B4-B8BD-23F83A76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074920"/>
            <a:ext cx="4327855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E8F5E9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EDF8FA8-D755-4D73-AE86-DD057F6A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365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💡</a:t>
            </a:r>
            <a:endParaRPr sz="18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CF3EC84-019B-44BA-8662-DFA8C49A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074920"/>
            <a:ext cx="364205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사회안전 시사점  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 발화 자동 분리는 신고 내용 분석과 기록의 입력 단계로 활용 가능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4A38CB8-2F8A-478C-8BC2-A99B4281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docs/experiment_log.md, docs/decisions.md, reports/mission2/  M2-RERUN-001(10/06), M2-ENS-003(10/04), M2-RETRAIN-001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307143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7FA6401-A66B-41DB-8872-3C5BEFFFA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42ede4f8b46d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4E39412-AA39-4BF8-8900-C9F46FD0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03  미션별 수행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8F7D9-4E55-4EA4-9E82-E166157E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13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4B4B2D7-3306-4DD2-9389-49255E9A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6656BFA-A12C-4236-9AC5-84DAF41D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Mission 2  신고자/대원 분류 — 다른 접근과 기각/보류 이유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26FFD35-795D-4FC3-A2EB-C081CEDB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7CEDE0F-64E5-4A5D-AD24-0F25081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채택한 CNN 하나로 끝내지 않고 여러 방향을 검증 — 효과 없거나 규칙에 어긋난 조합은 이유와 함께 기록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A8440FC-CEA6-48A1-81E8-501248B5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11277295" cy="333756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4" name="Table 0">
            <a:extLst xmlns:a="http://schemas.openxmlformats.org/drawingml/2006/main">
              <a:ext uri="{FF2B5EF4-FFF2-40B4-BE49-F238E27FC236}">
                <a16:creationId xmlns:a16="http://schemas.microsoft.com/office/drawing/2014/main" id="{38F364CB-C122-4F88-AABB-39CF387A1A73}"/>
              </a:ext>
            </a:extLst>
          </p:cNvPr>
          <p:cNvGraphicFramePr/>
          <p:nvPr/>
        </p:nvGraphicFramePr>
        <p:xfrm>
          <a:off xmlns:a="http://schemas.openxmlformats.org/drawingml/2006/main" x="640080" y="2423160"/>
          <a:ext xmlns:a="http://schemas.openxmlformats.org/drawingml/2006/main" cx="9144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0240"/>
                <a:gridCol w="4206240"/>
                <a:gridCol w="2743200"/>
                <a:gridCol w="2039112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시도했나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단위 특징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통화 내 다른 발화와 비교한 통계(상대 길이 등)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위반 소지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E539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L1 + L2 블렌딩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 교정 라벨 모델, 내부 파일럿 비교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 평균 개선 약 0.00%p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E539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 (+0.5%p 미달)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CNN 시드 앙상블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1/2/3 소프트보팅, 원본부터 재학습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Val 91.49%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2F4E9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후보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MLP 별도 트랙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42D 공식 평가와 59D 내부 평가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85.29% / 87.38% (분할 상이)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61616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조건 비교 대기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 임베딩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4,000통화 파일럿, 고정 임베딩 + LR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86.18%, L1 대비 +1.82%p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E539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 (+2%p 미달)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46DB9F9-D2E5-493E-BBAD-97B5EBA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0720"/>
            <a:ext cx="11277295" cy="5943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17B8FDC-5D42-4534-8BED-98681554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60720"/>
            <a:ext cx="365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💡</a:t>
            </a:r>
            <a:endParaRPr sz="1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44D38C2-D3CE-48C6-BDAB-85E22CA9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60720"/>
            <a:ext cx="10591495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실험 선택 기준  </a:t>
            </a: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성능 개선 폭과 추론 비용, 입력 제한을 함께 검토하고 기각한 결과도 기록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F7C6383-4A3B-4140-BF92-028C07CD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docs/experiment_log.md M2-RERUN-001/SSL-001/MODEL, m2_l1_l2_blend.md (과거 모델 분석)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5867470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078EF249-755B-4551-A70E-FDF9B55F3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029cd472e41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A7C8BE-A836-4BA1-95BC-77C8676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03  미션별 수행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0493BB4-987D-4992-833C-C91C6DB7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14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849332-0746-4783-8E65-E9919E69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523DB27-1E2E-4936-867C-3412E3AE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Mission 3  환자 증상 인식 — 문제 정의와 접근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EAFFF20-F2E0-46B4-96A1-5E64958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39240D-C18C-4A49-A290-62B0FF53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TF-IDF에서 문맥 모델과 손실 개선으로 확장, threshold 0.5 고정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F52B8CC-B926-40AD-B650-87D0F277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3749040" cy="397764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9F15E6C-1FA8-4675-91BE-0547A232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7440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문제 정의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4C12F97-07A5-4944-84D2-96F9289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FC8E2A5-BF62-4836-B3A8-13423DDA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CE88A-16B2-44E6-85F7-7C5D4B13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6207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신고자·대원 전사 텍스트만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B331179-865A-4BB2-9979-96A972BD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F1F7BCF-BD67-46FA-BE2F-13C17AA1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32EE19D-DE74-44E5-9265-6EDC7617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8503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증상 9종, 0~9개 다중 레이블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7C964D1-3CE2-40A3-B5D7-182AEC62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1E4CBAC-8233-4619-B352-3EB0CBEF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B8A4C03-3FDA-44AB-B72A-614AAE7C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50799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Macro F1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6AD2931-B610-49F1-A4F4-5988198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86868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57A6980-45D1-4854-A22B-535A7D8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</a:t>
            </a:r>
            <a:endParaRPr sz="12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154FABC-ABFD-4905-A93F-A8D03889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30952"/>
            <a:ext cx="2331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고열·구토·두통·복통·어지러움·열상·오심·전신쇠약·호흡곤란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07EC152-289D-44F3-A1E3-4736A703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0280"/>
            <a:ext cx="71624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모델 구성</a:t>
            </a:r>
            <a:endParaRPr sz="1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C414CCC-35EA-4FD6-82DC-6044CEF1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72B58AE-6555-4832-9A21-3D1DEC63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B6CFE17-96C5-4890-A898-25A0B33F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8D47A0D-ED03-4162-89C5-6828EE3E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전처리</a:t>
            </a:r>
            <a:endParaRPr sz="14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4718133-10B3-4C51-BC64-DC9589F4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전사 시간순 정렬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앞 256토큰</a:t>
            </a:r>
            <a:endParaRPr sz="12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CE82E64-566B-4D71-AB67-944BAFCC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421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F561801-6CBD-4EF3-8F34-3BD7788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A56C350-F43B-4C46-9095-153EDD13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D93B1FE-2CB8-489B-8735-B4931FF7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CF578FC7-4E03-4752-A15A-232CF1E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242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문맥 표현</a:t>
            </a:r>
            <a:endParaRPr sz="14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34E7C2C-046D-4E41-A83A-59BCB501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402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klue/roberta-large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미세조정</a:t>
            </a:r>
            <a:endParaRPr sz="120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8543809-EABC-4732-AFA0-93573AE0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664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B7BE2B5F-D827-4CA2-934D-BB656EEA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4EFA2F1F-C24F-4458-97BD-CE9CC058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5AD15E52-B498-49A3-83FA-40BC3607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EE9B28C7-BC61-4C62-B7EA-F972C9B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 손실</a:t>
            </a:r>
            <a:endParaRPr sz="14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0E3CA3C-9A32-4839-A1F9-B347D9F5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645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가중 BCE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+ soft macro-F1</a:t>
            </a:r>
            <a:endParaRPr sz="120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B9A23ACA-135B-4841-832F-1DC79658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906" y="3291840"/>
            <a:ext cx="201168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A99A45F2-B82F-44C3-A7BB-D773C03B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16002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257325D2-4F37-4AE6-9B17-311F6CC0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7A15C1A5-78AD-4E0A-9FD9-AF9A7410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971800"/>
            <a:ext cx="157276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F54C7C19-E8B1-4E6E-AE5E-63820ED7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727" y="2697480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  <a:endParaRPr sz="14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3E7A6893-2143-4CD5-B88F-824EB2F5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87" y="3264408"/>
            <a:ext cx="12984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sigmoid ≥ 0.5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후처리 없음</a:t>
            </a:r>
            <a:endParaRPr sz="12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92451713-8C77-416C-B486-8919F36E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6280"/>
            <a:ext cx="71624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왜 이 방법인가</a:t>
            </a:r>
            <a:endParaRPr sz="18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19B47AE-0E0B-45E2-867D-7E0CB6BC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7760"/>
            <a:ext cx="7162495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JSON 단위 80:20 multilabel 층화 분할 고정, 분할 seed 42, 학습 seed 42/43/44</a:t>
            </a:r>
            <a:endParaRPr sz="13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가중 BCE와 soft-F1으로 증상 불균형 대응, 내부 3-seed 평균 0.6427</a:t>
            </a:r>
            <a:endParaRPr sz="13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공식 Val은 학습에 쓰지 않음. seed 42 RoBERTa 단일 모델 채택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3691546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89A7F98E-0F5F-4C92-A483-324BC137E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6fba2e411415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095977F-DB75-4877-9566-1C4BAEA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03  미션별 수행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1B5BAE3-F2B7-4E91-ADBE-08CDF0DE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15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F14D7D9-C7DF-40C5-B5E6-B896532E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2320BAF-EBA1-4514-80DB-08925BD7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Mission 3  환자 증상 인식 — 결과와 시사점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731F9E2-7C89-4B3D-93AC-781B0DD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FD94683-8D07-4769-ABBE-7A1FE148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RoBERTa 단일 모델 채택, 공식 Macro F1 0.6433 (+0.0187)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7B0C99A-6E9A-4F74-A1FA-245D02B5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868680"/>
            <a:ext cx="15544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DD2"/>
          </a:solidFill>
          <a:ln xmlns:a="http://schemas.openxmlformats.org/drawingml/2006/main" w="12700">
            <a:solidFill>
              <a:srgbClr val="FFCDD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47F16DC-D2E7-40D3-A6F8-7B7A7997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86868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53935"/>
                </a:solidFill>
                <a:latin typeface="맑은 고딕"/>
                <a:ea typeface="맑은 고딕"/>
                <a:cs typeface="맑은 고딕"/>
              </a:rPr>
              <a:t>잠정 · 10/10 기준</a:t>
            </a:r>
            <a:endParaRPr sz="1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CD7FE54-3C79-4552-B422-D656EA64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6675120" cy="397764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D2F1AC4-ECE4-4DA0-9D89-DC62635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0.6433</a:t>
            </a:r>
            <a:endParaRPr sz="4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3E9D3F9-B767-4285-8EB6-15AAE068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36392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공식 Val 3,640건, 채택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23418E4-1B5C-4A9D-9B4F-B0FA0724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Micro F1 0.6581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빈 예측 123건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내부 3-seed 평균 0.6427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6025662-1D77-4C04-A530-B99E3C0C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3모델 분석 0.6510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단독 대비 +0.0077</a:t>
            </a:r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채택 기준 +0.01 미달</a:t>
            </a:r>
          </a:p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앙상블 기각</a:t>
            </a:r>
          </a:p>
        </p:txBody>
      </p:sp>
      <p:graphicFrame>
        <p:nvGraphicFramePr>
          <p:cNvPr id="16" name="Chart 0">
            <a:extLst xmlns:a="http://schemas.openxmlformats.org/drawingml/2006/main">
              <a:ext uri="{FF2B5EF4-FFF2-40B4-BE49-F238E27FC236}">
                <a16:creationId xmlns:a16="http://schemas.microsoft.com/office/drawing/2014/main" id="{6DC5B1C5-7FE8-4C5C-B8B5-9256C6D2EF50}"/>
              </a:ext>
            </a:extLst>
          </p:cNvPr>
          <p:cNvGraphicFramePr/>
          <p:nvPr/>
        </p:nvGraphicFramePr>
        <p:xfrm>
          <a:off xmlns:a="http://schemas.openxmlformats.org/drawingml/2006/main" x="3108960" y="2377440"/>
          <a:ext xmlns:a="http://schemas.openxmlformats.org/drawingml/2006/main" cx="384048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deb96870af4082"/>
          </a:graphicData>
        </a:graphic>
      </p:graphicFrame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4CFDCC4-6E87-44C3-A397-3CEC7ED3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240280"/>
            <a:ext cx="4327855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8B01414-B309-4504-9342-A53C19F7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31720"/>
            <a:ext cx="3962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결과 분석</a:t>
            </a:r>
            <a:endParaRPr sz="15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16602A4-A328-4AC5-8C76-6C71582F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3962095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내부 3-seed 평균: 오심 F1 0.365, 두통 0.524로 개선 여지 존재. soft-F1은 F1을 높였으나 확률 보정은 악화(ECE 0.028에서 0.052).</a:t>
            </a:r>
            <a:endParaRPr sz="12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2675B2A7-0A03-43F6-B35F-BCC1037C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977640"/>
            <a:ext cx="4327855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176881B-158F-4C76-8ACF-7B289CA4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050792"/>
            <a:ext cx="39620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재현 정보</a:t>
            </a:r>
            <a:endParaRPr sz="13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9B65465-8F87-40D1-A2D6-6345C2AC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343400"/>
            <a:ext cx="39620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336,665,609 파라미터, batch 32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CPU 재검증 5,477.6초, M1 동시 실행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A84D92EB-0FB4-4FEB-BCFB-8B821382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074920"/>
            <a:ext cx="4327855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E8F5E9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A5293F3-24A9-48C4-8FC2-404B4095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3657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💡</a:t>
            </a:r>
            <a:endParaRPr sz="18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856B79B-6ADC-46A9-8968-8C12684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074920"/>
            <a:ext cx="364205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사회안전 시사점  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증상 후보를 접수 요원에게 표시해 누락 확인을 보조. 오심·두통은 사람이 재확인</a:t>
            </a:r>
            <a:endParaRPr sz="13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55BAC86B-8FC7-4844-8571-69C9785E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reports/mission3/official_val/README.md, ensemble/README.md, docs/experiment_log.md (10/10)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688597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96BEE18-BD31-42B4-AF4F-7F0DCF0B44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3f3852bd4431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65C59E0-9D04-449B-8752-3CDC301A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03  미션별 수행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AFA910-1058-45FF-9169-A0C86CE6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16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D7D1938-92E9-4937-8DB9-D4CA467E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ADDF553-AF1C-4C5E-A4E3-5C5DFAF9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Mission 3  추가 실험과 채택·기각 근거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D7525F8-D3CB-4D1A-AD18-E68AE600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54096B7-56CC-4F51-844A-B57F3FC6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점수가 오른 분석 결과도 사전 채택 기준과 제출 비용을 확인한 뒤 선택</a:t>
            </a:r>
            <a:endParaRPr sz="1600"/>
          </a:p>
        </p:txBody>
      </p:sp>
      <p:graphicFrame>
        <p:nvGraphicFramePr>
          <p:cNvPr id="17" name="Table 0">
            <a:extLst xmlns:a="http://schemas.openxmlformats.org/drawingml/2006/main">
              <a:ext uri="{FF2B5EF4-FFF2-40B4-BE49-F238E27FC236}">
                <a16:creationId xmlns:a16="http://schemas.microsoft.com/office/drawing/2014/main" id="{0AA76AE0-E920-4F3E-ADF2-8686499C474D}"/>
              </a:ext>
            </a:extLst>
          </p:cNvPr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9144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6080"/>
                <a:gridCol w="2834640"/>
                <a:gridCol w="2194560"/>
                <a:gridCol w="3319272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조건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RoBERTa + soft-F1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동일 분할, 3-seed 평균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0.6427 (+0.0186)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채택, 공식 0.6433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KcBERT + RoBERTa 평균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동일 분할, 3-seed 평균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0.6455 (+0.0028)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 (+0.01 미달)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9개 외 증상 보조 헤드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seed 42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0.6474 (+0.0033)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 (+0.01 미달)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RoBERTa + KcBERT + TF-IDF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내부 선택, 공식 Val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0.6510 (+0.0077)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 (+0.01 미달)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8BEF8D0-580A-483D-A0EA-0A5DE3D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29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제출 모델: RoBERTa-003 seed 42. 추가 실험은 이번 제출에 반영하지 않음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A927D06-7F57-4BBC-900A-066000ED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6440"/>
            <a:ext cx="1127729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제출 폴더에 코드·가중치·실제 학습 기록 동봉, 별도 새 설치 환경 확인 필요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A9A9225-8CCA-4CE8-8EF3-CA7960AF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근거: docs/decisions.md 2026-10-10, experiment_log.md M3-ENS-001/ROBERTA-004/ENSTF-002, PR #116/#127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20182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8AE9DDD-AC9A-4283-8954-F7C7529657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4c497cefa447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2E49592-419F-49C2-85B2-2E733E5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04  종합 및 시사점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8686835-011F-4FCE-A4CD-B934D3C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17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CE9FE2A-EA72-4132-B07A-83343403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678F9BA-CF0D-455C-9B0D-4E6DEE5E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(1) 성능 요약과 교훈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E157D3A-AF69-4D85-88D1-3F63E56C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24B7F03-1F98-46FB-B443-45F23089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세 미션 모두 공식 Validation 기준으로 평가하고, 점수보다 검증의 정직함을 우선함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02D978F-DC03-47B7-AF5D-05CB68F2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868680"/>
            <a:ext cx="155448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DD2"/>
          </a:solidFill>
          <a:ln xmlns:a="http://schemas.openxmlformats.org/drawingml/2006/main" w="12700">
            <a:solidFill>
              <a:srgbClr val="FFCDD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EAFDB1-6D6D-4DD8-BC90-D60EE32F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015" y="86868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E53935"/>
                </a:solidFill>
                <a:latin typeface="맑은 고딕"/>
                <a:ea typeface="맑은 고딕"/>
                <a:cs typeface="맑은 고딕"/>
              </a:rPr>
              <a:t>잠정 · 10/10 기준</a:t>
            </a:r>
            <a:endParaRPr sz="1000"/>
          </a:p>
        </p:txBody>
      </p:sp>
      <p:graphicFrame>
        <p:nvGraphicFramePr>
          <p:cNvPr id="18" name="Table 0">
            <a:extLst xmlns:a="http://schemas.openxmlformats.org/drawingml/2006/main">
              <a:ext uri="{FF2B5EF4-FFF2-40B4-BE49-F238E27FC236}">
                <a16:creationId xmlns:a16="http://schemas.microsoft.com/office/drawing/2014/main" id="{59FC3762-D95C-4CF4-A142-82BF05D1C8FF}"/>
              </a:ext>
            </a:extLst>
          </p:cNvPr>
          <p:cNvGraphicFramePr/>
          <p:nvPr/>
        </p:nvGraphicFramePr>
        <p:xfrm>
          <a:off xmlns:a="http://schemas.openxmlformats.org/drawingml/2006/main" x="457200" y="2240280"/>
          <a:ext xmlns:a="http://schemas.openxmlformats.org/drawingml/2006/main" cx="9144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0160"/>
                <a:gridCol w="2377440"/>
                <a:gridCol w="2743200"/>
                <a:gridCol w="1371600"/>
                <a:gridCol w="2011680"/>
                <a:gridCol w="1490472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/ 후보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Validation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  <a:solidFill>
                      <a:srgbClr val="2F4E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1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성별 분류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WavLM+52D LR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F4E9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97.47%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신고자/119대원 분류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재학습 CNN 3-seed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F4E9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91.49%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확보 필요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3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 증상 인식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RoBERTa-003 + soft-F1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 F1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F4E9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0.6433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121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73152" marR="73152" marT="73152" marB="73152" anchor="ctr">
                    <a:lnL w="12700" cmpd="sng">
                      <a:solidFill>
                        <a:srgbClr val="E0E0E0"/>
                      </a:solidFill>
                      <a:prstDash val="solid"/>
                    </a:lnL>
                    <a:lnR w="12700" cmpd="sng">
                      <a:solidFill>
                        <a:srgbClr val="E0E0E0"/>
                      </a:solidFill>
                      <a:prstDash val="solid"/>
                    </a:lnR>
                    <a:lnT w="12700" cmpd="sng">
                      <a:solidFill>
                        <a:srgbClr val="E0E0E0"/>
                      </a:solidFill>
                      <a:prstDash val="solid"/>
                    </a:lnT>
                    <a:lnB w="12700" cmpd="sng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5849A78-2FCA-4229-8EBF-0DC0C67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3576218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CF194F6-B32E-4191-ABF1-1F935CC6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3F21E72-EEE8-4D1D-A23E-CCA4661B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D54CDD8-A3B8-49BC-AAC7-1FB42602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26280"/>
            <a:ext cx="25703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점수보다 검증 먼저</a:t>
            </a:r>
            <a:endParaRPr sz="16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37AB723-11EA-4756-9068-92C2732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311901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내부 홀드아웃과 공식 점수를 구분하고, 동일 분할·동일 seed에서 개선을 비교</a:t>
            </a:r>
            <a:endParaRPr sz="12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2FA6F9C-763F-4FF4-AA4E-A9E5153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38" y="4343400"/>
            <a:ext cx="3576218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4">
            <a:extLst xmlns:a="http://schemas.openxmlformats.org/drawingml/2006/main">
              <a:ext uri="{FF2B5EF4-FFF2-40B4-BE49-F238E27FC236}">
                <a16:creationId xmlns:a16="http://schemas.microsoft.com/office/drawing/2014/main" id="{1F9B78A6-5A82-47D6-9EDE-67DF327E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338" y="45262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865B49E-1E8E-4907-9E92-651D970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338" y="45262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FEB72FA8-0BE3-44EE-8C60-146ED45A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698" y="4526280"/>
            <a:ext cx="25703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기각도 기록한다</a:t>
            </a:r>
            <a:endParaRPr sz="16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C00F100-581E-4F44-BB18-DCEAFAA5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338" y="5120640"/>
            <a:ext cx="311901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효과 없던 실험과 그 이유를 decisions.md에 남겨 같은 시도를 반복하지 않음</a:t>
            </a:r>
            <a:endParaRPr sz="12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F7F8444-2D58-4D83-9CFF-2F16430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4343400"/>
            <a:ext cx="3576218" cy="178308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85ACC05A-4A19-4912-8D04-912E054C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877" y="45262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93CC6CA-81EF-4708-ADF5-4665A85B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877" y="45262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062E4E9-0021-4AC2-A862-987C2E44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237" y="4526280"/>
            <a:ext cx="25703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규칙은 설계 단계에서</a:t>
            </a:r>
            <a:endParaRPr sz="16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07E869E-D308-445F-8179-840FCB18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877" y="5120640"/>
            <a:ext cx="311901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규칙 위반 소지가 있는 특징은 성능이 좋아도 제거 (M2 통화 단위 정보)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4726779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7FD80C9-1646-4CB1-B7A2-B1A7D7812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99cb8ee2e44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4373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77BA3F9-71F2-4FF0-9909-E420EC33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0314"/>
            <a:ext cx="7315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04  종합 및 시사점</a:t>
            </a:r>
            <a:endParaRPr sz="12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6558022-D8AF-45A0-AF30-5B081728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295" y="68031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eigensinn  |  18</a:t>
            </a:r>
            <a:endParaRPr sz="1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6846AFD-49E8-4FDD-8695-D34B622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6346"/>
            <a:ext cx="112772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0E0E0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2D32402-C33C-42FC-9D25-45767CA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2066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(2) 사회안전 시사점과 향후 계획</a:t>
            </a:r>
            <a:endParaRPr sz="1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F3F6F14-31A2-496C-BE95-6264B60B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1277295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2700">
            <a:solidFill>
              <a:srgbClr val="EAF3F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0E41DE3-4FC4-4370-BED0-B549DA17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세 미션을 이으면 — 119 신고 접수 순간부터 출동 판단까지를 돕는 하나의 흐름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4ECE852-3077-4FDB-A127-DEE9E1F4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192024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5B82A41-5A13-4B1C-9AA1-62716361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9774347-0973-48B3-828E-CF1829AD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3CF2985-EF2D-4EEB-BB4B-9405793C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신고 접수</a:t>
            </a:r>
            <a:endParaRPr sz="1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BEB7457-BAF6-4464-9F9F-4D550A59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07208"/>
            <a:ext cx="1645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119 통화 음성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72641F5-FA43-4589-9352-5D7E29B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8936" y="2743200"/>
            <a:ext cx="256032" cy="3657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1A717F5-6CAC-4871-B1A9-5CCBBC3A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64" y="2240280"/>
            <a:ext cx="192024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ADACDED-BD9E-413D-A0B6-248963F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64" y="224028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BA91E1C-0F8C-437A-83BC-50A3FF80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64" y="251460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00EB072-33AC-447A-8D17-DE207058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64" y="224028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2</a:t>
            </a:r>
            <a:endParaRPr sz="1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7F6B1F6-5F88-485D-9F50-5E99A6EA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624" y="2807208"/>
            <a:ext cx="1645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 발화만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자동 분리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55EBF7D-8577-4C62-A73A-C7C137A9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200" y="2743200"/>
            <a:ext cx="256032" cy="3657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8B3A5F5-8071-41E6-944D-ADFA1AC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2240280"/>
            <a:ext cx="192024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0EC1D1-2885-4E90-984C-26483532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224028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EAE6353-32BB-43F0-80D0-F3083C7E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251460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464B925-A292-4071-8077-21E91C46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728" y="224028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1</a:t>
            </a:r>
            <a:endParaRPr sz="14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DC0071D-572E-428D-8D6D-0C036E09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807208"/>
            <a:ext cx="1645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신고자 성별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자동 기록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389DE15-F467-43C0-96D9-0744DA8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464" y="2743200"/>
            <a:ext cx="256032" cy="3657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266A843-A8C2-47CF-B75A-1E1471E1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91" y="2240280"/>
            <a:ext cx="192024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B38ED99C-F9C2-4556-A0BF-8529906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91" y="224028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B147EDDF-7F63-4D7D-A659-6E73BE2D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91" y="251460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E91"/>
          </a:solidFill>
          <a:ln xmlns:a="http://schemas.openxmlformats.org/drawingml/2006/main" w="12700">
            <a:solidFill>
              <a:srgbClr val="2F4E91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899AD65-4074-48E6-87FD-A3699EB6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991" y="224028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Mission 3</a:t>
            </a:r>
            <a:endParaRPr sz="14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CD92C46-495C-491B-BEE9-ECB16E62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151" y="2807208"/>
            <a:ext cx="1645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환자 증상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자동 인식</a:t>
            </a:r>
            <a:endParaRPr sz="12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9E19672D-9FDE-437E-A74C-7E56CB4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27" y="2743200"/>
            <a:ext cx="256032" cy="3657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9DDA"/>
          </a:solidFill>
          <a:ln xmlns:a="http://schemas.openxmlformats.org/drawingml/2006/main" w="12700">
            <a:solidFill>
              <a:srgbClr val="009DDA"/>
            </a:solidFill>
            <a:prstDash val="solid"/>
          </a:ln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2F37EA8-01EA-4044-9154-19F05846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55" y="2240280"/>
            <a:ext cx="192024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144D6479-FCCD-45AC-A249-873B22F2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55" y="2240280"/>
            <a:ext cx="19202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251A6825-42B0-41A4-A11F-F7E832D5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55" y="2514600"/>
            <a:ext cx="192024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12700">
            <a:solidFill>
              <a:srgbClr val="8BC34A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E65CB4A-F695-4B1F-9C6C-F130BF7E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55" y="224028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출동 판단 보조</a:t>
            </a:r>
            <a:endParaRPr sz="14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E85D7B7-5B47-43B6-9B3E-33D59644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415" y="2807208"/>
            <a:ext cx="1645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우선순위 · 병원 선정</a:t>
            </a:r>
            <a:endParaRPr sz="12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CFFC5DAF-5F7F-457F-9F07-9F084BF1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5455768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E7E9FB3-1AD1-407B-8F13-1798A71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1648"/>
            <a:ext cx="49985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기대효과</a:t>
            </a:r>
            <a:endParaRPr sz="18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9060AAEB-9169-4552-988E-470654B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499856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접수 시간 단축</a:t>
            </a: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 — 상황실 요원의 수기 기록 부담 감소</a:t>
            </a:r>
            <a:endParaRPr sz="13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누락 방지</a:t>
            </a: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 — 긴박한 통화 속 증상 언급을 자동으로 표시</a:t>
            </a:r>
            <a:endParaRPr sz="13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판단 보조</a:t>
            </a:r>
            <a:r>
              <a:rPr sz="1300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 — 증상 정보로 출동 우선순위 결정 지원</a:t>
            </a:r>
            <a:endParaRPr sz="13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현장 적용 효과·안전성은 별도 검증 필요</a:t>
            </a:r>
            <a:endParaRPr sz="130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D8552C58-6B55-404C-9C72-2DA708E1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3931920"/>
            <a:ext cx="5455768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  <a:effectLst xmlns:a="http://schemas.openxmlformats.org/drawingml/2006/main">
            <a:outerShdw blurRad="63500" dist="12700" dir="54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3B4F260A-EAFB-469E-83F5-28BCC7D3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28" y="4041648"/>
            <a:ext cx="49985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■ 제출 일정과 남은 작업</a:t>
            </a:r>
            <a:endParaRPr sz="1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37432C55-3C25-4834-8090-9E6E24B2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28" y="4480560"/>
            <a:ext cx="499856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10/14  예선 결과물 제출, 교육 진도 확인</a:t>
            </a:r>
            <a:endParaRPr sz="13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M1·M3  선택 완료, 미션별 제출 폴더 준비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M2  선택 CNN 가중치·실행 학습 로그 확보 필요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212121"/>
                </a:solidFill>
                <a:latin typeface="맑은 고딕"/>
                <a:ea typeface="맑은 고딕"/>
                <a:cs typeface="맑은 고딕"/>
              </a:rPr>
              <a:t>10/28  본선 진출팀 발표 (공식 일정)</a:t>
            </a:r>
          </a:p>
        </p:txBody>
      </p:sp>
    </p:spTree>
    <p:extLst>
      <p:ext uri="{BB962C8B-B14F-4D97-AF65-F5344CB8AC3E}">
        <p14:creationId xmlns:p14="http://schemas.microsoft.com/office/powerpoint/2010/main" val="2590988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26C633D-61C3-4E18-BDB0-2145F2D48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b7c9d8b1246a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C4CF1C8-96BC-4F55-AB4A-43529460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112772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4E91"/>
                </a:solidFill>
                <a:latin typeface="맑은 고딕"/>
                <a:ea typeface="맑은 고딕"/>
                <a:cs typeface="맑은 고딕"/>
              </a:rPr>
              <a:t>팀 eigensinn  |  김장수 · 김광희 · 지연우 · 이수빈 · 조지은</a:t>
            </a:r>
            <a:endParaRPr sz="16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B0F0486-9BE8-411F-B3DE-E24B137C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9152"/>
            <a:ext cx="112772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16161"/>
                </a:solidFill>
                <a:latin typeface="맑은 고딕"/>
                <a:ea typeface="맑은 고딕"/>
                <a:cs typeface="맑은 고딕"/>
              </a:rPr>
              <a:t>코드 · 실험 기록: GitHub eigensinn-dcc2026/prelim  (docs/experiment_log.md, docs/decisions.md)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449519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2026-10-10T11:32:17.7900000Z</dcterms:created>
  <dcterms:modified xsi:type="dcterms:W3CDTF">2026-10-10T11:32:17.7900000Z</dcterms:modified>
</coreProperties>
</file>