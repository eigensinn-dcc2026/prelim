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2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3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212121"/>
                </a:solidFill>
                <a:latin typeface="맑은 고딕"/>
              </a:defRPr>
            </a:pPr>
            <a:r>
              <a:rPr sz="1200" b="0" i="0" u="none" strike="noStrike">
                <a:solidFill>
                  <a:srgbClr val="212121"/>
                </a:solidFill>
                <a:latin typeface="맑은 고딕"/>
              </a:rPr>
              <a:t>공식 Validation Accuracy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Accuracy</c:v>
                </c:pt>
              </c:strCache>
            </c:strRef>
          </c:tx>
          <c:spPr>
            <a:solidFill>
              <a:srgbClr val="E0E0E0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0E0E0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09DD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009DD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2F4E91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① 음향 특징 52개
+ LR (baseline)</c:v>
                  </c:pt>
                  <c:pt idx="1">
                    <c:v>② + x-vector
(앞 20초)</c:v>
                  </c:pt>
                  <c:pt idx="2">
                    <c:v>③ + 여러 구간
평균 x-vector</c:v>
                  </c:pt>
                  <c:pt idx="3">
                    <c:v>④ ③을 전체 데이터로
재학습 (제출)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95.11</c:v>
                </c:pt>
                <c:pt idx="1">
                  <c:v>97.47</c:v>
                </c:pt>
                <c:pt idx="2">
                  <c:v>98.13</c:v>
                </c:pt>
                <c:pt idx="3">
                  <c:v>98.1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1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212121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9"/>
          <c:min val="94"/>
        </c:scaling>
        <c:delete val="0"/>
        <c:axPos val="l"/>
        <c:majorGridlines>
          <c:spPr>
            <a:ln w="6350" cap="flat">
              <a:solidFill>
                <a:srgbClr val="E0E0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16161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212121"/>
                </a:solidFill>
                <a:latin typeface="맑은 고딕"/>
              </a:defRPr>
            </a:pPr>
            <a:r>
              <a:rPr sz="1200" b="0" i="0" u="none" strike="noStrike">
                <a:solidFill>
                  <a:srgbClr val="212121"/>
                </a:solidFill>
                <a:latin typeface="맑은 고딕"/>
              </a:rPr>
              <a:t>공식 Validation Accuracy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Accuracy</c:v>
                </c:pt>
              </c:strCache>
            </c:strRef>
          </c:tx>
          <c:spPr>
            <a:solidFill>
              <a:srgbClr val="E0E0E0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0E0E0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09DD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2F4E91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L1 LightGBM</c:v>
                  </c:pt>
                  <c:pt idx="1">
                    <c:v>L2 CNN 단일</c:v>
                  </c:pt>
                  <c:pt idx="2">
                    <c:v>L2 CNN
3-seed 앙상블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86.44</c:v>
                </c:pt>
                <c:pt idx="1">
                  <c:v>90.98</c:v>
                </c:pt>
                <c:pt idx="2">
                  <c:v>91.49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1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212121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3"/>
          <c:min val="84"/>
        </c:scaling>
        <c:delete val="0"/>
        <c:axPos val="l"/>
        <c:majorGridlines>
          <c:spPr>
            <a:ln w="6350" cap="flat">
              <a:solidFill>
                <a:srgbClr val="E0E0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16161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00" b="0" i="0" u="none" strike="noStrike">
                <a:solidFill>
                  <a:srgbClr val="212121"/>
                </a:solidFill>
                <a:latin typeface="맑은 고딕"/>
              </a:defRPr>
            </a:pPr>
            <a:r>
              <a:rPr sz="1000" b="0" i="0" u="none" strike="noStrike">
                <a:solidFill>
                  <a:srgbClr val="212121"/>
                </a:solidFill>
                <a:latin typeface="맑은 고딕"/>
              </a:rPr>
              <a:t>최종 RoBERTa 시드별·앙상블 공식 Val F1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Macro F1 (%)</c:v>
                </c:pt>
              </c:strCache>
            </c:strRef>
          </c:tx>
          <c:spPr>
            <a:solidFill>
              <a:srgbClr val="E0E0E0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0E0E0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09DD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2F4E91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8BC34A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RoBERTa s42</c:v>
                  </c:pt>
                  <c:pt idx="1">
                    <c:v>RoBERTa s43</c:v>
                  </c:pt>
                  <c:pt idx="2">
                    <c:v>RoBERTa s44</c:v>
                  </c:pt>
                  <c:pt idx="3">
                    <c:v>최종 앙상블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64.79</c:v>
                </c:pt>
                <c:pt idx="1">
                  <c:v>64.41</c:v>
                </c:pt>
                <c:pt idx="2">
                  <c:v>64.45</c:v>
                </c:pt>
                <c:pt idx="3">
                  <c:v>65.34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0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212121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5"/>
          <c:min val="0"/>
        </c:scaling>
        <c:delete val="0"/>
        <c:axPos val="l"/>
        <c:majorGridlines>
          <c:spPr>
            <a:ln w="6350" cap="flat">
              <a:solidFill>
                <a:srgbClr val="E0E0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16161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공식 템플릿(D+AICC PPT 대학부 템플릿.pptx) 슬라이드1 그대로. 이 장에는 글자를 추가하지 않음 — 프로젝트·팀 정보는 다음 장(2p)에서 제시.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프로젝트 타이틀. 공식 표지 바로 뒤에 배치해 제목·팀명을 보강.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원고 v2 구성(21장) 기준 목차.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근거: GitHub eigensinn-dcc2026/step0 README의 W1~W6 로드맵, 팀원별 notebooks/·outputs/.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근거: README.md 역할표, WORKFLOW.md(브랜치·PR 흐름), .github/workflows/(pr-ci, pr-verdict), docs/experiment_log.md, docs/decisions.md.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근거: 주최측 Q&amp;A 답변(2026.09.15), docs/experiment_log.md M2-EXP-008(통화 단위 특징 제거)·M2-RETRAIN-001(L1·L2를 제공된 라벨로 재학습), submission/mission1/README.md(WavLM), submission/mission3/README.md(RoBERTa-large).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근거: reports/eda/eda_report.md, reports/eda/figures/(gender_distribution, speaker_duration_buckets, symptom_prevalence), docs/experiment_log.md COM-EDA-001.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근거: submission/mission1/README.md(구성·상태), docs/experiment_log.md M1-XVEC-002-OFFVAL(다중 구간 평균 x-vector), M1-REFIT-OFFVAL-001(전체 재학습 제출 모델 98.10%).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근거: ① 95.11% 기존 52D LR(M1-XVEC-001-OFFVAL 비교값, docs/decisions.md 2026-10-05) / ② 97.47% M1-XVEC-001-OFFVAL / ③ 98.13% M1-XVEC-002-OFFVAL(사전 고정 기준 97.77% 충족) / ④ 98.10% M1-REFIT-OFFVAL-001. 주의 박스: M1-XVEC-002(2차) 내부 +0.34%p로 기준 +0.4%p 미달 → 기각.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근거: LightGBM vs LR — docs/decisions.md 2026-10-05 / RBF-SVM — M1-HEAD-001 / ECAPA — M1-ECAPA-001(3차)·M1-ECAPA-002 / 확률 평균 — M1-FUSE-001, M1-FUSE-001-OFFVAL(98.30%, 사전 고정 기준 98.434% 미달, McNemar p=0.345).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근거: submission/mission1/README.md — 공식 Validation 3,640건 98.10%, 여성 recall 98.26%, 남성 recall 97.92%. docs/experiment_log.md M1-REFIT-OFFVAL-001(단일 seed).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근거: submission/mission2/README.md, docs/experiment_log.md M2-RERUN-001·M2-ENS-003·M2-RETRAIN-001. 제약은 출제문제·주최측 Q&amp;A(2026.09.15), 추론 방식은 submission/mission2/README.md '추론' 절.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근거: L1 86.44%(M2-RETRAIN-001, 제공 라벨 재학습 L1) / CNN 단일 90.98%(M2-ENS-003 ts1) / 3-seed 앙상블 91.49%(M2-RERUN-001, submission/mission2/README.md). 겹침 구간: M2-COMPARE-002 — 겹침 L1 81.83%→L2 88.88%(+7.05%p), 안 겹침 90.01%→92.44%(+2.43%p), L2 단일 모델 기준. 패딩: M2-PAD-001(발화별 300프레임 채우기), M2-VAL-005, M2-PAD-002.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근거: 통화 단위 특징 M2-EXP-008 / 제공 라벨 재학습 M2-RETRAIN-001 / 확률 평균 M2-ENS-001 / 더 큰 CNN M2-CNN-008, 패딩 제외 풀링 M2-CNN-009, 길이 입력 M2-CNN-004·006, Mixup M2-MIX-001 / WavLM 고정 임베딩 M2-SSL-001, 기본 미세조정 M2-SSL-002 / WavLM 미세조정(3초 창·겹침 증강) M2-SSL-003. 모두 docs/experiment_log.md·docs/decisions.md.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근거: submission/mission2/README.md '결과와 계산 효율성' 표(91.49%, 대원 recall 87.15%, 신고자 recall 95.51%). 재현성: M2-RERUN-001(원본부터 재학습 91.49%) vs M2-ENS-003(이전 앙상블 91.55%).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근거: submission/mission3/README.md '모델' 절, docs/decisions.md M3-FINAL-002. 파이프라인·'왜' 문구는 이수빈 님 PR #200(subin/ppt-m3-storytelling-20261013)에서 가져옴.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근거: submission/mission3/README.md 결과 표(seed 42·43·44 0.6479/0.6441/0.6445, 앙상블 0.6534, Micro 0.6690, 빈 예측 149). 개선 흐름: M3-OFFVAL-001(TF-IDF 0.5689, KcBERT 0.6246), M3-OFFVAL-002(RoBERTa-large 0.6433), M3-FINAL-002(앙상블 0.6534). 증상별 약점: M3-FINAL-002(오심·두통·전신쇠약 F1이 가장 낮음).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근거: docs/decisions.md (M3-FINAL-002, 2026-10-11), submission/mission3/README.md, docs/experiment_log.md M3-ENS-001(과거 결합 기각)·M3-ERR-001(양성 라벨 약 52% 근거 없음, 오심 89%·전신쇠약 76%, 두 모델 모두 놓친 양성의 92%가 근거 없는 라벨, 근거 있는 라벨 약 90% 적중), reports/mission3/error_analysis/README.md. '근거 없음'은 키워드 정규식 기준이다. 직접 표기되지 않는 증상도 있을 수 있어 라벨 오류라고 단정하면 안 된다(이수빈 님 PR #200 문구).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근거: submission/mission1/README.md(98.10%), submission/mission2/README.md, docs/experiment_log.md M2-RERUN-001·M2-ENS-003·M2-RETRAIN-001, submission/mission3/README.md(0.6534). baseline: M1 95.11%(52D LR, docs/decisions.md 2026-10-05), M2 86.44%(L1 LightGBM, M2-RETRAIN-001), M3 0.5689(TF-IDF, M3-OFFVAL-001).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출제문제 12쪽 필수 항목 '사회안전 시사점'은 이 장 한 곳에만 둔다(미션별 장에는 넣지 않음). 향후 계획 근거: M1 — 11장 한계, M2 — docs/experiment_log.md M2-SSL-003, M3 — M3-ERR-001·M3-FINAL-002.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공식 템플릿(슬라이드4) 그대로. 흰 여백(약 2.1~2.9in)에만 팀 정보를 얹음 — 배너 그래픽은 건드리지 않음.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1" Type="http://schemas.openxmlformats.org/officeDocument/2006/relationships/image" Target="../media/image-1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3.xml"/><Relationship Id="rId1" Type="http://schemas.openxmlformats.org/officeDocument/2006/relationships/image" Target="../media/image-17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cov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716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8288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2860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7432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576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1148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0292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9436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8580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152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7724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296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6868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1440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6012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00584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05156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09728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14300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18872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457200"/>
            <a:ext cx="12191695" cy="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914400"/>
            <a:ext cx="12191695" cy="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1371600"/>
            <a:ext cx="12191695" cy="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1828800"/>
            <a:ext cx="12191695" cy="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2286000"/>
            <a:ext cx="12191695" cy="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2743200"/>
            <a:ext cx="12191695" cy="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3200400"/>
            <a:ext cx="12191695" cy="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0" y="3657600"/>
            <a:ext cx="12191695" cy="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0" y="4114800"/>
            <a:ext cx="12191695" cy="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0" y="4572000"/>
            <a:ext cx="12191695" cy="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0" y="5029200"/>
            <a:ext cx="12191695" cy="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0" y="5486400"/>
            <a:ext cx="12191695" cy="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0" y="5943600"/>
            <a:ext cx="12191695" cy="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0" y="6400800"/>
            <a:ext cx="12191695" cy="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0" y="6858000"/>
            <a:ext cx="12191695" cy="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090008" y="502920"/>
            <a:ext cx="2011680" cy="365760"/>
          </a:xfrm>
          <a:prstGeom prst="roundRect">
            <a:avLst>
              <a:gd name="adj" fmla="val 20000"/>
            </a:avLst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5090008" y="50292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대학부 예선</a:t>
            </a:r>
            <a:endParaRPr lang="en-US" sz="1400" dirty="0"/>
          </a:p>
        </p:txBody>
      </p:sp>
      <p:sp>
        <p:nvSpPr>
          <p:cNvPr id="47" name="Text 45"/>
          <p:cNvSpPr txBox="1"/>
          <p:nvPr/>
        </p:nvSpPr>
        <p:spPr>
          <a:xfrm>
            <a:off x="457200" y="105156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 데이터+AI 크리에이터 캠프  |  결과 정리</a:t>
            </a:r>
            <a:endParaRPr lang="en-US" sz="1300" dirty="0"/>
          </a:p>
        </p:txBody>
      </p:sp>
      <p:sp>
        <p:nvSpPr>
          <p:cNvPr id="48" name="Text 46"/>
          <p:cNvSpPr txBox="1"/>
          <p:nvPr/>
        </p:nvSpPr>
        <p:spPr>
          <a:xfrm>
            <a:off x="457200" y="2286000"/>
            <a:ext cx="11277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전화대화 음성 및 전사 데이터를 이용한</a:t>
            </a:r>
            <a:endParaRPr lang="en-US" sz="2800" dirty="0"/>
          </a:p>
        </p:txBody>
      </p:sp>
      <p:sp>
        <p:nvSpPr>
          <p:cNvPr id="49" name="Text 47"/>
          <p:cNvSpPr txBox="1"/>
          <p:nvPr/>
        </p:nvSpPr>
        <p:spPr>
          <a:xfrm>
            <a:off x="457200" y="2834640"/>
            <a:ext cx="112772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응급상황 인식</a:t>
            </a:r>
            <a:endParaRPr lang="en-US" sz="4400" dirty="0"/>
          </a:p>
        </p:txBody>
      </p:sp>
      <p:sp>
        <p:nvSpPr>
          <p:cNvPr id="50" name="Text 48"/>
          <p:cNvSpPr txBox="1"/>
          <p:nvPr/>
        </p:nvSpPr>
        <p:spPr>
          <a:xfrm>
            <a:off x="457200" y="3703320"/>
            <a:ext cx="11277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: Mission 1~3 수행 결과 정리</a:t>
            </a:r>
            <a:endParaRPr lang="en-US" sz="2000" dirty="0"/>
          </a:p>
        </p:txBody>
      </p:sp>
      <p:sp>
        <p:nvSpPr>
          <p:cNvPr id="51" name="Shape 49"/>
          <p:cNvSpPr/>
          <p:nvPr/>
        </p:nvSpPr>
        <p:spPr>
          <a:xfrm>
            <a:off x="3169768" y="4572000"/>
            <a:ext cx="585216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52" name="Text 50"/>
          <p:cNvSpPr txBox="1"/>
          <p:nvPr/>
        </p:nvSpPr>
        <p:spPr>
          <a:xfrm>
            <a:off x="3169768" y="4572000"/>
            <a:ext cx="5852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팀 eigensinn</a:t>
            </a:r>
            <a:pPr algn="ctr" indent="0" marL="0">
              <a:buNone/>
            </a:pPr>
            <a:r>
              <a:rPr lang="en-US" sz="15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김장수 · 김광희 · 지연우 · 이수빈 · 조지은</a:t>
            </a:r>
            <a:endParaRPr lang="en-US" sz="1500" dirty="0"/>
          </a:p>
        </p:txBody>
      </p:sp>
      <p:sp>
        <p:nvSpPr>
          <p:cNvPr id="53" name="Text 51"/>
          <p:cNvSpPr txBox="1"/>
          <p:nvPr/>
        </p:nvSpPr>
        <p:spPr>
          <a:xfrm>
            <a:off x="8076895" y="63093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제출일 2026. 10. 14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826618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목차</a:t>
            </a:r>
            <a:endParaRPr lang="en-US" sz="28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920240"/>
            <a:ext cx="261358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600" b="1" dirty="0">
                <a:solidFill>
                  <a:srgbClr val="DCE3E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9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880360"/>
            <a:ext cx="25221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준비 과정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548640" y="3520440"/>
            <a:ext cx="2339264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3703320"/>
            <a:ext cx="252214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사전 학습 로드맵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팀 구성과 협업 체계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3345104" y="1920240"/>
            <a:ext cx="261358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600" b="1" dirty="0">
                <a:solidFill>
                  <a:srgbClr val="DCE3E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9600" dirty="0"/>
          </a:p>
        </p:txBody>
      </p:sp>
      <p:sp>
        <p:nvSpPr>
          <p:cNvPr id="9" name="Text 6"/>
          <p:cNvSpPr txBox="1"/>
          <p:nvPr/>
        </p:nvSpPr>
        <p:spPr>
          <a:xfrm>
            <a:off x="3436544" y="2880360"/>
            <a:ext cx="25221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분석</a:t>
            </a:r>
            <a:endParaRPr lang="en-US" sz="2200" dirty="0"/>
          </a:p>
        </p:txBody>
      </p:sp>
      <p:sp>
        <p:nvSpPr>
          <p:cNvPr id="10" name="Shape 7"/>
          <p:cNvSpPr/>
          <p:nvPr/>
        </p:nvSpPr>
        <p:spPr>
          <a:xfrm>
            <a:off x="3436544" y="3520440"/>
            <a:ext cx="2339264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436544" y="3703320"/>
            <a:ext cx="252214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데이터와 규칙 준수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EDA 핵심 발견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6233008" y="1920240"/>
            <a:ext cx="261358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600" b="1" dirty="0">
                <a:solidFill>
                  <a:srgbClr val="DCE3E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9600" dirty="0"/>
          </a:p>
        </p:txBody>
      </p:sp>
      <p:sp>
        <p:nvSpPr>
          <p:cNvPr id="13" name="Text 10"/>
          <p:cNvSpPr txBox="1"/>
          <p:nvPr/>
        </p:nvSpPr>
        <p:spPr>
          <a:xfrm>
            <a:off x="6324448" y="2880360"/>
            <a:ext cx="25221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미션별 수행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6324448" y="3520440"/>
            <a:ext cx="2339264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324448" y="3703320"/>
            <a:ext cx="252214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Mission 1  신고자 성별 분류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Mission 2  신고자/대원 분류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Mission 3  환자 증상 인식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9120911" y="1920240"/>
            <a:ext cx="261358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600" b="1" dirty="0">
                <a:solidFill>
                  <a:srgbClr val="DCE3E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9600" dirty="0"/>
          </a:p>
        </p:txBody>
      </p:sp>
      <p:sp>
        <p:nvSpPr>
          <p:cNvPr id="17" name="Text 14"/>
          <p:cNvSpPr txBox="1"/>
          <p:nvPr/>
        </p:nvSpPr>
        <p:spPr>
          <a:xfrm>
            <a:off x="9212351" y="2880360"/>
            <a:ext cx="25221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종합 및 시사점</a:t>
            </a:r>
            <a:endParaRPr lang="en-US" sz="2200" dirty="0"/>
          </a:p>
        </p:txBody>
      </p:sp>
      <p:sp>
        <p:nvSpPr>
          <p:cNvPr id="18" name="Shape 15"/>
          <p:cNvSpPr/>
          <p:nvPr/>
        </p:nvSpPr>
        <p:spPr>
          <a:xfrm>
            <a:off x="9212351" y="3520440"/>
            <a:ext cx="2339264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9212351" y="3703320"/>
            <a:ext cx="252214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성능 요약과 교훈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사회안전 시사점과 향후 계획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  준비 과정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4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(1) 발대식 전 사전 학습 로드맵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처음 보는 데이터로도  QA → Baseline → 검증 → 통제 실험 → 제출  흐름을 끝까지 돌 수 있도록 대회 전에 미리 연습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457200" y="2331720"/>
            <a:ext cx="1627632" cy="1920240"/>
          </a:xfrm>
          <a:prstGeom prst="roundRect">
            <a:avLst>
              <a:gd name="adj" fmla="val 5618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7200" y="2331720"/>
            <a:ext cx="1627632" cy="457200"/>
          </a:xfrm>
          <a:prstGeom prst="roundRect">
            <a:avLst>
              <a:gd name="adj" fmla="val 20000"/>
            </a:avLst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57200" y="2606040"/>
            <a:ext cx="1627632" cy="182880"/>
          </a:xfrm>
          <a:prstGeom prst="rect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57200" y="2331720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W1  기초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566928" y="2862072"/>
            <a:ext cx="140817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Python·pandas</a:t>
            </a:r>
            <a:endParaRPr lang="en-US" sz="12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타이타닉 EDA</a:t>
            </a:r>
            <a:endParaRPr lang="en-US" sz="12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(결측치·분포)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2126254" y="3118104"/>
            <a:ext cx="219456" cy="347472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2387133" y="2331720"/>
            <a:ext cx="1627632" cy="1920240"/>
          </a:xfrm>
          <a:prstGeom prst="roundRect">
            <a:avLst>
              <a:gd name="adj" fmla="val 5618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2387133" y="2331720"/>
            <a:ext cx="1627632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2387133" y="2606040"/>
            <a:ext cx="1627632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387133" y="2331720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W2  Baseline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2496861" y="2862072"/>
            <a:ext cx="140817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모델 학습</a:t>
            </a:r>
            <a:endParaRPr lang="en-US" sz="12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실험 로그 작성</a:t>
            </a:r>
            <a:endParaRPr lang="en-US" sz="12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(Titanic 등)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4056187" y="3118104"/>
            <a:ext cx="219456" cy="347472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317065" y="2331720"/>
            <a:ext cx="1627632" cy="1920240"/>
          </a:xfrm>
          <a:prstGeom prst="roundRect">
            <a:avLst>
              <a:gd name="adj" fmla="val 5618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4317065" y="2331720"/>
            <a:ext cx="1627632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317065" y="2606040"/>
            <a:ext cx="1627632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4317065" y="2331720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W3  데이터 QA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4426793" y="2862072"/>
            <a:ext cx="140817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CIFAR-10</a:t>
            </a:r>
            <a:endParaRPr lang="en-US" sz="12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누락·중복·분포</a:t>
            </a:r>
            <a:endParaRPr lang="en-US" sz="12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점검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5986120" y="3118104"/>
            <a:ext cx="219456" cy="347472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6246998" y="2331720"/>
            <a:ext cx="1627632" cy="1920240"/>
          </a:xfrm>
          <a:prstGeom prst="roundRect">
            <a:avLst>
              <a:gd name="adj" fmla="val 5618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6246998" y="2331720"/>
            <a:ext cx="1627632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246998" y="2606040"/>
            <a:ext cx="1627632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6246998" y="2331720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W4  통제 실험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6356726" y="2862072"/>
            <a:ext cx="140817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baseline 결함</a:t>
            </a:r>
            <a:endParaRPr lang="en-US" sz="12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감사</a:t>
            </a:r>
            <a:endParaRPr lang="en-US" sz="12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변수 하나씩 비교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16052" y="3118104"/>
            <a:ext cx="219456" cy="347472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8176931" y="2331720"/>
            <a:ext cx="1627632" cy="1920240"/>
          </a:xfrm>
          <a:prstGeom prst="roundRect">
            <a:avLst>
              <a:gd name="adj" fmla="val 5618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8176931" y="2331720"/>
            <a:ext cx="1627632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8176931" y="2606040"/>
            <a:ext cx="1627632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176931" y="2331720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W5  데이터 정제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8286659" y="2862072"/>
            <a:ext cx="140817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이상치 점수</a:t>
            </a:r>
            <a:endParaRPr lang="en-US" sz="12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기준값 사전 고정</a:t>
            </a:r>
            <a:endParaRPr lang="en-US" sz="12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3조건 비교</a:t>
            </a:r>
            <a:endParaRPr lang="en-US" sz="1200" dirty="0"/>
          </a:p>
        </p:txBody>
      </p:sp>
      <p:sp>
        <p:nvSpPr>
          <p:cNvPr id="38" name="Shape 35"/>
          <p:cNvSpPr/>
          <p:nvPr/>
        </p:nvSpPr>
        <p:spPr>
          <a:xfrm>
            <a:off x="9845985" y="3118104"/>
            <a:ext cx="219456" cy="347472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10106863" y="2331720"/>
            <a:ext cx="1627632" cy="1920240"/>
          </a:xfrm>
          <a:prstGeom prst="roundRect">
            <a:avLst>
              <a:gd name="adj" fmla="val 5618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40" name="Shape 37"/>
          <p:cNvSpPr/>
          <p:nvPr/>
        </p:nvSpPr>
        <p:spPr>
          <a:xfrm>
            <a:off x="10106863" y="2331720"/>
            <a:ext cx="1627632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10106863" y="2606040"/>
            <a:ext cx="1627632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10106863" y="2331720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W6  제출 연습</a:t>
            </a:r>
            <a:endParaRPr lang="en-US" sz="1400" dirty="0"/>
          </a:p>
        </p:txBody>
      </p:sp>
      <p:sp>
        <p:nvSpPr>
          <p:cNvPr id="43" name="Text 40"/>
          <p:cNvSpPr txBox="1"/>
          <p:nvPr/>
        </p:nvSpPr>
        <p:spPr>
          <a:xfrm>
            <a:off x="10216591" y="2862072"/>
            <a:ext cx="140817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제출 패키지</a:t>
            </a:r>
            <a:endParaRPr lang="en-US" sz="12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채점 스크립트</a:t>
            </a:r>
            <a:endParaRPr lang="en-US" sz="1200" dirty="0"/>
          </a:p>
        </p:txBody>
      </p:sp>
      <p:sp>
        <p:nvSpPr>
          <p:cNvPr id="44" name="Shape 41"/>
          <p:cNvSpPr/>
          <p:nvPr/>
        </p:nvSpPr>
        <p:spPr>
          <a:xfrm>
            <a:off x="457200" y="4572000"/>
            <a:ext cx="11277295" cy="1188720"/>
          </a:xfrm>
          <a:prstGeom prst="roundRect">
            <a:avLst>
              <a:gd name="adj" fmla="val 7692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594360" y="4572000"/>
            <a:ext cx="365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💡</a:t>
            </a:r>
            <a:endParaRPr lang="en-US" sz="1800" dirty="0"/>
          </a:p>
        </p:txBody>
      </p:sp>
      <p:sp>
        <p:nvSpPr>
          <p:cNvPr id="46" name="Text 43"/>
          <p:cNvSpPr txBox="1"/>
          <p:nvPr/>
        </p:nvSpPr>
        <p:spPr>
          <a:xfrm>
            <a:off x="1005840" y="4572000"/>
            <a:ext cx="1059149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예선에 그대로 가져온 습관  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무결성 점검을 모델보다 먼저  ·  실험마다 ID와 로그 남기기  ·  한 번에 변수 하나만 바꿔 비교  ·  기준값은 결과를 보기 전에 고정</a:t>
            </a:r>
            <a:endParaRPr lang="en-US" sz="1300" dirty="0"/>
          </a:p>
        </p:txBody>
      </p:sp>
      <p:sp>
        <p:nvSpPr>
          <p:cNvPr id="47" name="Text 44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GitHub eigensinn-dcc2026/step0 (2026.07.14 ~ 08.23), 팀원별 notebooks/ 및 outputs/ 실습 산출물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  준비 과정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5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(2) 팀 구성과 협업 체계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5명이 한 저장소에서 충돌 없이 일하도록 규칙·자동 검사·기록 체계를 먼저 만들고 미션에 들어갔다.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22402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역할 분담</a:t>
            </a:r>
            <a:endParaRPr lang="en-US" sz="18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697480"/>
          <a:ext cx="914400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828800"/>
                <a:gridCol w="2194560"/>
              </a:tblGrid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팀원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준비기 역할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예선 담당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김장수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이미지 모델링·통합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Mission 1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김광희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데이터 품질·매핑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Mission 1 · 2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지연우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검증·오분류 분석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Mission 2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이수빈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시각화·리포팅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Mission 3 · 오류분석 취합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조지은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정형 모델링·EDA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Mission 3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7"/>
          <p:cNvSpPr txBox="1"/>
          <p:nvPr/>
        </p:nvSpPr>
        <p:spPr>
          <a:xfrm>
            <a:off x="6035040" y="2240280"/>
            <a:ext cx="56994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GitHub 작업 흐름</a:t>
            </a:r>
            <a:endParaRPr lang="en-US" sz="1800" dirty="0"/>
          </a:p>
        </p:txBody>
      </p:sp>
      <p:sp>
        <p:nvSpPr>
          <p:cNvPr id="12" name="Shape 8"/>
          <p:cNvSpPr/>
          <p:nvPr/>
        </p:nvSpPr>
        <p:spPr>
          <a:xfrm>
            <a:off x="6035040" y="2697480"/>
            <a:ext cx="960120" cy="914400"/>
          </a:xfrm>
          <a:prstGeom prst="roundRect">
            <a:avLst>
              <a:gd name="adj" fmla="val 10000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035040" y="2697480"/>
            <a:ext cx="960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main에서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브랜치 생성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7043509" y="3017520"/>
            <a:ext cx="128016" cy="27432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7219874" y="2697480"/>
            <a:ext cx="960120" cy="914400"/>
          </a:xfrm>
          <a:prstGeom prst="roundRect">
            <a:avLst>
              <a:gd name="adj" fmla="val 10000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7219874" y="2697480"/>
            <a:ext cx="960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실험·코드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작성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8228343" y="3017520"/>
            <a:ext cx="128016" cy="27432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8404708" y="2697480"/>
            <a:ext cx="960120" cy="914400"/>
          </a:xfrm>
          <a:prstGeom prst="roundRect">
            <a:avLst>
              <a:gd name="adj" fmla="val 10000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8404708" y="2697480"/>
            <a:ext cx="960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 작성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(템플릿)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9413177" y="3017520"/>
            <a:ext cx="128016" cy="27432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9589541" y="2697480"/>
            <a:ext cx="960120" cy="914400"/>
          </a:xfrm>
          <a:prstGeom prst="roundRect">
            <a:avLst>
              <a:gd name="adj" fmla="val 1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9589541" y="2697480"/>
            <a:ext cx="960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 검사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(CI·병합 판정)</a:t>
            </a:r>
            <a:endParaRPr lang="en-US" sz="1100" dirty="0"/>
          </a:p>
        </p:txBody>
      </p:sp>
      <p:sp>
        <p:nvSpPr>
          <p:cNvPr id="23" name="Shape 19"/>
          <p:cNvSpPr/>
          <p:nvPr/>
        </p:nvSpPr>
        <p:spPr>
          <a:xfrm>
            <a:off x="10598010" y="3017520"/>
            <a:ext cx="128016" cy="27432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10774375" y="2697480"/>
            <a:ext cx="960120" cy="914400"/>
          </a:xfrm>
          <a:prstGeom prst="roundRect">
            <a:avLst>
              <a:gd name="adj" fmla="val 10000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10774375" y="2697480"/>
            <a:ext cx="960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팀원 리뷰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후 병합</a:t>
            </a:r>
            <a:endParaRPr lang="en-US" sz="1100" dirty="0"/>
          </a:p>
        </p:txBody>
      </p:sp>
      <p:sp>
        <p:nvSpPr>
          <p:cNvPr id="26" name="Text 22"/>
          <p:cNvSpPr txBox="1"/>
          <p:nvPr/>
        </p:nvSpPr>
        <p:spPr>
          <a:xfrm>
            <a:off x="6035040" y="3931920"/>
            <a:ext cx="56994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기록 체계</a:t>
            </a:r>
            <a:endParaRPr lang="en-US" sz="1800" dirty="0"/>
          </a:p>
        </p:txBody>
      </p:sp>
      <p:sp>
        <p:nvSpPr>
          <p:cNvPr id="27" name="Shape 23"/>
          <p:cNvSpPr/>
          <p:nvPr/>
        </p:nvSpPr>
        <p:spPr>
          <a:xfrm>
            <a:off x="6035040" y="4389120"/>
            <a:ext cx="2712568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8" name="Text 24"/>
          <p:cNvSpPr txBox="1"/>
          <p:nvPr/>
        </p:nvSpPr>
        <p:spPr>
          <a:xfrm>
            <a:off x="6217920" y="4526280"/>
            <a:ext cx="2346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docs/experiment_log.md</a:t>
            </a:r>
            <a:endParaRPr lang="en-US" sz="1100" dirty="0"/>
          </a:p>
        </p:txBody>
      </p:sp>
      <p:sp>
        <p:nvSpPr>
          <p:cNvPr id="29" name="Text 25"/>
          <p:cNvSpPr txBox="1"/>
          <p:nvPr/>
        </p:nvSpPr>
        <p:spPr>
          <a:xfrm>
            <a:off x="6217920" y="4846320"/>
            <a:ext cx="23468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실험 기록</a:t>
            </a:r>
            <a:endParaRPr lang="en-US" sz="1800" dirty="0"/>
          </a:p>
        </p:txBody>
      </p:sp>
      <p:sp>
        <p:nvSpPr>
          <p:cNvPr id="30" name="Text 26"/>
          <p:cNvSpPr txBox="1"/>
          <p:nvPr/>
        </p:nvSpPr>
        <p:spPr>
          <a:xfrm>
            <a:off x="6217920" y="5303520"/>
            <a:ext cx="23468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했고 결과는?</a:t>
            </a:r>
            <a:endParaRPr lang="en-US" sz="1300" dirty="0"/>
          </a:p>
        </p:txBody>
      </p:sp>
      <p:sp>
        <p:nvSpPr>
          <p:cNvPr id="31" name="Shape 27"/>
          <p:cNvSpPr/>
          <p:nvPr/>
        </p:nvSpPr>
        <p:spPr>
          <a:xfrm>
            <a:off x="9021928" y="4389120"/>
            <a:ext cx="2712568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32" name="Text 28"/>
          <p:cNvSpPr txBox="1"/>
          <p:nvPr/>
        </p:nvSpPr>
        <p:spPr>
          <a:xfrm>
            <a:off x="9204808" y="4526280"/>
            <a:ext cx="2346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docs/decisions.md</a:t>
            </a:r>
            <a:endParaRPr lang="en-US" sz="1100" dirty="0"/>
          </a:p>
        </p:txBody>
      </p:sp>
      <p:sp>
        <p:nvSpPr>
          <p:cNvPr id="33" name="Text 29"/>
          <p:cNvSpPr txBox="1"/>
          <p:nvPr/>
        </p:nvSpPr>
        <p:spPr>
          <a:xfrm>
            <a:off x="9204808" y="4846320"/>
            <a:ext cx="23468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결정 기록</a:t>
            </a:r>
            <a:endParaRPr lang="en-US" sz="1800" dirty="0"/>
          </a:p>
        </p:txBody>
      </p:sp>
      <p:sp>
        <p:nvSpPr>
          <p:cNvPr id="34" name="Text 30"/>
          <p:cNvSpPr txBox="1"/>
          <p:nvPr/>
        </p:nvSpPr>
        <p:spPr>
          <a:xfrm>
            <a:off x="9204808" y="5303520"/>
            <a:ext cx="23468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채택·기각했나? 기각도 기록</a:t>
            </a:r>
            <a:endParaRPr lang="en-US" sz="1300" dirty="0"/>
          </a:p>
        </p:txBody>
      </p:sp>
      <p:sp>
        <p:nvSpPr>
          <p:cNvPr id="35" name="Text 31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GitHub eigensinn-dcc2026/prelim — README.md(역할), WORKFLOW.md, .github/workflows (pr-ci, pr-verdict), docs/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  데이터 분석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6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(1) 데이터와 규칙 준수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규칙 위반 가능성은 성능보다 먼저, 설계 단계에서 막았다.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457200" y="2240280"/>
            <a:ext cx="3749040" cy="3977640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685800" y="2377440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데이터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685800" y="283464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AI-Hub 119 신고접수 음성·전사 데이터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685800" y="3520440"/>
            <a:ext cx="3291840" cy="1051560"/>
          </a:xfrm>
          <a:prstGeom prst="roundRect">
            <a:avLst>
              <a:gd name="adj" fmla="val 8696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77240" y="3520440"/>
            <a:ext cx="3108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음성 원본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통화 녹음 WAV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85800" y="4754880"/>
            <a:ext cx="3291840" cy="1051560"/>
          </a:xfrm>
          <a:prstGeom prst="roundRect">
            <a:avLst>
              <a:gd name="adj" fmla="val 8696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77240" y="4754880"/>
            <a:ext cx="3108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전사·라벨 JSON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발화 구간·화자·성별·증상 등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4526280" y="2331720"/>
            <a:ext cx="72082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주최 측 답변을 우리가 어떻게 반영했나</a:t>
            </a:r>
            <a:endParaRPr lang="en-US" sz="1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26280" y="2834640"/>
          <a:ext cx="9144000" cy="914400"/>
        </p:xfrm>
        <a:graphic>
          <a:graphicData uri="http://schemas.openxmlformats.org/drawingml/2006/table">
            <a:tbl>
              <a:tblPr/>
              <a:tblGrid>
                <a:gridCol w="3604108"/>
                <a:gridCol w="3604108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주최 측 답변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우리가 한 것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M2는 같은 통화의 다른 발화 정보를 쓸 수 없다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통화 단위 특징을 제거하고 발화 하나의 구간만 사용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text를 읽고 고친 라벨은 학습에 쓸 수 없다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해당 모델 2개를 제공된 라벨로 다시 학습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공개 사전학습 모델은 로컬 추론·미세조정 허용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M1 WavLM, M3 RoBERTa-large 사용 (외부 데이터 없음)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8" name="Text 14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대학부 예선 출제문제 5·8쪽 조건, 주최측 Q&amp;A 답변(2026.09.15)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  데이터 분석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7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(2) EDA 핵심 발견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미션 모두 "쉬운 단서 하나"로는 풀리지 않는다. 이 발견이 미션별 모델 선택의 출발점이다.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457200" y="2240280"/>
            <a:ext cx="3576218" cy="4023360"/>
          </a:xfrm>
          <a:prstGeom prst="roundRect">
            <a:avLst>
              <a:gd name="adj" fmla="val 2557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640080" y="2340864"/>
            <a:ext cx="321045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M1 성별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640080" y="2724912"/>
            <a:ext cx="3210458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pic>
        <p:nvPicPr>
          <p:cNvPr id="12" name="Image 1" descr="figures/gender_distribution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13232" y="2798064"/>
            <a:ext cx="3064154" cy="172821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40080" y="4709160"/>
            <a:ext cx="321045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발견  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성별 비율은 균형. 통화 길이·음량 같은 요약 특징으로는 성별이 거의 갈리지 않음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설계에 반영한 점  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세부 음색을 담는 화자 임베딩(x-vector) 도입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4307738" y="2240280"/>
            <a:ext cx="3576218" cy="4023360"/>
          </a:xfrm>
          <a:prstGeom prst="roundRect">
            <a:avLst>
              <a:gd name="adj" fmla="val 2557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5" name="Text 11"/>
          <p:cNvSpPr txBox="1"/>
          <p:nvPr/>
        </p:nvSpPr>
        <p:spPr>
          <a:xfrm>
            <a:off x="4490618" y="2340864"/>
            <a:ext cx="321045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M2 화자</a:t>
            </a:r>
            <a:endParaRPr lang="en-US" sz="1500" dirty="0"/>
          </a:p>
        </p:txBody>
      </p:sp>
      <p:sp>
        <p:nvSpPr>
          <p:cNvPr id="16" name="Shape 12"/>
          <p:cNvSpPr/>
          <p:nvPr/>
        </p:nvSpPr>
        <p:spPr>
          <a:xfrm>
            <a:off x="4490618" y="2724912"/>
            <a:ext cx="3210458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pic>
        <p:nvPicPr>
          <p:cNvPr id="17" name="Image 2" descr="figures/speaker_duration_buckets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563770" y="2798064"/>
            <a:ext cx="3064154" cy="1728216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4490618" y="4709160"/>
            <a:ext cx="321045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발견  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거의 모든 통화에서 목소리가 겹침. 발화 길이만으로는 화자를 구분하기 어려움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설계에 반영한 점  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 모양 전체를 보는 CNN 도입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8158277" y="2240280"/>
            <a:ext cx="3576218" cy="4023360"/>
          </a:xfrm>
          <a:prstGeom prst="roundRect">
            <a:avLst>
              <a:gd name="adj" fmla="val 2557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0" name="Text 15"/>
          <p:cNvSpPr txBox="1"/>
          <p:nvPr/>
        </p:nvSpPr>
        <p:spPr>
          <a:xfrm>
            <a:off x="8341157" y="2340864"/>
            <a:ext cx="321045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M3 증상</a:t>
            </a:r>
            <a:endParaRPr lang="en-US" sz="1500" dirty="0"/>
          </a:p>
        </p:txBody>
      </p:sp>
      <p:sp>
        <p:nvSpPr>
          <p:cNvPr id="21" name="Shape 16"/>
          <p:cNvSpPr/>
          <p:nvPr/>
        </p:nvSpPr>
        <p:spPr>
          <a:xfrm>
            <a:off x="8341157" y="2724912"/>
            <a:ext cx="3210458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pic>
        <p:nvPicPr>
          <p:cNvPr id="22" name="Image 3" descr="figures/symptom_prevalence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8414309" y="2798064"/>
            <a:ext cx="3064154" cy="1728216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8341157" y="4709160"/>
            <a:ext cx="321045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발견  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통화 중 한 통화는 증상이 2개 이상. 증상별 빈도 차이가 큼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설계에 반영한 점  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증상 9개를 각각 0/1로 푸는 다중 레이블 구성, 증상별로 따로 점검</a:t>
            </a:r>
            <a:endParaRPr lang="en-US" sz="1200" dirty="0"/>
          </a:p>
        </p:txBody>
      </p:sp>
      <p:sp>
        <p:nvSpPr>
          <p:cNvPr id="24" name="Text 18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reports/eda/eda_report.md, reports/eda/figures/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8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1  신고자 성별 분류 — 문제와 최종 모델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신고자 음성에서 음향 특징과 화자 임베딩을 함께 뽑아 로지스틱 회귀로 분류한다. 공식 Validation Accuracy 98.10%.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2240280"/>
            <a:ext cx="8275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문제   </a:t>
            </a:r>
            <a:pPr indent="0" marL="0">
              <a:buNone/>
            </a:pPr>
            <a:r>
              <a:rPr lang="en-US" sz="15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신고자 발화 음성 → 성별(F/M)   ·   지표 Accuracy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457200" y="2743200"/>
            <a:ext cx="1417320" cy="146304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57200" y="2743200"/>
            <a:ext cx="1417320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7200" y="3017520"/>
            <a:ext cx="1417320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57200" y="2743200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신고자 구간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566928" y="3273552"/>
            <a:ext cx="1197864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신고자 발화만</a:t>
            </a:r>
            <a:endParaRPr lang="en-US" sz="12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잘라내기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1931670" y="3291840"/>
            <a:ext cx="182880" cy="310896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2171700" y="2743200"/>
            <a:ext cx="1417320" cy="146304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2171700" y="2743200"/>
            <a:ext cx="1417320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2171700" y="3017520"/>
            <a:ext cx="1417320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2171700" y="2743200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음향 특징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2281428" y="3273552"/>
            <a:ext cx="1197864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52개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3646170" y="3291840"/>
            <a:ext cx="182880" cy="310896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3886200" y="2743200"/>
            <a:ext cx="1417320" cy="146304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3886200" y="2743200"/>
            <a:ext cx="1417320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3886200" y="3017520"/>
            <a:ext cx="1417320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3886200" y="2743200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x-vector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3995928" y="3273552"/>
            <a:ext cx="1197864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WavLM</a:t>
            </a:r>
            <a:endParaRPr lang="en-US" sz="12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여러 구간 평균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5360670" y="3291840"/>
            <a:ext cx="182880" cy="310896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5600700" y="2743200"/>
            <a:ext cx="1417320" cy="146304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5600700" y="2743200"/>
            <a:ext cx="1417320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5600700" y="3017520"/>
            <a:ext cx="1417320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5600700" y="2743200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결합·표준화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5710428" y="3273552"/>
            <a:ext cx="1197864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특징</a:t>
            </a:r>
            <a:endParaRPr lang="en-US" sz="12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결합·표준화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>
            <a:off x="7075170" y="3291840"/>
            <a:ext cx="182880" cy="310896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7315200" y="2743200"/>
            <a:ext cx="1417320" cy="146304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35" name="Shape 32"/>
          <p:cNvSpPr/>
          <p:nvPr/>
        </p:nvSpPr>
        <p:spPr>
          <a:xfrm>
            <a:off x="7315200" y="2743200"/>
            <a:ext cx="1417320" cy="457200"/>
          </a:xfrm>
          <a:prstGeom prst="roundRect">
            <a:avLst>
              <a:gd name="adj" fmla="val 20000"/>
            </a:avLst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7315200" y="3017520"/>
            <a:ext cx="1417320" cy="182880"/>
          </a:xfrm>
          <a:prstGeom prst="rect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7315200" y="2743200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로지스틱 회귀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7424928" y="3273552"/>
            <a:ext cx="1197864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 / M 분류</a:t>
            </a:r>
            <a:endParaRPr lang="en-US" sz="1200" dirty="0"/>
          </a:p>
        </p:txBody>
      </p:sp>
      <p:sp>
        <p:nvSpPr>
          <p:cNvPr id="39" name="Text 36"/>
          <p:cNvSpPr txBox="1"/>
          <p:nvPr/>
        </p:nvSpPr>
        <p:spPr>
          <a:xfrm>
            <a:off x="457200" y="4434840"/>
            <a:ext cx="8275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왜 이 구조인가</a:t>
            </a:r>
            <a:endParaRPr lang="en-US" sz="1600" dirty="0"/>
          </a:p>
        </p:txBody>
      </p:sp>
      <p:sp>
        <p:nvSpPr>
          <p:cNvPr id="40" name="Text 37"/>
          <p:cNvSpPr txBox="1"/>
          <p:nvPr/>
        </p:nvSpPr>
        <p:spPr>
          <a:xfrm>
            <a:off x="457200" y="4846320"/>
            <a:ext cx="8275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EDA에서 요약 통계가 성별을 못 가름 → 음색을 담는 사전학습 화자 임베딩 추가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분류기는 단순한 로지스틱 회귀로 충분했다 (더 복잡한 분류기는 이득이 기준에 못 미침 → 10장)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최종 모델은 학습 데이터 전체로 재학습했다</a:t>
            </a:r>
            <a:endParaRPr lang="en-US" sz="1300" dirty="0"/>
          </a:p>
        </p:txBody>
      </p:sp>
      <p:sp>
        <p:nvSpPr>
          <p:cNvPr id="41" name="Shape 38"/>
          <p:cNvSpPr/>
          <p:nvPr/>
        </p:nvSpPr>
        <p:spPr>
          <a:xfrm>
            <a:off x="9006840" y="2240280"/>
            <a:ext cx="2727655" cy="3977640"/>
          </a:xfrm>
          <a:prstGeom prst="roundRect">
            <a:avLst>
              <a:gd name="adj" fmla="val 3352"/>
            </a:avLst>
          </a:prstGeom>
          <a:solidFill>
            <a:srgbClr val="EAF3FA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42" name="Text 39"/>
          <p:cNvSpPr txBox="1"/>
          <p:nvPr/>
        </p:nvSpPr>
        <p:spPr>
          <a:xfrm>
            <a:off x="9006840" y="3291840"/>
            <a:ext cx="272765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98.10%</a:t>
            </a:r>
            <a:endParaRPr lang="en-US" sz="4400" dirty="0"/>
          </a:p>
        </p:txBody>
      </p:sp>
      <p:sp>
        <p:nvSpPr>
          <p:cNvPr id="43" name="Text 40"/>
          <p:cNvSpPr txBox="1"/>
          <p:nvPr/>
        </p:nvSpPr>
        <p:spPr>
          <a:xfrm>
            <a:off x="9006840" y="4251960"/>
            <a:ext cx="27276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Accuracy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공식 Validation</a:t>
            </a:r>
            <a:endParaRPr lang="en-US" sz="13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submission/mission1/README.md, docs/experiment_log.md M1-REFIT-OFFVAL-001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9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1  신고자 성별 분류 — 성능 개선 과정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95.11% → 98.10%. 개선의 대부분은 화자 임베딩(x-vector)에서 나왔다.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457200" y="2240280"/>
            <a:ext cx="6675120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graphicFrame>
        <p:nvGraphicFramePr>
          <p:cNvPr id="10" name="Chart 0" descr=""/>
          <p:cNvGraphicFramePr/>
          <p:nvPr/>
        </p:nvGraphicFramePr>
        <p:xfrm>
          <a:off x="594360" y="2331720"/>
          <a:ext cx="640080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Shape 7"/>
          <p:cNvSpPr/>
          <p:nvPr/>
        </p:nvSpPr>
        <p:spPr>
          <a:xfrm>
            <a:off x="7406640" y="2240280"/>
            <a:ext cx="4327855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2" name="Text 8"/>
          <p:cNvSpPr txBox="1"/>
          <p:nvPr/>
        </p:nvSpPr>
        <p:spPr>
          <a:xfrm>
            <a:off x="7589520" y="2350008"/>
            <a:ext cx="39620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해석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7589520" y="2724912"/>
            <a:ext cx="396209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음향 특징 단독보다 x-vector 단독이 훨씬 높았다 → 개선의 대부분이 x-vector.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 통화는 앞부분만 쓰면 나머지를 버리게 되어, 여러 구간을 평균했다.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7406640" y="4434840"/>
            <a:ext cx="4327855" cy="1783080"/>
          </a:xfrm>
          <a:prstGeom prst="roundRect">
            <a:avLst>
              <a:gd name="adj" fmla="val 5128"/>
            </a:avLst>
          </a:prstGeom>
          <a:solidFill>
            <a:srgbClr val="FFCDD2"/>
          </a:solidFill>
          <a:ln w="12700">
            <a:solidFill>
              <a:srgbClr val="FFCDD2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7589520" y="4434840"/>
            <a:ext cx="3962095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E539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주의  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다중 구간 평균은 내부 홀드아웃에서는 사전 기준에 못 미쳐 일단 기각했고, 이후 공식 Validation에서 별도로 고정한 기준을 넘어 제출 후보가 됐다. 두 판정과 이유를 모두 기록했다.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docs/experiment_log.md M1-XVEC-001-OFFVAL, M1-XVEC-002(2차), M1-XVEC-002-OFFVAL, M1-REFIT-OFFVAL-001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10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1  신고자 성별 분류 — 채택하지 않은 시도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점수가 올라도 미리 정한 기준을 못 넘으면 채택하지 않았다.</a:t>
            </a:r>
            <a:endParaRPr lang="en-US" sz="15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240280"/>
          <a:ext cx="91440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280160"/>
                <a:gridCol w="6793992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시도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판정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이유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LightGBM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F4E9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LR 채택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점수 차이가 작고 더 단순·해석 쉬움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RBF-SVM 분류기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5393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기각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이득이 기준 미달, 추론이 훨씬 느림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ECAPA 임베딩 추가·교체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5393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기각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이득이 기준 미달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x-vector LR + ECAPA LR 확률 평균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5393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기각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공식 Val 98.30%로 소폭 높았지만 미리 정한 기준 미달, 차이가 우연과 구분되지 않음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457200" y="5257800"/>
            <a:ext cx="11277295" cy="960120"/>
          </a:xfrm>
          <a:prstGeom prst="roundRect">
            <a:avLst>
              <a:gd name="adj" fmla="val 9524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594360" y="5257800"/>
            <a:ext cx="365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💡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1005840" y="5257800"/>
            <a:ext cx="1059149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공식 Val에서 더 높았던 모델을 왜 버렸나?  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통화 차이는 우연과 구분되지 않는다. 결과를 본 뒤 기준을 낮추면 Validation에 과적합된다.</a:t>
            </a:r>
            <a:endParaRPr lang="en-US" sz="1350" dirty="0"/>
          </a:p>
        </p:txBody>
      </p:sp>
      <p:sp>
        <p:nvSpPr>
          <p:cNvPr id="13" name="Text 9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docs/decisions.md 2026-10-05, docs/experiment_log.md M1-HEAD-001, M1-ECAPA-002, M1-FUSE-001-OFFVAL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11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1  신고자 성별 분류 — 최종 결과와 한계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공식 Validation 98.10%. 남녀 recall이 고르다.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457200" y="2240280"/>
            <a:ext cx="5120640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457200" y="2514600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98.10%</a:t>
            </a:r>
            <a:endParaRPr lang="en-US" sz="48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3227832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Accuracy (공식 Validation)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22960" y="3886200"/>
            <a:ext cx="438912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57200" y="416052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09D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98.26%</a:t>
            </a:r>
            <a:endParaRPr lang="en-US" sz="3000" dirty="0"/>
          </a:p>
        </p:txBody>
      </p:sp>
      <p:sp>
        <p:nvSpPr>
          <p:cNvPr id="14" name="Text 11"/>
          <p:cNvSpPr txBox="1"/>
          <p:nvPr/>
        </p:nvSpPr>
        <p:spPr>
          <a:xfrm>
            <a:off x="457200" y="4873752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여성 recall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3017520" y="416052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09D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97.92%</a:t>
            </a:r>
            <a:endParaRPr lang="en-US" sz="3000" dirty="0"/>
          </a:p>
        </p:txBody>
      </p:sp>
      <p:sp>
        <p:nvSpPr>
          <p:cNvPr id="16" name="Text 13"/>
          <p:cNvSpPr txBox="1"/>
          <p:nvPr/>
        </p:nvSpPr>
        <p:spPr>
          <a:xfrm>
            <a:off x="3017520" y="4873752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남성 recall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852160" y="2240280"/>
            <a:ext cx="5882335" cy="3977640"/>
          </a:xfrm>
          <a:prstGeom prst="roundRect">
            <a:avLst>
              <a:gd name="adj" fmla="val 2299"/>
            </a:avLst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6080760" y="2395728"/>
            <a:ext cx="542513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한계와 후속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6080760" y="2971800"/>
            <a:ext cx="5425135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한계  </a:t>
            </a:r>
            <a:pPr indent="0" marL="0">
              <a:spcAft>
                <a:spcPts val="800"/>
              </a:spcAft>
              <a:buNone/>
            </a:pPr>
            <a:r>
              <a:rPr lang="en-US" sz="17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단일 seed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후속  </a:t>
            </a:r>
            <a:pPr indent="0" marL="0">
              <a:spcAft>
                <a:spcPts val="800"/>
              </a:spcAft>
              <a:buNone/>
            </a:pPr>
            <a:r>
              <a:rPr lang="en-US" sz="17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오분류 통화의 화자 단위 정성 분석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후속  </a:t>
            </a:r>
            <a:pPr indent="0" marL="0">
              <a:spcAft>
                <a:spcPts val="800"/>
              </a:spcAft>
              <a:buNone/>
            </a:pPr>
            <a:r>
              <a:rPr lang="en-US" sz="17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피치(F0) 특징은 미검증 가설</a:t>
            </a:r>
            <a:endParaRPr lang="en-US" sz="1700" dirty="0"/>
          </a:p>
        </p:txBody>
      </p:sp>
      <p:sp>
        <p:nvSpPr>
          <p:cNvPr id="20" name="Text 17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submission/mission1/README.md 상태(2026-10-12), docs/experiment_log.md M1-REFIT-OFFVAL-001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12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2  신고자/119대원 분류 — 문제·제약·최종 모델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발화 조각 하나만 보고 신고자인지 대원인지 가린다. log-mel 스펙트로그램과 CNN 3개의 평균으로 공식 Validation 91.49%.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228600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문제   </a:t>
            </a:r>
            <a:pPr indent="0" marL="0">
              <a:buNone/>
            </a:pPr>
            <a:r>
              <a:rPr lang="en-US" sz="15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발화 조각 → 신고자(1) / 대원(0)   ·   지표 Accuracy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269748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539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제약   </a:t>
            </a:r>
            <a:pPr indent="0" marL="0">
              <a:buNone/>
            </a:pPr>
            <a:r>
              <a:rPr lang="en-US" sz="15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text · 발화 순서 · 다른 발화 정보 사용 불가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8869680" y="2240280"/>
            <a:ext cx="2864815" cy="868680"/>
          </a:xfrm>
          <a:prstGeom prst="roundRect">
            <a:avLst>
              <a:gd name="adj" fmla="val 10526"/>
            </a:avLst>
          </a:prstGeom>
          <a:solidFill>
            <a:srgbClr val="EAF3FA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8869680" y="2240280"/>
            <a:ext cx="28648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91.49%</a:t>
            </a:r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공식 Validation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57200" y="3291840"/>
            <a:ext cx="192024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7200" y="3291840"/>
            <a:ext cx="1920240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57200" y="3566160"/>
            <a:ext cx="1920240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57200" y="329184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발화 구간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566928" y="3822192"/>
            <a:ext cx="1700784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발화의</a:t>
            </a:r>
            <a:endParaRPr lang="en-US" sz="125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구간만 사용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2477224" y="3826764"/>
            <a:ext cx="219456" cy="347472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2796464" y="3291840"/>
            <a:ext cx="192024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2796464" y="3291840"/>
            <a:ext cx="1920240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2796464" y="3566160"/>
            <a:ext cx="1920240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2796464" y="329184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log-mel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2906192" y="3822192"/>
            <a:ext cx="1700784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스펙트로그램</a:t>
            </a:r>
            <a:endParaRPr lang="en-US" sz="125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으로 변환</a:t>
            </a:r>
            <a:endParaRPr lang="en-US" sz="1250" dirty="0"/>
          </a:p>
        </p:txBody>
      </p:sp>
      <p:sp>
        <p:nvSpPr>
          <p:cNvPr id="24" name="Shape 21"/>
          <p:cNvSpPr/>
          <p:nvPr/>
        </p:nvSpPr>
        <p:spPr>
          <a:xfrm>
            <a:off x="4816488" y="3826764"/>
            <a:ext cx="219456" cy="347472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5135728" y="3291840"/>
            <a:ext cx="192024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5135728" y="3291840"/>
            <a:ext cx="1920240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5135728" y="3566160"/>
            <a:ext cx="1920240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5135728" y="329184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길이 맞춤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5245456" y="3822192"/>
            <a:ext cx="1700784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발화 자신</a:t>
            </a:r>
            <a:endParaRPr lang="en-US" sz="125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만으로 맞춤</a:t>
            </a:r>
            <a:endParaRPr lang="en-US" sz="1250" dirty="0"/>
          </a:p>
        </p:txBody>
      </p:sp>
      <p:sp>
        <p:nvSpPr>
          <p:cNvPr id="30" name="Shape 27"/>
          <p:cNvSpPr/>
          <p:nvPr/>
        </p:nvSpPr>
        <p:spPr>
          <a:xfrm>
            <a:off x="7155752" y="3826764"/>
            <a:ext cx="219456" cy="347472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7474991" y="3291840"/>
            <a:ext cx="192024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7474991" y="3291840"/>
            <a:ext cx="1920240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474991" y="3566160"/>
            <a:ext cx="1920240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7474991" y="329184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CNN × 3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7584719" y="3822192"/>
            <a:ext cx="1700784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seed가 다른</a:t>
            </a:r>
            <a:endParaRPr lang="en-US" sz="125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CNN 3개</a:t>
            </a:r>
            <a:endParaRPr lang="en-US" sz="1250" dirty="0"/>
          </a:p>
        </p:txBody>
      </p:sp>
      <p:sp>
        <p:nvSpPr>
          <p:cNvPr id="36" name="Shape 33"/>
          <p:cNvSpPr/>
          <p:nvPr/>
        </p:nvSpPr>
        <p:spPr>
          <a:xfrm>
            <a:off x="9495015" y="3826764"/>
            <a:ext cx="219456" cy="347472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9814255" y="3291840"/>
            <a:ext cx="192024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9814255" y="3291840"/>
            <a:ext cx="1920240" cy="457200"/>
          </a:xfrm>
          <a:prstGeom prst="roundRect">
            <a:avLst>
              <a:gd name="adj" fmla="val 20000"/>
            </a:avLst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9814255" y="3566160"/>
            <a:ext cx="1920240" cy="182880"/>
          </a:xfrm>
          <a:prstGeom prst="rect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9814255" y="329184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⑤ 확률 평균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9923983" y="3822192"/>
            <a:ext cx="1700784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신고자 / 대원</a:t>
            </a:r>
            <a:endParaRPr lang="en-US" sz="125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</a:t>
            </a:r>
            <a:endParaRPr lang="en-US" sz="1250" dirty="0"/>
          </a:p>
        </p:txBody>
      </p:sp>
      <p:sp>
        <p:nvSpPr>
          <p:cNvPr id="42" name="Text 39"/>
          <p:cNvSpPr txBox="1"/>
          <p:nvPr/>
        </p:nvSpPr>
        <p:spPr>
          <a:xfrm>
            <a:off x="457200" y="4892040"/>
            <a:ext cx="112772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왜 이 구조인가</a:t>
            </a:r>
            <a:endParaRPr lang="en-US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457200" y="5285232"/>
            <a:ext cx="112772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대원은 헤드셋·정해진 말투, 신고자는 휴대전화·잡음 → 음향 차이가 있다.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통계 특징(L1)으로 한계를 확인한 뒤 CNN(L2)으로 넘어갔다.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사전학습 모델과 외부 데이터 없이 처음부터 학습했다.</a:t>
            </a:r>
            <a:endParaRPr lang="en-US" sz="13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submission/mission2/README.md, docs/experiment_log.md M2-RERUN-001·M2-ENS-003·M2-RETRAIN-001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13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2  신고자/119대원 분류 — 성능 개선 과정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통계 특징 86.44% → CNN 90.98% → 3-seed 앙상블 91.49%. CNN의 이득은 목소리가 겹친 구간에 몰려 있었다.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457200" y="2240280"/>
            <a:ext cx="5669280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graphicFrame>
        <p:nvGraphicFramePr>
          <p:cNvPr id="10" name="Chart 0" descr=""/>
          <p:cNvGraphicFramePr/>
          <p:nvPr/>
        </p:nvGraphicFramePr>
        <p:xfrm>
          <a:off x="594360" y="2331720"/>
          <a:ext cx="539496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Shape 7"/>
          <p:cNvSpPr/>
          <p:nvPr/>
        </p:nvSpPr>
        <p:spPr>
          <a:xfrm>
            <a:off x="6400800" y="2240280"/>
            <a:ext cx="5333695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2" name="Text 8"/>
          <p:cNvSpPr txBox="1"/>
          <p:nvPr/>
        </p:nvSpPr>
        <p:spPr>
          <a:xfrm>
            <a:off x="6583680" y="2340864"/>
            <a:ext cx="496793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CNN의 이득이 몰린 곳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6583680" y="2697480"/>
            <a:ext cx="24839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+7%p</a:t>
            </a:r>
            <a:endParaRPr lang="en-US" sz="3000" dirty="0"/>
          </a:p>
        </p:txBody>
      </p:sp>
      <p:sp>
        <p:nvSpPr>
          <p:cNvPr id="14" name="Text 10"/>
          <p:cNvSpPr txBox="1"/>
          <p:nvPr/>
        </p:nvSpPr>
        <p:spPr>
          <a:xfrm>
            <a:off x="6583680" y="3410712"/>
            <a:ext cx="2483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목소리가 겹친 구간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9067648" y="2697480"/>
            <a:ext cx="24839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09D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+2%p</a:t>
            </a:r>
            <a:endParaRPr lang="en-US" sz="3000" dirty="0"/>
          </a:p>
        </p:txBody>
      </p:sp>
      <p:sp>
        <p:nvSpPr>
          <p:cNvPr id="16" name="Text 12"/>
          <p:cNvSpPr txBox="1"/>
          <p:nvPr/>
        </p:nvSpPr>
        <p:spPr>
          <a:xfrm>
            <a:off x="9067648" y="3410712"/>
            <a:ext cx="2483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겹치지 않은 구간</a:t>
            </a:r>
            <a:endParaRPr lang="en-US" sz="1200" dirty="0"/>
          </a:p>
        </p:txBody>
      </p:sp>
      <p:sp>
        <p:nvSpPr>
          <p:cNvPr id="17" name="Text 13"/>
          <p:cNvSpPr txBox="1"/>
          <p:nvPr/>
        </p:nvSpPr>
        <p:spPr>
          <a:xfrm>
            <a:off x="6583680" y="3822192"/>
            <a:ext cx="49679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통계 특징(L1) 대비 CNN 단일 모델의 개선 폭 (공식 Validation)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6400800" y="4343400"/>
            <a:ext cx="5333695" cy="1874520"/>
          </a:xfrm>
          <a:prstGeom prst="roundRect">
            <a:avLst>
              <a:gd name="adj" fmla="val 4878"/>
            </a:avLst>
          </a:prstGeom>
          <a:solidFill>
            <a:srgbClr val="E8F5E9"/>
          </a:solidFill>
          <a:ln w="12700">
            <a:solidFill>
              <a:srgbClr val="E8F5E9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537960" y="4343400"/>
            <a:ext cx="36576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💡</a:t>
            </a:r>
            <a:endParaRPr lang="en-US" sz="1800" dirty="0"/>
          </a:p>
        </p:txBody>
      </p:sp>
      <p:sp>
        <p:nvSpPr>
          <p:cNvPr id="20" name="Text 16"/>
          <p:cNvSpPr txBox="1"/>
          <p:nvPr/>
        </p:nvSpPr>
        <p:spPr>
          <a:xfrm>
            <a:off x="6949440" y="4343400"/>
            <a:ext cx="4647895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발견  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제출 방식(한 발화씩 추론)으로 바꾸자 정확도가 떨어졌다. 원인은 학습 때의 배치 패딩과 추론 방식 차이였고, 모든 발화를 자기 자신만으로 같은 길이까지 채우도록 맞춰 회복했다.</a:t>
            </a:r>
            <a:endParaRPr lang="en-US" sz="1200" dirty="0"/>
          </a:p>
        </p:txBody>
      </p:sp>
      <p:sp>
        <p:nvSpPr>
          <p:cNvPr id="21" name="Text 17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docs/experiment_log.md M2-RETRAIN-001, M2-ENS-003, M2-RERUN-001, M2-COMPARE-002, M2-PAD-001·002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14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2  신고자/119대원 분류 — 다른 접근과 기각·보류 이유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CNN 하나로 끝내지 않고 여러 방향을 검증했다. 효과가 없거나 규칙에 어긋난 것은 이유와 함께 기록했다.</a:t>
            </a:r>
            <a:endParaRPr lang="en-US" sz="15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240280"/>
          <a:ext cx="9144000" cy="914400"/>
        </p:xfrm>
        <a:graphic>
          <a:graphicData uri="http://schemas.openxmlformats.org/drawingml/2006/table">
            <a:tbl>
              <a:tblPr/>
              <a:tblGrid>
                <a:gridCol w="4754880"/>
                <a:gridCol w="2194560"/>
                <a:gridCol w="4325112"/>
              </a:tblGrid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시도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판정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이유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같은 통화의 다른 발화와 비교하는 특징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5393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제거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규칙 위반 소지 (주최 측 답변)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text로 고친 라벨로 학습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F4E9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제공 라벨로 재학습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점수는 거의 그대로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통계 모델과 CNN 확률 평균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5393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기각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단독 CNN보다 낮음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더 큰 CNN / 패딩 제외 풀링 / 길이 입력 / Mixup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5393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기각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사전 기준 미달 또는 재현 안 됨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WavLM 고정 임베딩 · 기본 미세조정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5393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기각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이득 없음, 추론 비용 큼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WavLM 미세조정 (3초 창·겹침 증강)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6161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보류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공식 평가 진행 중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 txBox="1"/>
          <p:nvPr/>
        </p:nvSpPr>
        <p:spPr>
          <a:xfrm>
            <a:off x="457200" y="61722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비교는 Training 내부 통화 단위 홀드아웃 기준 (공식 Val 아님).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15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2  신고자/119대원 분류 — 최종 결과와 한계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공식 Validation 91.49%. 원본 데이터부터 다시 학습해도 같은 수준이 재현됐다.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457200" y="2240280"/>
            <a:ext cx="5120640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457200" y="2514600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91.49%</a:t>
            </a:r>
            <a:endParaRPr lang="en-US" sz="48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3227832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Accuracy (공식 Validation)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22960" y="3886200"/>
            <a:ext cx="438912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57200" y="416052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09D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87.15%</a:t>
            </a:r>
            <a:endParaRPr lang="en-US" sz="3000" dirty="0"/>
          </a:p>
        </p:txBody>
      </p:sp>
      <p:sp>
        <p:nvSpPr>
          <p:cNvPr id="14" name="Text 11"/>
          <p:cNvSpPr txBox="1"/>
          <p:nvPr/>
        </p:nvSpPr>
        <p:spPr>
          <a:xfrm>
            <a:off x="457200" y="4873752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대원 recall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3017520" y="416052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09D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95.51%</a:t>
            </a:r>
            <a:endParaRPr lang="en-US" sz="3000" dirty="0"/>
          </a:p>
        </p:txBody>
      </p:sp>
      <p:sp>
        <p:nvSpPr>
          <p:cNvPr id="16" name="Text 13"/>
          <p:cNvSpPr txBox="1"/>
          <p:nvPr/>
        </p:nvSpPr>
        <p:spPr>
          <a:xfrm>
            <a:off x="3017520" y="4873752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신고자 recall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852160" y="2240280"/>
            <a:ext cx="5882335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6080760" y="2377440"/>
            <a:ext cx="542513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재현성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6080760" y="2788920"/>
            <a:ext cx="54251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원본 데이터부터 노트북 하나로 다시 학습한 결과가 이전 앙상블과 거의 같았다.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5852160" y="3840480"/>
            <a:ext cx="5882335" cy="2377440"/>
          </a:xfrm>
          <a:prstGeom prst="roundRect">
            <a:avLst>
              <a:gd name="adj" fmla="val 3846"/>
            </a:avLst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1" name="Text 18"/>
          <p:cNvSpPr txBox="1"/>
          <p:nvPr/>
        </p:nvSpPr>
        <p:spPr>
          <a:xfrm>
            <a:off x="6080760" y="3977640"/>
            <a:ext cx="542513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한계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6080760" y="4389120"/>
            <a:ext cx="542513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대원 recall이 신고자보다 낮다. "네", "여보세요" 같은 짧은 응답은 두 화자가 비슷하게 들린다. 규칙상 통화 맥락을 쓸 수 없어 짧은 발화의 정보량에 한계가 있다.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submission/mission2/README.md, docs/experiment_log.md M2-RERUN-001·M2-ENS-003·M2-RETRAIN-001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16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3  환자 증상 인식 — 문제 정의와 접근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TF-IDF 기준선부터 RoBERTa 문맥 모델을 검증하고, 최종 3-seed + TF-IDF 앙상블 채택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457200" y="2240280"/>
            <a:ext cx="3749040" cy="3977640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685800" y="2377440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문제 정의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85800" y="2880360"/>
            <a:ext cx="868680" cy="329184"/>
          </a:xfrm>
          <a:prstGeom prst="roundRect">
            <a:avLst>
              <a:gd name="adj" fmla="val 22222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85800" y="288036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입력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1691640" y="2862072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119 통화 전사문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(utterances[].text만)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85800" y="3703320"/>
            <a:ext cx="868680" cy="329184"/>
          </a:xfrm>
          <a:prstGeom prst="roundRect">
            <a:avLst>
              <a:gd name="adj" fmla="val 22222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85800" y="370332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출력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1691640" y="3685032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증상 9종 중 0~9개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(다중 레이블)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85800" y="4526280"/>
            <a:ext cx="868680" cy="329184"/>
          </a:xfrm>
          <a:prstGeom prst="roundRect">
            <a:avLst>
              <a:gd name="adj" fmla="val 22222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5800" y="452628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평가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1691640" y="4507992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Macro F1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(증상별 F1 평균)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685800" y="5349240"/>
            <a:ext cx="868680" cy="329184"/>
          </a:xfrm>
          <a:prstGeom prst="roundRect">
            <a:avLst>
              <a:gd name="adj" fmla="val 22222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85800" y="534924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대상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1691640" y="5330952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고열·구토·두통·복통·어지러움·열상·오심·전신쇠약·호흡곤란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4572000" y="2240280"/>
            <a:ext cx="7162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모델 구성</a:t>
            </a:r>
            <a:endParaRPr lang="en-US" sz="1800" dirty="0"/>
          </a:p>
        </p:txBody>
      </p:sp>
      <p:sp>
        <p:nvSpPr>
          <p:cNvPr id="24" name="Shape 21"/>
          <p:cNvSpPr/>
          <p:nvPr/>
        </p:nvSpPr>
        <p:spPr>
          <a:xfrm>
            <a:off x="4572000" y="2697480"/>
            <a:ext cx="1572768" cy="1600200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4572000" y="2697480"/>
            <a:ext cx="1572768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4572000" y="2971800"/>
            <a:ext cx="1572768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4572000" y="2697480"/>
            <a:ext cx="157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입력 정제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4681728" y="3227832"/>
            <a:ext cx="1353312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발화 text만</a:t>
            </a:r>
            <a:endParaRPr lang="en-US" sz="12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원본 순서 유지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6189421" y="3291840"/>
            <a:ext cx="201168" cy="32004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6435242" y="2697480"/>
            <a:ext cx="1572768" cy="1600200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6435242" y="2697480"/>
            <a:ext cx="1572768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6435242" y="2971800"/>
            <a:ext cx="1572768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6435242" y="2697480"/>
            <a:ext cx="157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초기 기준선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6544970" y="3227832"/>
            <a:ext cx="1353312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TF-IDF +</a:t>
            </a:r>
            <a:endParaRPr lang="en-US" sz="12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로지스틱 회귀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8052664" y="3291840"/>
            <a:ext cx="201168" cy="32004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8298485" y="2697480"/>
            <a:ext cx="1572768" cy="1600200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37" name="Shape 34"/>
          <p:cNvSpPr/>
          <p:nvPr/>
        </p:nvSpPr>
        <p:spPr>
          <a:xfrm>
            <a:off x="8298485" y="2697480"/>
            <a:ext cx="1572768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8298485" y="2971800"/>
            <a:ext cx="1572768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8298485" y="2697480"/>
            <a:ext cx="157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문맥 모델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8408213" y="3227832"/>
            <a:ext cx="1353312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RoBERTa-large</a:t>
            </a:r>
            <a:endParaRPr lang="en-US" sz="12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3개 seed</a:t>
            </a:r>
            <a:endParaRPr lang="en-US" sz="1200" dirty="0"/>
          </a:p>
        </p:txBody>
      </p:sp>
      <p:sp>
        <p:nvSpPr>
          <p:cNvPr id="41" name="Shape 38"/>
          <p:cNvSpPr/>
          <p:nvPr/>
        </p:nvSpPr>
        <p:spPr>
          <a:xfrm>
            <a:off x="9915906" y="3291840"/>
            <a:ext cx="201168" cy="32004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10161727" y="2697480"/>
            <a:ext cx="1572768" cy="1600200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43" name="Shape 40"/>
          <p:cNvSpPr/>
          <p:nvPr/>
        </p:nvSpPr>
        <p:spPr>
          <a:xfrm>
            <a:off x="10161727" y="2697480"/>
            <a:ext cx="1572768" cy="457200"/>
          </a:xfrm>
          <a:prstGeom prst="roundRect">
            <a:avLst>
              <a:gd name="adj" fmla="val 20000"/>
            </a:avLst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10161727" y="2971800"/>
            <a:ext cx="1572768" cy="182880"/>
          </a:xfrm>
          <a:prstGeom prst="rect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10161727" y="2697480"/>
            <a:ext cx="157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최종 예측</a:t>
            </a:r>
            <a:endParaRPr lang="en-US" sz="1400" dirty="0"/>
          </a:p>
        </p:txBody>
      </p:sp>
      <p:sp>
        <p:nvSpPr>
          <p:cNvPr id="46" name="Text 43"/>
          <p:cNvSpPr txBox="1"/>
          <p:nvPr/>
        </p:nvSpPr>
        <p:spPr>
          <a:xfrm>
            <a:off x="10271455" y="3227832"/>
            <a:ext cx="1353312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확률 0.55:0.45</a:t>
            </a:r>
            <a:endParaRPr lang="en-US" sz="12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증상별 0.5 판정</a:t>
            </a:r>
            <a:endParaRPr lang="en-US" sz="1200" dirty="0"/>
          </a:p>
        </p:txBody>
      </p:sp>
      <p:sp>
        <p:nvSpPr>
          <p:cNvPr id="47" name="Text 44"/>
          <p:cNvSpPr txBox="1"/>
          <p:nvPr/>
        </p:nvSpPr>
        <p:spPr>
          <a:xfrm>
            <a:off x="4572000" y="4526280"/>
            <a:ext cx="7162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왜 이 방법인가</a:t>
            </a:r>
            <a:endParaRPr lang="en-US" sz="1800" dirty="0"/>
          </a:p>
        </p:txBody>
      </p:sp>
      <p:sp>
        <p:nvSpPr>
          <p:cNvPr id="48" name="Text 45"/>
          <p:cNvSpPr txBox="1"/>
          <p:nvPr/>
        </p:nvSpPr>
        <p:spPr>
          <a:xfrm>
            <a:off x="4572000" y="4937760"/>
            <a:ext cx="716249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오류 단서: 키워드 탐색에서 전사에 직접 근거가 드러나지 않는 양성 라벨을 발견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모델 비교: 키워드 표현과 문맥 표현이 다른 오류를 낼 가능성을 확인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 원칙: 결합 비율은 Training 내부에서 확정하고, 공식 Val은 채점만 수행</a:t>
            </a:r>
            <a:endParaRPr lang="en-US" sz="1300" dirty="0"/>
          </a:p>
        </p:txBody>
      </p:sp>
      <p:sp>
        <p:nvSpPr>
          <p:cNvPr id="49" name="Text 46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submission/mission3/README.md, docs/decisions.md M3-FINAL-002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17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3  환자 증상 인식 — 최종 결과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최종 3-seed RoBERTa + TF-IDF 앙상블: 공식 Validation Macro F1 65.34%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457200" y="2240280"/>
            <a:ext cx="6675120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640080" y="242316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65.34%</a:t>
            </a:r>
            <a:endParaRPr lang="en-US" sz="3800" dirty="0"/>
          </a:p>
        </p:txBody>
      </p:sp>
      <p:sp>
        <p:nvSpPr>
          <p:cNvPr id="11" name="Text 8"/>
          <p:cNvSpPr txBox="1"/>
          <p:nvPr/>
        </p:nvSpPr>
        <p:spPr>
          <a:xfrm>
            <a:off x="640080" y="3136392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Macro F1 · 공식 Val 3,640건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640080" y="3913632"/>
            <a:ext cx="2377440" cy="2103120"/>
          </a:xfrm>
          <a:prstGeom prst="roundRect">
            <a:avLst>
              <a:gd name="adj" fmla="val 4348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77240" y="3913632"/>
            <a:ext cx="3657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💡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1188720" y="3913632"/>
            <a:ext cx="16916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Micro F1  0.6690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빈 예측 149건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앙상블 가중치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RoBERTa 평균 0.55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 TF-IDF 0.45</a:t>
            </a:r>
            <a:endParaRPr lang="en-US" sz="13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3154680" y="2697480"/>
          <a:ext cx="3749040" cy="3063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6" name="Shape 12"/>
          <p:cNvSpPr/>
          <p:nvPr/>
        </p:nvSpPr>
        <p:spPr>
          <a:xfrm>
            <a:off x="7406640" y="2240280"/>
            <a:ext cx="4327855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7" name="Text 13"/>
          <p:cNvSpPr txBox="1"/>
          <p:nvPr/>
        </p:nvSpPr>
        <p:spPr>
          <a:xfrm>
            <a:off x="7589520" y="2340864"/>
            <a:ext cx="39620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개선 흐름 (모두 공식 Val)</a:t>
            </a:r>
            <a:endParaRPr lang="en-US" sz="1500" dirty="0"/>
          </a:p>
        </p:txBody>
      </p:sp>
      <p:sp>
        <p:nvSpPr>
          <p:cNvPr id="18" name="Shape 14"/>
          <p:cNvSpPr/>
          <p:nvPr/>
        </p:nvSpPr>
        <p:spPr>
          <a:xfrm>
            <a:off x="7635240" y="2743200"/>
            <a:ext cx="3870655" cy="384048"/>
          </a:xfrm>
          <a:prstGeom prst="roundRect">
            <a:avLst>
              <a:gd name="adj" fmla="val 19048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7772400" y="2743200"/>
            <a:ext cx="25904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TF-IDF</a:t>
            </a:r>
            <a:endParaRPr lang="en-US" sz="1300" dirty="0"/>
          </a:p>
        </p:txBody>
      </p:sp>
      <p:sp>
        <p:nvSpPr>
          <p:cNvPr id="20" name="Text 16"/>
          <p:cNvSpPr txBox="1"/>
          <p:nvPr/>
        </p:nvSpPr>
        <p:spPr>
          <a:xfrm>
            <a:off x="10271455" y="2743200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0.5689</a:t>
            </a:r>
            <a:endParaRPr lang="en-US" sz="1300" dirty="0"/>
          </a:p>
        </p:txBody>
      </p:sp>
      <p:sp>
        <p:nvSpPr>
          <p:cNvPr id="21" name="Shape 17"/>
          <p:cNvSpPr/>
          <p:nvPr/>
        </p:nvSpPr>
        <p:spPr>
          <a:xfrm>
            <a:off x="7635240" y="3218688"/>
            <a:ext cx="3870655" cy="384048"/>
          </a:xfrm>
          <a:prstGeom prst="roundRect">
            <a:avLst>
              <a:gd name="adj" fmla="val 19048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7772400" y="3218688"/>
            <a:ext cx="25904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KcBERT</a:t>
            </a:r>
            <a:endParaRPr lang="en-US" sz="1300" dirty="0"/>
          </a:p>
        </p:txBody>
      </p:sp>
      <p:sp>
        <p:nvSpPr>
          <p:cNvPr id="23" name="Text 19"/>
          <p:cNvSpPr txBox="1"/>
          <p:nvPr/>
        </p:nvSpPr>
        <p:spPr>
          <a:xfrm>
            <a:off x="10271455" y="3218688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0.6246</a:t>
            </a:r>
            <a:endParaRPr lang="en-US" sz="1300" dirty="0"/>
          </a:p>
        </p:txBody>
      </p:sp>
      <p:sp>
        <p:nvSpPr>
          <p:cNvPr id="24" name="Shape 20"/>
          <p:cNvSpPr/>
          <p:nvPr/>
        </p:nvSpPr>
        <p:spPr>
          <a:xfrm>
            <a:off x="7635240" y="3694176"/>
            <a:ext cx="3870655" cy="384048"/>
          </a:xfrm>
          <a:prstGeom prst="roundRect">
            <a:avLst>
              <a:gd name="adj" fmla="val 19048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7772400" y="3694176"/>
            <a:ext cx="25904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RoBERTa-large</a:t>
            </a:r>
            <a:endParaRPr lang="en-US" sz="1300" dirty="0"/>
          </a:p>
        </p:txBody>
      </p:sp>
      <p:sp>
        <p:nvSpPr>
          <p:cNvPr id="26" name="Text 22"/>
          <p:cNvSpPr txBox="1"/>
          <p:nvPr/>
        </p:nvSpPr>
        <p:spPr>
          <a:xfrm>
            <a:off x="10271455" y="3694176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0.6433</a:t>
            </a:r>
            <a:endParaRPr lang="en-US" sz="1300" dirty="0"/>
          </a:p>
        </p:txBody>
      </p:sp>
      <p:sp>
        <p:nvSpPr>
          <p:cNvPr id="27" name="Shape 23"/>
          <p:cNvSpPr/>
          <p:nvPr/>
        </p:nvSpPr>
        <p:spPr>
          <a:xfrm>
            <a:off x="7635240" y="4169664"/>
            <a:ext cx="3870655" cy="384048"/>
          </a:xfrm>
          <a:prstGeom prst="roundRect">
            <a:avLst>
              <a:gd name="adj" fmla="val 19048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7772400" y="4169664"/>
            <a:ext cx="25904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앙상블</a:t>
            </a:r>
            <a:endParaRPr lang="en-US" sz="1300" dirty="0"/>
          </a:p>
        </p:txBody>
      </p:sp>
      <p:sp>
        <p:nvSpPr>
          <p:cNvPr id="29" name="Text 25"/>
          <p:cNvSpPr txBox="1"/>
          <p:nvPr/>
        </p:nvSpPr>
        <p:spPr>
          <a:xfrm>
            <a:off x="10271455" y="4169664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0.6534</a:t>
            </a:r>
            <a:endParaRPr lang="en-US" sz="1300" dirty="0"/>
          </a:p>
        </p:txBody>
      </p:sp>
      <p:sp>
        <p:nvSpPr>
          <p:cNvPr id="30" name="Shape 26"/>
          <p:cNvSpPr/>
          <p:nvPr/>
        </p:nvSpPr>
        <p:spPr>
          <a:xfrm>
            <a:off x="7406640" y="4892040"/>
            <a:ext cx="4327855" cy="1325880"/>
          </a:xfrm>
          <a:prstGeom prst="roundRect">
            <a:avLst>
              <a:gd name="adj" fmla="val 6897"/>
            </a:avLst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31" name="Text 27"/>
          <p:cNvSpPr txBox="1"/>
          <p:nvPr/>
        </p:nvSpPr>
        <p:spPr>
          <a:xfrm>
            <a:off x="7589520" y="5001768"/>
            <a:ext cx="39620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증상별 약점</a:t>
            </a:r>
            <a:endParaRPr lang="en-US" sz="1500" dirty="0"/>
          </a:p>
        </p:txBody>
      </p:sp>
      <p:sp>
        <p:nvSpPr>
          <p:cNvPr id="32" name="Text 28"/>
          <p:cNvSpPr txBox="1"/>
          <p:nvPr/>
        </p:nvSpPr>
        <p:spPr>
          <a:xfrm>
            <a:off x="7589520" y="5413248"/>
            <a:ext cx="39620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539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오심 · 두통 · 전신쇠약</a:t>
            </a:r>
            <a:endParaRPr lang="en-US" sz="1800" dirty="0"/>
          </a:p>
        </p:txBody>
      </p:sp>
      <p:sp>
        <p:nvSpPr>
          <p:cNvPr id="33" name="Text 29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submission/mission3/README.md, m3_final_train.executed.ipynb. 모델별 점수 차이가 특정 원인만의 효과임을 뜻하지 않음.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18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3  환자 증상 인식 — 모델 선정과 오류 분석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이전 앙상블 기각과 최종 앙상블 채택은 서로 다른 실험 — 검증 조건을 구분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457200" y="2240280"/>
            <a:ext cx="192024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7200" y="2240280"/>
            <a:ext cx="1920240" cy="457200"/>
          </a:xfrm>
          <a:prstGeom prst="roundRect">
            <a:avLst>
              <a:gd name="adj" fmla="val 20000"/>
            </a:avLst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57200" y="2514600"/>
            <a:ext cx="1920240" cy="182880"/>
          </a:xfrm>
          <a:prstGeom prst="rect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57200" y="224028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초기 기준선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566928" y="2770632"/>
            <a:ext cx="170078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TF-IDF + LR</a:t>
            </a:r>
            <a:endParaRPr lang="en-US" sz="125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0.5689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2477224" y="2752344"/>
            <a:ext cx="219456" cy="347472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2796464" y="2240280"/>
            <a:ext cx="192024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2796464" y="2240280"/>
            <a:ext cx="1920240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2796464" y="2514600"/>
            <a:ext cx="1920240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796464" y="224028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문맥 모델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2906192" y="2770632"/>
            <a:ext cx="170078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KcBERT-005</a:t>
            </a:r>
            <a:endParaRPr lang="en-US" sz="125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0.6246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4816488" y="2752344"/>
            <a:ext cx="219456" cy="347472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5135728" y="2240280"/>
            <a:ext cx="192024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5135728" y="2240280"/>
            <a:ext cx="1920240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5135728" y="2514600"/>
            <a:ext cx="1920240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135728" y="224028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단일 모델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5245456" y="2770632"/>
            <a:ext cx="170078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RoBERTa-003</a:t>
            </a:r>
            <a:endParaRPr lang="en-US" sz="125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0.6433</a:t>
            </a:r>
            <a:endParaRPr lang="en-US" sz="1250" dirty="0"/>
          </a:p>
        </p:txBody>
      </p:sp>
      <p:sp>
        <p:nvSpPr>
          <p:cNvPr id="26" name="Shape 23"/>
          <p:cNvSpPr/>
          <p:nvPr/>
        </p:nvSpPr>
        <p:spPr>
          <a:xfrm>
            <a:off x="7155752" y="2752344"/>
            <a:ext cx="219456" cy="347472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474991" y="2240280"/>
            <a:ext cx="192024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7474991" y="2240280"/>
            <a:ext cx="1920240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474991" y="2514600"/>
            <a:ext cx="1920240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7474991" y="224028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과거 결합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7584719" y="2770632"/>
            <a:ext cx="170078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3종 앙상블</a:t>
            </a:r>
            <a:endParaRPr lang="en-US" sz="125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0.6510 (기각)</a:t>
            </a:r>
            <a:endParaRPr lang="en-US" sz="1250" dirty="0"/>
          </a:p>
        </p:txBody>
      </p:sp>
      <p:sp>
        <p:nvSpPr>
          <p:cNvPr id="32" name="Shape 29"/>
          <p:cNvSpPr/>
          <p:nvPr/>
        </p:nvSpPr>
        <p:spPr>
          <a:xfrm>
            <a:off x="9495015" y="2752344"/>
            <a:ext cx="219456" cy="347472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9814255" y="2240280"/>
            <a:ext cx="192024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9814255" y="2240280"/>
            <a:ext cx="1920240" cy="457200"/>
          </a:xfrm>
          <a:prstGeom prst="roundRect">
            <a:avLst>
              <a:gd name="adj" fmla="val 20000"/>
            </a:avLst>
          </a:prstGeom>
          <a:solidFill>
            <a:srgbClr val="8BC34A"/>
          </a:solidFill>
          <a:ln w="12700">
            <a:solidFill>
              <a:srgbClr val="8BC34A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9814255" y="2514600"/>
            <a:ext cx="1920240" cy="182880"/>
          </a:xfrm>
          <a:prstGeom prst="rect">
            <a:avLst/>
          </a:prstGeom>
          <a:solidFill>
            <a:srgbClr val="8BC34A"/>
          </a:solidFill>
          <a:ln w="12700">
            <a:solidFill>
              <a:srgbClr val="8BC34A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9814255" y="224028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최종 채택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9923983" y="2770632"/>
            <a:ext cx="170078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3-seed + TF-IDF</a:t>
            </a:r>
            <a:endParaRPr lang="en-US" sz="125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0.6534</a:t>
            </a:r>
            <a:endParaRPr lang="en-US" sz="1250" dirty="0"/>
          </a:p>
        </p:txBody>
      </p:sp>
      <p:sp>
        <p:nvSpPr>
          <p:cNvPr id="38" name="Shape 35"/>
          <p:cNvSpPr/>
          <p:nvPr/>
        </p:nvSpPr>
        <p:spPr>
          <a:xfrm>
            <a:off x="457200" y="3794760"/>
            <a:ext cx="4572000" cy="1188720"/>
          </a:xfrm>
          <a:prstGeom prst="roundRect">
            <a:avLst>
              <a:gd name="adj" fmla="val 7692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594360" y="3794760"/>
            <a:ext cx="365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💡</a:t>
            </a:r>
            <a:endParaRPr lang="en-US" sz="1800" dirty="0"/>
          </a:p>
        </p:txBody>
      </p:sp>
      <p:sp>
        <p:nvSpPr>
          <p:cNvPr id="40" name="Text 37"/>
          <p:cNvSpPr txBox="1"/>
          <p:nvPr/>
        </p:nvSpPr>
        <p:spPr>
          <a:xfrm>
            <a:off x="1005840" y="3794760"/>
            <a:ext cx="3886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선정 근거  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RoBERTa 3-seed 평균 55% + TF-IDF 45%, 임계값 0.5 고정. 결합 비율은 Training 내부 홀드아웃에서 확정.</a:t>
            </a:r>
            <a:endParaRPr lang="en-US" sz="1150" dirty="0"/>
          </a:p>
        </p:txBody>
      </p:sp>
      <p:sp>
        <p:nvSpPr>
          <p:cNvPr id="41" name="Shape 38"/>
          <p:cNvSpPr/>
          <p:nvPr/>
        </p:nvSpPr>
        <p:spPr>
          <a:xfrm>
            <a:off x="457200" y="5074920"/>
            <a:ext cx="4572000" cy="1188720"/>
          </a:xfrm>
          <a:prstGeom prst="roundRect">
            <a:avLst>
              <a:gd name="adj" fmla="val 7692"/>
            </a:avLst>
          </a:prstGeom>
          <a:solidFill>
            <a:srgbClr val="E8F5E9"/>
          </a:solidFill>
          <a:ln w="12700">
            <a:solidFill>
              <a:srgbClr val="E8F5E9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594360" y="5074920"/>
            <a:ext cx="365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💡</a:t>
            </a:r>
            <a:endParaRPr lang="en-US" sz="1800" dirty="0"/>
          </a:p>
        </p:txBody>
      </p:sp>
      <p:sp>
        <p:nvSpPr>
          <p:cNvPr id="43" name="Text 40"/>
          <p:cNvSpPr txBox="1"/>
          <p:nvPr/>
        </p:nvSpPr>
        <p:spPr>
          <a:xfrm>
            <a:off x="1005840" y="5074920"/>
            <a:ext cx="3886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해석 주의  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0.6433 → 0.6534는 학습 데이터량·모델 구성이 모두 달라 통제 실험의 개선 폭으로 해석하지 않음.</a:t>
            </a:r>
            <a:endParaRPr lang="en-US" sz="1150" dirty="0"/>
          </a:p>
        </p:txBody>
      </p:sp>
      <p:sp>
        <p:nvSpPr>
          <p:cNvPr id="44" name="Shape 41"/>
          <p:cNvSpPr/>
          <p:nvPr/>
        </p:nvSpPr>
        <p:spPr>
          <a:xfrm>
            <a:off x="5303520" y="3794760"/>
            <a:ext cx="6430975" cy="2468880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45" name="Text 42"/>
          <p:cNvSpPr txBox="1"/>
          <p:nvPr/>
        </p:nvSpPr>
        <p:spPr>
          <a:xfrm>
            <a:off x="5532120" y="3904488"/>
            <a:ext cx="597377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오류 분석 — 점수가 낮은 증상의 원인</a:t>
            </a:r>
            <a:endParaRPr lang="en-US" sz="1500" dirty="0"/>
          </a:p>
        </p:txBody>
      </p:sp>
      <p:sp>
        <p:nvSpPr>
          <p:cNvPr id="46" name="Text 43"/>
          <p:cNvSpPr txBox="1"/>
          <p:nvPr/>
        </p:nvSpPr>
        <p:spPr>
          <a:xfrm>
            <a:off x="5532120" y="4279392"/>
            <a:ext cx="5973775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 양성 라벨의 </a:t>
            </a:r>
            <a:pPr indent="0" marL="0">
              <a:spcAft>
                <a:spcPts val="800"/>
              </a:spcAft>
              <a:buNone/>
            </a:pPr>
            <a:r>
              <a:rPr lang="en-US" sz="11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절반은 통화 내용에 근거가 없다.</a:t>
            </a:r>
            <a:pPr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오심·전신쇠약에서 특히 높다.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모델이 모두 놓친 양성의 대부분이 이런 "근거 없는 라벨"이었고, 근거가 있는 라벨은 약 90%를 맞혔다 → </a:t>
            </a:r>
            <a:pPr indent="0" marL="0">
              <a:spcAft>
                <a:spcPts val="800"/>
              </a:spcAft>
              <a:buNone/>
            </a:pPr>
            <a:r>
              <a:rPr lang="en-US" sz="11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점수가 낮은 증상의 원인이 모델보다 데이터 쪽에 있다.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TF-IDF는 근거 없는 라벨에 강하고 BERT 계열은 부정 표현("열은 없어요") 오탐이 적다 → 서로 보완해서 앙상블했다.</a:t>
            </a:r>
            <a:endParaRPr lang="en-US" sz="1150" dirty="0"/>
          </a:p>
        </p:txBody>
      </p:sp>
      <p:sp>
        <p:nvSpPr>
          <p:cNvPr id="47" name="Text 44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docs/decisions.md M3-FINAL-002, docs/experiment_log.md M3-ERR-001. 키워드 정규식 기준의 탐색적 결과이며 오라벨로 단정하지 않음.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  종합 및 시사점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19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(1) 성능 요약과 교훈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미션 모두 공식 Validation은 채점에만 쓰고, 점수보다 검증의 정직함을 우선했다.</a:t>
            </a:r>
            <a:endParaRPr lang="en-US" sz="15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240280"/>
          <a:ext cx="91440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4023360"/>
                <a:gridCol w="1463040"/>
                <a:gridCol w="1645920"/>
                <a:gridCol w="1947672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Mission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최종 모델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지표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공식 Val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Baseline 대비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M1 신고자 성별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음향 특징 + WavLM x-vector + LR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Accuracy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F4E9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98.10%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+2.99%p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M2 신고자/대원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log-mel + CNN × 3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Accuracy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F4E9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91.49%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+5.05%p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M3 증상 9종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RoBERTa-large × 3 + TF-IDF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Macro F1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F4E9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0.6534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+0.0845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 txBox="1"/>
          <p:nvPr/>
        </p:nvSpPr>
        <p:spPr>
          <a:xfrm>
            <a:off x="457200" y="4114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baseline: M1 95.11%, M2 86.44%, M3 0.5689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457200" y="4526280"/>
            <a:ext cx="3576218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685800" y="4681728"/>
            <a:ext cx="457200" cy="457200"/>
          </a:xfrm>
          <a:prstGeom prst="ellipse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85800" y="46817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1280160" y="4636008"/>
            <a:ext cx="26160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기준은 결과를 보기 전에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고정한다</a:t>
            </a:r>
            <a:endParaRPr lang="en-US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685800" y="5303520"/>
            <a:ext cx="311901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결과를 본 뒤 기준을 낮추면 Validation에 과적합된다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4307738" y="4526280"/>
            <a:ext cx="3576218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4536338" y="4681728"/>
            <a:ext cx="457200" cy="457200"/>
          </a:xfrm>
          <a:prstGeom prst="ellipse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4536338" y="46817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600" dirty="0"/>
          </a:p>
        </p:txBody>
      </p:sp>
      <p:sp>
        <p:nvSpPr>
          <p:cNvPr id="19" name="Text 15"/>
          <p:cNvSpPr txBox="1"/>
          <p:nvPr/>
        </p:nvSpPr>
        <p:spPr>
          <a:xfrm>
            <a:off x="5130698" y="4636008"/>
            <a:ext cx="26160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기각도 기록한다</a:t>
            </a:r>
            <a:endParaRPr lang="en-US" sz="1500" dirty="0"/>
          </a:p>
        </p:txBody>
      </p:sp>
      <p:sp>
        <p:nvSpPr>
          <p:cNvPr id="20" name="Text 16"/>
          <p:cNvSpPr txBox="1"/>
          <p:nvPr/>
        </p:nvSpPr>
        <p:spPr>
          <a:xfrm>
            <a:off x="4536338" y="5303520"/>
            <a:ext cx="311901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효과 없던 실험과 그 이유를 decisions.md에 남겨 같은 시도를 반복하지 않음</a:t>
            </a:r>
            <a:endParaRPr lang="en-US" sz="1200" dirty="0"/>
          </a:p>
        </p:txBody>
      </p:sp>
      <p:sp>
        <p:nvSpPr>
          <p:cNvPr id="21" name="Shape 17"/>
          <p:cNvSpPr/>
          <p:nvPr/>
        </p:nvSpPr>
        <p:spPr>
          <a:xfrm>
            <a:off x="8158277" y="4526280"/>
            <a:ext cx="3576218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2" name="Shape 18"/>
          <p:cNvSpPr/>
          <p:nvPr/>
        </p:nvSpPr>
        <p:spPr>
          <a:xfrm>
            <a:off x="8386877" y="4681728"/>
            <a:ext cx="457200" cy="457200"/>
          </a:xfrm>
          <a:prstGeom prst="ellipse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8386877" y="46817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600" dirty="0"/>
          </a:p>
        </p:txBody>
      </p:sp>
      <p:sp>
        <p:nvSpPr>
          <p:cNvPr id="24" name="Text 20"/>
          <p:cNvSpPr txBox="1"/>
          <p:nvPr/>
        </p:nvSpPr>
        <p:spPr>
          <a:xfrm>
            <a:off x="8981237" y="4636008"/>
            <a:ext cx="26160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규칙은 설계 단계에서 지킨다</a:t>
            </a:r>
            <a:endParaRPr lang="en-US" sz="1500" dirty="0"/>
          </a:p>
        </p:txBody>
      </p:sp>
      <p:sp>
        <p:nvSpPr>
          <p:cNvPr id="25" name="Text 21"/>
          <p:cNvSpPr txBox="1"/>
          <p:nvPr/>
        </p:nvSpPr>
        <p:spPr>
          <a:xfrm>
            <a:off x="8386877" y="5303520"/>
            <a:ext cx="311901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규칙 위반 소지가 있는 특징은 성능이 좋아도 제거 (M2 통화 단위 정보)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  종합 및 시사점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20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(2) 사회안전 시사점과 향후 계획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미션을 이으면, 신고 전화가 들어오는 순간부터 출동 판단까지를 돕는 하나의 흐름이 된다.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457200" y="2240280"/>
            <a:ext cx="2377440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7200" y="2240280"/>
            <a:ext cx="2377440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57200" y="2514600"/>
            <a:ext cx="2377440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57200" y="22402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2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566928" y="2770632"/>
            <a:ext cx="21579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신고자 발화 분리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3019501" y="2660904"/>
            <a:ext cx="219456" cy="347472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423818" y="2240280"/>
            <a:ext cx="2377440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3423818" y="2240280"/>
            <a:ext cx="2377440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3423818" y="2514600"/>
            <a:ext cx="2377440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3423818" y="22402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1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3533546" y="2770632"/>
            <a:ext cx="21579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신고자 성별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5986120" y="2660904"/>
            <a:ext cx="219456" cy="347472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390437" y="2240280"/>
            <a:ext cx="2377440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6390437" y="2240280"/>
            <a:ext cx="2377440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390437" y="2514600"/>
            <a:ext cx="2377440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390437" y="22402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3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6500165" y="2770632"/>
            <a:ext cx="21579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증상 태깅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8952738" y="2660904"/>
            <a:ext cx="219456" cy="347472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9357055" y="2240280"/>
            <a:ext cx="2377440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9357055" y="2240280"/>
            <a:ext cx="2377440" cy="457200"/>
          </a:xfrm>
          <a:prstGeom prst="roundRect">
            <a:avLst>
              <a:gd name="adj" fmla="val 20000"/>
            </a:avLst>
          </a:prstGeom>
          <a:solidFill>
            <a:srgbClr val="8BC34A"/>
          </a:solidFill>
          <a:ln w="12700">
            <a:solidFill>
              <a:srgbClr val="8BC34A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9357055" y="2514600"/>
            <a:ext cx="2377440" cy="182880"/>
          </a:xfrm>
          <a:prstGeom prst="rect">
            <a:avLst/>
          </a:prstGeom>
          <a:solidFill>
            <a:srgbClr val="8BC34A"/>
          </a:solidFill>
          <a:ln w="12700">
            <a:solidFill>
              <a:srgbClr val="8BC34A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9357055" y="22402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상황실 화면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9466783" y="2770632"/>
            <a:ext cx="21579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 기록</a:t>
            </a:r>
            <a:endParaRPr lang="en-US" sz="1400" dirty="0"/>
          </a:p>
        </p:txBody>
      </p:sp>
      <p:sp>
        <p:nvSpPr>
          <p:cNvPr id="32" name="Shape 29"/>
          <p:cNvSpPr/>
          <p:nvPr/>
        </p:nvSpPr>
        <p:spPr>
          <a:xfrm>
            <a:off x="457200" y="3611880"/>
            <a:ext cx="457200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33" name="Text 30"/>
          <p:cNvSpPr txBox="1"/>
          <p:nvPr/>
        </p:nvSpPr>
        <p:spPr>
          <a:xfrm>
            <a:off x="685800" y="3721608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기대효과</a:t>
            </a:r>
            <a:endParaRPr lang="en-US" sz="1800" dirty="0"/>
          </a:p>
        </p:txBody>
      </p:sp>
      <p:sp>
        <p:nvSpPr>
          <p:cNvPr id="34" name="Text 31"/>
          <p:cNvSpPr txBox="1"/>
          <p:nvPr/>
        </p:nvSpPr>
        <p:spPr>
          <a:xfrm>
            <a:off x="685800" y="4206240"/>
            <a:ext cx="41148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접수 시간 단축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— 수기 기록 부담 감소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누락 방지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— 긴박한 통화 속 증상 언급 표시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판단 보조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— 출동 우선순위 결정 지원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5394960" y="3611880"/>
            <a:ext cx="6339535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36" name="Text 33"/>
          <p:cNvSpPr txBox="1"/>
          <p:nvPr/>
        </p:nvSpPr>
        <p:spPr>
          <a:xfrm>
            <a:off x="5623560" y="3721608"/>
            <a:ext cx="588233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본선까지 향후 계획</a:t>
            </a:r>
            <a:endParaRPr lang="en-US" sz="1800" dirty="0"/>
          </a:p>
        </p:txBody>
      </p:sp>
      <p:sp>
        <p:nvSpPr>
          <p:cNvPr id="37" name="Text 34"/>
          <p:cNvSpPr txBox="1"/>
          <p:nvPr/>
        </p:nvSpPr>
        <p:spPr>
          <a:xfrm>
            <a:off x="5623560" y="4206240"/>
            <a:ext cx="588233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M1  </a:t>
            </a:r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오분류 통화 정성 분석, 피치(F0) 특징 검증</a:t>
            </a:r>
            <a:endParaRPr lang="en-US" sz="12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M2  </a:t>
            </a:r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사전학습 음성 모델(WavLM) 앙상블의 공식 검증, 짧은 응답 발화 보강</a:t>
            </a:r>
            <a:endParaRPr lang="en-US" sz="12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M3  </a:t>
            </a:r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 없는 라벨 구간 오류 분석, 오심·두통 개선</a:t>
            </a:r>
            <a:endParaRPr lang="en-US" sz="12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공통  </a:t>
            </a:r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통화 도중 실시간 처리 시나리오 검토</a:t>
            </a:r>
            <a:endParaRPr lang="en-US" sz="1250" dirty="0"/>
          </a:p>
        </p:txBody>
      </p:sp>
      <p:sp>
        <p:nvSpPr>
          <p:cNvPr id="38" name="Shape 35"/>
          <p:cNvSpPr/>
          <p:nvPr/>
        </p:nvSpPr>
        <p:spPr>
          <a:xfrm>
            <a:off x="457200" y="5852160"/>
            <a:ext cx="11277295" cy="457200"/>
          </a:xfrm>
          <a:prstGeom prst="roundRect">
            <a:avLst>
              <a:gd name="adj" fmla="val 20000"/>
            </a:avLst>
          </a:prstGeom>
          <a:solidFill>
            <a:srgbClr val="F8F9FA"/>
          </a:solidFill>
          <a:ln w="12700">
            <a:solidFill>
              <a:srgbClr val="F8F9FA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594360" y="585216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💡</a:t>
            </a:r>
            <a:endParaRPr lang="en-US" sz="1800" dirty="0"/>
          </a:p>
        </p:txBody>
      </p:sp>
      <p:sp>
        <p:nvSpPr>
          <p:cNvPr id="40" name="Text 37"/>
          <p:cNvSpPr txBox="1"/>
          <p:nvPr/>
        </p:nvSpPr>
        <p:spPr>
          <a:xfrm>
            <a:off x="1005840" y="5852160"/>
            <a:ext cx="105914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한계  </a:t>
            </a:r>
            <a:pPr indent="0" marL="0">
              <a:buNone/>
            </a:pPr>
            <a:r>
              <a:rPr lang="en-US" sz="12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모든 출력은 요원의 판단을 돕는 정보이며, 오분류 가능성을 감안해 사람이 최종 확인한다.</a:t>
            </a:r>
            <a:endParaRPr lang="en-US" sz="12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closing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20116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팀 eigensinn  |  김장수 · 김광희 · 지연우 · 이수빈 · 조지은</a:t>
            </a:r>
            <a:endParaRPr lang="en-US" sz="16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2359152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코드 · 실험 기록: GitHub eigensinn-dcc2026/prelim  (docs/experiment_log.md, docs/decisions.md)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DCC 2026 대학부 예선 결과 정리 — eigensinn</dc:title>
  <dc:subject>PptxGenJS Presentation</dc:subject>
  <dc:creator>PptxGenJS</dc:creator>
  <cp:lastModifiedBy>PptxGenJS</cp:lastModifiedBy>
  <cp:revision>1</cp:revision>
  <dcterms:created xsi:type="dcterms:W3CDTF">2026-10-12T17:05:58Z</dcterms:created>
  <dcterms:modified xsi:type="dcterms:W3CDTF">2026-10-12T17:05:58Z</dcterms:modified>
</cp:coreProperties>
</file>