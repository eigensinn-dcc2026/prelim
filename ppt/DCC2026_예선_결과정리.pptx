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2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3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4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5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6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7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8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13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r>
              <a:rPr sz="1200" b="0" i="0" u="none" strike="noStrike">
                <a:solidFill>
                  <a:srgbClr val="212121"/>
                </a:solidFill>
                <a:latin typeface="맑은 고딕"/>
              </a:rPr>
              <a:t>모델별 Accuracy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009DD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LightGBM</c:v>
                  </c:pt>
                  <c:pt idx="1">
                    <c:v>로지스틱 회귀
(채택)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94.92</c:v>
                </c:pt>
                <c:pt idx="1">
                  <c:v>95.11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7"/>
          <c:min val="9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r>
              <a:rPr sz="1200" b="0" i="0" u="none" strike="noStrike">
                <a:solidFill>
                  <a:srgbClr val="212121"/>
                </a:solidFill>
                <a:latin typeface="맑은 고딕"/>
              </a:rPr>
              <a:t>모델별 Accuracy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009DD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LightGBM</c:v>
                  </c:pt>
                  <c:pt idx="1">
                    <c:v>로지스틱 회귀
(채택)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94.92</c:v>
                </c:pt>
                <c:pt idx="1">
                  <c:v>95.11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7"/>
          <c:min val="9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E0E0E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0E0E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L1
LightGBM</c:v>
                  </c:pt>
                  <c:pt idx="1">
                    <c:v>L2 CNN
3-seed 앙상블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86.44</c:v>
                </c:pt>
                <c:pt idx="1">
                  <c:v>91.49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5"/>
          <c:min val="8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발화 수</c:v>
                </c:pt>
              </c:strCache>
            </c:strRef>
          </c:tx>
          <c:spPr>
            <a:solidFill>
              <a:srgbClr val="009DD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0.5초
미만</c:v>
                  </c:pt>
                  <c:pt idx="1">
                    <c:v>0.5~1초</c:v>
                  </c:pt>
                  <c:pt idx="2">
                    <c:v>1~2초</c:v>
                  </c:pt>
                  <c:pt idx="3">
                    <c:v>2초
이상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8954</c:v>
                </c:pt>
                <c:pt idx="1">
                  <c:v>27392</c:v>
                </c:pt>
                <c:pt idx="2">
                  <c:v>36858</c:v>
                </c:pt>
                <c:pt idx="3">
                  <c:v>38743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정확도 변화(%p)</c:v>
                </c:pt>
              </c:strCache>
            </c:strRef>
          </c:tx>
          <c:spPr>
            <a:solidFill>
              <a:srgbClr val="009DDA"/>
            </a:solidFill>
            <a:effectLst/>
          </c:spPr>
          <c:invertIfNegative val="0"/>
          <c:dLbls>
            <c:numFmt formatCode="+0.00;-0.0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판정 기준 보정</c:v>
                  </c:pt>
                  <c:pt idx="1">
                    <c:v>클래스 가중치 조정</c:v>
                  </c:pt>
                  <c:pt idx="2">
                    <c:v>겹침 구간 제외</c:v>
                  </c:pt>
                  <c:pt idx="3">
                    <c:v>겹침 구간 가중치↓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0.02</c:v>
                </c:pt>
                <c:pt idx="2">
                  <c:v>-0.25</c:v>
                </c:pt>
                <c:pt idx="3">
                  <c:v>0.14</c:v>
                </c:pt>
              </c:numCache>
            </c:numRef>
          </c:val>
        </c:ser>
        <c:dLbls>
          <c:numFmt formatCode="+0.00;-0.00" sourceLinked="0"/>
          <c:txPr>
            <a:bodyPr/>
            <a:lstStyle/>
            <a:p>
              <a:pPr>
                <a:defRPr b="1" i="0" strike="noStrike" sz="10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"/>
          <c:min val="-0.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채우기 전</c:v>
                </c:pt>
              </c:strCache>
            </c:strRef>
          </c:tx>
          <c:spPr>
            <a:solidFill>
              <a:srgbClr val="E0E0E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0.5초 미만</c:v>
                  </c:pt>
                  <c:pt idx="1">
                    <c:v>0.5~1초</c:v>
                  </c:pt>
                  <c:pt idx="2">
                    <c:v>1~2초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86.2</c:v>
                </c:pt>
                <c:pt idx="1">
                  <c:v>85</c:v>
                </c:pt>
                <c:pt idx="2">
                  <c:v>88.2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채우기 후</c:v>
                </c:pt>
              </c:strCache>
            </c:strRef>
          </c:tx>
          <c:spPr>
            <a:solidFill>
              <a:srgbClr val="2F4E91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0.5초 미만</c:v>
                  </c:pt>
                  <c:pt idx="1">
                    <c:v>0.5~1초</c:v>
                  </c:pt>
                  <c:pt idx="2">
                    <c:v>1~2초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90.3</c:v>
                </c:pt>
                <c:pt idx="1">
                  <c:v>86.8</c:v>
                </c:pt>
                <c:pt idx="2">
                  <c:v>89.1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4"/>
          <c:min val="8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r>
              <a:rPr sz="1200" b="0" i="0" u="none" strike="noStrike">
                <a:solidFill>
                  <a:srgbClr val="212121"/>
                </a:solidFill>
                <a:latin typeface="맑은 고딕"/>
              </a:rPr>
              <a:t>모델 수에 따른 공식 Validation Accuracy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E0E0E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0E0E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모델 1개
(평균)</c:v>
                  </c:pt>
                  <c:pt idx="1">
                    <c:v>모델 2개
평균</c:v>
                  </c:pt>
                  <c:pt idx="2">
                    <c:v>모델 3개
평균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90.97</c:v>
                </c:pt>
                <c:pt idx="1">
                  <c:v>91.41</c:v>
                </c:pt>
                <c:pt idx="2">
                  <c:v>91.55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2"/>
          <c:min val="9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정확도 변화</c:v>
                </c:pt>
              </c:strCache>
            </c:strRef>
          </c:tx>
          <c:spPr>
            <a:solidFill>
              <a:srgbClr val="009DDA"/>
            </a:solidFill>
            <a:effectLst/>
          </c:spPr>
          <c:invertIfNegative val="0"/>
          <c:dLbls>
            <c:numFmt formatCode="+0.00;-0.0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5393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5393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5393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53935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화자인식 전용 구조
(ECAPA-TDNN)</c:v>
                  </c:pt>
                  <c:pt idx="1">
                    <c:v>더 큰 모델
(ResNet)</c:v>
                  </c:pt>
                  <c:pt idx="2">
                    <c:v>데이터 보강
(SpecAugment)</c:v>
                  </c:pt>
                  <c:pt idx="3">
                    <c:v>주파수 눈금 변경
(mel→linear)</c:v>
                  </c:pt>
                  <c:pt idx="4">
                    <c:v>시간 해상도 2배
(hop80)*</c:v>
                  </c:pt>
                  <c:pt idx="5">
                    <c:v>주파수 칸 수 2배
(40→80)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0.27</c:v>
                </c:pt>
                <c:pt idx="1">
                  <c:v>0.06</c:v>
                </c:pt>
                <c:pt idx="2">
                  <c:v>-0.12</c:v>
                </c:pt>
                <c:pt idx="3">
                  <c:v>-0.39</c:v>
                </c:pt>
                <c:pt idx="4">
                  <c:v>-0.14</c:v>
                </c:pt>
                <c:pt idx="5">
                  <c:v>-0.68</c:v>
                </c:pt>
              </c:numCache>
            </c:numRef>
          </c:val>
        </c:ser>
        <c:dLbls>
          <c:numFmt formatCode="+0.00;-0.00" sourceLinked="0"/>
          <c:txPr>
            <a:bodyPr/>
            <a:lstStyle/>
            <a:p>
              <a:pPr>
                <a:defRPr b="1" i="0" strike="noStrike" sz="10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-0.8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E0E0E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0E0E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LightGBM
(L1)</c:v>
                  </c:pt>
                  <c:pt idx="1">
                    <c:v>CNN 1개</c:v>
                  </c:pt>
                  <c:pt idx="2">
                    <c:v>CNN 3개
앙상블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86.44</c:v>
                </c:pt>
                <c:pt idx="1">
                  <c:v>90.97</c:v>
                </c:pt>
                <c:pt idx="2">
                  <c:v>91.49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3"/>
          <c:min val="84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정확도</c:v>
                </c:pt>
              </c:strCache>
            </c:strRef>
          </c:tx>
          <c:spPr>
            <a:solidFill>
              <a:srgbClr val="009DD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5393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0.5초
미만</c:v>
                  </c:pt>
                  <c:pt idx="1">
                    <c:v>0.5~1초</c:v>
                  </c:pt>
                  <c:pt idx="2">
                    <c:v>1~2초</c:v>
                  </c:pt>
                  <c:pt idx="3">
                    <c:v>2초
이상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90.95</c:v>
                </c:pt>
                <c:pt idx="1">
                  <c:v>87.6</c:v>
                </c:pt>
                <c:pt idx="2">
                  <c:v>89.71</c:v>
                </c:pt>
                <c:pt idx="3">
                  <c:v>96.05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8"/>
          <c:min val="8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오류율</c:v>
                </c:pt>
              </c:strCache>
            </c:strRef>
          </c:tx>
          <c:spPr>
            <a:solidFill>
              <a:srgbClr val="009DD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5393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0.5초
미만</c:v>
                  </c:pt>
                  <c:pt idx="1">
                    <c:v>0.5~1초</c:v>
                  </c:pt>
                  <c:pt idx="2">
                    <c:v>1~2초</c:v>
                  </c:pt>
                  <c:pt idx="3">
                    <c:v>2초
이상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9.05</c:v>
                </c:pt>
                <c:pt idx="1">
                  <c:v>12.4</c:v>
                </c:pt>
                <c:pt idx="2">
                  <c:v>10.29</c:v>
                </c:pt>
                <c:pt idx="3">
                  <c:v>3.95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오분류 건수</c:v>
                </c:pt>
              </c:strCache>
            </c:strRef>
          </c:tx>
          <c:spPr>
            <a:solidFill>
              <a:srgbClr val="E5393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5393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대원 → 신고자</c:v>
                  </c:pt>
                  <c:pt idx="1">
                    <c:v>신고자 → 대원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6919</c:v>
                </c:pt>
                <c:pt idx="1">
                  <c:v>2609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분</c:v>
                </c:pt>
              </c:strCache>
            </c:strRef>
          </c:tx>
          <c:spPr>
            <a:solidFill>
              <a:srgbClr val="E0E0E0"/>
            </a:solidFill>
            <a:effectLst/>
          </c:spPr>
          <c:invertIfNegative val="0"/>
          <c:dLbls>
            <c:numFmt formatCode="0&quot;분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0E0E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개선 전</c:v>
                  </c:pt>
                  <c:pt idx="1">
                    <c:v>개선 후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25</c:v>
                </c:pt>
                <c:pt idx="1">
                  <c:v>7</c:v>
                </c:pt>
              </c:numCache>
            </c:numRef>
          </c:val>
        </c:ser>
        <c:dLbls>
          <c:numFmt formatCode="0&quot;분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공식 템플릿(D+AICC PPT 대학부 템플릿.pptx) 슬라이드1 그대로. 이 장에는 글자를 추가하지 않음 — 프로젝트·팀 정보는 다음 장(2p)에서 제시.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프로젝트 타이틀. 공식 표지 바로 뒤에 배치해 제목·팀명을 보강.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step0 저장소 README의 W2~W6 로드맵 기준. 필요하면 각 주차 대표 산출물(타이타닉 EDA 그래프 등) 캡처를 작게 추가.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PR·브랜치 수는 제출 직전 gh pr list / git branch -r 로 갱신.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통계 수치는 build_manifest.py / 데이터 감사 보고서(reports/) 기준으로 채우기.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 EDA 산출 그래프(reports/eda/figures). 세 카드 모두 '발견 → 설계 반영' 한 쌍 — 심사위원은 말없이 읽으므로 그래프 제목만 보고도 결론이 보이게.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src/dcc_data 공통 모듈, scripts/ 진입점 기준. 제출 폴더 구조(미션별 3폴더)를 여기 작게 넣어도 좋음.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서면 심사라 '다른 건 안 해봤나' 질문에 답할 기회가 없음 — 분석 과정 자체를 슬라이드에 그대로 옮김.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제출 상태(2026-10-07 기준): scripts/mission1_inference.py 구현 완료, CSV 스모크 테스트(헤더·행 수·UTF-8)는 아직 미확인 — m1_submission_checklist.md 참고.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본선 전까지 KcBERT 등 결과가 나오면 M3-B(28p)의 수치를 갱신하고, 이 장은 '실제로 더 해본 것'으로 내용 교체.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출제문제 12쪽 필수 항목 '사회안전 시사점'이 이 장의 핵심. 미션별 결과 장의 시사점 한 줄과 표현을 맞출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공식 템플릿(슬라이드4) 그대로. 흰 여백(약 2.1~2.9in)에만 팀 정보를 얹음 — 배너 그래픽은 건드리지 않음.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1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1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2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2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1" Type="http://schemas.openxmlformats.org/officeDocument/2006/relationships/image" Target="../media/image-2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9.xml"/><Relationship Id="rId3" Type="http://schemas.openxmlformats.org/officeDocument/2006/relationships/chart" Target="/ppt/charts/chart10.xml"/><Relationship Id="rId1" Type="http://schemas.openxmlformats.org/officeDocument/2006/relationships/image" Target="../media/image-2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1.xml"/><Relationship Id="rId3" Type="http://schemas.openxmlformats.org/officeDocument/2006/relationships/chart" Target="/ppt/charts/chart12.xml"/><Relationship Id="rId1" Type="http://schemas.openxmlformats.org/officeDocument/2006/relationships/image" Target="../media/image-2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3.xml"/><Relationship Id="rId1" Type="http://schemas.openxmlformats.org/officeDocument/2006/relationships/image" Target="../media/image-2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cov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68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18288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22860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32004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0" y="36576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0" y="45720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0" y="50292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0" y="59436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0" y="64008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0" y="68580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090008" y="502920"/>
            <a:ext cx="2011680" cy="36576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090008" y="5029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대학부 예선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457200" y="105156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 데이터+AI 크리에이터 캠프  |  결과 정리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457200" y="22860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전화대화 음성 및 전사 데이터를 이용한</a:t>
            </a:r>
            <a:endParaRPr lang="en-US" sz="2800" dirty="0"/>
          </a:p>
        </p:txBody>
      </p:sp>
      <p:sp>
        <p:nvSpPr>
          <p:cNvPr id="49" name="Text 47"/>
          <p:cNvSpPr txBox="1"/>
          <p:nvPr/>
        </p:nvSpPr>
        <p:spPr>
          <a:xfrm>
            <a:off x="457200" y="2834640"/>
            <a:ext cx="11277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응급상황 인식</a:t>
            </a:r>
            <a:endParaRPr lang="en-US" sz="4400" dirty="0"/>
          </a:p>
        </p:txBody>
      </p:sp>
      <p:sp>
        <p:nvSpPr>
          <p:cNvPr id="50" name="Text 48"/>
          <p:cNvSpPr txBox="1"/>
          <p:nvPr/>
        </p:nvSpPr>
        <p:spPr>
          <a:xfrm>
            <a:off x="457200" y="3703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: Mission 1~3 수행 결과 정리</a:t>
            </a:r>
            <a:endParaRPr lang="en-US" sz="2000" dirty="0"/>
          </a:p>
        </p:txBody>
      </p:sp>
      <p:sp>
        <p:nvSpPr>
          <p:cNvPr id="51" name="Shape 49"/>
          <p:cNvSpPr/>
          <p:nvPr/>
        </p:nvSpPr>
        <p:spPr>
          <a:xfrm>
            <a:off x="3169768" y="4572000"/>
            <a:ext cx="585216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3169768" y="457200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eigensinn</a:t>
            </a:r>
            <a:pPr algn="ctr"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김장수 · 김광희 · 지연우 · 이수빈 · 조지은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8076895" y="63093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제출일 2026. 10. 14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82661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9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 과정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548640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사전 학습 로드맵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팀 구성과 협업 체계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3345104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9600" dirty="0"/>
          </a:p>
        </p:txBody>
      </p:sp>
      <p:sp>
        <p:nvSpPr>
          <p:cNvPr id="9" name="Text 6"/>
          <p:cNvSpPr txBox="1"/>
          <p:nvPr/>
        </p:nvSpPr>
        <p:spPr>
          <a:xfrm>
            <a:off x="3436544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분석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3436544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436544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데이터 개요와 대회 규칙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EDA 핵심 발견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공통 파이프라인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233008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9600" dirty="0"/>
          </a:p>
        </p:txBody>
      </p:sp>
      <p:sp>
        <p:nvSpPr>
          <p:cNvPr id="13" name="Text 10"/>
          <p:cNvSpPr txBox="1"/>
          <p:nvPr/>
        </p:nvSpPr>
        <p:spPr>
          <a:xfrm>
            <a:off x="6324448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미션별 수행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6324448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324448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Mission 1  신고자 성별 분류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(+ 연구 방법·시행착오)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Mission 2  신고자/대원 분류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(+ 연구 방법·시행착오, 김광희 파트)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Mission 3  환자 증상 인식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(+ 확장 계획)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9120911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9600" dirty="0"/>
          </a:p>
        </p:txBody>
      </p:sp>
      <p:sp>
        <p:nvSpPr>
          <p:cNvPr id="17" name="Text 14"/>
          <p:cNvSpPr txBox="1"/>
          <p:nvPr/>
        </p:nvSpPr>
        <p:spPr>
          <a:xfrm>
            <a:off x="9212351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 및 시사점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9212351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212351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성능 요약과 교훈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사회안전 시사점과 향후 계획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준비 과정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4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(1) 발대식 전 사전 학습 로드맵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보는 데이터로도  QA → Baseline → 검증 → 통제 실험 → 제출  흐름을 끝까지 돌 수 있도록 대회 전에 미리 연습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2606040"/>
            <a:ext cx="1627632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W1  기초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2898648"/>
            <a:ext cx="1353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Python·pandas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타이타닉 EDA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(결측치·분포)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135398" y="310896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387133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387133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387133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387133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W2  Baseline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524293" y="2898648"/>
            <a:ext cx="1353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모델 학습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로그 작성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(Titanic 등)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065331" y="310896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317065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4317065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317065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317065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W3  데이터 QA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454225" y="2898648"/>
            <a:ext cx="1353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CIFAR-10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누락·중복·분포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995264" y="310896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246998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6246998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246998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246998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W4  통제 실험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384158" y="2898648"/>
            <a:ext cx="1353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baseline 결함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변수 하나씩 비교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25196" y="310896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176931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8176931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176931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176931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W5  데이터 정제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8314091" y="2898648"/>
            <a:ext cx="1353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이상치 점수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기준값 사전 고정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3조건 비교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9855129" y="310896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0106863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10106863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0106863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10106863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W6  제출 연습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10244023" y="2898648"/>
            <a:ext cx="1353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 패키지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채점 스크립트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457200" y="4572000"/>
            <a:ext cx="11277295" cy="1188720"/>
          </a:xfrm>
          <a:prstGeom prst="roundRect">
            <a:avLst>
              <a:gd name="adj" fmla="val 7692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594360" y="4572000"/>
            <a:ext cx="365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46" name="Text 43"/>
          <p:cNvSpPr txBox="1"/>
          <p:nvPr/>
        </p:nvSpPr>
        <p:spPr>
          <a:xfrm>
            <a:off x="1005840" y="4572000"/>
            <a:ext cx="105914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예선에 그대로 가져온 습관 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무결성 점검을 모델보다 먼저  ·  실험마다 ID와 로그 남기기  ·  한 번에 변수 하나만 바꿔 비교  ·  기준값은 결과를 보기 전에 고정</a:t>
            </a:r>
            <a:endParaRPr lang="en-US" sz="1300" dirty="0"/>
          </a:p>
        </p:txBody>
      </p:sp>
      <p:sp>
        <p:nvSpPr>
          <p:cNvPr id="47" name="Text 44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GitHub eigensinn-dcc2026/step0 (2026.07.14 ~ 08.23), 팀원별 notebooks/ 및 outputs/ 실습 산출물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준비 과정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5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(2) 팀 구성과 협업 체계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5명이 한 저장소에서 충돌 없이 일하도록  규칙 · 자동 검사 · 기록 체계를 먼저 만들고 미션에 들어감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194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역할 분담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51760"/>
          <a:ext cx="91440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828800"/>
                <a:gridCol w="21945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팀원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준비기 역할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예선 담당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김장수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이미지 모델링·통합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김광희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데이터 품질·매핑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1 · 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지연우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검증·오분류 분석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이수빈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시각화·리포팅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3 · 오류분석 취합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조지은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정형 모델링·EDA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3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6035040" y="2194560"/>
            <a:ext cx="5699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GitHub 작업 흐름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6035040" y="2651760"/>
            <a:ext cx="960120" cy="868680"/>
          </a:xfrm>
          <a:prstGeom prst="roundRect">
            <a:avLst>
              <a:gd name="adj" fmla="val 1052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035040" y="2651760"/>
            <a:ext cx="960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main에서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브랜치 생성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7043509" y="292608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219874" y="2651760"/>
            <a:ext cx="960120" cy="868680"/>
          </a:xfrm>
          <a:prstGeom prst="roundRect">
            <a:avLst>
              <a:gd name="adj" fmla="val 1052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219874" y="2651760"/>
            <a:ext cx="960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실험·코드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작성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8228343" y="292608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404708" y="2651760"/>
            <a:ext cx="960120" cy="868680"/>
          </a:xfrm>
          <a:prstGeom prst="roundRect">
            <a:avLst>
              <a:gd name="adj" fmla="val 1052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404708" y="2651760"/>
            <a:ext cx="960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 작성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(템플릿)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9413177" y="292608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9589541" y="2651760"/>
            <a:ext cx="960120" cy="868680"/>
          </a:xfrm>
          <a:prstGeom prst="roundRect">
            <a:avLst>
              <a:gd name="adj" fmla="val 10526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9589541" y="2651760"/>
            <a:ext cx="960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검사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(CI·병합 판정)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10598010" y="292608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0774375" y="2651760"/>
            <a:ext cx="960120" cy="868680"/>
          </a:xfrm>
          <a:prstGeom prst="roundRect">
            <a:avLst>
              <a:gd name="adj" fmla="val 1052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0774375" y="2651760"/>
            <a:ext cx="960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팀원 리뷰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 병합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6035040" y="3749040"/>
            <a:ext cx="271256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7" name="Text 23"/>
          <p:cNvSpPr txBox="1"/>
          <p:nvPr/>
        </p:nvSpPr>
        <p:spPr>
          <a:xfrm>
            <a:off x="6172200" y="3840480"/>
            <a:ext cx="2438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docs/experiment_log.md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6172200" y="4114800"/>
            <a:ext cx="2438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했고 결과는?</a:t>
            </a:r>
            <a:endParaRPr lang="en-US" sz="1400" dirty="0"/>
          </a:p>
        </p:txBody>
      </p:sp>
      <p:sp>
        <p:nvSpPr>
          <p:cNvPr id="29" name="Text 25"/>
          <p:cNvSpPr txBox="1"/>
          <p:nvPr/>
        </p:nvSpPr>
        <p:spPr>
          <a:xfrm>
            <a:off x="6172200" y="4434840"/>
            <a:ext cx="2438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ID · 날짜 · 데이터 규모 · 분할 · seed · 결과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9021928" y="3749040"/>
            <a:ext cx="271256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1" name="Text 27"/>
          <p:cNvSpPr txBox="1"/>
          <p:nvPr/>
        </p:nvSpPr>
        <p:spPr>
          <a:xfrm>
            <a:off x="9159088" y="3840480"/>
            <a:ext cx="2438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docs/decisions.md</a:t>
            </a:r>
            <a:endParaRPr 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9159088" y="4114800"/>
            <a:ext cx="2438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채택·기각했나?</a:t>
            </a:r>
            <a:endParaRPr lang="en-US" sz="1400" dirty="0"/>
          </a:p>
        </p:txBody>
      </p:sp>
      <p:sp>
        <p:nvSpPr>
          <p:cNvPr id="33" name="Text 29"/>
          <p:cNvSpPr txBox="1"/>
          <p:nvPr/>
        </p:nvSpPr>
        <p:spPr>
          <a:xfrm>
            <a:off x="9159088" y="4434840"/>
            <a:ext cx="2438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결정 · 이유 · 후속 조치 (기각한 실험도 기록)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6035040" y="5074920"/>
            <a:ext cx="18998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32+</a:t>
            </a:r>
            <a:endParaRPr lang="en-US" sz="3000" dirty="0"/>
          </a:p>
        </p:txBody>
      </p:sp>
      <p:sp>
        <p:nvSpPr>
          <p:cNvPr id="35" name="Text 31"/>
          <p:cNvSpPr txBox="1"/>
          <p:nvPr/>
        </p:nvSpPr>
        <p:spPr>
          <a:xfrm>
            <a:off x="6035040" y="5788152"/>
            <a:ext cx="1899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Pull Request</a:t>
            </a:r>
            <a:endParaRPr lang="en-US" sz="1200" dirty="0"/>
          </a:p>
        </p:txBody>
      </p:sp>
      <p:sp>
        <p:nvSpPr>
          <p:cNvPr id="36" name="Text 32"/>
          <p:cNvSpPr txBox="1"/>
          <p:nvPr/>
        </p:nvSpPr>
        <p:spPr>
          <a:xfrm>
            <a:off x="7934858" y="5074920"/>
            <a:ext cx="18998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40+</a:t>
            </a:r>
            <a:endParaRPr lang="en-US" sz="3000" dirty="0"/>
          </a:p>
        </p:txBody>
      </p:sp>
      <p:sp>
        <p:nvSpPr>
          <p:cNvPr id="37" name="Text 33"/>
          <p:cNvSpPr txBox="1"/>
          <p:nvPr/>
        </p:nvSpPr>
        <p:spPr>
          <a:xfrm>
            <a:off x="7934858" y="5788152"/>
            <a:ext cx="1899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작업 브랜치</a:t>
            </a:r>
            <a:endParaRPr lang="en-US" sz="1200" dirty="0"/>
          </a:p>
        </p:txBody>
      </p:sp>
      <p:sp>
        <p:nvSpPr>
          <p:cNvPr id="38" name="Text 34"/>
          <p:cNvSpPr txBox="1"/>
          <p:nvPr/>
        </p:nvSpPr>
        <p:spPr>
          <a:xfrm>
            <a:off x="9834677" y="5074920"/>
            <a:ext cx="18998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M1–M3</a:t>
            </a:r>
            <a:endParaRPr lang="en-US" sz="3000" dirty="0"/>
          </a:p>
        </p:txBody>
      </p:sp>
      <p:sp>
        <p:nvSpPr>
          <p:cNvPr id="39" name="Text 35"/>
          <p:cNvSpPr txBox="1"/>
          <p:nvPr/>
        </p:nvSpPr>
        <p:spPr>
          <a:xfrm>
            <a:off x="9834677" y="5788152"/>
            <a:ext cx="1899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ID 체계</a:t>
            </a:r>
            <a:endParaRPr lang="en-US" sz="1200" dirty="0"/>
          </a:p>
        </p:txBody>
      </p:sp>
      <p:sp>
        <p:nvSpPr>
          <p:cNvPr id="40" name="Shape 36"/>
          <p:cNvSpPr/>
          <p:nvPr/>
        </p:nvSpPr>
        <p:spPr>
          <a:xfrm>
            <a:off x="10180015" y="2240280"/>
            <a:ext cx="1554480" cy="274320"/>
          </a:xfrm>
          <a:prstGeom prst="roundRect">
            <a:avLst>
              <a:gd name="adj" fmla="val 26667"/>
            </a:avLst>
          </a:prstGeom>
          <a:solidFill>
            <a:srgbClr val="FFCDD2"/>
          </a:solidFill>
          <a:ln w="12700">
            <a:solidFill>
              <a:srgbClr val="FFCDD2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0180015" y="22402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수치 · 10/01 기준</a:t>
            </a:r>
            <a:endParaRPr lang="en-US" sz="1000" dirty="0"/>
          </a:p>
        </p:txBody>
      </p:sp>
      <p:sp>
        <p:nvSpPr>
          <p:cNvPr id="42" name="Text 38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GitHub eigensinn-dcc2026/prelim — WORKFLOW.md, .github/workflows (pr-ci, pr-verdict), docs/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데이터 분석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6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(1) 데이터 개요와 대회 규칙 준수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AI-Hub 119 신고접수 음성·전사 데이터 — 규칙 위반 가능성을 설계 단계에서부터 차단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12064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85800" y="23774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데이터셋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278892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AI-Hub 「위급상황 음성/음향(고도화) — 119 지능형 신고접수 음성 인식 데이터」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85800" y="3429000"/>
            <a:ext cx="2240280" cy="777240"/>
          </a:xfrm>
          <a:prstGeom prst="roundRect">
            <a:avLst>
              <a:gd name="adj" fmla="val 11765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7240" y="342900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음성(WAV)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통화 녹음 원본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3108960" y="3429000"/>
            <a:ext cx="2240280" cy="777240"/>
          </a:xfrm>
          <a:prstGeom prst="roundRect">
            <a:avLst>
              <a:gd name="adj" fmla="val 11765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200400" y="342900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전사·라벨(JSON)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구간·화자·성별·증상 등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" y="44805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29,200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685800" y="5193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통화 수 (서울)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2240280" y="44805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〔00,000〕</a:t>
            </a:r>
            <a:endParaRPr lang="en-US" sz="2600" dirty="0"/>
          </a:p>
        </p:txBody>
      </p:sp>
      <p:sp>
        <p:nvSpPr>
          <p:cNvPr id="19" name="Text 16"/>
          <p:cNvSpPr txBox="1"/>
          <p:nvPr/>
        </p:nvSpPr>
        <p:spPr>
          <a:xfrm>
            <a:off x="2240280" y="5193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발화 수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3794760" y="44805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〔0,000〕</a:t>
            </a:r>
            <a:endParaRPr lang="en-US" sz="2600" dirty="0"/>
          </a:p>
        </p:txBody>
      </p:sp>
      <p:sp>
        <p:nvSpPr>
          <p:cNvPr id="21" name="Text 18"/>
          <p:cNvSpPr txBox="1"/>
          <p:nvPr/>
        </p:nvSpPr>
        <p:spPr>
          <a:xfrm>
            <a:off x="3794760" y="5193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Validation 통화 수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943600" y="2240280"/>
            <a:ext cx="5790895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6172200" y="2377440"/>
            <a:ext cx="5333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우리가 지킨 대회 규칙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6217920" y="28986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217920" y="2898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6629400" y="28803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학습에는 서울 Training 데이터만 사용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6217920" y="33558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217920" y="33558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6629400" y="33375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Validation은 모델 선택·평가에만 사용 (학습 투입 없음)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6217920" y="38130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217920" y="38130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6629400" y="37947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미션별 지정 입력만 사용 — M2는 발화 조각 하나만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217920" y="42702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217920" y="42702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6629400" y="42519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라벨에 따라 다른 전처리, 평가 데이터 전용 전처리 없음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6217920" y="47274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217920" y="47274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6629400" y="47091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판정 기준값 0.5 고정 (클래스별 조정 없음)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6217920" y="51846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217920" y="5184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41" name="Text 38"/>
          <p:cNvSpPr txBox="1"/>
          <p:nvPr/>
        </p:nvSpPr>
        <p:spPr>
          <a:xfrm>
            <a:off x="6629400" y="51663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상용 AI API 미사용, 공개 오픈소스 라이브러리만 사용</a:t>
            </a:r>
            <a:endParaRPr lang="en-US" sz="1300" dirty="0"/>
          </a:p>
        </p:txBody>
      </p:sp>
      <p:sp>
        <p:nvSpPr>
          <p:cNvPr id="42" name="Shape 39"/>
          <p:cNvSpPr/>
          <p:nvPr/>
        </p:nvSpPr>
        <p:spPr>
          <a:xfrm>
            <a:off x="6217920" y="56418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217920" y="56418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6629400" y="56235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학습·검증 분할은 통화 단위 — 같은 통화가 양쪽에 섞이지 않게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대학부 예선 출제문제 5·8쪽 조건, 주최측 Q&amp;A 답변(2026.09.15, 기준값 안내 메일)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데이터 분석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7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(2) EDA 핵심 발견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미션 모두 단일 변수로는 못 가른다 — 성별만 균형 잡혀 있고, 길이·증상 빈도는 모델이 함께 보정해야 할 불균형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3576218" cy="3977640"/>
          </a:xfrm>
          <a:prstGeom prst="roundRect">
            <a:avLst>
              <a:gd name="adj" fmla="val 25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0080" y="2359152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화자별 발화 길이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40080" y="2761488"/>
            <a:ext cx="3210458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pic>
        <p:nvPicPr>
          <p:cNvPr id="12" name="Image 1" descr="figures/speaker_duration_bucket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13232" y="2834640"/>
            <a:ext cx="3064154" cy="181965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0080" y="4846320"/>
            <a:ext cx="321045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  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신고자가 긴 발화(≥4초)에서 대원보다 비중이 높지만(14.0% vs 7.9%), 짧은 구간은 서로 겹침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반영  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길이만으로는 못 가름 → 음향 특징(M2 L1)과 전체 소리 모양(M2 L2)까지 함께 사용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4307738" y="2240280"/>
            <a:ext cx="3576218" cy="3977640"/>
          </a:xfrm>
          <a:prstGeom prst="roundRect">
            <a:avLst>
              <a:gd name="adj" fmla="val 25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4490618" y="2359152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성별 구성 (Mission 1)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4490618" y="2761488"/>
            <a:ext cx="3210458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pic>
        <p:nvPicPr>
          <p:cNvPr id="17" name="Image 2" descr="figures/gender_distribution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563770" y="2834640"/>
            <a:ext cx="3064154" cy="181965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490618" y="4846320"/>
            <a:ext cx="321045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  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Training 53.2:46.8, Validation 53.8:46.2 — 분할 간 차이 1%p 이내로 균형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반영  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클래스 불균형 보정이 불필요 → 기본 로지스틱 회귀·LightGBM 그대로 사용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8158277" y="2240280"/>
            <a:ext cx="3576218" cy="3977640"/>
          </a:xfrm>
          <a:prstGeom prst="roundRect">
            <a:avLst>
              <a:gd name="adj" fmla="val 25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341157" y="2359152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9종 유병률 (Mission 3)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8341157" y="2761488"/>
            <a:ext cx="3210458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pic>
        <p:nvPicPr>
          <p:cNvPr id="22" name="Image 3" descr="figures/symptom_prevalence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414309" y="2834640"/>
            <a:ext cx="3064154" cy="1819656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341157" y="4846320"/>
            <a:ext cx="321045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  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복통·어지러움 20%대 vs 두통·오심 10%대 — 최대 2배 이상 차이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반영  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Macro F1은 희소 증상에 민감 → 증상별 성능을 따로 점검 (28p)</a:t>
            </a:r>
            <a:endParaRPr lang="en-US" sz="1150" dirty="0"/>
          </a:p>
        </p:txBody>
      </p:sp>
      <p:sp>
        <p:nvSpPr>
          <p:cNvPr id="24" name="Text 18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reports/eda/eda_report.md, reports/eda/figures/ (PR #23, 2026.09.21)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데이터 분석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8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(3) 세 미션 공통 파이프라인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무결성 검증부터 inference.py 1회 실행까지 — 세 미션이 같은 뼈대 위에서 동작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데이터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WAV 음성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전사·라벨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458936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796464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796464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796464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796464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무결성 검증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933624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WAV↔JSON 매칭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manifest 생성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누락·중복 점검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798200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135728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135728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135728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135728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미션별 데이터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272888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음성: 발화 구간 추출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텍스트: 전사 정리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7137464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74991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7474991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474991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474991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· 평가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7612151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통화 단위 분할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 평가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9476727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814255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9814255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814255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814255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 · 제출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9951415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로그 JSON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inference.py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1회 실행 → CSV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5135728" y="4343400"/>
            <a:ext cx="4259504" cy="411480"/>
          </a:xfrm>
          <a:prstGeom prst="roundRect">
            <a:avLst>
              <a:gd name="adj" fmla="val 17778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272888" y="4343400"/>
            <a:ext cx="3985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 경로 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M1 · M2  —  음향 특징 · 스펙트로그램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5135728" y="4846320"/>
            <a:ext cx="4259504" cy="411480"/>
          </a:xfrm>
          <a:prstGeom prst="roundRect">
            <a:avLst>
              <a:gd name="adj" fmla="val 17778"/>
            </a:avLst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272888" y="4846320"/>
            <a:ext cx="3985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텍스트 경로 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M3  —  전사 텍스트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457200" y="5440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재현성 장치</a:t>
            </a:r>
            <a:endParaRPr lang="en-US" sz="1600" dirty="0"/>
          </a:p>
        </p:txBody>
      </p:sp>
      <p:sp>
        <p:nvSpPr>
          <p:cNvPr id="43" name="Shape 40"/>
          <p:cNvSpPr/>
          <p:nvPr/>
        </p:nvSpPr>
        <p:spPr>
          <a:xfrm>
            <a:off x="457200" y="5852160"/>
            <a:ext cx="2682164" cy="411480"/>
          </a:xfrm>
          <a:prstGeom prst="roundRect">
            <a:avLst>
              <a:gd name="adj" fmla="val 17778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457200" y="5852160"/>
            <a:ext cx="26821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seed = 42 고정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3322244" y="5852160"/>
            <a:ext cx="2682164" cy="411480"/>
          </a:xfrm>
          <a:prstGeom prst="roundRect">
            <a:avLst>
              <a:gd name="adj" fmla="val 17778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3322244" y="5852160"/>
            <a:ext cx="26821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통화 단위 분할 (call_id · recordId)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6187288" y="5852160"/>
            <a:ext cx="2682164" cy="411480"/>
          </a:xfrm>
          <a:prstGeom prst="roundRect">
            <a:avLst>
              <a:gd name="adj" fmla="val 17778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6187288" y="5852160"/>
            <a:ext cx="26821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테스트 (pytest · CI)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9052331" y="5852160"/>
            <a:ext cx="2682164" cy="411480"/>
          </a:xfrm>
          <a:prstGeom prst="roundRect">
            <a:avLst>
              <a:gd name="adj" fmla="val 17778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9052331" y="5852160"/>
            <a:ext cx="26821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결과는 JSON 로그로 저장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9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 신고자 성별 분류 — 한눈에 보기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발화 음성 → 52차원 음향 특징 → 로지스틱 회귀 → 공식 Validation Accuracy 95.11%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24028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미션 정의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542032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 통화에서 신고자의 발화만 듣고, 성별이 남성인지 여성인지 맞힌다.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3035808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3127248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모델 구성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457200" y="3456432"/>
            <a:ext cx="18288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7200" y="3456432"/>
            <a:ext cx="182880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57200" y="3730752"/>
            <a:ext cx="182880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7200" y="34564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구간 추출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94360" y="402336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발화만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잘라내기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2836621" y="3977640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606698" y="3456432"/>
            <a:ext cx="18288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3606698" y="3456432"/>
            <a:ext cx="182880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606698" y="3730752"/>
            <a:ext cx="182880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606698" y="34564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음향 특징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3743858" y="402336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음높이·음색 등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52차원 통계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986120" y="3977640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756197" y="3456432"/>
            <a:ext cx="18288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756197" y="3456432"/>
            <a:ext cx="182880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756197" y="3730752"/>
            <a:ext cx="182880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756197" y="34564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분류 모델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6893357" y="402336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로지스틱 회귀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9135618" y="3977640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9905695" y="3456432"/>
            <a:ext cx="18288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9905695" y="3456432"/>
            <a:ext cx="1828800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905695" y="3730752"/>
            <a:ext cx="1828800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905695" y="34564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10042855" y="402336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남/여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(기준값 0.5)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457200" y="4846320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57200" y="493776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핵심 결과</a:t>
            </a:r>
            <a:endParaRPr lang="en-US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457200" y="5193792"/>
            <a:ext cx="11277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95.11%</a:t>
            </a:r>
            <a:endParaRPr lang="en-US" sz="4200" dirty="0"/>
          </a:p>
        </p:txBody>
      </p:sp>
      <p:sp>
        <p:nvSpPr>
          <p:cNvPr id="39" name="Text 36"/>
          <p:cNvSpPr txBox="1"/>
          <p:nvPr/>
        </p:nvSpPr>
        <p:spPr>
          <a:xfrm>
            <a:off x="457200" y="585216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 (공식 Validation, 3,640건)</a:t>
            </a:r>
            <a:endParaRPr lang="en-US" sz="1300" dirty="0"/>
          </a:p>
        </p:txBody>
      </p:sp>
      <p:sp>
        <p:nvSpPr>
          <p:cNvPr id="40" name="Text 37"/>
          <p:cNvSpPr txBox="1"/>
          <p:nvPr/>
        </p:nvSpPr>
        <p:spPr>
          <a:xfrm>
            <a:off x="457200" y="6108192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LightGBM 94.92% 대비 +0.19%p — 더 단순하고 해석 쉬운 로지스틱 회귀 채택 (2026-10-05 고정)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10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— 연구 방법 ① 음향 특징 구성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목소리를 52차원 숫자로 압축 — 어떤 정보를 담았는지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11277295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31520" y="2423160"/>
            <a:ext cx="10728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52차원 음향 특징 구성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788920"/>
          <a:ext cx="9144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188720"/>
                <a:gridCol w="393192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구성 요소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차원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의미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MFCC 평균·표준편차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음색의 핵심 패턴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RMS 평균·표준편차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음량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ZCR 평균·표준편차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음높이 변화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Spectral 4종×2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음색의 "밝기"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731520" y="5577840"/>
            <a:ext cx="107286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합계 52차원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duration(발화 길이)는 의도적으로 제외 — 길이로 성별을 "눈치채는" 손쉬운 지름길 학습 방지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reports/mission1/m1_exp_log.json "고정 변수"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11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— 연구 방법 ② 시행착오: 어떤 모델을 왜 골랐나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LightGBM과 로지스틱 회귀 차이는 0.19%p — 더 복잡한 모델이 꼭 낫지는 않았다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667512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0080" y="237744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로지스틱 회귀 혼동행렬 (오분류 178건)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633472"/>
          <a:ext cx="914400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845820"/>
                <a:gridCol w="84582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예측 F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예측 M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F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1,878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M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97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1,584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640080" y="384048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95% 신뢰구간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[94.40, 95.82]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640080" y="452628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과적합 점검: 내부 94.8~95.0% vs 공식 95.1% — 차이 작아 뚜렷한 leakage 징후 없음(증명은 아님)</a:t>
            </a:r>
            <a:endParaRPr lang="en-US" sz="105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3108960" y="2377440"/>
          <a:ext cx="38404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Shape 10"/>
          <p:cNvSpPr/>
          <p:nvPr/>
        </p:nvSpPr>
        <p:spPr>
          <a:xfrm>
            <a:off x="7406640" y="2240280"/>
            <a:ext cx="4327855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Text 11"/>
          <p:cNvSpPr txBox="1"/>
          <p:nvPr/>
        </p:nvSpPr>
        <p:spPr>
          <a:xfrm>
            <a:off x="7589520" y="235915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왜 로지스틱 회귀를 골랐나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7589520" y="2697480"/>
            <a:ext cx="33832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정확도 차이 0.19%p (오분류 7건 차이)로 작음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로지스틱 회귀가 더 단순하고 해석하기 쉬움 — 계수로 어떤 특징이 영향 줬는지 바로 확인 가능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recall_F 95.87% / recall_M 94.23% 모두 93~96%대로 균형 — 다수 클래스(F)만 찍는 편향 없음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LightGBM은 폐기가 아니라 향후 feature 확장 실험용 비교 baseline으로 유지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reports/mission1/m1_val_eval.json, m1_val_bootstrap_ci.json, M1_error_analysis_report.md 1·2절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12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— 연구 방법 ③ 시행착오: 오류 원인을 찾아본 과정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길이·발화 수·겹침, 52차원 feature까지 들여다봤지만 뚜렷한 단일 원인은 못 찾음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501488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0080" y="2359152"/>
            <a:ext cx="51357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발화 길이 · 조각 수 · 겹침 비율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2670048"/>
            <a:ext cx="513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오분류 178건을 분위(quintile) 5구간으로 나눠 구간별 오류율 비교</a:t>
            </a:r>
            <a:endParaRPr lang="en-US" sz="10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017520"/>
          <a:ext cx="9144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97280"/>
                <a:gridCol w="1097280"/>
                <a:gridCol w="1280160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분석 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Q1 오류율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Q5 오류율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차이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발화 길이(초)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6.04%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(최단)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4.40%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(최장)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1.65%p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발화 조각 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4.12%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(최소)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5.88%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(최대)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−1.77%p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(방향 반대)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겹침 비율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5.08%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(최소)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5.49%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(최대)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0.41%p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640080" y="5166360"/>
            <a:ext cx="5135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짧고 발화 수도 적은 조합(n=1,506) 오류율 4.38% — 전체 평균(4.89%)보다 오히려 낮음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겹침 0구간(n=137) 오류율 2.92%는 표본이 작아 참고용 (순위 판단에 쓰지 않음)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233008" y="2240280"/>
            <a:ext cx="5501488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6415888" y="2359152"/>
            <a:ext cx="51357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52차원 feature 탐색 (Cohen's d)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6415888" y="2670048"/>
            <a:ext cx="51357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로지스틱 회귀 계수 절댓값 상위 15개 안에 피치 직결 지표(zcr_mean·spectral_centroid_mean·mfcc_mean_0~3)는 없음</a:t>
            </a:r>
            <a:endParaRPr lang="en-US" sz="105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15888" y="3200400"/>
          <a:ext cx="9144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828800"/>
                <a:gridCol w="16459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오류 유형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상위 축 (|d|&gt;1)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F→M (n=81)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mfcc_std_19 / 17 / 16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−1.24 ~ −1.10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M→F (n=97)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mfcc_std_17 / 16 / 19 외 2개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+1.34 ~ +1.83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Text 13"/>
          <p:cNvSpPr txBox="1"/>
          <p:nvPr/>
        </p:nvSpPr>
        <p:spPr>
          <a:xfrm>
            <a:off x="6415888" y="4526280"/>
            <a:ext cx="5135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간접 spectral 지표 6개 중 반대 성별 평균에 더 가까운 개수: F 오류 2/6, M 오류 3/6 — 과반에 못 미치거나 절반 수준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6233008" y="5166360"/>
            <a:ext cx="5501488" cy="868680"/>
          </a:xfrm>
          <a:prstGeom prst="roundRect">
            <a:avLst>
              <a:gd name="adj" fmla="val 10526"/>
            </a:avLst>
          </a:prstGeom>
          <a:solidFill>
            <a:srgbClr val="FFCDD2"/>
          </a:solidFill>
          <a:ln w="12700">
            <a:solidFill>
              <a:srgbClr val="FFCDD2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415888" y="5166360"/>
            <a:ext cx="5135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사후 탐색(post-hoc) 결과 — </a:t>
            </a:r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52개 feature를 전부 탐색한 뒤 값이 큰 축만 추려 보여준 것이라 다중비교 편향 가능. 오분류 표본도 81·97건으로 작아 "이게 원인이다"라고 확정하지 않음.</a:t>
            </a:r>
            <a:endParaRPr lang="en-US" sz="1050" dirty="0"/>
          </a:p>
        </p:txBody>
      </p:sp>
      <p:sp>
        <p:nvSpPr>
          <p:cNvPr id="21" name="Text 16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M1_error_analysis_report.md 3·4·5절, m1_val_error_analysis.json, m1_val_error_rows.parquet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13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— 최종 연구 결과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 3,640건 Accuracy 95.11%, 95% CI [94.40, 95.82] — 로지스틱 회귀를 제출 후보로 확정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11277295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31520" y="25146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95.11%</a:t>
            </a:r>
            <a:endParaRPr lang="en-US" sz="42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322783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 (공식 Validation)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84048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95% 신뢰구간 [94.40, 95.82]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recall F 95.87% · recall M 94.23%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53949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파라미터 53개(가중치 52+절편) · CPU 추론 · Validation 3,640건 일괄 처리</a:t>
            </a:r>
            <a:endParaRPr lang="en-US" sz="95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3383280" y="2377440"/>
          <a:ext cx="36576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 11"/>
          <p:cNvSpPr txBox="1"/>
          <p:nvPr/>
        </p:nvSpPr>
        <p:spPr>
          <a:xfrm>
            <a:off x="7498080" y="237744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로지스틱 회귀 혼동행렬 (오분류 178건)</a:t>
            </a:r>
            <a:endParaRPr lang="en-US" sz="11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2651760"/>
          <a:ext cx="914400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914400"/>
                <a:gridCol w="914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예측 F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예측 M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F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1,878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81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M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97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1,584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2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reports/mission1/ m1_val_eval.json, m1_val_bootstrap_ci.json, docs/decisions.md 2026-10-05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14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 신고자 성별 분류 — 결론과 다음 계획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관찰(사실)과 해석(판단)을 구분해서 기록 — 추가 검증 전까지는 확정 결론을 내리지 않음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501488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0080" y="2359152"/>
            <a:ext cx="5135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데이터 자체의 어려움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2651760"/>
            <a:ext cx="513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정보가 부족해 남도 못 맞추는 영역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2926080"/>
            <a:ext cx="51357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 가능한 조건(길이·발화 수·겹침)으로는 오류 패턴이 설명되지 않음 — 분위구간 차이 최대 1.8%p, 방향도 엇갈림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성별이 애매하게 들리는 통화 자체가 일부 있을 가능성(탐색적 추정, 확정 아님)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오분류 표본이 작아(81·97건) 어떤 조건에서 특히 어려운지 더 좁히기 어려움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233008" y="2240280"/>
            <a:ext cx="5501488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415888" y="2359152"/>
            <a:ext cx="5135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모델 성능의 개선 여지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415888" y="2651760"/>
            <a:ext cx="513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잘 맞출 여지가 있는 영역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415888" y="2926080"/>
            <a:ext cx="51357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52차원 통계에는 피치(F0, 기본주파수)가 직접 들어있지 않음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Cohen's d 탐색에서 일부 고차 MFCC에 패턴이 보였으나 사후 탐색이라 확정 아님 — F0를 직접 추가하면 개선 여지(후속 가설)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LightGBM·로지스틱 회귀를 짝지어 검정(McNemar)하지 않아 두 모델 차이의 통계적 유의성은 미확인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57200" y="4663440"/>
            <a:ext cx="5501488" cy="1645920"/>
          </a:xfrm>
          <a:prstGeom prst="roundRect">
            <a:avLst>
              <a:gd name="adj" fmla="val 5556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94360" y="4663440"/>
            <a:ext cx="365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1005840" y="4663440"/>
            <a:ext cx="48156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사회안전 시사점 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성별 자동 인식으로 신고 접수 기록을 자동화 — 상담 인력 배치 참고 정보로 활용 가능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233008" y="4663440"/>
            <a:ext cx="5501488" cy="1645920"/>
          </a:xfrm>
          <a:prstGeom prst="roundRect">
            <a:avLst>
              <a:gd name="adj" fmla="val 5556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6415888" y="4773168"/>
            <a:ext cx="513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향후 계획 (제출 기한 내 미착수)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6415888" y="5074920"/>
            <a:ext cx="51357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F0(기본 주파수) 추가 — 상대적 우선순위만 상승, 확정 아님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LightGBM·로지스틱 회귀 짝지어 검정 (McNemar / paired bootstrap)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오분류 화자 단위 정성 분석 — 소수 화자가 오류를 몰아서 만드는지 확인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15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신고자/119대원 분류 (김광희) — 한눈에 보기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하나만 듣고 대원인지 신고자인지 — 목소리를 그림(스펙트로그램)으로 바꿔 CNN 3개로 판정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24028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최종 모델과 정확도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51460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91.49%</a:t>
            </a:r>
            <a:endParaRPr lang="en-US" sz="56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42900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 (공식 Validation, 발화 111,947개)</a:t>
            </a:r>
            <a:endParaRPr lang="en-US" sz="125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486400" y="2286000"/>
          <a:ext cx="6248095" cy="1554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5486400" y="388620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 대비 +5.05%p — CNN 3-seed 앙상블 채택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57200" y="4297680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57200" y="4407408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모델 구성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457200" y="4709160"/>
            <a:ext cx="182880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57200" y="4709160"/>
            <a:ext cx="182880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57200" y="4983480"/>
            <a:ext cx="182880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57200" y="47091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추출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594360" y="5276088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해당 구간만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잘라내기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2836621" y="5349240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3606698" y="4709160"/>
            <a:ext cx="182880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3606698" y="4709160"/>
            <a:ext cx="182880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3606698" y="4983480"/>
            <a:ext cx="182880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606698" y="47091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스펙트로그램</a:t>
            </a:r>
            <a:endParaRPr lang="en-US" sz="1400" dirty="0"/>
          </a:p>
        </p:txBody>
      </p:sp>
      <p:sp>
        <p:nvSpPr>
          <p:cNvPr id="26" name="Text 22"/>
          <p:cNvSpPr txBox="1"/>
          <p:nvPr/>
        </p:nvSpPr>
        <p:spPr>
          <a:xfrm>
            <a:off x="3743858" y="5276088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log-mel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그림으로 변환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5986120" y="5349240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6756197" y="4709160"/>
            <a:ext cx="182880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756197" y="4709160"/>
            <a:ext cx="182880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6756197" y="4983480"/>
            <a:ext cx="182880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6756197" y="47091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CNN × 3</a:t>
            </a:r>
            <a:endParaRPr lang="en-US" sz="1400" dirty="0"/>
          </a:p>
        </p:txBody>
      </p:sp>
      <p:sp>
        <p:nvSpPr>
          <p:cNvPr id="32" name="Text 28"/>
          <p:cNvSpPr txBox="1"/>
          <p:nvPr/>
        </p:nvSpPr>
        <p:spPr>
          <a:xfrm>
            <a:off x="6893357" y="5276088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seed 다르게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후 평균</a:t>
            </a:r>
            <a:endParaRPr lang="en-US" sz="1200" dirty="0"/>
          </a:p>
        </p:txBody>
      </p:sp>
      <p:sp>
        <p:nvSpPr>
          <p:cNvPr id="33" name="Shape 29"/>
          <p:cNvSpPr/>
          <p:nvPr/>
        </p:nvSpPr>
        <p:spPr>
          <a:xfrm>
            <a:off x="9135618" y="5349240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9905695" y="4709160"/>
            <a:ext cx="182880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5" name="Shape 31"/>
          <p:cNvSpPr/>
          <p:nvPr/>
        </p:nvSpPr>
        <p:spPr>
          <a:xfrm>
            <a:off x="9905695" y="4709160"/>
            <a:ext cx="1828800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9905695" y="4983480"/>
            <a:ext cx="1828800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9905695" y="47091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400" dirty="0"/>
          </a:p>
        </p:txBody>
      </p:sp>
      <p:sp>
        <p:nvSpPr>
          <p:cNvPr id="38" name="Text 34"/>
          <p:cNvSpPr txBox="1"/>
          <p:nvPr/>
        </p:nvSpPr>
        <p:spPr>
          <a:xfrm>
            <a:off x="10042855" y="5276088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확률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(기준값 0.5)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16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— 데이터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 지역 신고 통화 약 3만 건, 발화 100만 개 — 절반 이상이 1.5초 이하의 짧은 발화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85216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423160"/>
          <a:ext cx="91440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03120"/>
                <a:gridCol w="19202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학습용(Training, 서울)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공식 Validation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통화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29,200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3,640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발화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889,358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111,947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대원 발화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427,161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53,845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신고자 발화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462,197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58,102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640080" y="4572000"/>
            <a:ext cx="5486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 형식 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8kHz, 모노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클래스 비율 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거의 반반 (신고자 52%)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길이 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1.98초, 중간값 1.44초 — "네","예" 같은 짧은 맞장구가 많음. 이게 문제를 어렵게 만드는 핵심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6492240" y="2240280"/>
            <a:ext cx="5242255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6675120" y="2377440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길이 구간별 분포 (공식 Validation)</a:t>
            </a:r>
            <a:endParaRPr lang="en-US" sz="115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6583680" y="2697480"/>
          <a:ext cx="5059375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 10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미션2_PPT_제작의뢰_초안.md 2절, reports/mission2/m2_official_val_spec.md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17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— 연구 방법 ① 첫 번째 접근: 음향 통계 + LightGBM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발화마다 소리 특징을 숫자 53개로 요약해 분류 → 공식 Validation 86.44%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11277295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31520" y="2423160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방법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743200"/>
            <a:ext cx="107286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특징  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높낮이·세기·음색(MFCC) 등 값의 평균과 분산 등 53개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  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LightGBM (트리 기반 모델)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731520" y="3703320"/>
            <a:ext cx="1072865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14400" y="39319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86.44%</a:t>
            </a:r>
            <a:endParaRPr lang="en-US" sz="4200" dirty="0"/>
          </a:p>
        </p:txBody>
      </p:sp>
      <p:sp>
        <p:nvSpPr>
          <p:cNvPr id="14" name="Text 11"/>
          <p:cNvSpPr txBox="1"/>
          <p:nvPr/>
        </p:nvSpPr>
        <p:spPr>
          <a:xfrm>
            <a:off x="914400" y="464515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 Accuracy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389120" y="3931920"/>
            <a:ext cx="7071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추가로 해 본 것 — 전부 0%p 근처, 큰 개선 없음</a:t>
            </a:r>
            <a:endParaRPr lang="en-US" sz="13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4389120" y="4251960"/>
          <a:ext cx="7071055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7" name="Text 13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미션2_PPT_제작의뢰_초안.md 3절, docs/experiment_log.md M2-EXP-002~005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18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— 연구 방법 ② 보완점 발견과 방향 전환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 몇 개로 요약하는 순간, 목소리의 세부 정보가 사라진다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501488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0080" y="2359152"/>
            <a:ext cx="5135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오류 분석에서 나온 약점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2697480"/>
            <a:ext cx="51357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발화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요약할 정보 자체가 적음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목소리 겹침 구간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사람 소리가 섞인 구간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3429000"/>
            <a:ext cx="5135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특징을 더 넣어도 이 약점은 그대로였음 (3절 "추가로 해 본 것")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40080" y="3886200"/>
            <a:ext cx="5135728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" y="4023360"/>
            <a:ext cx="513572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가설 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평균·분산으로 요약하는 과정에서 시간에 따른 변화와 음색의 결 같은 정보가 버려진다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 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요약하지 말고, 소리를 그림(스펙트로그램) 그대로 학습시키자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233008" y="2240280"/>
            <a:ext cx="5501488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415888" y="2359152"/>
            <a:ext cx="5135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선행 연구 근거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6415888" y="2697480"/>
            <a:ext cx="513572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Hershey et al., </a:t>
            </a:r>
            <a:pPr indent="0" marL="0">
              <a:spcAft>
                <a:spcPts val="600"/>
              </a:spcAft>
              <a:buNone/>
            </a:pPr>
            <a:r>
              <a:rPr lang="en-US" sz="1050" i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CNN Architectures for Large-Scale Audio Classification, ICASSP 2017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log-mel 스펙트로그램 + CNN이 대규모 오디오 분류에서 효과적임을 보임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Nagrani et al., </a:t>
            </a:r>
            <a:pPr indent="0" marL="0">
              <a:spcAft>
                <a:spcPts val="600"/>
              </a:spcAft>
              <a:buNone/>
            </a:pPr>
            <a:r>
              <a:rPr lang="en-US" sz="1050" i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VoxCeleb: a large-scale speaker identification dataset, Interspeech 2017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스펙트로그램 기반 CNN으로 화자 식별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Ozan, </a:t>
            </a:r>
            <a:pPr indent="0" marL="0">
              <a:spcAft>
                <a:spcPts val="600"/>
              </a:spcAft>
              <a:buNone/>
            </a:pPr>
            <a:r>
              <a:rPr lang="en-US" sz="1050" i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Classification of Audio Segments in Call Center Recordings using CRNN, arXiv:2106.02422 (2021)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콜센터 통화의 상담원/고객 구간을 CNN+RNN으로 자동 분류 — 본 미션과 가장 가까운 선행 사례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미션2_PPT_제작의뢰_초안.md 4절 (인용 2026-10-08 확인)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19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— 연구 방법 ③ 최종 모델 구조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발화를 소리 그림으로 바꿔 CNN으로 분류하고, 3개 모델의 판단을 평균한다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86000"/>
            <a:ext cx="192024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발화 추출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2852928"/>
            <a:ext cx="1645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해당 구간만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잘라냄 (다른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발화는 안 봄)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477224" y="3063240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796464" y="2286000"/>
            <a:ext cx="192024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796464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796464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796464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스펙트로그램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933624" y="2852928"/>
            <a:ext cx="1645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log-mel, 주파수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40칸·20ms 단위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내 정규화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816488" y="3063240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135728" y="2286000"/>
            <a:ext cx="192024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135728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135728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135728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길이 맞춤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272888" y="2852928"/>
            <a:ext cx="1645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발화는 무음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으로 6초까지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(자기 자신만)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7155752" y="3063240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74991" y="2286000"/>
            <a:ext cx="192024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7474991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474991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474991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CNN × 3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7612151" y="2852928"/>
            <a:ext cx="1645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4층 합성곱+전역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풀링, 각자 확률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9495015" y="3063240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814255" y="2286000"/>
            <a:ext cx="192024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9814255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814255" y="2560320"/>
            <a:ext cx="1920240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814255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판정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9951415" y="2852928"/>
            <a:ext cx="1645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확률 평균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≥0.5 신고자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(기준값 0.5)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457200" y="4526280"/>
            <a:ext cx="11277295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9" name="Text 36"/>
          <p:cNvSpPr txBox="1"/>
          <p:nvPr/>
        </p:nvSpPr>
        <p:spPr>
          <a:xfrm>
            <a:off x="640080" y="464515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CNN 구조</a:t>
            </a:r>
            <a:endParaRPr lang="en-US" sz="1300" dirty="0"/>
          </a:p>
        </p:txBody>
      </p:sp>
      <p:sp>
        <p:nvSpPr>
          <p:cNvPr id="40" name="Text 37"/>
          <p:cNvSpPr txBox="1"/>
          <p:nvPr/>
        </p:nvSpPr>
        <p:spPr>
          <a:xfrm>
            <a:off x="640080" y="4937760"/>
            <a:ext cx="109115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합성곱 층 4개(32→64→128→256 채널) + 전역 평균 풀링 + 분류층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 1개당 파라미터 421,954개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사전학습 모델이나 외부 데이터 없이, 제공된 데이터만으로 처음부터 학습</a:t>
            </a:r>
            <a:endParaRPr lang="en-US" sz="1150" dirty="0"/>
          </a:p>
        </p:txBody>
      </p:sp>
      <p:sp>
        <p:nvSpPr>
          <p:cNvPr id="41" name="Text 38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미션2_PPT_제작의뢰_초안.md 5절, src/dcc_data/mission2_cnn.py (SpeakerCNNLarge)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20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— 연구 방법 ④ 핵심 아이디어 ① 발화 단독 무음 채우기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발화를 무음으로 6초까지 채우기만 해도 +1.16%p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667512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0080" y="2377440"/>
            <a:ext cx="6400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 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학습은 여러 발화를 묶어 가장 긴 발화에 맞춰 무음을 채움 → 채점은 발화를 하나씩 넣어 짧은 발화가 무음 없이 들어감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추론 때 각 발화를 자기 자신만으로 무음을 채워 300프레임(6초)으로 맞춤 — 다른 발화 정보를 안 쓰니 규정에도 맞음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3611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길이 구간별 정확도 (채우기 전 → 후)</a:t>
            </a:r>
            <a:endParaRPr lang="en-US" sz="115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457200" y="3886200"/>
          <a:ext cx="667512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640080" y="6035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공식 Validation: 89.73% → 90.89% (+1.16%p)  ·  2초 이상은 거의 변화 없음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406640" y="2240280"/>
            <a:ext cx="4327855" cy="3977640"/>
          </a:xfrm>
          <a:prstGeom prst="roundRect">
            <a:avLst>
              <a:gd name="adj" fmla="val 2299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7589520" y="23774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중요한가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7589520" y="2697480"/>
            <a:ext cx="3383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재학습 없이 추론 방식만 고쳐서 얻은 이득 — 모델이 아니라 "학습과 추론의 입력이 서로 달랐다"는 걸 찾아낸 것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미션2_PPT_제작의뢰_초안.md 6절, docs/experiment_log.md M2-PAD-001, M2-VAL-004/005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21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— 연구 방법 ⑤ 핵심 아이디어 ② seed 앙상블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CNN을 시작 조건만 바꿔 3번 학습하고 평균하면, 단일 모델보다 0.5%p 높음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603504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graphicFrame>
        <p:nvGraphicFramePr>
          <p:cNvPr id="10" name="Chart 0" descr=""/>
          <p:cNvGraphicFramePr/>
          <p:nvPr/>
        </p:nvGraphicFramePr>
        <p:xfrm>
          <a:off x="640080" y="2423160"/>
          <a:ext cx="56692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Shape 7"/>
          <p:cNvSpPr/>
          <p:nvPr/>
        </p:nvSpPr>
        <p:spPr>
          <a:xfrm>
            <a:off x="6766560" y="2240280"/>
            <a:ext cx="4967935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6949440" y="2377440"/>
            <a:ext cx="4602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방법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6949440" y="2697480"/>
            <a:ext cx="46021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 구조·데이터·학습 설정은 같고 무작위 시작값(seed 1/2/3)만 다름 — 실력은 비슷해도 틀리는 발화가 서로 달라서, 평균을 내면 서로의 실수를 보완</a:t>
            </a:r>
            <a:endParaRPr lang="en-US" sz="11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9440" y="4297680"/>
          <a:ext cx="91440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구성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Accuracy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모델 1개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90.90~91.04%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모델 2개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91.39~91.45%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모델 3개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91.55%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 txBox="1"/>
          <p:nvPr/>
        </p:nvSpPr>
        <p:spPr>
          <a:xfrm>
            <a:off x="6949440" y="5897880"/>
            <a:ext cx="46021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2개→3개는 오르는 폭이 +0.1%p로 줄어서 3개에서 멈춤</a:t>
            </a:r>
            <a:endParaRPr lang="en-US" sz="1050" dirty="0"/>
          </a:p>
        </p:txBody>
      </p:sp>
      <p:sp>
        <p:nvSpPr>
          <p:cNvPr id="16" name="Text 11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미션2_PPT_제작의뢰_초안.md 7절, docs/experiment_log.md M2-ENS-002/003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22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— 연구 방법 ⑥ 검증했지만 채택하지 않은 시도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아이디어마다 seed 3개로 반복 실험해 우연이 아닌지 확인했고, 기준에 못 미치면 버렸다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11277295" cy="37490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0080" y="237744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정확도 변화 (%p) — 채택 기준은 +0.5%p 이상 (파랑=양수, 빨강=음수)</a:t>
            </a:r>
            <a:endParaRPr lang="en-US" sz="115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640080" y="2697480"/>
          <a:ext cx="10911535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Shape 8"/>
          <p:cNvSpPr/>
          <p:nvPr/>
        </p:nvSpPr>
        <p:spPr>
          <a:xfrm>
            <a:off x="457200" y="6080760"/>
            <a:ext cx="11277295" cy="457200"/>
          </a:xfrm>
          <a:prstGeom prst="roundRect">
            <a:avLst>
              <a:gd name="adj" fmla="val 20000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594360" y="60807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1005840" y="6080760"/>
            <a:ext cx="105914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메시지  </a:t>
            </a:r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기준은 실험 전에 정했고, 결과를 보고 바꾸지 않았음 — 6개 모두 기준선을 못 넘어 기각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457200" y="6565392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 hop80은 1차(+0.27%p)·2차(−0.14%p) 확인 결과가 뒤집혀 재현 안 됨 · 근거: 미션2_PPT_제작의뢰_초안.md 8절, experiment_log.md M2-CNN-005~009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23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— 최종 연구 결과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 정확도 91.49% (L1 LightGBM 대비 +5.05%p)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3840480" cy="397764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0080" y="24688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91.49%</a:t>
            </a:r>
            <a:endParaRPr lang="en-US" sz="38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318211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 (공식 Validation)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36576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111,947건 중 102,419건 정답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대원 recall 87.15% · 신고자 recall 95.51%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" y="4434840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혼동행렬 (히트맵, 행 기준 %)</a:t>
            </a:r>
            <a:endParaRPr lang="en-US" sz="10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690872"/>
          <a:ext cx="91440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143000"/>
                <a:gridCol w="1143000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↓ · 예측 →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신고자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대원 (53,845)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46,926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(87.15%)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6,919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(12.85%)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신고자 (58,102)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161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2,609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161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(4.49%)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55,493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(95.51%)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</a:tbl>
          </a:graphicData>
        </a:graphic>
      </p:graphicFrame>
      <p:sp>
        <p:nvSpPr>
          <p:cNvPr id="15" name="Shape 11"/>
          <p:cNvSpPr/>
          <p:nvPr/>
        </p:nvSpPr>
        <p:spPr>
          <a:xfrm>
            <a:off x="4572000" y="2240280"/>
            <a:ext cx="3931920" cy="397764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4754880" y="23774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발전 과정 (공식 Validation)</a:t>
            </a:r>
            <a:endParaRPr lang="en-US" sz="115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663440" y="2697480"/>
          <a:ext cx="374904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Shape 13"/>
          <p:cNvSpPr/>
          <p:nvPr/>
        </p:nvSpPr>
        <p:spPr>
          <a:xfrm>
            <a:off x="8778240" y="2240280"/>
            <a:ext cx="2956255" cy="397764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9" name="Text 14"/>
          <p:cNvSpPr txBox="1"/>
          <p:nvPr/>
        </p:nvSpPr>
        <p:spPr>
          <a:xfrm>
            <a:off x="8961120" y="2377440"/>
            <a:ext cx="2590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길이별 정확도</a:t>
            </a:r>
            <a:endParaRPr lang="en-US" sz="1150" dirty="0"/>
          </a:p>
        </p:txBody>
      </p:sp>
      <p:graphicFrame>
        <p:nvGraphicFramePr>
          <p:cNvPr id="20" name="Chart 1" descr=""/>
          <p:cNvGraphicFramePr/>
          <p:nvPr/>
        </p:nvGraphicFramePr>
        <p:xfrm>
          <a:off x="8869680" y="2697480"/>
          <a:ext cx="2773375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1" name="Text 15"/>
          <p:cNvSpPr txBox="1"/>
          <p:nvPr/>
        </p:nvSpPr>
        <p:spPr>
          <a:xfrm>
            <a:off x="8961120" y="5532120"/>
            <a:ext cx="25904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0.5~1초 구간(빨강)이 가장 약함 · [확인 필요] 연우님 모델과 비교 반영 여부</a:t>
            </a:r>
            <a:endParaRPr lang="en-US" sz="950" dirty="0"/>
          </a:p>
        </p:txBody>
      </p:sp>
      <p:sp>
        <p:nvSpPr>
          <p:cNvPr id="22" name="Text 16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미션2_PPT_제작의뢰_초안.md 9절, docs/experiment_log.md M2-RERUN-001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24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— 오류 분석과 보완점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오류는 짧은 맞장구와 "대원을 신고자로 착각"하는 경우에 몰려 있음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501488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0080" y="2359152"/>
            <a:ext cx="513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가장 약한 구간: 0.5~1초 (87.60%)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2633472"/>
            <a:ext cx="513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구간별 오류율 (%) — "네","예" 같은 짧은 대답은 대원·신고자가 똑같이 씀</a:t>
            </a:r>
            <a:endParaRPr lang="en-US" sz="10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640080" y="2926080"/>
          <a:ext cx="5135728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640080" y="4709160"/>
            <a:ext cx="513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오분류 방향 (건수) — 대원→신고자 쏠림 73%</a:t>
            </a:r>
            <a:endParaRPr lang="en-US" sz="1000" dirty="0"/>
          </a:p>
        </p:txBody>
      </p:sp>
      <p:graphicFrame>
        <p:nvGraphicFramePr>
          <p:cNvPr id="14" name="Chart 1" descr=""/>
          <p:cNvGraphicFramePr/>
          <p:nvPr/>
        </p:nvGraphicFramePr>
        <p:xfrm>
          <a:off x="640080" y="4983480"/>
          <a:ext cx="5135728" cy="1051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Text 10"/>
          <p:cNvSpPr txBox="1"/>
          <p:nvPr/>
        </p:nvSpPr>
        <p:spPr>
          <a:xfrm>
            <a:off x="640080" y="6080760"/>
            <a:ext cx="513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라벨 잡음: 라벨이 뒤바뀐 것으로 의심되는 통화는 규정상 고치지 않고 제공된 라벨 그대로 학습, 의심 사례만 별도 기록</a:t>
            </a:r>
            <a:endParaRPr lang="en-US" sz="900" dirty="0"/>
          </a:p>
        </p:txBody>
      </p:sp>
      <p:sp>
        <p:nvSpPr>
          <p:cNvPr id="16" name="Shape 11"/>
          <p:cNvSpPr/>
          <p:nvPr/>
        </p:nvSpPr>
        <p:spPr>
          <a:xfrm>
            <a:off x="6233008" y="2240280"/>
            <a:ext cx="5501488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6415888" y="2359152"/>
            <a:ext cx="5135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데이터 자체의 어려움 vs 모델 성능의 개선 여지</a:t>
            </a:r>
            <a:endParaRPr lang="en-US" sz="1350" dirty="0"/>
          </a:p>
        </p:txBody>
      </p:sp>
      <p:sp>
        <p:nvSpPr>
          <p:cNvPr id="18" name="Text 13"/>
          <p:cNvSpPr txBox="1"/>
          <p:nvPr/>
        </p:nvSpPr>
        <p:spPr>
          <a:xfrm>
            <a:off x="6415888" y="2697480"/>
            <a:ext cx="513572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1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쪽 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방법(§8)으로도 비슷한 지점(짧은 발화)에서 성능이 멈춤 — 오류 상당 부분은 "한 발화만 보고 판단"이라는 조건 자체에서 비롯된 것으로 봄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 쪽 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대원→신고자 쏠림(73%)은 비대칭 — 구조·입력을 여러 방향(§8)으로 바꿔도 못 줄였다는 점에서, 지금 접근으로는 쉽게 안 줄어드는 영역으로 판단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미션2_PPT_제작의뢰_초안.md 10절, docs/experiment_log.md M2-COMPARE-002, M2-LABEL-001~003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25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— 계산 효율성 (대회 권장 항목)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속도를 개선해 에폭당 약 25분 → 약 7분(약 3.5배)으로 줄임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704088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423160"/>
          <a:ext cx="91440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297680"/>
              </a:tblGrid>
              <a:tr h="5760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파라미터 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모델 1개 421,954 × 3 = Total 1,265,862 / Active 1,265,862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학습 환경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Colab NVIDIA Tesla T4 1개, 혼합 정밀도, 에폭당 약 7분, 시드별 20~24에폭(자동 조기 종료)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추론 환경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CPU (Intel Xeon 2.0GHz 2코어), GPU 미사용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Validation 추론 batch size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(발화 하나씩)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Validation 추론 시간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전체 85.3분, 발화당 평균 45.7ms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640080" y="598932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저장 방식 개선(스펙트로그램을 float16 하나로 묶어 메모리 매핑) + 혼합 정밀도(AMP) 적용 덕분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7772400" y="2240280"/>
            <a:ext cx="3962095" cy="39776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7955280" y="2377440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에폭당 학습 시간</a:t>
            </a:r>
            <a:endParaRPr lang="en-US" sz="115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7863840" y="2697480"/>
          <a:ext cx="3779215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 10"/>
          <p:cNvSpPr txBox="1"/>
          <p:nvPr/>
        </p:nvSpPr>
        <p:spPr>
          <a:xfrm>
            <a:off x="7863840" y="5760720"/>
            <a:ext cx="3779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3.5배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미션2_PPT_제작의뢰_초안.md 12절, docs/decisions.md 2026-10-05 (학습 속도 개선 항목)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26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— 사회안전 시사점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목소리만으로 "누가 말했는지"를 자동으로 나누면, 신고 접수 기록과 분석을 빠르게 만들 수 있음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501488" cy="1828800"/>
          </a:xfrm>
          <a:prstGeom prst="roundRect">
            <a:avLst>
              <a:gd name="adj" fmla="val 5000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4360" y="2240280"/>
            <a:ext cx="365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" y="2240280"/>
            <a:ext cx="481568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 내용 자동 정리 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통화를 대원·신고자 발화로 자동 분리하면, 신고자가 말한 증상·위치만 골라 요약하거나 다음 단계(증상 분류 등, Mission 3)에 넘길 수 있음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57200" y="4206240"/>
            <a:ext cx="5501488" cy="2011680"/>
          </a:xfrm>
          <a:prstGeom prst="roundRect">
            <a:avLst>
              <a:gd name="adj" fmla="val 4545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94360" y="4206240"/>
            <a:ext cx="365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1005840" y="4206240"/>
            <a:ext cx="481568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품질 관리 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대원 발화만 모아 응대 절차 준수 여부를 점검하는 등, 사후 분석 시간을 줄일 수 있음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233008" y="2240280"/>
            <a:ext cx="5501488" cy="1828800"/>
          </a:xfrm>
          <a:prstGeom prst="roundRect">
            <a:avLst>
              <a:gd name="adj" fmla="val 5000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370168" y="2240280"/>
            <a:ext cx="365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781648" y="2240280"/>
            <a:ext cx="481568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개인정보 측면 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내용(텍스트) 없이 음향만으로 동작해서, 내용을 보지 않고도 1차 분류가 가능함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233008" y="4206240"/>
            <a:ext cx="5501488" cy="2011680"/>
          </a:xfrm>
          <a:prstGeom prst="roundRect">
            <a:avLst>
              <a:gd name="adj" fmla="val 4545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6415888" y="4315968"/>
            <a:ext cx="513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현실 적용 시 개선점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6415888" y="4617720"/>
            <a:ext cx="51357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2초 이상 발화는 96%로 믿을 만함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맞장구는 실제 서비스에서 앞뒤 발화 맥락을 함께 쓰면 보완 가능 — 대회에서는 금지된 정보라 쓰지 않음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미션2_PPT_제작의뢰_초안.md 13절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27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환자 증상 인식 — 문제 정의와 접근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단어가 대화에 직접 등장하는 경우가 많음 — 단어 기반 모델로 출발해 문맥 모델로 확장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3749040" cy="39776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85800" y="2377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문제 정의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85800" y="288036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88036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691640" y="286207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신고자·대원 대화 전사 텍스트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(그 외 라벨 사용 불가)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85800" y="370332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37033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1691640" y="368503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9종 중 0~9개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(다중 레이블)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85800" y="452628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452628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691640" y="450799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Macro F1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(증상별 F1의 평균)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85800" y="534924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5800" y="534924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691640" y="533095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고열·구토·두통·복통·어지러움·열상·오심·전신쇠약·호흡곤란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572000" y="2240280"/>
            <a:ext cx="7162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모델 구성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4572000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572000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572000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572000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전처리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709160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시간순 정렬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9종 외 증상 제거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189421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435242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435242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435242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435242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텍스트 표현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6572402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TF-IDF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(단어·2단어 묶음)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8052664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8298485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8298485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8298485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8298485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분류 모델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8435645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증상별 로지스틱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회귀 (9개)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9915906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0161727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10161727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10161727" y="2971800"/>
            <a:ext cx="1572768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10161727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10298887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증상별 판정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(기준값 0.5)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4572000" y="4526280"/>
            <a:ext cx="7162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왜 이 방법인가</a:t>
            </a:r>
            <a:endParaRPr lang="en-US" sz="1800" dirty="0"/>
          </a:p>
        </p:txBody>
      </p:sp>
      <p:sp>
        <p:nvSpPr>
          <p:cNvPr id="48" name="Text 45"/>
          <p:cNvSpPr txBox="1"/>
          <p:nvPr/>
        </p:nvSpPr>
        <p:spPr>
          <a:xfrm>
            <a:off x="4572000" y="4937760"/>
            <a:ext cx="71624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이름·표현("머리가 아파요")이 전사에 직접 드러나 단어 기반이 강한 출발점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희귀 증상이 많아 Macro F1에 불리 → 증상별 성능을 따로 점검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〔KcBERT 등 문맥 모델 결과 반영 시 갱신〕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28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환자 증상 인식 — 결과와 시사점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〔최종 모델과 Macro F1 한 문장〕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10180015" y="868680"/>
            <a:ext cx="1554480" cy="274320"/>
          </a:xfrm>
          <a:prstGeom prst="roundRect">
            <a:avLst>
              <a:gd name="adj" fmla="val 26667"/>
            </a:avLst>
          </a:prstGeom>
          <a:solidFill>
            <a:srgbClr val="FFCDD2"/>
          </a:solidFill>
          <a:ln w="12700">
            <a:solidFill>
              <a:srgbClr val="FFCDD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180015" y="868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잠정 · 10/01 기준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2240280"/>
            <a:ext cx="667512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640080" y="24231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〔0.000〕</a:t>
            </a:r>
            <a:endParaRPr lang="en-US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" y="313639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Macro F1 (공식 Validation)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40080" y="3931920"/>
            <a:ext cx="2377440" cy="2103120"/>
          </a:xfrm>
          <a:prstGeom prst="roundRect">
            <a:avLst>
              <a:gd name="adj" fmla="val 4348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3931920"/>
            <a:ext cx="365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188720" y="3931920"/>
            <a:ext cx="1691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먼저  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개선 수치(0.40→0.45)가 데이터 분할 방식 차이일 수 있어, 통화 중복 검사 후에만 채택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3200400" y="2423160"/>
            <a:ext cx="3749040" cy="3611880"/>
          </a:xfrm>
          <a:prstGeom prst="roundRect">
            <a:avLst>
              <a:gd name="adj" fmla="val 2532"/>
            </a:avLst>
          </a:prstGeom>
          <a:solidFill>
            <a:srgbClr val="F8F9FA"/>
          </a:solidFill>
          <a:ln w="12700">
            <a:solidFill>
              <a:srgbClr val="BDBDBD"/>
            </a:solidFill>
            <a:prstDash val="dash"/>
          </a:ln>
        </p:spPr>
      </p:sp>
      <p:sp>
        <p:nvSpPr>
          <p:cNvPr id="18" name="Text 15"/>
          <p:cNvSpPr txBox="1"/>
          <p:nvPr/>
        </p:nvSpPr>
        <p:spPr>
          <a:xfrm>
            <a:off x="3383280" y="2423160"/>
            <a:ext cx="338328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자리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9종별 F1 가로 막대그래프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(최고/최저 증상 강조)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406640" y="2240280"/>
            <a:ext cx="4327855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589520" y="2331720"/>
            <a:ext cx="3962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결과 분석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7589520" y="2697480"/>
            <a:ext cx="39620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맞춘 증상  </a:t>
            </a:r>
            <a:pPr indent="0" marL="0">
              <a:spcAft>
                <a:spcPts val="400"/>
              </a:spcAft>
              <a:buNone/>
            </a:pPr>
            <a:r>
              <a:rPr lang="en-US" sz="12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〔예: 호흡곤란〕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어려운 증상  </a:t>
            </a:r>
            <a:pPr indent="0" marL="0">
              <a:spcAft>
                <a:spcPts val="400"/>
              </a:spcAft>
              <a:buNone/>
            </a:pPr>
            <a:r>
              <a:rPr lang="en-US" sz="12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〔희귀 증상 · 표현이 다양한 증상〕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7406640" y="3977640"/>
            <a:ext cx="4327855" cy="960120"/>
          </a:xfrm>
          <a:prstGeom prst="roundRect">
            <a:avLst>
              <a:gd name="adj" fmla="val 9524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7589520" y="4050792"/>
            <a:ext cx="3962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재현 정보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7589520" y="4343400"/>
            <a:ext cx="3962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파라미터 수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〔0〕</a:t>
            </a:r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학습/추론 환경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〔GPU/CPU〕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추론 배치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〔0〕</a:t>
            </a:r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Validation 추론 시간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〔0.0초/샘플〕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7406640" y="5074920"/>
            <a:ext cx="4327855" cy="114300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543800" y="5074920"/>
            <a:ext cx="365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7955280" y="5074920"/>
            <a:ext cx="364205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사회안전 시사점  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〔예: 증상 자동 태깅 → 출동 우선순위·병원 선정 보조〕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docs/experiment_log.md (M3-EXP-001~), docs/decisions.md 2026-09-20 분할 감사 항목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29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환자 증상 인식 — 확장 계획과 검증 일정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분할 감사부터 끝낸 뒤 TF-IDF 모델을 확정하고, 남은 기간 동안 문맥 모델로 확장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2560320"/>
            <a:ext cx="1920240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분할 감사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recordId 중복·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overlap 검사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458936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796464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796464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796464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796464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TF-IDF 확정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933624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Macro F1 확정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798200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135728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135728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135728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135728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문맥 모델 비교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272888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KcBERT 등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fine-tuning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7137464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74991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7474991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474991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474991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불균형 보정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7612151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희귀 증상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보정 (기준값 유지)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9476727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814255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9814255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814255" y="2560320"/>
            <a:ext cx="1920240" cy="182880"/>
          </a:xfrm>
          <a:prstGeom prst="rect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814255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선정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9951415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10/14 이전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 확정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457200" y="4526280"/>
            <a:ext cx="11277295" cy="914400"/>
          </a:xfrm>
          <a:prstGeom prst="roundRect">
            <a:avLst>
              <a:gd name="adj" fmla="val 10000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94360" y="4526280"/>
            <a:ext cx="365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40" name="Text 37"/>
          <p:cNvSpPr txBox="1"/>
          <p:nvPr/>
        </p:nvSpPr>
        <p:spPr>
          <a:xfrm>
            <a:off x="1005840" y="4526280"/>
            <a:ext cx="105914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위치  </a:t>
            </a:r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분할 감사 단계 — 개선 수치(0.40→0.45)가 데이터 분할 차이인지 먼저 확인 중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457200" y="5577840"/>
            <a:ext cx="11277295" cy="914400"/>
          </a:xfrm>
          <a:prstGeom prst="roundRect">
            <a:avLst>
              <a:gd name="adj" fmla="val 10000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94360" y="5577840"/>
            <a:ext cx="365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43" name="Text 40"/>
          <p:cNvSpPr txBox="1"/>
          <p:nvPr/>
        </p:nvSpPr>
        <p:spPr>
          <a:xfrm>
            <a:off x="1005840" y="5577840"/>
            <a:ext cx="105914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본선 전 열어둔 방향  </a:t>
            </a:r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문맥 모델이 TF-IDF보다 뚜렷이 낫지 않으면, 단순하고 설명 가능한 TF-IDF+로지스틱 회귀를 최종안으로 유지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docs/decisions.md 2026-09-20 분할 감사 항목, docs/experiment_log.md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종합 및 시사점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30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(1) 성능 요약과 교훈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미션 모두 공식 Validation 기준으로 평가하고, 점수보다 검증의 정직함을 우선함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10180015" y="868680"/>
            <a:ext cx="1554480" cy="274320"/>
          </a:xfrm>
          <a:prstGeom prst="roundRect">
            <a:avLst>
              <a:gd name="adj" fmla="val 26667"/>
            </a:avLst>
          </a:prstGeom>
          <a:solidFill>
            <a:srgbClr val="FFCDD2"/>
          </a:solidFill>
          <a:ln w="12700">
            <a:solidFill>
              <a:srgbClr val="FFCDD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180015" y="868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잠정 · 10/01 기준</a:t>
            </a:r>
            <a:endParaRPr lang="en-US" sz="10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91440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377440"/>
                <a:gridCol w="2743200"/>
                <a:gridCol w="1371600"/>
                <a:gridCol w="2011680"/>
                <a:gridCol w="149047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최종 모델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공식 Validation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신고자 성별 분류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음향 특징 + 로지스틱 회귀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Accuracy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95.11%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확정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신고자/119대원 분류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Mel-spectrogram + CNN 앙상블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Accuracy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91.49%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확정 (김광희)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3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환자 증상 인식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〔최종 모델〕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Macro F1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〔0.000〕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개선 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457200" y="4343400"/>
            <a:ext cx="357621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85800" y="4526280"/>
            <a:ext cx="457200" cy="457200"/>
          </a:xfrm>
          <a:prstGeom prst="ellipse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85800" y="4526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1280160" y="45262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점수보다 검증 먼저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685800" y="5120640"/>
            <a:ext cx="31190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통화가 학습·검증에 섞이는 누수를 매번 점검하고, 의심되는 개선은 보류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4307738" y="4343400"/>
            <a:ext cx="357621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4536338" y="4526280"/>
            <a:ext cx="457200" cy="457200"/>
          </a:xfrm>
          <a:prstGeom prst="ellipse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536338" y="4526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5130698" y="45262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기각도 기록한다</a:t>
            </a:r>
            <a:endParaRPr lang="en-US" sz="1600" dirty="0"/>
          </a:p>
        </p:txBody>
      </p:sp>
      <p:sp>
        <p:nvSpPr>
          <p:cNvPr id="21" name="Text 17"/>
          <p:cNvSpPr txBox="1"/>
          <p:nvPr/>
        </p:nvSpPr>
        <p:spPr>
          <a:xfrm>
            <a:off x="4536338" y="5120640"/>
            <a:ext cx="31190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효과 없던 실험과 그 이유를 decisions.md에 남겨 같은 시도를 반복하지 않음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8158277" y="4343400"/>
            <a:ext cx="357621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8386877" y="4526280"/>
            <a:ext cx="457200" cy="457200"/>
          </a:xfrm>
          <a:prstGeom prst="ellipse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8386877" y="4526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600" dirty="0"/>
          </a:p>
        </p:txBody>
      </p:sp>
      <p:sp>
        <p:nvSpPr>
          <p:cNvPr id="25" name="Text 21"/>
          <p:cNvSpPr txBox="1"/>
          <p:nvPr/>
        </p:nvSpPr>
        <p:spPr>
          <a:xfrm>
            <a:off x="8981237" y="45262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규칙은 설계 단계에서</a:t>
            </a:r>
            <a:endParaRPr lang="en-US" sz="1600" dirty="0"/>
          </a:p>
        </p:txBody>
      </p:sp>
      <p:sp>
        <p:nvSpPr>
          <p:cNvPr id="26" name="Text 22"/>
          <p:cNvSpPr txBox="1"/>
          <p:nvPr/>
        </p:nvSpPr>
        <p:spPr>
          <a:xfrm>
            <a:off x="8386877" y="5120640"/>
            <a:ext cx="31190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위반 소지가 있는 특징은 성능이 좋아도 제거 (M2 통화 단위 정보)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종합 및 시사점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31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(2) 사회안전 시사점과 향후 계획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미션을 이으면 — 119 신고 접수 순간부터 출동 판단까지를 돕는 하나의 흐름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24028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2514600"/>
            <a:ext cx="1920240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 접수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280720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119 통화 음성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458936" y="274320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796464" y="224028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796464" y="224028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796464" y="251460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796464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933624" y="280720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발화만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분리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798200" y="274320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135728" y="224028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135728" y="224028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135728" y="251460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135728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272888" y="280720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성별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기록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7137464" y="274320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74991" y="224028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7474991" y="224028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474991" y="251460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474991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7612151" y="280720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환자 증상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인식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9476727" y="274320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814255" y="224028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9814255" y="224028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814255" y="2514600"/>
            <a:ext cx="1920240" cy="182880"/>
          </a:xfrm>
          <a:prstGeom prst="rect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814255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출동 판단 보조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9951415" y="280720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 · 병원 선정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457200" y="3931920"/>
            <a:ext cx="5455768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9" name="Text 36"/>
          <p:cNvSpPr txBox="1"/>
          <p:nvPr/>
        </p:nvSpPr>
        <p:spPr>
          <a:xfrm>
            <a:off x="685800" y="4041648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기대효과</a:t>
            </a:r>
            <a:endParaRPr lang="en-US" sz="1800" dirty="0"/>
          </a:p>
        </p:txBody>
      </p:sp>
      <p:sp>
        <p:nvSpPr>
          <p:cNvPr id="40" name="Text 37"/>
          <p:cNvSpPr txBox="1"/>
          <p:nvPr/>
        </p:nvSpPr>
        <p:spPr>
          <a:xfrm>
            <a:off x="685800" y="4480560"/>
            <a:ext cx="49985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시간 단축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상황실 요원의 수기 기록 부담 감소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누락 방지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긴박한 통화 속 증상 언급을 자동으로 표시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보조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증상 정보로 출동 우선순위 결정 지원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〔추가 시사점〕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6278728" y="3931920"/>
            <a:ext cx="5455768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2" name="Text 39"/>
          <p:cNvSpPr txBox="1"/>
          <p:nvPr/>
        </p:nvSpPr>
        <p:spPr>
          <a:xfrm>
            <a:off x="6507328" y="4041648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본선까지 향후 계획</a:t>
            </a:r>
            <a:endParaRPr lang="en-US" sz="1800" dirty="0"/>
          </a:p>
        </p:txBody>
      </p:sp>
      <p:sp>
        <p:nvSpPr>
          <p:cNvPr id="43" name="Text 40"/>
          <p:cNvSpPr txBox="1"/>
          <p:nvPr/>
        </p:nvSpPr>
        <p:spPr>
          <a:xfrm>
            <a:off x="6507328" y="4480560"/>
            <a:ext cx="49985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 </a:t>
            </a:r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〔다음 단계〕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</a:t>
            </a:r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〔예: 여러 CNN 앙상블 · 짧은 발화 보강〕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</a:t>
            </a:r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〔예: KcBERT 문맥 모델 적용〕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공통  </a:t>
            </a:r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〔예: 실제 상황실 적용 시나리오 검토〕</a:t>
            </a:r>
            <a:endParaRPr lang="en-US" sz="13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clos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0116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eigensinn  |  김장수 · 김광희 · 지연우 · 이수빈 · 조지은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2359152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코드 · 실험 기록: GitHub eigensinn-dcc2026/prelim  (docs/experiment_log.md, docs/decisions.md)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DCC 2026 대학부 예선 결과 정리 — eigensinn</dc:title>
  <dc:subject>PptxGenJS Presentation</dc:subject>
  <dc:creator>PptxGenJS</dc:creator>
  <cp:lastModifiedBy>PptxGenJS</cp:lastModifiedBy>
  <cp:revision>1</cp:revision>
  <dcterms:created xsi:type="dcterms:W3CDTF">2026-10-12T01:03:21Z</dcterms:created>
  <dcterms:modified xsi:type="dcterms:W3CDTF">2026-10-12T01:03:21Z</dcterms:modified>
</cp:coreProperties>
</file>