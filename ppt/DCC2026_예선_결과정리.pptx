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3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4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212121"/>
                </a:solidFill>
                <a:latin typeface="맑은 고딕"/>
              </a:defRPr>
            </a:pPr>
            <a:r>
              <a:rPr sz="1100" b="0" i="0" u="none" strike="noStrike">
                <a:solidFill>
                  <a:srgbClr val="212121"/>
                </a:solidFill>
                <a:latin typeface="맑은 고딕"/>
              </a:rPr>
              <a:t>Training 통화 기준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%</c:v>
                </c:pt>
              </c:strCache>
            </c:strRef>
          </c:tx>
          <c:spPr>
            <a:solidFill>
              <a:srgbClr val="009DD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09DD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53935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겹침이 있는
통화 비율</c:v>
                  </c:pt>
                  <c:pt idx="1">
                    <c:v>통화당 겹침 시간
(중앙값)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98.15</c:v>
                </c:pt>
                <c:pt idx="1">
                  <c:v>3.82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1" i="0" strike="noStrike" sz="14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0" i="0" u="none" strike="noStrike">
                <a:solidFill>
                  <a:srgbClr val="212121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1616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212121"/>
                </a:solidFill>
                <a:latin typeface="맑은 고딕"/>
              </a:defRPr>
            </a:pPr>
            <a:r>
              <a:rPr sz="1200" b="0" i="0" u="none" strike="noStrike">
                <a:solidFill>
                  <a:srgbClr val="212121"/>
                </a:solidFill>
                <a:latin typeface="맑은 고딕"/>
              </a:rPr>
              <a:t>공식 Validation Accuracy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rgbClr val="E0E0E0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0E0E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09DD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09DD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2F4E91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① 음향 특징 52개
+ LR (baseline)</c:v>
                  </c:pt>
                  <c:pt idx="1">
                    <c:v>② + x-vector
(앞 20초)</c:v>
                  </c:pt>
                  <c:pt idx="2">
                    <c:v>③ + 여러 구간
평균 x-vector</c:v>
                  </c:pt>
                  <c:pt idx="3">
                    <c:v>④ ③을 전체 데이터로
재학습 (제출)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95.11</c:v>
                </c:pt>
                <c:pt idx="1">
                  <c:v>97.47</c:v>
                </c:pt>
                <c:pt idx="2">
                  <c:v>98.13</c:v>
                </c:pt>
                <c:pt idx="3">
                  <c:v>98.1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1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212121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9"/>
          <c:min val="94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1616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212121"/>
                </a:solidFill>
                <a:latin typeface="맑은 고딕"/>
              </a:defRPr>
            </a:pPr>
            <a:r>
              <a:rPr sz="1200" b="0" i="0" u="none" strike="noStrike">
                <a:solidFill>
                  <a:srgbClr val="212121"/>
                </a:solidFill>
                <a:latin typeface="맑은 고딕"/>
              </a:rPr>
              <a:t>공식 Validation Accuracy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rgbClr val="E0E0E0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0E0E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09DD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F4E91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L1 LightGBM</c:v>
                  </c:pt>
                  <c:pt idx="1">
                    <c:v>L2 CNN 단일</c:v>
                  </c:pt>
                  <c:pt idx="2">
                    <c:v>L2 CNN
3-seed 앙상블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86.44</c:v>
                </c:pt>
                <c:pt idx="1">
                  <c:v>90.98</c:v>
                </c:pt>
                <c:pt idx="2">
                  <c:v>91.49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1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12121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3"/>
          <c:min val="84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1616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212121"/>
                </a:solidFill>
                <a:latin typeface="맑은 고딕"/>
              </a:defRPr>
            </a:pPr>
            <a:r>
              <a:rPr sz="1100" b="0" i="0" u="none" strike="noStrike">
                <a:solidFill>
                  <a:srgbClr val="212121"/>
                </a:solidFill>
                <a:latin typeface="맑은 고딕"/>
              </a:rPr>
              <a:t>증상별 F1 (최종 앙상블, 공식 Val)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F1</c:v>
                </c:pt>
              </c:strCache>
            </c:strRef>
          </c:tx>
          <c:spPr>
            <a:solidFill>
              <a:srgbClr val="009DD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09DD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09DD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09DD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09DD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009DD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009DDA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E53935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E53935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E53935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열상</c:v>
                  </c:pt>
                  <c:pt idx="1">
                    <c:v>복통</c:v>
                  </c:pt>
                  <c:pt idx="2">
                    <c:v>고열</c:v>
                  </c:pt>
                  <c:pt idx="3">
                    <c:v>호흡곤란</c:v>
                  </c:pt>
                  <c:pt idx="4">
                    <c:v>어지러움</c:v>
                  </c:pt>
                  <c:pt idx="5">
                    <c:v>구토</c:v>
                  </c:pt>
                  <c:pt idx="6">
                    <c:v>전신쇠약</c:v>
                  </c:pt>
                  <c:pt idx="7">
                    <c:v>두통</c:v>
                  </c:pt>
                  <c:pt idx="8">
                    <c:v>오심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0.8828</c:v>
                </c:pt>
                <c:pt idx="1">
                  <c:v>0.8271</c:v>
                </c:pt>
                <c:pt idx="2">
                  <c:v>0.7001</c:v>
                </c:pt>
                <c:pt idx="3">
                  <c:v>0.6795</c:v>
                </c:pt>
                <c:pt idx="4">
                  <c:v>0.657</c:v>
                </c:pt>
                <c:pt idx="5">
                  <c:v>0.6088</c:v>
                </c:pt>
                <c:pt idx="6">
                  <c:v>0.5939</c:v>
                </c:pt>
                <c:pt idx="7">
                  <c:v>0.5315</c:v>
                </c:pt>
                <c:pt idx="8">
                  <c:v>0.4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12121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1616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Macro F1</c:v>
                </c:pt>
              </c:strCache>
            </c:strRef>
          </c:tx>
          <c:spPr>
            <a:solidFill>
              <a:srgbClr val="009DDA"/>
            </a:solidFill>
            <a:effectLst/>
          </c:spPr>
          <c:invertIfNegative val="0"/>
          <c:dLbls>
            <c:numFmt formatCode="0.000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09DD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F4E91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F4E91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BDBDBD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8BC34A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TF-IDF + LR (기준선)</c:v>
                  </c:pt>
                  <c:pt idx="1">
                    <c:v>KcBERT-005</c:v>
                  </c:pt>
                  <c:pt idx="2">
                    <c:v>RoBERTa-003</c:v>
                  </c:pt>
                  <c:pt idx="3">
                    <c:v>과거 3종 앙상블 (기각)</c:v>
                  </c:pt>
                  <c:pt idx="4">
                    <c:v>최종 RoBERTa×3 + TF-IDF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0.5689</c:v>
                </c:pt>
                <c:pt idx="1">
                  <c:v>0.6246</c:v>
                </c:pt>
                <c:pt idx="2">
                  <c:v>0.6433</c:v>
                </c:pt>
                <c:pt idx="3">
                  <c:v>0.651</c:v>
                </c:pt>
                <c:pt idx="4">
                  <c:v>0.6534</c:v>
                </c:pt>
              </c:numCache>
            </c:numRef>
          </c:val>
        </c:ser>
        <c:dLbls>
          <c:numFmt formatCode="0.0000" sourceLinked="0"/>
          <c:txPr>
            <a:bodyPr/>
            <a:lstStyle/>
            <a:p>
              <a:pPr>
                <a:defRPr b="1" i="0" strike="noStrike" sz="11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12121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68"/>
          <c:min val="0.5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1616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양성 라벨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E53935"/>
              </a:solidFill>
              <a:ln w="127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E0E0E0"/>
              </a:solidFill>
              <a:ln w="127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직접 표현 없음</c:v>
                </c:pt>
                <c:pt idx="1">
                  <c:v>직접 표현 있음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52</c:v>
                </c:pt>
                <c:pt idx="1">
                  <c:v>48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공식 템플릿(D+AICC PPT 대학부 템플릿.pptx) 슬라이드1 그대로. 이 장에는 글자를 추가하지 않음 — 프로젝트·팀 정보는 다음 장(2p)에서 제시.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프로젝트 타이틀. 공식 표지 바로 뒤에 배치해 제목·팀명을 보강.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원고 v2 구성 기준 목차 (데이터·규칙 장 삭제 후 20장).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GitHub eigensinn-dcc2026/step0 README의 W1~W6 로드맵, 팀원별 notebooks/·outputs/.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README.md 역할표, WORKFLOW.md(브랜치·PR 흐름), .github/workflows/(pr-ci, pr-verdict), docs/experiment_log.md, docs/decisions.md.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reports/eda/eda_report.md, reports/eda/figures/(gender_distribution, speaker_duration_buckets, symptom_prevalence), docs/experiment_log.md COM-EDA-001.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submission/mission1/README.md(구성·상태), docs/experiment_log.md M1-XVEC-002-OFFVAL(다중 구간 평균 x-vector), M1-REFIT-OFFVAL-001(전체 재학습 제출 모델 98.10%).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① 95.11% 기존 52D LR(M1-XVEC-001-OFFVAL 비교값, docs/decisions.md 2026-10-05) / ② 97.47% M1-XVEC-001-OFFVAL / ③ 98.13% M1-XVEC-002-OFFVAL(사전 고정 기준 97.77% 충족) / ④ 98.10% M1-REFIT-OFFVAL-001. 주의 박스: M1-XVEC-002(2차) 내부 +0.34%p로 기준 +0.4%p 미달 → 기각.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LightGBM vs LR — docs/decisions.md 2026-10-05 / RBF-SVM — M1-HEAD-001 / ECAPA — M1-ECAPA-001(3차)·M1-ECAPA-002 / 확률 평균 — M1-FUSE-001, M1-FUSE-001-OFFVAL(98.30%, 사전 고정 기준 98.434% 미달, McNemar p=0.345).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submission/mission1/README.md — 공식 Validation 3,640건 98.10%, 여성 recall 98.26%, 남성 recall 97.92%. docs/experiment_log.md M1-REFIT-OFFVAL-001(단일 seed).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submission/mission2/README.md, docs/experiment_log.md M2-RERUN-001·M2-ENS-003·M2-RETRAIN-001. 제약은 출제문제·주최측 Q&amp;A(2026.09.15), 추론 방식은 submission/mission2/README.md '추론' 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L1 86.44%(M2-RETRAIN-001, 제공 라벨 재학습 L1) / CNN 단일 90.98%(M2-ENS-003 ts1) / 3-seed 앙상블 91.49%(M2-RERUN-001, submission/mission2/README.md). 겹침 구간: M2-COMPARE-002 — 겹침 L1 81.83%→L2 88.88%(+7.05%p), 안 겹침 90.01%→92.44%(+2.43%p), L2 단일 모델 기준. 패딩: M2-PAD-001(발화별 300프레임 채우기), M2-VAL-005, M2-PAD-002.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통화 단위 특징 M2-EXP-008 / 제공 라벨 재학습 M2-RETRAIN-001 / 확률 평균 M2-ENS-001 / 더 큰 CNN M2-CNN-008, 패딩 제외 풀링 M2-CNN-009, 길이 입력 M2-CNN-004·006, Mixup M2-MIX-001 / WavLM 고정 임베딩 M2-SSL-001, 기본 미세조정 M2-SSL-002 / WavLM 미세조정(3초 창·겹침 증강) M2-SSL-003. 모두 docs/experiment_log.md·docs/decisions.md.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submission/mission2/README.md '결과와 계산 효율성' 표(91.49%, 대원 recall 87.15%, 신고자 recall 95.51%). 재현성: M2-RERUN-001(원본부터 재학습 91.49%) vs M2-ENS-003(이전 앙상블 91.55%).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submission/mission3/README.md '모델' 절, docs/decisions.md M3-FINAL-002. 파이프라인·'왜' 문구는 이수빈 님 PR #200(subin/ppt-m3-storytelling-20261013)에서 가져옴.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submission/mission3/README.md 결과 표(seed 42·43·44 0.6479/0.6441/0.6445, 앙상블 0.6534, Micro 0.6690, 빈 예측 149). 개선 흐름: M3-OFFVAL-001(TF-IDF 0.5689, KcBERT 0.6246), M3-OFFVAL-002(RoBERTa-large 0.6433), M3-FINAL-002(앙상블 0.6534). 증상별 약점: M3-FINAL-002(오심·두통·전신쇠약 F1이 가장 낮음).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docs/decisions.md (M3-FINAL-002, 2026-10-11), submission/mission3/README.md, docs/experiment_log.md M3-ENS-001(과거 결합 기각)·M3-ERR-001(양성 라벨 약 52% 근거 없음, 오심 89%·전신쇠약 76%, 두 모델 모두 놓친 양성의 92%가 근거 없는 라벨, 근거 있는 라벨 약 90% 적중), reports/mission3/error_analysis/README.md. '근거 없음'은 키워드 정규식 기준이다. 직접 표기되지 않는 증상도 있을 수 있어 라벨 오류라고 단정하면 안 된다(이수빈 님 PR #200 문구).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submission/mission1/README.md(98.10%), submission/mission2/README.md, docs/experiment_log.md M2-RERUN-001·M2-ENS-003·M2-RETRAIN-001, submission/mission3/README.md(0.6534). baseline: M1 95.11%(52D LR, docs/decisions.md 2026-10-05), M2 86.44%(L1 LightGBM, M2-RETRAIN-001), M3 0.5689(TF-IDF, M3-OFFVAL-001).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출제문제 12쪽 필수 항목 '사회안전 시사점'은 이 장 한 곳에만 둔다(미션별 장에는 넣지 않음). 향후 계획 근거: M1 — 10장 후속 과제, M2 — docs/experiment_log.md M2-SSL-003, M3 — M3-ERR-001·M3-FINAL-002.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공식 템플릿(슬라이드4) 그대로. 흰 여백(약 2.1~2.9in)에만 팀 정보를 얹음 — 배너 그래픽은 건드리지 않음.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5" Type="http://schemas.openxmlformats.org/officeDocument/2006/relationships/chart" Target="/ppt/charts/chart1.xml"/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6" Type="http://schemas.openxmlformats.org/officeDocument/2006/relationships/image" Target="../media/image-6-5.png"/><Relationship Id="rId7" Type="http://schemas.openxmlformats.org/officeDocument/2006/relationships/image" Target="../media/image-6-6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gif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3.xml"/><Relationship Id="rId1" Type="http://schemas.openxmlformats.org/officeDocument/2006/relationships/image" Target="../media/image-12-1.png"/><Relationship Id="rId3" Type="http://schemas.openxmlformats.org/officeDocument/2006/relationships/image" Target="../media/image-12-2.gif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image" Target="../media/image-15-9.png"/><Relationship Id="rId10" Type="http://schemas.openxmlformats.org/officeDocument/2006/relationships/image" Target="../media/image-15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1" Type="http://schemas.openxmlformats.org/officeDocument/2006/relationships/image" Target="../media/image-1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5.xml"/><Relationship Id="rId3" Type="http://schemas.openxmlformats.org/officeDocument/2006/relationships/chart" Target="/ppt/charts/chart6.xml"/><Relationship Id="rId1" Type="http://schemas.openxmlformats.org/officeDocument/2006/relationships/image" Target="../media/image-17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gif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cov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90008" y="914400"/>
            <a:ext cx="2011680" cy="365760"/>
          </a:xfrm>
          <a:prstGeom prst="roundRect">
            <a:avLst>
              <a:gd name="adj" fmla="val 20000"/>
            </a:avLst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5090008" y="9144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대학부 예선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37160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 데이터+AI 크리에이터 캠프  |  결과 정리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874520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전화대화 음성 및 전사 데이터를 이용한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377440"/>
            <a:ext cx="112772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응급상황 인식</a:t>
            </a:r>
            <a:endParaRPr lang="en-US" sz="4400" dirty="0"/>
          </a:p>
        </p:txBody>
      </p:sp>
      <p:pic>
        <p:nvPicPr>
          <p:cNvPr id="8" name="Image 1" descr="figures/canva/hero_call_flow_cro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5794" y="3703320"/>
            <a:ext cx="4960106" cy="18745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57200" y="320040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1~3 수행 결과 정리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169768" y="5715000"/>
            <a:ext cx="585216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3169768" y="5715000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 eigensinn</a:t>
            </a:r>
            <a:pPr algn="ctr"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김장수 · 김광희 · 지연우 · 이수빈 · 조지은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8076895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제출일 2026. 10. 14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826618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목차</a:t>
            </a:r>
            <a:endParaRPr lang="en-US" sz="28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920240"/>
            <a:ext cx="26135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DCE3E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9600" dirty="0"/>
          </a:p>
        </p:txBody>
      </p:sp>
      <p:pic>
        <p:nvPicPr>
          <p:cNvPr id="5" name="Image 1" descr="figures/icons/sec_pre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2104" y="2011680"/>
            <a:ext cx="640080" cy="64008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2880360"/>
            <a:ext cx="2522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준비 과정</a:t>
            </a:r>
            <a:endParaRPr lang="en-US" sz="2200" dirty="0"/>
          </a:p>
        </p:txBody>
      </p:sp>
      <p:sp>
        <p:nvSpPr>
          <p:cNvPr id="7" name="Shape 3"/>
          <p:cNvSpPr/>
          <p:nvPr/>
        </p:nvSpPr>
        <p:spPr>
          <a:xfrm>
            <a:off x="548640" y="3520440"/>
            <a:ext cx="2339264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548640" y="3703320"/>
            <a:ext cx="2522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사전 학습 로드맵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팀 구성과 협업 체계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3345104" y="1920240"/>
            <a:ext cx="26135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DCE3E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9600" dirty="0"/>
          </a:p>
        </p:txBody>
      </p:sp>
      <p:pic>
        <p:nvPicPr>
          <p:cNvPr id="10" name="Image 2" descr="figures/icons/sec_dat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0008" y="2011680"/>
            <a:ext cx="640080" cy="64008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3436544" y="2880360"/>
            <a:ext cx="2522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분석</a:t>
            </a:r>
            <a:endParaRPr lang="en-US" sz="2200" dirty="0"/>
          </a:p>
        </p:txBody>
      </p:sp>
      <p:sp>
        <p:nvSpPr>
          <p:cNvPr id="12" name="Shape 7"/>
          <p:cNvSpPr/>
          <p:nvPr/>
        </p:nvSpPr>
        <p:spPr>
          <a:xfrm>
            <a:off x="3436544" y="3520440"/>
            <a:ext cx="2339264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3436544" y="3703320"/>
            <a:ext cx="2522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EDA 핵심 발견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6233008" y="1920240"/>
            <a:ext cx="26135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DCE3E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9600" dirty="0"/>
          </a:p>
        </p:txBody>
      </p:sp>
      <p:pic>
        <p:nvPicPr>
          <p:cNvPr id="15" name="Image 3" descr="figures/icons/sec_missio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77911" y="2011680"/>
            <a:ext cx="640080" cy="64008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6324448" y="2880360"/>
            <a:ext cx="2522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미션별 수행</a:t>
            </a:r>
            <a:endParaRPr lang="en-US" sz="2200" dirty="0"/>
          </a:p>
        </p:txBody>
      </p:sp>
      <p:sp>
        <p:nvSpPr>
          <p:cNvPr id="17" name="Shape 11"/>
          <p:cNvSpPr/>
          <p:nvPr/>
        </p:nvSpPr>
        <p:spPr>
          <a:xfrm>
            <a:off x="6324448" y="3520440"/>
            <a:ext cx="2339264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6324448" y="3703320"/>
            <a:ext cx="2522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Mission 1  신고자 성별 분류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Mission 2  신고자/대원 분류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Mission 3  환자 증상 인식</a:t>
            </a:r>
            <a:endParaRPr lang="en-US" sz="1400" dirty="0"/>
          </a:p>
        </p:txBody>
      </p:sp>
      <p:sp>
        <p:nvSpPr>
          <p:cNvPr id="19" name="Text 13"/>
          <p:cNvSpPr txBox="1"/>
          <p:nvPr/>
        </p:nvSpPr>
        <p:spPr>
          <a:xfrm>
            <a:off x="9120911" y="1920240"/>
            <a:ext cx="26135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DCE3E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9600" dirty="0"/>
          </a:p>
        </p:txBody>
      </p:sp>
      <p:pic>
        <p:nvPicPr>
          <p:cNvPr id="20" name="Image 4" descr="figures/icons/sec_wrap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65815" y="2011680"/>
            <a:ext cx="640080" cy="64008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9212351" y="2880360"/>
            <a:ext cx="2522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종합 및 시사점</a:t>
            </a:r>
            <a:endParaRPr lang="en-US" sz="2200" dirty="0"/>
          </a:p>
        </p:txBody>
      </p:sp>
      <p:sp>
        <p:nvSpPr>
          <p:cNvPr id="22" name="Shape 15"/>
          <p:cNvSpPr/>
          <p:nvPr/>
        </p:nvSpPr>
        <p:spPr>
          <a:xfrm>
            <a:off x="9212351" y="3520440"/>
            <a:ext cx="2339264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23" name="Text 16"/>
          <p:cNvSpPr txBox="1"/>
          <p:nvPr/>
        </p:nvSpPr>
        <p:spPr>
          <a:xfrm>
            <a:off x="9212351" y="3703320"/>
            <a:ext cx="2522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성능 요약과 교훈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사회안전 시사점과 향후 계획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 준비 과정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4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(1) 발대식 전 사전 학습 로드맵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 보는 데이터로도  QA → Baseline → 검증 → 통제 실험 → 제출  흐름을 끝까지 돌 수 있도록 대회 전에 미리 연습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57200" y="2331720"/>
            <a:ext cx="1627632" cy="1920240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7200" y="2331720"/>
            <a:ext cx="1627632" cy="457200"/>
          </a:xfrm>
          <a:prstGeom prst="roundRect">
            <a:avLst>
              <a:gd name="adj" fmla="val 20000"/>
            </a:avLst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57200" y="2606040"/>
            <a:ext cx="1627632" cy="182880"/>
          </a:xfrm>
          <a:prstGeom prst="rect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7200" y="233172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W1  기초</a:t>
            </a:r>
            <a:endParaRPr lang="en-US" sz="1400" dirty="0"/>
          </a:p>
        </p:txBody>
      </p:sp>
      <p:pic>
        <p:nvPicPr>
          <p:cNvPr id="13" name="Image 1" descr="figures/icons/w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" y="2953512"/>
            <a:ext cx="585216" cy="585216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566928" y="3611880"/>
            <a:ext cx="1408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Python·pandas</a:t>
            </a:r>
            <a:endParaRPr lang="en-US" sz="115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타이타닉 EDA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2126254" y="3118104"/>
            <a:ext cx="219456" cy="347472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387133" y="2331720"/>
            <a:ext cx="1627632" cy="1920240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2387133" y="2331720"/>
            <a:ext cx="1627632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2387133" y="2606040"/>
            <a:ext cx="1627632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2387133" y="233172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W2  Baseline</a:t>
            </a:r>
            <a:endParaRPr lang="en-US" sz="1400" dirty="0"/>
          </a:p>
        </p:txBody>
      </p:sp>
      <p:pic>
        <p:nvPicPr>
          <p:cNvPr id="20" name="Image 2" descr="figures/icons/w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8341" y="2953512"/>
            <a:ext cx="585216" cy="585216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2496861" y="3611880"/>
            <a:ext cx="1408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모델 학습</a:t>
            </a:r>
            <a:endParaRPr lang="en-US" sz="115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 로그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4056187" y="3118104"/>
            <a:ext cx="219456" cy="347472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4317065" y="2331720"/>
            <a:ext cx="1627632" cy="1920240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4317065" y="2331720"/>
            <a:ext cx="1627632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4317065" y="2606040"/>
            <a:ext cx="1627632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4317065" y="233172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W3  데이터 QA</a:t>
            </a:r>
            <a:endParaRPr lang="en-US" sz="1400" dirty="0"/>
          </a:p>
        </p:txBody>
      </p:sp>
      <p:pic>
        <p:nvPicPr>
          <p:cNvPr id="27" name="Image 3" descr="figures/icons/w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38273" y="2953512"/>
            <a:ext cx="585216" cy="585216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4426793" y="3611880"/>
            <a:ext cx="1408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CIFAR-10</a:t>
            </a:r>
            <a:endParaRPr lang="en-US" sz="115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누락·중복 점검</a:t>
            </a:r>
            <a:endParaRPr lang="en-US" sz="1150" dirty="0"/>
          </a:p>
        </p:txBody>
      </p:sp>
      <p:sp>
        <p:nvSpPr>
          <p:cNvPr id="29" name="Shape 23"/>
          <p:cNvSpPr/>
          <p:nvPr/>
        </p:nvSpPr>
        <p:spPr>
          <a:xfrm>
            <a:off x="5986120" y="3118104"/>
            <a:ext cx="219456" cy="347472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0" name="Shape 24"/>
          <p:cNvSpPr/>
          <p:nvPr/>
        </p:nvSpPr>
        <p:spPr>
          <a:xfrm>
            <a:off x="6246998" y="2331720"/>
            <a:ext cx="1627632" cy="1920240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5"/>
          <p:cNvSpPr/>
          <p:nvPr/>
        </p:nvSpPr>
        <p:spPr>
          <a:xfrm>
            <a:off x="6246998" y="2331720"/>
            <a:ext cx="1627632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2" name="Shape 26"/>
          <p:cNvSpPr/>
          <p:nvPr/>
        </p:nvSpPr>
        <p:spPr>
          <a:xfrm>
            <a:off x="6246998" y="2606040"/>
            <a:ext cx="1627632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6246998" y="233172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W4  통제 실험</a:t>
            </a:r>
            <a:endParaRPr lang="en-US" sz="1400" dirty="0"/>
          </a:p>
        </p:txBody>
      </p:sp>
      <p:pic>
        <p:nvPicPr>
          <p:cNvPr id="34" name="Image 4" descr="figures/icons/w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8206" y="2953512"/>
            <a:ext cx="585216" cy="585216"/>
          </a:xfrm>
          <a:prstGeom prst="rect">
            <a:avLst/>
          </a:prstGeom>
        </p:spPr>
      </p:pic>
      <p:sp>
        <p:nvSpPr>
          <p:cNvPr id="35" name="Text 28"/>
          <p:cNvSpPr txBox="1"/>
          <p:nvPr/>
        </p:nvSpPr>
        <p:spPr>
          <a:xfrm>
            <a:off x="6356726" y="3611880"/>
            <a:ext cx="1408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baseline 감사</a:t>
            </a:r>
            <a:endParaRPr lang="en-US" sz="115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변수 하나씩</a:t>
            </a:r>
            <a:endParaRPr lang="en-US" sz="1150" dirty="0"/>
          </a:p>
        </p:txBody>
      </p:sp>
      <p:sp>
        <p:nvSpPr>
          <p:cNvPr id="36" name="Shape 29"/>
          <p:cNvSpPr/>
          <p:nvPr/>
        </p:nvSpPr>
        <p:spPr>
          <a:xfrm>
            <a:off x="7916052" y="3118104"/>
            <a:ext cx="219456" cy="347472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7" name="Shape 30"/>
          <p:cNvSpPr/>
          <p:nvPr/>
        </p:nvSpPr>
        <p:spPr>
          <a:xfrm>
            <a:off x="8176931" y="2331720"/>
            <a:ext cx="1627632" cy="1920240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8" name="Shape 31"/>
          <p:cNvSpPr/>
          <p:nvPr/>
        </p:nvSpPr>
        <p:spPr>
          <a:xfrm>
            <a:off x="8176931" y="2331720"/>
            <a:ext cx="1627632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9" name="Shape 32"/>
          <p:cNvSpPr/>
          <p:nvPr/>
        </p:nvSpPr>
        <p:spPr>
          <a:xfrm>
            <a:off x="8176931" y="2606040"/>
            <a:ext cx="1627632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8176931" y="233172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W5  데이터 정제</a:t>
            </a:r>
            <a:endParaRPr lang="en-US" sz="1400" dirty="0"/>
          </a:p>
        </p:txBody>
      </p:sp>
      <p:pic>
        <p:nvPicPr>
          <p:cNvPr id="41" name="Image 5" descr="figures/icons/w5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98139" y="2953512"/>
            <a:ext cx="585216" cy="585216"/>
          </a:xfrm>
          <a:prstGeom prst="rect">
            <a:avLst/>
          </a:prstGeom>
        </p:spPr>
      </p:pic>
      <p:sp>
        <p:nvSpPr>
          <p:cNvPr id="42" name="Text 34"/>
          <p:cNvSpPr txBox="1"/>
          <p:nvPr/>
        </p:nvSpPr>
        <p:spPr>
          <a:xfrm>
            <a:off x="8286659" y="3611880"/>
            <a:ext cx="1408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이상치 점수</a:t>
            </a:r>
            <a:endParaRPr lang="en-US" sz="115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 사전 고정</a:t>
            </a:r>
            <a:endParaRPr lang="en-US" sz="1150" dirty="0"/>
          </a:p>
        </p:txBody>
      </p:sp>
      <p:sp>
        <p:nvSpPr>
          <p:cNvPr id="43" name="Shape 35"/>
          <p:cNvSpPr/>
          <p:nvPr/>
        </p:nvSpPr>
        <p:spPr>
          <a:xfrm>
            <a:off x="9845985" y="3118104"/>
            <a:ext cx="219456" cy="347472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44" name="Shape 36"/>
          <p:cNvSpPr/>
          <p:nvPr/>
        </p:nvSpPr>
        <p:spPr>
          <a:xfrm>
            <a:off x="10106863" y="2331720"/>
            <a:ext cx="1627632" cy="1920240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45" name="Shape 37"/>
          <p:cNvSpPr/>
          <p:nvPr/>
        </p:nvSpPr>
        <p:spPr>
          <a:xfrm>
            <a:off x="10106863" y="2331720"/>
            <a:ext cx="1627632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46" name="Shape 38"/>
          <p:cNvSpPr/>
          <p:nvPr/>
        </p:nvSpPr>
        <p:spPr>
          <a:xfrm>
            <a:off x="10106863" y="2606040"/>
            <a:ext cx="1627632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47" name="Text 39"/>
          <p:cNvSpPr txBox="1"/>
          <p:nvPr/>
        </p:nvSpPr>
        <p:spPr>
          <a:xfrm>
            <a:off x="10106863" y="233172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W6  제출 연습</a:t>
            </a:r>
            <a:endParaRPr lang="en-US" sz="1400" dirty="0"/>
          </a:p>
        </p:txBody>
      </p:sp>
      <p:pic>
        <p:nvPicPr>
          <p:cNvPr id="48" name="Image 6" descr="figures/icons/w6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28071" y="2953512"/>
            <a:ext cx="585216" cy="585216"/>
          </a:xfrm>
          <a:prstGeom prst="rect">
            <a:avLst/>
          </a:prstGeom>
        </p:spPr>
      </p:pic>
      <p:sp>
        <p:nvSpPr>
          <p:cNvPr id="49" name="Text 40"/>
          <p:cNvSpPr txBox="1"/>
          <p:nvPr/>
        </p:nvSpPr>
        <p:spPr>
          <a:xfrm>
            <a:off x="10216591" y="3611880"/>
            <a:ext cx="1408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제출 패키지</a:t>
            </a:r>
            <a:endParaRPr lang="en-US" sz="115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채점 스크립트</a:t>
            </a:r>
            <a:endParaRPr lang="en-US" sz="1150" dirty="0"/>
          </a:p>
        </p:txBody>
      </p:sp>
      <p:sp>
        <p:nvSpPr>
          <p:cNvPr id="50" name="Shape 41"/>
          <p:cNvSpPr/>
          <p:nvPr/>
        </p:nvSpPr>
        <p:spPr>
          <a:xfrm>
            <a:off x="457200" y="4572000"/>
            <a:ext cx="11277295" cy="1188720"/>
          </a:xfrm>
          <a:prstGeom prst="roundRect">
            <a:avLst>
              <a:gd name="adj" fmla="val 7692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51" name="Text 42"/>
          <p:cNvSpPr txBox="1"/>
          <p:nvPr/>
        </p:nvSpPr>
        <p:spPr>
          <a:xfrm>
            <a:off x="594360" y="4572000"/>
            <a:ext cx="365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52" name="Text 43"/>
          <p:cNvSpPr txBox="1"/>
          <p:nvPr/>
        </p:nvSpPr>
        <p:spPr>
          <a:xfrm>
            <a:off x="1005840" y="4572000"/>
            <a:ext cx="1059149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예선에 그대로 가져온 습관 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점검이 모델보다 먼저  ·  실험마다 ID·로그  ·  변수는 하나씩  ·  기준은 결과 보기 전에 고정</a:t>
            </a:r>
            <a:endParaRPr lang="en-US" sz="1300" dirty="0"/>
          </a:p>
        </p:txBody>
      </p:sp>
      <p:sp>
        <p:nvSpPr>
          <p:cNvPr id="53" name="Text 44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GitHub eigensinn-dcc2026/step0 (2026.07.14 ~ 08.23), 팀원별 notebooks/ 및 outputs/ 실습 산출물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 준비 과정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5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(2) 팀 구성과 협업 체계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5명이 한 저장소에서 충돌 없이 일하도록 규칙·자동 검사·기록 체계를 먼저 만들고 미션에 들어갔다.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22402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역할 분담</a:t>
            </a:r>
            <a:endParaRPr lang="en-US" sz="1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697480"/>
          <a:ext cx="91440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3383280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팀원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예선 담당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김장수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Mission 1 · 2 · 3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김광희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Mission 2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지연우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Mission 2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이수빈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Mission 3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조지은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Mission 3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6035040" y="2240280"/>
            <a:ext cx="5699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GitHub 작업 흐름</a:t>
            </a:r>
            <a:endParaRPr lang="en-US" sz="1800" dirty="0"/>
          </a:p>
        </p:txBody>
      </p:sp>
      <p:sp>
        <p:nvSpPr>
          <p:cNvPr id="12" name="Shape 8"/>
          <p:cNvSpPr/>
          <p:nvPr/>
        </p:nvSpPr>
        <p:spPr>
          <a:xfrm>
            <a:off x="6035040" y="2697480"/>
            <a:ext cx="960120" cy="914400"/>
          </a:xfrm>
          <a:prstGeom prst="roundRect">
            <a:avLst>
              <a:gd name="adj" fmla="val 10000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035040" y="2697480"/>
            <a:ext cx="960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main에서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브랜치 생성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7043509" y="3017520"/>
            <a:ext cx="128016" cy="27432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219874" y="2697480"/>
            <a:ext cx="960120" cy="914400"/>
          </a:xfrm>
          <a:prstGeom prst="roundRect">
            <a:avLst>
              <a:gd name="adj" fmla="val 10000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219874" y="2697480"/>
            <a:ext cx="960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실험·코드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작성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8228343" y="3017520"/>
            <a:ext cx="128016" cy="27432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8404708" y="2697480"/>
            <a:ext cx="960120" cy="914400"/>
          </a:xfrm>
          <a:prstGeom prst="roundRect">
            <a:avLst>
              <a:gd name="adj" fmla="val 10000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8404708" y="2697480"/>
            <a:ext cx="960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 작성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(템플릿)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9413177" y="3017520"/>
            <a:ext cx="128016" cy="27432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9589541" y="2697480"/>
            <a:ext cx="960120" cy="914400"/>
          </a:xfrm>
          <a:prstGeom prst="roundRect">
            <a:avLst>
              <a:gd name="adj" fmla="val 1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9589541" y="2697480"/>
            <a:ext cx="960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검사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(CI·병합 판정)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10598010" y="3017520"/>
            <a:ext cx="128016" cy="27432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10774375" y="2697480"/>
            <a:ext cx="960120" cy="914400"/>
          </a:xfrm>
          <a:prstGeom prst="roundRect">
            <a:avLst>
              <a:gd name="adj" fmla="val 10000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10774375" y="2697480"/>
            <a:ext cx="960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팀원 리뷰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후 병합</a:t>
            </a:r>
            <a:endParaRPr lang="en-US" sz="1100" dirty="0"/>
          </a:p>
        </p:txBody>
      </p:sp>
      <p:sp>
        <p:nvSpPr>
          <p:cNvPr id="26" name="Text 22"/>
          <p:cNvSpPr txBox="1"/>
          <p:nvPr/>
        </p:nvSpPr>
        <p:spPr>
          <a:xfrm>
            <a:off x="6035040" y="3931920"/>
            <a:ext cx="5699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기록 체계</a:t>
            </a:r>
            <a:endParaRPr lang="en-US" sz="1800" dirty="0"/>
          </a:p>
        </p:txBody>
      </p:sp>
      <p:sp>
        <p:nvSpPr>
          <p:cNvPr id="27" name="Shape 23"/>
          <p:cNvSpPr/>
          <p:nvPr/>
        </p:nvSpPr>
        <p:spPr>
          <a:xfrm>
            <a:off x="6035040" y="4389120"/>
            <a:ext cx="2712568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8" name="Text 24"/>
          <p:cNvSpPr txBox="1"/>
          <p:nvPr/>
        </p:nvSpPr>
        <p:spPr>
          <a:xfrm>
            <a:off x="6217920" y="4526280"/>
            <a:ext cx="2346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docs/experiment_log.md</a:t>
            </a:r>
            <a:endParaRPr lang="en-US" sz="1100" dirty="0"/>
          </a:p>
        </p:txBody>
      </p:sp>
      <p:sp>
        <p:nvSpPr>
          <p:cNvPr id="29" name="Text 25"/>
          <p:cNvSpPr txBox="1"/>
          <p:nvPr/>
        </p:nvSpPr>
        <p:spPr>
          <a:xfrm>
            <a:off x="6217920" y="4846320"/>
            <a:ext cx="23468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 기록</a:t>
            </a:r>
            <a:endParaRPr lang="en-US" sz="1800" dirty="0"/>
          </a:p>
        </p:txBody>
      </p:sp>
      <p:sp>
        <p:nvSpPr>
          <p:cNvPr id="30" name="Text 26"/>
          <p:cNvSpPr txBox="1"/>
          <p:nvPr/>
        </p:nvSpPr>
        <p:spPr>
          <a:xfrm>
            <a:off x="6217920" y="5303520"/>
            <a:ext cx="2346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했고 결과는?</a:t>
            </a:r>
            <a:endParaRPr lang="en-US" sz="1300" dirty="0"/>
          </a:p>
        </p:txBody>
      </p:sp>
      <p:sp>
        <p:nvSpPr>
          <p:cNvPr id="31" name="Shape 27"/>
          <p:cNvSpPr/>
          <p:nvPr/>
        </p:nvSpPr>
        <p:spPr>
          <a:xfrm>
            <a:off x="9021928" y="4389120"/>
            <a:ext cx="2712568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2" name="Text 28"/>
          <p:cNvSpPr txBox="1"/>
          <p:nvPr/>
        </p:nvSpPr>
        <p:spPr>
          <a:xfrm>
            <a:off x="9204808" y="4526280"/>
            <a:ext cx="2346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docs/decisions.md</a:t>
            </a:r>
            <a:endParaRPr lang="en-US" sz="1100" dirty="0"/>
          </a:p>
        </p:txBody>
      </p:sp>
      <p:sp>
        <p:nvSpPr>
          <p:cNvPr id="33" name="Text 29"/>
          <p:cNvSpPr txBox="1"/>
          <p:nvPr/>
        </p:nvSpPr>
        <p:spPr>
          <a:xfrm>
            <a:off x="9204808" y="4846320"/>
            <a:ext cx="23468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결정 기록</a:t>
            </a:r>
            <a:endParaRPr lang="en-US" sz="1800" dirty="0"/>
          </a:p>
        </p:txBody>
      </p:sp>
      <p:sp>
        <p:nvSpPr>
          <p:cNvPr id="34" name="Text 30"/>
          <p:cNvSpPr txBox="1"/>
          <p:nvPr/>
        </p:nvSpPr>
        <p:spPr>
          <a:xfrm>
            <a:off x="9204808" y="5303520"/>
            <a:ext cx="2346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채택·기각했나? 기각도 기록</a:t>
            </a:r>
            <a:endParaRPr lang="en-US" sz="1300" dirty="0"/>
          </a:p>
        </p:txBody>
      </p:sp>
      <p:sp>
        <p:nvSpPr>
          <p:cNvPr id="35" name="Text 31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GitHub eigensinn-dcc2026/prelim — README.md(역할), WORKFLOW.md, .github/workflows (pr-ci, pr-verdict), docs/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 데이터 분석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6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EDA 핵심 발견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미션 모두 "쉬운 단서 하나"로는 풀리지 않는다. 이 발견이 미션별 모델 선택의 출발점이다.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3576218" cy="4023360"/>
          </a:xfrm>
          <a:prstGeom prst="roundRect">
            <a:avLst>
              <a:gd name="adj" fmla="val 255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pic>
        <p:nvPicPr>
          <p:cNvPr id="10" name="Image 1" descr="figures/icons/m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7618" y="2304288"/>
            <a:ext cx="411480" cy="41148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40080" y="2340864"/>
            <a:ext cx="257037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M1 성별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640080" y="2724912"/>
            <a:ext cx="3210458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pic>
        <p:nvPicPr>
          <p:cNvPr id="13" name="Image 2" descr="figures/gender_distribution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13232" y="2798064"/>
            <a:ext cx="3064154" cy="2231136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40080" y="5193792"/>
            <a:ext cx="321045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발견 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성별 비율은 균형. 길이·음량 같은 요약 특징으로는 성별이 거의 안 갈림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 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음색을 담는 화자 임베딩(x-vector)</a:t>
            </a:r>
            <a:endParaRPr 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4307738" y="2240280"/>
            <a:ext cx="3576218" cy="4023360"/>
          </a:xfrm>
          <a:prstGeom prst="roundRect">
            <a:avLst>
              <a:gd name="adj" fmla="val 255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pic>
        <p:nvPicPr>
          <p:cNvPr id="16" name="Image 3" descr="figures/icons/m2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98157" y="2304288"/>
            <a:ext cx="411480" cy="41148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4490618" y="2340864"/>
            <a:ext cx="257037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M2 화자</a:t>
            </a:r>
            <a:endParaRPr lang="en-US" sz="1500" dirty="0"/>
          </a:p>
        </p:txBody>
      </p:sp>
      <p:sp>
        <p:nvSpPr>
          <p:cNvPr id="18" name="Shape 12"/>
          <p:cNvSpPr/>
          <p:nvPr/>
        </p:nvSpPr>
        <p:spPr>
          <a:xfrm>
            <a:off x="4490618" y="2724912"/>
            <a:ext cx="3210458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graphicFrame>
        <p:nvGraphicFramePr>
          <p:cNvPr id="19" name="Chart 0" descr=""/>
          <p:cNvGraphicFramePr/>
          <p:nvPr/>
        </p:nvGraphicFramePr>
        <p:xfrm>
          <a:off x="4536338" y="2761488"/>
          <a:ext cx="3119018" cy="230428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20" name="Text 13"/>
          <p:cNvSpPr txBox="1"/>
          <p:nvPr/>
        </p:nvSpPr>
        <p:spPr>
          <a:xfrm>
            <a:off x="4490618" y="5193792"/>
            <a:ext cx="321045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발견 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통화의 98%에 겹침이 있지만 시간은 중앙값 3.8%. 길이만으로는 구분이 어려움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 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 모양 전체를 보는 CNN</a:t>
            </a:r>
            <a:endParaRPr lang="en-US" sz="1150" dirty="0"/>
          </a:p>
        </p:txBody>
      </p:sp>
      <p:sp>
        <p:nvSpPr>
          <p:cNvPr id="21" name="Shape 14"/>
          <p:cNvSpPr/>
          <p:nvPr/>
        </p:nvSpPr>
        <p:spPr>
          <a:xfrm>
            <a:off x="8158277" y="2240280"/>
            <a:ext cx="3576218" cy="4023360"/>
          </a:xfrm>
          <a:prstGeom prst="roundRect">
            <a:avLst>
              <a:gd name="adj" fmla="val 255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pic>
        <p:nvPicPr>
          <p:cNvPr id="22" name="Image 4" descr="figures/icons/m3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48695" y="2304288"/>
            <a:ext cx="411480" cy="411480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8341157" y="2340864"/>
            <a:ext cx="257037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M3 증상</a:t>
            </a:r>
            <a:endParaRPr lang="en-US" sz="1500" dirty="0"/>
          </a:p>
        </p:txBody>
      </p:sp>
      <p:sp>
        <p:nvSpPr>
          <p:cNvPr id="24" name="Shape 16"/>
          <p:cNvSpPr/>
          <p:nvPr/>
        </p:nvSpPr>
        <p:spPr>
          <a:xfrm>
            <a:off x="8341157" y="2724912"/>
            <a:ext cx="3210458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pic>
        <p:nvPicPr>
          <p:cNvPr id="25" name="Image 5" descr="figures/symptom_prevalence.pn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8414309" y="2798064"/>
            <a:ext cx="3064154" cy="2231136"/>
          </a:xfrm>
          <a:prstGeom prst="rect">
            <a:avLst/>
          </a:prstGeom>
        </p:spPr>
      </p:pic>
      <p:sp>
        <p:nvSpPr>
          <p:cNvPr id="26" name="Text 17"/>
          <p:cNvSpPr txBox="1"/>
          <p:nvPr/>
        </p:nvSpPr>
        <p:spPr>
          <a:xfrm>
            <a:off x="8341157" y="5193792"/>
            <a:ext cx="321045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발견 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통화 중 하나는 증상이 2개 이상. 증상별 빈도 차이가 큼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 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증상 9개를 각각 0/1로 푸는 다중 레이블</a:t>
            </a:r>
            <a:endParaRPr lang="en-US" sz="1150" dirty="0"/>
          </a:p>
        </p:txBody>
      </p:sp>
      <p:sp>
        <p:nvSpPr>
          <p:cNvPr id="27" name="Text 18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reports/eda/eda_report.md (M2 겹침: 7.2절 Training), reports/eda/figures/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7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1  신고자 성별 분류 — 문제와 최종 모델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음향 특징 + 화자 임베딩 → 로지스틱 회귀. 공식 Validation Accuracy 98.10%.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2240280"/>
            <a:ext cx="8275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문제   </a:t>
            </a:r>
            <a:pPr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신고자 발화 음성 → 성별(F/M)   ·   지표 Accuracy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457200" y="2697480"/>
            <a:ext cx="1371600" cy="1554480"/>
          </a:xfrm>
          <a:prstGeom prst="roundRect">
            <a:avLst>
              <a:gd name="adj" fmla="val 5333"/>
            </a:avLst>
          </a:prstGeom>
          <a:solidFill>
            <a:srgbClr val="EAF3F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12064" y="2697480"/>
            <a:ext cx="126187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신고자 구간</a:t>
            </a:r>
            <a:endParaRPr lang="en-US" sz="14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신고자 발화만</a:t>
            </a:r>
            <a:endParaRPr lang="en-US" sz="14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잘라내기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2346960" y="2697480"/>
            <a:ext cx="2331720" cy="713232"/>
          </a:xfrm>
          <a:prstGeom prst="roundRect">
            <a:avLst>
              <a:gd name="adj" fmla="val 10256"/>
            </a:avLst>
          </a:prstGeom>
          <a:solidFill>
            <a:srgbClr val="EAF3F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401824" y="2697480"/>
            <a:ext cx="22219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음향 특징 52D</a:t>
            </a:r>
            <a:endParaRPr lang="en-US" sz="14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통계 특징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 flipV="1">
            <a:off x="1828800" y="3054096"/>
            <a:ext cx="518160" cy="420624"/>
          </a:xfrm>
          <a:prstGeom prst="line">
            <a:avLst/>
          </a:prstGeom>
          <a:noFill/>
          <a:ln w="19050">
            <a:solidFill>
              <a:srgbClr val="009DDA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4678680" y="3054096"/>
            <a:ext cx="518160" cy="420624"/>
          </a:xfrm>
          <a:prstGeom prst="line">
            <a:avLst/>
          </a:prstGeom>
          <a:noFill/>
          <a:ln w="19050">
            <a:solidFill>
              <a:srgbClr val="009DDA"/>
            </a:solidFill>
            <a:prstDash val="solid"/>
            <a:tailEnd type="triangle"/>
          </a:ln>
        </p:spPr>
      </p:sp>
      <p:sp>
        <p:nvSpPr>
          <p:cNvPr id="16" name="Shape 13"/>
          <p:cNvSpPr/>
          <p:nvPr/>
        </p:nvSpPr>
        <p:spPr>
          <a:xfrm>
            <a:off x="2346960" y="3538728"/>
            <a:ext cx="2331720" cy="713232"/>
          </a:xfrm>
          <a:prstGeom prst="roundRect">
            <a:avLst>
              <a:gd name="adj" fmla="val 10256"/>
            </a:avLst>
          </a:prstGeom>
          <a:solidFill>
            <a:srgbClr val="EAF3F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401824" y="3538728"/>
            <a:ext cx="22219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WavLM x-vector 512D</a:t>
            </a:r>
            <a:endParaRPr lang="en-US" sz="14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20초 창 최대 4개 평균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1828800" y="3474720"/>
            <a:ext cx="518160" cy="420624"/>
          </a:xfrm>
          <a:prstGeom prst="line">
            <a:avLst/>
          </a:prstGeom>
          <a:noFill/>
          <a:ln w="19050">
            <a:solidFill>
              <a:srgbClr val="009DDA"/>
            </a:solidFill>
            <a:prstDash val="solid"/>
            <a:tailEnd type="triangle"/>
          </a:ln>
        </p:spPr>
      </p:sp>
      <p:sp>
        <p:nvSpPr>
          <p:cNvPr id="19" name="Shape 16"/>
          <p:cNvSpPr/>
          <p:nvPr/>
        </p:nvSpPr>
        <p:spPr>
          <a:xfrm flipV="1">
            <a:off x="4678680" y="3474720"/>
            <a:ext cx="518160" cy="420624"/>
          </a:xfrm>
          <a:prstGeom prst="line">
            <a:avLst/>
          </a:prstGeom>
          <a:noFill/>
          <a:ln w="19050">
            <a:solidFill>
              <a:srgbClr val="009DDA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5196840" y="2697480"/>
            <a:ext cx="1508760" cy="1554480"/>
          </a:xfrm>
          <a:prstGeom prst="roundRect">
            <a:avLst>
              <a:gd name="adj" fmla="val 4848"/>
            </a:avLst>
          </a:prstGeom>
          <a:solidFill>
            <a:srgbClr val="EAF3F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251704" y="2697480"/>
            <a:ext cx="139903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결합·표준화</a:t>
            </a:r>
            <a:endParaRPr lang="en-US" sz="14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52D + 512D</a:t>
            </a:r>
            <a:endParaRPr lang="en-US" sz="14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 564D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7223760" y="2697480"/>
            <a:ext cx="1508760" cy="1554480"/>
          </a:xfrm>
          <a:prstGeom prst="roundRect">
            <a:avLst>
              <a:gd name="adj" fmla="val 4848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278624" y="2697480"/>
            <a:ext cx="139903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로지스틱 회귀</a:t>
            </a:r>
            <a:endParaRPr lang="en-US" sz="14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 / M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6705600" y="3474720"/>
            <a:ext cx="518160" cy="0"/>
          </a:xfrm>
          <a:prstGeom prst="line">
            <a:avLst/>
          </a:prstGeom>
          <a:noFill/>
          <a:ln w="19050">
            <a:solidFill>
              <a:srgbClr val="009DDA"/>
            </a:solidFill>
            <a:prstDash val="solid"/>
            <a:tailEnd type="triangle"/>
          </a:ln>
        </p:spPr>
      </p:sp>
      <p:sp>
        <p:nvSpPr>
          <p:cNvPr id="25" name="Text 22"/>
          <p:cNvSpPr txBox="1"/>
          <p:nvPr/>
        </p:nvSpPr>
        <p:spPr>
          <a:xfrm>
            <a:off x="457200" y="4434840"/>
            <a:ext cx="8275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왜 이 구조인가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457200" y="4846320"/>
            <a:ext cx="8275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EDA에서 요약 통계가 성별을 못 가름 → 음색을 담는 사전학습 화자 임베딩 추가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분류기는 단순한 로지스틱 회귀로 충분했다 (더 복잡한 분류기는 이득이 기준에 못 미침 → 9장)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 모델은 학습 데이터 전체로 재학습했다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9006840" y="2240280"/>
            <a:ext cx="2727655" cy="3977640"/>
          </a:xfrm>
          <a:prstGeom prst="roundRect">
            <a:avLst>
              <a:gd name="adj" fmla="val 3352"/>
            </a:avLst>
          </a:prstGeom>
          <a:solidFill>
            <a:srgbClr val="EAF3FA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9006840" y="3291840"/>
            <a:ext cx="27276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98.10%</a:t>
            </a:r>
            <a:endParaRPr lang="en-US" sz="4400" dirty="0"/>
          </a:p>
        </p:txBody>
      </p:sp>
      <p:sp>
        <p:nvSpPr>
          <p:cNvPr id="29" name="Text 26"/>
          <p:cNvSpPr txBox="1"/>
          <p:nvPr/>
        </p:nvSpPr>
        <p:spPr>
          <a:xfrm>
            <a:off x="9006840" y="4251960"/>
            <a:ext cx="27276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Accuracy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공식 Validation</a:t>
            </a:r>
            <a:endParaRPr lang="en-US" sz="1300" dirty="0"/>
          </a:p>
        </p:txBody>
      </p:sp>
      <p:sp>
        <p:nvSpPr>
          <p:cNvPr id="30" name="Text 27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submission/mission1/README.md, docs/experiment_log.md M1-REFIT-OFFVAL-001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8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1  신고자 성별 분류 — 성능 개선 과정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95.11% → 98.10%. 개선의 대부분은 화자 임베딩(x-vector)에서 나왔다.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667512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graphicFrame>
        <p:nvGraphicFramePr>
          <p:cNvPr id="10" name="Chart 0" descr=""/>
          <p:cNvGraphicFramePr/>
          <p:nvPr/>
        </p:nvGraphicFramePr>
        <p:xfrm>
          <a:off x="594360" y="2331720"/>
          <a:ext cx="640080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Shape 7"/>
          <p:cNvSpPr/>
          <p:nvPr/>
        </p:nvSpPr>
        <p:spPr>
          <a:xfrm>
            <a:off x="7406640" y="2240280"/>
            <a:ext cx="4327855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7589520" y="2350008"/>
            <a:ext cx="39620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해석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7589520" y="2724912"/>
            <a:ext cx="396209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음향 특징 단독보다 x-vector 단독이 훨씬 높았다 → 개선의 대부분이 x-vector.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 통화는 앞부분만 쓰면 나머지를 버리게 되어, 여러 구간을 평균했다.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7406640" y="4434840"/>
            <a:ext cx="4327855" cy="1783080"/>
          </a:xfrm>
          <a:prstGeom prst="roundRect">
            <a:avLst>
              <a:gd name="adj" fmla="val 5128"/>
            </a:avLst>
          </a:prstGeom>
          <a:solidFill>
            <a:srgbClr val="FFCDD2"/>
          </a:solidFill>
          <a:ln w="12700">
            <a:solidFill>
              <a:srgbClr val="FFCDD2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7589520" y="4434840"/>
            <a:ext cx="3962095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E539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주의  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다중 구간 평균은 내부 홀드아웃에서는 사전 기준에 못 미쳐 일단 기각했고, 이후 공식 Validation에서 별도로 고정한 기준을 넘어 제출 후보가 됐다. 두 판정과 이유를 모두 기록했다.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docs/experiment_log.md M1-XVEC-001-OFFVAL, M1-XVEC-002(2차), M1-XVEC-002-OFFVAL, M1-REFIT-OFFVAL-001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9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1  신고자 성별 분류 — 채택하지 않은 시도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점수가 올라도 미리 정한 기준을 못 넘으면 채택하지 않았다.</a:t>
            </a:r>
            <a:endParaRPr lang="en-US" sz="15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40280"/>
          <a:ext cx="91440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280160"/>
                <a:gridCol w="6793992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시도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판정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이유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LightGBM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F4E9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✓ LR 채택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점수 차이가 작고 더 단순·해석 쉬움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RBF-SVM 분류기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5393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✗ 기각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이득이 기준 미달, 추론이 훨씬 느림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ECAPA 임베딩 추가·교체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5393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✗ 기각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이득이 기준 미달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x-vector LR + ECAPA LR 확률 평균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5393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✗ 기각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공식 Val 98.30%로 소폭 높았지만 미리 정한 기준 미달, 차이가 우연과 구분되지 않음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457200" y="5257800"/>
            <a:ext cx="11277295" cy="960120"/>
          </a:xfrm>
          <a:prstGeom prst="roundRect">
            <a:avLst>
              <a:gd name="adj" fmla="val 9524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594360" y="5257800"/>
            <a:ext cx="365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1005840" y="5257800"/>
            <a:ext cx="1059149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공식 Val에서 더 높았던 모델을 왜 버렸나?  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통화 차이는 우연과 구분되지 않는다. 결과를 본 뒤 기준을 낮추면 Validation에 과적합된다.</a:t>
            </a:r>
            <a:endParaRPr lang="en-US" sz="1350" dirty="0"/>
          </a:p>
        </p:txBody>
      </p:sp>
      <p:sp>
        <p:nvSpPr>
          <p:cNvPr id="13" name="Text 9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docs/decisions.md 2026-10-05, docs/experiment_log.md M1-HEAD-001, M1-ECAPA-002, M1-FUSE-001-OFFVAL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10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1  신고자 성별 분류 — 최종 결과와 후속 과제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공식 Validation 98.10%. 남녀 recall이 고르다.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512064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457200" y="251460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98.10%</a:t>
            </a:r>
            <a:endParaRPr lang="en-US" sz="48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227832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Accuracy (공식 Validation)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22960" y="3886200"/>
            <a:ext cx="438912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57200" y="416052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9D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98.26%</a:t>
            </a:r>
            <a:endParaRPr lang="en-US" sz="300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487375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여성 recall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3017520" y="416052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9D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97.92%</a:t>
            </a:r>
            <a:endParaRPr lang="en-US" sz="3000" dirty="0"/>
          </a:p>
        </p:txBody>
      </p:sp>
      <p:sp>
        <p:nvSpPr>
          <p:cNvPr id="16" name="Text 13"/>
          <p:cNvSpPr txBox="1"/>
          <p:nvPr/>
        </p:nvSpPr>
        <p:spPr>
          <a:xfrm>
            <a:off x="3017520" y="487375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남성 recall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852160" y="2240280"/>
            <a:ext cx="5882335" cy="3977640"/>
          </a:xfrm>
          <a:prstGeom prst="roundRect">
            <a:avLst>
              <a:gd name="adj" fmla="val 2299"/>
            </a:avLst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6080760" y="2395728"/>
            <a:ext cx="54251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후속 과제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6080760" y="2971800"/>
            <a:ext cx="5425135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seed로 결과 재현 확인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오분류 통화의 화자 단위 정성 분석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피치(F0) 특징 검증 (미검증 가설)</a:t>
            </a:r>
            <a:endParaRPr lang="en-US" sz="1700" dirty="0"/>
          </a:p>
        </p:txBody>
      </p:sp>
      <p:sp>
        <p:nvSpPr>
          <p:cNvPr id="20" name="Text 17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submission/mission1/README.md 상태(2026-10-12), docs/experiment_log.md M1-REFIT-OFFVAL-001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11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2  신고자/119대원 분류 — 문제·제약·최종 모델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발화 하나만 보고 신고자/대원을 가린다. log-mel + CNN 3개 평균, 공식 Validation 91.49%.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228600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문제   </a:t>
            </a:r>
            <a:pPr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발화 조각 → 신고자(1) / 대원(0)   ·   지표 Accuracy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69748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539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제약   </a:t>
            </a:r>
            <a:pPr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text · 발화 순서 · 다른 발화 정보 사용 불가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8869680" y="2240280"/>
            <a:ext cx="2864815" cy="868680"/>
          </a:xfrm>
          <a:prstGeom prst="roundRect">
            <a:avLst>
              <a:gd name="adj" fmla="val 10526"/>
            </a:avLst>
          </a:prstGeom>
          <a:solidFill>
            <a:srgbClr val="EAF3FA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8869680" y="2240280"/>
            <a:ext cx="28648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91.49%</a:t>
            </a:r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공식 Validation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3246120"/>
            <a:ext cx="1783080" cy="1051560"/>
          </a:xfrm>
          <a:prstGeom prst="roundRect">
            <a:avLst>
              <a:gd name="adj" fmla="val 6957"/>
            </a:avLst>
          </a:prstGeom>
          <a:solidFill>
            <a:srgbClr val="EAF3F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12064" y="3246120"/>
            <a:ext cx="167335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발화 구간</a:t>
            </a:r>
            <a:endParaRPr lang="en-US" sz="14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startAt~endAt만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727884" y="3246120"/>
            <a:ext cx="1783080" cy="1051560"/>
          </a:xfrm>
          <a:prstGeom prst="roundRect">
            <a:avLst>
              <a:gd name="adj" fmla="val 6957"/>
            </a:avLst>
          </a:prstGeom>
          <a:solidFill>
            <a:srgbClr val="EAF3F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782748" y="3246120"/>
            <a:ext cx="167335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log-mel</a:t>
            </a:r>
            <a:endParaRPr lang="en-US" sz="14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 mel · 8 kHz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240280" y="3771900"/>
            <a:ext cx="487604" cy="0"/>
          </a:xfrm>
          <a:prstGeom prst="line">
            <a:avLst/>
          </a:prstGeom>
          <a:noFill/>
          <a:ln w="19050">
            <a:solidFill>
              <a:srgbClr val="009DDA"/>
            </a:solidFill>
            <a:prstDash val="solid"/>
            <a:tailEnd type="triangle"/>
          </a:ln>
        </p:spPr>
      </p:sp>
      <p:sp>
        <p:nvSpPr>
          <p:cNvPr id="18" name="Shape 15"/>
          <p:cNvSpPr/>
          <p:nvPr/>
        </p:nvSpPr>
        <p:spPr>
          <a:xfrm>
            <a:off x="4998568" y="3246120"/>
            <a:ext cx="1783080" cy="1051560"/>
          </a:xfrm>
          <a:prstGeom prst="roundRect">
            <a:avLst>
              <a:gd name="adj" fmla="val 6957"/>
            </a:avLst>
          </a:prstGeom>
          <a:solidFill>
            <a:srgbClr val="EAF3F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53432" y="3246120"/>
            <a:ext cx="167335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길이 맞춤</a:t>
            </a:r>
            <a:endParaRPr lang="en-US" sz="14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300프레임</a:t>
            </a:r>
            <a:endParaRPr lang="en-US" sz="14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발화만 사용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4510964" y="3771900"/>
            <a:ext cx="487604" cy="0"/>
          </a:xfrm>
          <a:prstGeom prst="line">
            <a:avLst/>
          </a:prstGeom>
          <a:noFill/>
          <a:ln w="19050">
            <a:solidFill>
              <a:srgbClr val="009DDA"/>
            </a:solidFill>
            <a:prstDash val="solid"/>
            <a:tailEnd type="triangle"/>
          </a:ln>
        </p:spPr>
      </p:sp>
      <p:sp>
        <p:nvSpPr>
          <p:cNvPr id="21" name="Shape 18"/>
          <p:cNvSpPr/>
          <p:nvPr/>
        </p:nvSpPr>
        <p:spPr>
          <a:xfrm>
            <a:off x="7269251" y="3246120"/>
            <a:ext cx="2148840" cy="289560"/>
          </a:xfrm>
          <a:prstGeom prst="roundRect">
            <a:avLst>
              <a:gd name="adj" fmla="val 25263"/>
            </a:avLst>
          </a:prstGeom>
          <a:solidFill>
            <a:srgbClr val="EAF3F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324115" y="3246120"/>
            <a:ext cx="2039112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SpeakerCNNLarge · seed 1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 flipV="1">
            <a:off x="6781648" y="3390900"/>
            <a:ext cx="487604" cy="381000"/>
          </a:xfrm>
          <a:prstGeom prst="line">
            <a:avLst/>
          </a:prstGeom>
          <a:noFill/>
          <a:ln w="19050">
            <a:solidFill>
              <a:srgbClr val="009DDA"/>
            </a:solidFill>
            <a:prstDash val="solid"/>
            <a:tailEnd type="triangle"/>
          </a:ln>
        </p:spPr>
      </p:sp>
      <p:sp>
        <p:nvSpPr>
          <p:cNvPr id="24" name="Shape 21"/>
          <p:cNvSpPr/>
          <p:nvPr/>
        </p:nvSpPr>
        <p:spPr>
          <a:xfrm>
            <a:off x="9418091" y="3390900"/>
            <a:ext cx="487604" cy="381000"/>
          </a:xfrm>
          <a:prstGeom prst="line">
            <a:avLst/>
          </a:prstGeom>
          <a:noFill/>
          <a:ln w="19050">
            <a:solidFill>
              <a:srgbClr val="009DDA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7269251" y="3627120"/>
            <a:ext cx="2148840" cy="289560"/>
          </a:xfrm>
          <a:prstGeom prst="roundRect">
            <a:avLst>
              <a:gd name="adj" fmla="val 25263"/>
            </a:avLst>
          </a:prstGeom>
          <a:solidFill>
            <a:srgbClr val="EAF3F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324115" y="3627120"/>
            <a:ext cx="2039112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SpeakerCNNLarge · seed 2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6781648" y="3771900"/>
            <a:ext cx="487604" cy="0"/>
          </a:xfrm>
          <a:prstGeom prst="line">
            <a:avLst/>
          </a:prstGeom>
          <a:noFill/>
          <a:ln w="19050">
            <a:solidFill>
              <a:srgbClr val="009DDA"/>
            </a:solidFill>
            <a:prstDash val="solid"/>
            <a:tailEnd type="triangle"/>
          </a:ln>
        </p:spPr>
      </p:sp>
      <p:sp>
        <p:nvSpPr>
          <p:cNvPr id="28" name="Shape 25"/>
          <p:cNvSpPr/>
          <p:nvPr/>
        </p:nvSpPr>
        <p:spPr>
          <a:xfrm>
            <a:off x="9418091" y="3771900"/>
            <a:ext cx="487604" cy="0"/>
          </a:xfrm>
          <a:prstGeom prst="line">
            <a:avLst/>
          </a:prstGeom>
          <a:noFill/>
          <a:ln w="19050">
            <a:solidFill>
              <a:srgbClr val="009DDA"/>
            </a:solidFill>
            <a:prstDash val="solid"/>
            <a:tailEnd type="triangle"/>
          </a:ln>
        </p:spPr>
      </p:sp>
      <p:sp>
        <p:nvSpPr>
          <p:cNvPr id="29" name="Shape 26"/>
          <p:cNvSpPr/>
          <p:nvPr/>
        </p:nvSpPr>
        <p:spPr>
          <a:xfrm>
            <a:off x="7269251" y="4008120"/>
            <a:ext cx="2148840" cy="289560"/>
          </a:xfrm>
          <a:prstGeom prst="roundRect">
            <a:avLst>
              <a:gd name="adj" fmla="val 25263"/>
            </a:avLst>
          </a:prstGeom>
          <a:solidFill>
            <a:srgbClr val="EAF3F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324115" y="4008120"/>
            <a:ext cx="2039112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SpeakerCNNLarge · seed 3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6781648" y="3771900"/>
            <a:ext cx="487604" cy="381000"/>
          </a:xfrm>
          <a:prstGeom prst="line">
            <a:avLst/>
          </a:prstGeom>
          <a:noFill/>
          <a:ln w="19050">
            <a:solidFill>
              <a:srgbClr val="009DDA"/>
            </a:solidFill>
            <a:prstDash val="solid"/>
            <a:tailEnd type="triangle"/>
          </a:ln>
        </p:spPr>
      </p:sp>
      <p:sp>
        <p:nvSpPr>
          <p:cNvPr id="32" name="Shape 29"/>
          <p:cNvSpPr/>
          <p:nvPr/>
        </p:nvSpPr>
        <p:spPr>
          <a:xfrm flipV="1">
            <a:off x="9418091" y="3771900"/>
            <a:ext cx="487604" cy="381000"/>
          </a:xfrm>
          <a:prstGeom prst="line">
            <a:avLst/>
          </a:prstGeom>
          <a:noFill/>
          <a:ln w="19050">
            <a:solidFill>
              <a:srgbClr val="009DDA"/>
            </a:solidFill>
            <a:prstDash val="solid"/>
            <a:tailEnd type="triangle"/>
          </a:ln>
        </p:spPr>
      </p:sp>
      <p:sp>
        <p:nvSpPr>
          <p:cNvPr id="33" name="Shape 30"/>
          <p:cNvSpPr/>
          <p:nvPr/>
        </p:nvSpPr>
        <p:spPr>
          <a:xfrm>
            <a:off x="9905695" y="3246120"/>
            <a:ext cx="1828800" cy="1051560"/>
          </a:xfrm>
          <a:prstGeom prst="roundRect">
            <a:avLst>
              <a:gd name="adj" fmla="val 6957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9960559" y="3246120"/>
            <a:ext cx="17190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확률 평균</a:t>
            </a:r>
            <a:endParaRPr lang="en-US" sz="14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≥ 0.5 → 신고자</a:t>
            </a:r>
            <a:endParaRPr lang="en-US" sz="14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&lt; 0.5 → 대원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457200" y="4480560"/>
            <a:ext cx="6181344" cy="1900761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pic>
        <p:nvPicPr>
          <p:cNvPr id="36" name="Image 1" descr="figures/anim/m2_waveform_to_mel.gif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4553712"/>
            <a:ext cx="6035040" cy="1754457"/>
          </a:xfrm>
          <a:prstGeom prst="rect">
            <a:avLst/>
          </a:prstGeom>
        </p:spPr>
      </p:pic>
      <p:sp>
        <p:nvSpPr>
          <p:cNvPr id="37" name="Shape 33"/>
          <p:cNvSpPr/>
          <p:nvPr/>
        </p:nvSpPr>
        <p:spPr>
          <a:xfrm>
            <a:off x="6858000" y="4480560"/>
            <a:ext cx="4876495" cy="560435"/>
          </a:xfrm>
          <a:prstGeom prst="roundRect">
            <a:avLst>
              <a:gd name="adj" fmla="val 16316"/>
            </a:avLst>
          </a:prstGeom>
          <a:solidFill>
            <a:srgbClr val="EAF3FA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8" name="Text 34"/>
          <p:cNvSpPr txBox="1"/>
          <p:nvPr/>
        </p:nvSpPr>
        <p:spPr>
          <a:xfrm>
            <a:off x="6995160" y="4480560"/>
            <a:ext cx="1325880" cy="5604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음향 차이</a:t>
            </a:r>
            <a:endParaRPr lang="en-US" sz="1300" dirty="0"/>
          </a:p>
        </p:txBody>
      </p:sp>
      <p:sp>
        <p:nvSpPr>
          <p:cNvPr id="39" name="Text 35"/>
          <p:cNvSpPr txBox="1"/>
          <p:nvPr/>
        </p:nvSpPr>
        <p:spPr>
          <a:xfrm>
            <a:off x="8321040" y="4480560"/>
            <a:ext cx="3322015" cy="5604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대원 헤드셋·정해진 말투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신고자 휴대전화·잡음</a:t>
            </a:r>
            <a:endParaRPr lang="en-US" sz="1150" dirty="0"/>
          </a:p>
        </p:txBody>
      </p:sp>
      <p:sp>
        <p:nvSpPr>
          <p:cNvPr id="40" name="Shape 36"/>
          <p:cNvSpPr/>
          <p:nvPr/>
        </p:nvSpPr>
        <p:spPr>
          <a:xfrm>
            <a:off x="6858000" y="5150723"/>
            <a:ext cx="4876495" cy="560435"/>
          </a:xfrm>
          <a:prstGeom prst="roundRect">
            <a:avLst>
              <a:gd name="adj" fmla="val 16316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41" name="Text 37"/>
          <p:cNvSpPr txBox="1"/>
          <p:nvPr/>
        </p:nvSpPr>
        <p:spPr>
          <a:xfrm>
            <a:off x="6995160" y="5150723"/>
            <a:ext cx="1325880" cy="5604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단계적 검증</a:t>
            </a:r>
            <a:endParaRPr lang="en-US" sz="1300" dirty="0"/>
          </a:p>
        </p:txBody>
      </p:sp>
      <p:sp>
        <p:nvSpPr>
          <p:cNvPr id="42" name="Text 38"/>
          <p:cNvSpPr txBox="1"/>
          <p:nvPr/>
        </p:nvSpPr>
        <p:spPr>
          <a:xfrm>
            <a:off x="8321040" y="5150723"/>
            <a:ext cx="3322015" cy="5604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통계 특징(L1) → CNN(L2)</a:t>
            </a:r>
            <a:endParaRPr lang="en-US" sz="1150" dirty="0"/>
          </a:p>
        </p:txBody>
      </p:sp>
      <p:sp>
        <p:nvSpPr>
          <p:cNvPr id="43" name="Shape 39"/>
          <p:cNvSpPr/>
          <p:nvPr/>
        </p:nvSpPr>
        <p:spPr>
          <a:xfrm>
            <a:off x="6858000" y="5820886"/>
            <a:ext cx="4876495" cy="560435"/>
          </a:xfrm>
          <a:prstGeom prst="roundRect">
            <a:avLst>
              <a:gd name="adj" fmla="val 16316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44" name="Text 40"/>
          <p:cNvSpPr txBox="1"/>
          <p:nvPr/>
        </p:nvSpPr>
        <p:spPr>
          <a:xfrm>
            <a:off x="6995160" y="5820886"/>
            <a:ext cx="1325880" cy="5604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처음부터 학습</a:t>
            </a:r>
            <a:endParaRPr lang="en-US" sz="1300" dirty="0"/>
          </a:p>
        </p:txBody>
      </p:sp>
      <p:sp>
        <p:nvSpPr>
          <p:cNvPr id="45" name="Text 41"/>
          <p:cNvSpPr txBox="1"/>
          <p:nvPr/>
        </p:nvSpPr>
        <p:spPr>
          <a:xfrm>
            <a:off x="8321040" y="5820886"/>
            <a:ext cx="3322015" cy="5604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사전학습·외부 데이터 없음</a:t>
            </a:r>
            <a:endParaRPr lang="en-US" sz="1150" dirty="0"/>
          </a:p>
        </p:txBody>
      </p:sp>
      <p:sp>
        <p:nvSpPr>
          <p:cNvPr id="46" name="Text 42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왼쪽 도식은 합성 신호(실제 통화 아님).  근거: submission/mission2/README.md, docs/experiment_log.md M2-RERUN-001·M2-ENS-003·M2-RETRAIN-001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12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2  신고자/119대원 분류 — 성능 개선 과정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86.44% → 90.98% → 91.49%. CNN의 이득은 목소리가 겹친 구간에 몰려 있었다.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566928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graphicFrame>
        <p:nvGraphicFramePr>
          <p:cNvPr id="10" name="Chart 0" descr=""/>
          <p:cNvGraphicFramePr/>
          <p:nvPr/>
        </p:nvGraphicFramePr>
        <p:xfrm>
          <a:off x="594360" y="2331720"/>
          <a:ext cx="539496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Shape 7"/>
          <p:cNvSpPr/>
          <p:nvPr/>
        </p:nvSpPr>
        <p:spPr>
          <a:xfrm>
            <a:off x="6400800" y="2240280"/>
            <a:ext cx="5333695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6583680" y="2340864"/>
            <a:ext cx="49679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CNN의 이득이 몰린 곳</a:t>
            </a:r>
            <a:endParaRPr lang="en-US" sz="1500" dirty="0"/>
          </a:p>
        </p:txBody>
      </p:sp>
      <p:pic>
        <p:nvPicPr>
          <p:cNvPr id="13" name="Image 1" descr="figures/anim/speakers_separation.gif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2743200"/>
            <a:ext cx="2377440" cy="97739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9144000" y="274320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+7%p</a:t>
            </a:r>
            <a:endParaRPr lang="en-US" sz="2400" dirty="0"/>
          </a:p>
        </p:txBody>
      </p:sp>
      <p:sp>
        <p:nvSpPr>
          <p:cNvPr id="15" name="Text 10"/>
          <p:cNvSpPr txBox="1"/>
          <p:nvPr/>
        </p:nvSpPr>
        <p:spPr>
          <a:xfrm>
            <a:off x="10469880" y="2743200"/>
            <a:ext cx="11731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겹친 구간</a:t>
            </a:r>
            <a:endParaRPr lang="en-US" sz="1150" dirty="0"/>
          </a:p>
        </p:txBody>
      </p:sp>
      <p:sp>
        <p:nvSpPr>
          <p:cNvPr id="16" name="Text 11"/>
          <p:cNvSpPr txBox="1"/>
          <p:nvPr/>
        </p:nvSpPr>
        <p:spPr>
          <a:xfrm>
            <a:off x="9144000" y="327355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9D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+2%p</a:t>
            </a:r>
            <a:endParaRPr lang="en-US" sz="2400" dirty="0"/>
          </a:p>
        </p:txBody>
      </p:sp>
      <p:sp>
        <p:nvSpPr>
          <p:cNvPr id="17" name="Text 12"/>
          <p:cNvSpPr txBox="1"/>
          <p:nvPr/>
        </p:nvSpPr>
        <p:spPr>
          <a:xfrm>
            <a:off x="10469880" y="3273552"/>
            <a:ext cx="11731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겹치지 않은 구간</a:t>
            </a:r>
            <a:endParaRPr lang="en-US" sz="1150" dirty="0"/>
          </a:p>
        </p:txBody>
      </p:sp>
      <p:sp>
        <p:nvSpPr>
          <p:cNvPr id="18" name="Text 13"/>
          <p:cNvSpPr txBox="1"/>
          <p:nvPr/>
        </p:nvSpPr>
        <p:spPr>
          <a:xfrm>
            <a:off x="6583680" y="3840480"/>
            <a:ext cx="49679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통계 특징(L1) 대비 CNN 단일 모델의 개선 폭 (공식 Validation)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6400800" y="4343400"/>
            <a:ext cx="5333695" cy="1874520"/>
          </a:xfrm>
          <a:prstGeom prst="roundRect">
            <a:avLst>
              <a:gd name="adj" fmla="val 4878"/>
            </a:avLst>
          </a:prstGeom>
          <a:solidFill>
            <a:srgbClr val="E8F5E9"/>
          </a:solidFill>
          <a:ln w="12700">
            <a:solidFill>
              <a:srgbClr val="E8F5E9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6537960" y="4343400"/>
            <a:ext cx="3657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21" name="Text 16"/>
          <p:cNvSpPr txBox="1"/>
          <p:nvPr/>
        </p:nvSpPr>
        <p:spPr>
          <a:xfrm>
            <a:off x="6949440" y="4343400"/>
            <a:ext cx="4647895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발견  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제출 방식(한 발화씩 추론)으로 바꾸자 정확도가 떨어졌다. 원인은 학습 때의 배치 패딩과 추론 방식 차이였고, 모든 발화를 자기 자신만으로 같은 길이까지 채우도록 맞춰 회복했다.</a:t>
            </a:r>
            <a:endParaRPr lang="en-US" sz="1200" dirty="0"/>
          </a:p>
        </p:txBody>
      </p:sp>
      <p:sp>
        <p:nvSpPr>
          <p:cNvPr id="22" name="Text 17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docs/experiment_log.md M2-RETRAIN-001, M2-ENS-003, M2-RERUN-001, M2-COMPARE-002, M2-PAD-001·002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13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2  신고자/119대원 분류 — 다른 접근과 기각·보류 이유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CNN 하나로 끝내지 않고 여러 방향을 검증했다. 효과가 없거나 규칙에 어긋난 것은 이유와 함께 기록했다.</a:t>
            </a:r>
            <a:endParaRPr lang="en-US" sz="15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40280"/>
          <a:ext cx="9144000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2194560"/>
                <a:gridCol w="4325112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시도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판정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이유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같은 통화의 다른 발화와 비교하는 특징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5393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✗ 제거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규칙 위반 소지 (주최 측 답변)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text로 고친 라벨로 학습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F4E9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제공 라벨로 재학습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점수는 거의 그대로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통계 모델과 CNN 확률 평균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5393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✗ 기각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단독 CNN보다 낮음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더 큰 CNN / 패딩 제외 풀링 / 길이 입력 / Mixup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5393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✗ 기각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사전 기준 미달 또는 재현 안 됨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WavLM 고정 임베딩 · 기본 미세조정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5393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✗ 기각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이득 없음, 추론 비용 큼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WavLM 미세조정 (3초 창·겹침 증강)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161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보류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공식 평가 진행 중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457200" y="61722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비교는 Training 내부 통화 단위 홀드아웃 기준 (공식 Val 아님).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14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2  신고자/119대원 분류 — 최종 결과와 보완할 점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공식 Validation 91.49%. 원본 데이터부터 다시 학습해도 같은 수준이 재현됐다.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512064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457200" y="251460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91.49%</a:t>
            </a:r>
            <a:endParaRPr lang="en-US" sz="48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227832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Accuracy (공식 Validation)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22960" y="3886200"/>
            <a:ext cx="438912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22960" y="40690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대원 recall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3566160" y="406908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E539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87.15%</a:t>
            </a:r>
            <a:endParaRPr lang="en-US" sz="2000" dirty="0"/>
          </a:p>
        </p:txBody>
      </p:sp>
      <p:sp>
        <p:nvSpPr>
          <p:cNvPr id="15" name="Shape 12"/>
          <p:cNvSpPr/>
          <p:nvPr/>
        </p:nvSpPr>
        <p:spPr>
          <a:xfrm>
            <a:off x="822960" y="4453128"/>
            <a:ext cx="4389120" cy="201168"/>
          </a:xfrm>
          <a:prstGeom prst="roundRect">
            <a:avLst>
              <a:gd name="adj" fmla="val 45455"/>
            </a:avLst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22960" y="4453128"/>
            <a:ext cx="3825118" cy="201168"/>
          </a:xfrm>
          <a:prstGeom prst="roundRect">
            <a:avLst>
              <a:gd name="adj" fmla="val 45455"/>
            </a:avLst>
          </a:prstGeom>
          <a:solidFill>
            <a:srgbClr val="E53935"/>
          </a:solidFill>
          <a:ln w="12700">
            <a:solidFill>
              <a:srgbClr val="E53935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2960" y="50292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신고자 recall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3566160" y="50292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09D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95.51%</a:t>
            </a:r>
            <a:endParaRPr lang="en-US" sz="2000" dirty="0"/>
          </a:p>
        </p:txBody>
      </p:sp>
      <p:sp>
        <p:nvSpPr>
          <p:cNvPr id="19" name="Shape 16"/>
          <p:cNvSpPr/>
          <p:nvPr/>
        </p:nvSpPr>
        <p:spPr>
          <a:xfrm>
            <a:off x="822960" y="5413248"/>
            <a:ext cx="4389120" cy="201168"/>
          </a:xfrm>
          <a:prstGeom prst="roundRect">
            <a:avLst>
              <a:gd name="adj" fmla="val 45455"/>
            </a:avLst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22960" y="5413248"/>
            <a:ext cx="4192049" cy="201168"/>
          </a:xfrm>
          <a:prstGeom prst="roundRect">
            <a:avLst>
              <a:gd name="adj" fmla="val 45455"/>
            </a:avLst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852160" y="2240280"/>
            <a:ext cx="5882335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6080760" y="2377440"/>
            <a:ext cx="54251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재현성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6080760" y="2788920"/>
            <a:ext cx="54251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원본부터 다시 학습해도 같은 수준(91.49%)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5852160" y="3840480"/>
            <a:ext cx="5882335" cy="2377440"/>
          </a:xfrm>
          <a:prstGeom prst="roundRect">
            <a:avLst>
              <a:gd name="adj" fmla="val 3846"/>
            </a:avLst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5" name="Text 22"/>
          <p:cNvSpPr txBox="1"/>
          <p:nvPr/>
        </p:nvSpPr>
        <p:spPr>
          <a:xfrm>
            <a:off x="6080760" y="3977640"/>
            <a:ext cx="54251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보완할 점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6080760" y="4389120"/>
            <a:ext cx="542513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대원 recall이 더 낮다.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"네", "여보세요" 같은 짧은 응답은 두 화자가 비슷하게 들리고, 규칙상 통화 맥락을 쓸 수 없다.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submission/mission2/README.md, docs/experiment_log.md M2-RERUN-001·M2-ENS-003·M2-RETRAIN-001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15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3  환자 증상 인식 — 문제 정의와 접근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TF-IDF 기준선부터 RoBERTa 문맥 모델을 검증하고, 최종 3-seed + TF-IDF 앙상블 채택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3749040" cy="397764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85800" y="2377440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문제 정의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85800" y="2788920"/>
            <a:ext cx="868680" cy="329184"/>
          </a:xfrm>
          <a:prstGeom prst="roundRect">
            <a:avLst>
              <a:gd name="adj" fmla="val 22222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27889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1691640" y="2752344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119 통화 전사문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(utterances[].text만)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685800" y="3355848"/>
            <a:ext cx="868680" cy="329184"/>
          </a:xfrm>
          <a:prstGeom prst="roundRect">
            <a:avLst>
              <a:gd name="adj" fmla="val 22222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85800" y="335584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출력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1691640" y="3319272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증상 9종 중 0~9개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(다중 레이블)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685800" y="3922776"/>
            <a:ext cx="868680" cy="329184"/>
          </a:xfrm>
          <a:prstGeom prst="roundRect">
            <a:avLst>
              <a:gd name="adj" fmla="val 22222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392277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1691640" y="388620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Macro F1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(증상별 F1 평균)</a:t>
            </a:r>
            <a:endParaRPr lang="en-US" sz="1150" dirty="0"/>
          </a:p>
        </p:txBody>
      </p:sp>
      <p:pic>
        <p:nvPicPr>
          <p:cNvPr id="20" name="Image 1" descr="figures/canva/sym_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526280"/>
            <a:ext cx="475488" cy="475488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685800" y="5038344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고열</a:t>
            </a:r>
            <a:endParaRPr lang="en-US" sz="950" dirty="0"/>
          </a:p>
        </p:txBody>
      </p:sp>
      <p:pic>
        <p:nvPicPr>
          <p:cNvPr id="22" name="Image 2" descr="figures/canva/sym_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5608" y="4526280"/>
            <a:ext cx="475488" cy="475488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1344168" y="5038344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구토</a:t>
            </a:r>
            <a:endParaRPr lang="en-US" sz="950" dirty="0"/>
          </a:p>
        </p:txBody>
      </p:sp>
      <p:pic>
        <p:nvPicPr>
          <p:cNvPr id="24" name="Image 3" descr="figures/canva/sym_2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93976" y="4526280"/>
            <a:ext cx="475488" cy="475488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2002536" y="5038344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두통</a:t>
            </a:r>
            <a:endParaRPr lang="en-US" sz="950" dirty="0"/>
          </a:p>
        </p:txBody>
      </p:sp>
      <p:pic>
        <p:nvPicPr>
          <p:cNvPr id="26" name="Image 4" descr="figures/canva/sym_3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52344" y="4526280"/>
            <a:ext cx="475488" cy="475488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2660904" y="5038344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복통</a:t>
            </a:r>
            <a:endParaRPr lang="en-US" sz="950" dirty="0"/>
          </a:p>
        </p:txBody>
      </p:sp>
      <p:pic>
        <p:nvPicPr>
          <p:cNvPr id="28" name="Image 5" descr="figures/canva/sym_4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10712" y="4526280"/>
            <a:ext cx="475488" cy="475488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3319272" y="5038344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어지러움</a:t>
            </a:r>
            <a:endParaRPr lang="en-US" sz="950" dirty="0"/>
          </a:p>
        </p:txBody>
      </p:sp>
      <p:pic>
        <p:nvPicPr>
          <p:cNvPr id="30" name="Image 6" descr="figures/canva/sym_5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06424" y="5394960"/>
            <a:ext cx="475488" cy="475488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1014984" y="5907024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열상</a:t>
            </a:r>
            <a:endParaRPr lang="en-US" sz="950" dirty="0"/>
          </a:p>
        </p:txBody>
      </p:sp>
      <p:pic>
        <p:nvPicPr>
          <p:cNvPr id="32" name="Image 7" descr="figures/canva/sym_6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764792" y="5394960"/>
            <a:ext cx="475488" cy="475488"/>
          </a:xfrm>
          <a:prstGeom prst="rect">
            <a:avLst/>
          </a:prstGeom>
        </p:spPr>
      </p:pic>
      <p:sp>
        <p:nvSpPr>
          <p:cNvPr id="33" name="Text 23"/>
          <p:cNvSpPr txBox="1"/>
          <p:nvPr/>
        </p:nvSpPr>
        <p:spPr>
          <a:xfrm>
            <a:off x="1673352" y="5907024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오심</a:t>
            </a:r>
            <a:endParaRPr lang="en-US" sz="950" dirty="0"/>
          </a:p>
        </p:txBody>
      </p:sp>
      <p:pic>
        <p:nvPicPr>
          <p:cNvPr id="34" name="Image 8" descr="figures/canva/sym_7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23160" y="5394960"/>
            <a:ext cx="475488" cy="475488"/>
          </a:xfrm>
          <a:prstGeom prst="rect">
            <a:avLst/>
          </a:prstGeom>
        </p:spPr>
      </p:pic>
      <p:sp>
        <p:nvSpPr>
          <p:cNvPr id="35" name="Text 24"/>
          <p:cNvSpPr txBox="1"/>
          <p:nvPr/>
        </p:nvSpPr>
        <p:spPr>
          <a:xfrm>
            <a:off x="2331720" y="5907024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전신쇠약</a:t>
            </a:r>
            <a:endParaRPr lang="en-US" sz="950" dirty="0"/>
          </a:p>
        </p:txBody>
      </p:sp>
      <p:pic>
        <p:nvPicPr>
          <p:cNvPr id="36" name="Image 9" descr="figures/canva/sym_8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081528" y="5394960"/>
            <a:ext cx="475488" cy="475488"/>
          </a:xfrm>
          <a:prstGeom prst="rect">
            <a:avLst/>
          </a:prstGeom>
        </p:spPr>
      </p:pic>
      <p:sp>
        <p:nvSpPr>
          <p:cNvPr id="37" name="Text 25"/>
          <p:cNvSpPr txBox="1"/>
          <p:nvPr/>
        </p:nvSpPr>
        <p:spPr>
          <a:xfrm>
            <a:off x="2990088" y="5907024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호흡곤란</a:t>
            </a:r>
            <a:endParaRPr lang="en-US" sz="950" dirty="0"/>
          </a:p>
        </p:txBody>
      </p:sp>
      <p:sp>
        <p:nvSpPr>
          <p:cNvPr id="38" name="Text 26"/>
          <p:cNvSpPr txBox="1"/>
          <p:nvPr/>
        </p:nvSpPr>
        <p:spPr>
          <a:xfrm>
            <a:off x="4572000" y="2240280"/>
            <a:ext cx="7162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모델 구성</a:t>
            </a:r>
            <a:endParaRPr lang="en-US" sz="1800" dirty="0"/>
          </a:p>
        </p:txBody>
      </p:sp>
      <p:sp>
        <p:nvSpPr>
          <p:cNvPr id="39" name="Shape 27"/>
          <p:cNvSpPr/>
          <p:nvPr/>
        </p:nvSpPr>
        <p:spPr>
          <a:xfrm>
            <a:off x="4572000" y="2697480"/>
            <a:ext cx="1417320" cy="1600200"/>
          </a:xfrm>
          <a:prstGeom prst="roundRect">
            <a:avLst>
              <a:gd name="adj" fmla="val 5161"/>
            </a:avLst>
          </a:prstGeom>
          <a:solidFill>
            <a:srgbClr val="EAF3F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40" name="Text 28"/>
          <p:cNvSpPr txBox="1"/>
          <p:nvPr/>
        </p:nvSpPr>
        <p:spPr>
          <a:xfrm>
            <a:off x="4626864" y="2697480"/>
            <a:ext cx="130759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 정제</a:t>
            </a:r>
            <a:endParaRPr lang="en-US" sz="14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발화 text만</a:t>
            </a:r>
            <a:endParaRPr lang="en-US" sz="14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 순서 유지</a:t>
            </a:r>
            <a:endParaRPr lang="en-US" sz="1400" dirty="0"/>
          </a:p>
        </p:txBody>
      </p:sp>
      <p:sp>
        <p:nvSpPr>
          <p:cNvPr id="41" name="Shape 29"/>
          <p:cNvSpPr/>
          <p:nvPr/>
        </p:nvSpPr>
        <p:spPr>
          <a:xfrm>
            <a:off x="6918808" y="2697480"/>
            <a:ext cx="2286000" cy="731520"/>
          </a:xfrm>
          <a:prstGeom prst="roundRect">
            <a:avLst>
              <a:gd name="adj" fmla="val 10000"/>
            </a:avLst>
          </a:prstGeom>
          <a:solidFill>
            <a:srgbClr val="EAF3F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42" name="Text 30"/>
          <p:cNvSpPr txBox="1"/>
          <p:nvPr/>
        </p:nvSpPr>
        <p:spPr>
          <a:xfrm>
            <a:off x="6973672" y="2697480"/>
            <a:ext cx="2176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RoBERTa-large</a:t>
            </a:r>
            <a:endParaRPr lang="en-US" sz="14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seed 42·43·44 평균</a:t>
            </a:r>
            <a:endParaRPr lang="en-US" sz="1400" dirty="0"/>
          </a:p>
        </p:txBody>
      </p:sp>
      <p:sp>
        <p:nvSpPr>
          <p:cNvPr id="43" name="Shape 31"/>
          <p:cNvSpPr/>
          <p:nvPr/>
        </p:nvSpPr>
        <p:spPr>
          <a:xfrm flipV="1">
            <a:off x="5989320" y="3063240"/>
            <a:ext cx="929488" cy="434340"/>
          </a:xfrm>
          <a:prstGeom prst="line">
            <a:avLst/>
          </a:prstGeom>
          <a:noFill/>
          <a:ln w="19050">
            <a:solidFill>
              <a:srgbClr val="009DDA"/>
            </a:solidFill>
            <a:prstDash val="solid"/>
            <a:tailEnd type="triangle"/>
          </a:ln>
        </p:spPr>
      </p:sp>
      <p:sp>
        <p:nvSpPr>
          <p:cNvPr id="44" name="Shape 32"/>
          <p:cNvSpPr/>
          <p:nvPr/>
        </p:nvSpPr>
        <p:spPr>
          <a:xfrm>
            <a:off x="9204808" y="3063240"/>
            <a:ext cx="929488" cy="434340"/>
          </a:xfrm>
          <a:prstGeom prst="line">
            <a:avLst/>
          </a:prstGeom>
          <a:noFill/>
          <a:ln w="19050">
            <a:solidFill>
              <a:srgbClr val="009DDA"/>
            </a:solidFill>
            <a:prstDash val="solid"/>
            <a:tailEnd type="triangle"/>
          </a:ln>
        </p:spPr>
      </p:sp>
      <p:sp>
        <p:nvSpPr>
          <p:cNvPr id="45" name="Text 33"/>
          <p:cNvSpPr txBox="1"/>
          <p:nvPr/>
        </p:nvSpPr>
        <p:spPr>
          <a:xfrm>
            <a:off x="9241384" y="2752344"/>
            <a:ext cx="856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0.55</a:t>
            </a:r>
            <a:endParaRPr lang="en-US" sz="1100" dirty="0"/>
          </a:p>
        </p:txBody>
      </p:sp>
      <p:sp>
        <p:nvSpPr>
          <p:cNvPr id="46" name="Shape 34"/>
          <p:cNvSpPr/>
          <p:nvPr/>
        </p:nvSpPr>
        <p:spPr>
          <a:xfrm>
            <a:off x="6918808" y="3566160"/>
            <a:ext cx="2286000" cy="731520"/>
          </a:xfrm>
          <a:prstGeom prst="roundRect">
            <a:avLst>
              <a:gd name="adj" fmla="val 10000"/>
            </a:avLst>
          </a:prstGeom>
          <a:solidFill>
            <a:srgbClr val="EAF3F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47" name="Text 35"/>
          <p:cNvSpPr txBox="1"/>
          <p:nvPr/>
        </p:nvSpPr>
        <p:spPr>
          <a:xfrm>
            <a:off x="6973672" y="3566160"/>
            <a:ext cx="2176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TF-IDF + 로지스틱 회귀</a:t>
            </a:r>
            <a:endParaRPr lang="en-US" sz="14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초기 기준선</a:t>
            </a:r>
            <a:endParaRPr lang="en-US" sz="1400" dirty="0"/>
          </a:p>
        </p:txBody>
      </p:sp>
      <p:sp>
        <p:nvSpPr>
          <p:cNvPr id="48" name="Shape 36"/>
          <p:cNvSpPr/>
          <p:nvPr/>
        </p:nvSpPr>
        <p:spPr>
          <a:xfrm>
            <a:off x="5989320" y="3497580"/>
            <a:ext cx="929488" cy="434340"/>
          </a:xfrm>
          <a:prstGeom prst="line">
            <a:avLst/>
          </a:prstGeom>
          <a:noFill/>
          <a:ln w="19050">
            <a:solidFill>
              <a:srgbClr val="009DDA"/>
            </a:solidFill>
            <a:prstDash val="solid"/>
            <a:tailEnd type="triangle"/>
          </a:ln>
        </p:spPr>
      </p:sp>
      <p:sp>
        <p:nvSpPr>
          <p:cNvPr id="49" name="Shape 37"/>
          <p:cNvSpPr/>
          <p:nvPr/>
        </p:nvSpPr>
        <p:spPr>
          <a:xfrm flipV="1">
            <a:off x="9204808" y="3497580"/>
            <a:ext cx="929488" cy="434340"/>
          </a:xfrm>
          <a:prstGeom prst="line">
            <a:avLst/>
          </a:prstGeom>
          <a:noFill/>
          <a:ln w="19050">
            <a:solidFill>
              <a:srgbClr val="009DDA"/>
            </a:solidFill>
            <a:prstDash val="solid"/>
            <a:tailEnd type="triangle"/>
          </a:ln>
        </p:spPr>
      </p:sp>
      <p:sp>
        <p:nvSpPr>
          <p:cNvPr id="50" name="Text 38"/>
          <p:cNvSpPr txBox="1"/>
          <p:nvPr/>
        </p:nvSpPr>
        <p:spPr>
          <a:xfrm>
            <a:off x="9241384" y="4005072"/>
            <a:ext cx="856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0.45</a:t>
            </a:r>
            <a:endParaRPr lang="en-US" sz="1100" dirty="0"/>
          </a:p>
        </p:txBody>
      </p:sp>
      <p:sp>
        <p:nvSpPr>
          <p:cNvPr id="51" name="Shape 39"/>
          <p:cNvSpPr/>
          <p:nvPr/>
        </p:nvSpPr>
        <p:spPr>
          <a:xfrm>
            <a:off x="10134295" y="2697480"/>
            <a:ext cx="1600200" cy="1600200"/>
          </a:xfrm>
          <a:prstGeom prst="roundRect">
            <a:avLst>
              <a:gd name="adj" fmla="val 4571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52" name="Text 40"/>
          <p:cNvSpPr txBox="1"/>
          <p:nvPr/>
        </p:nvSpPr>
        <p:spPr>
          <a:xfrm>
            <a:off x="10189159" y="2697480"/>
            <a:ext cx="149047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가중 평균</a:t>
            </a:r>
            <a:endParaRPr lang="en-US" sz="14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증상별 ≥ 0.5</a:t>
            </a:r>
            <a:endParaRPr lang="en-US" sz="14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</a:t>
            </a:r>
            <a:endParaRPr lang="en-US" sz="1400" dirty="0"/>
          </a:p>
        </p:txBody>
      </p:sp>
      <p:sp>
        <p:nvSpPr>
          <p:cNvPr id="53" name="Text 41"/>
          <p:cNvSpPr txBox="1"/>
          <p:nvPr/>
        </p:nvSpPr>
        <p:spPr>
          <a:xfrm>
            <a:off x="4572000" y="4526280"/>
            <a:ext cx="7162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왜 이 방법인가</a:t>
            </a:r>
            <a:endParaRPr lang="en-US" sz="1800" dirty="0"/>
          </a:p>
        </p:txBody>
      </p:sp>
      <p:sp>
        <p:nvSpPr>
          <p:cNvPr id="54" name="Text 42"/>
          <p:cNvSpPr txBox="1"/>
          <p:nvPr/>
        </p:nvSpPr>
        <p:spPr>
          <a:xfrm>
            <a:off x="4572000" y="4937760"/>
            <a:ext cx="716249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오류 단서: 키워드 탐색에서 전사에 직접 근거가 드러나지 않는 양성 라벨을 발견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모델 비교: 키워드 표현과 문맥 표현이 다른 오류를 낼 가능성을 확인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원칙: 결합 비율은 Training 내부에서 확정하고, 공식 Val은 채점만 수행</a:t>
            </a:r>
            <a:endParaRPr lang="en-US" sz="1300" dirty="0"/>
          </a:p>
        </p:txBody>
      </p:sp>
      <p:sp>
        <p:nvSpPr>
          <p:cNvPr id="55" name="Text 43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submission/mission3/README.md, docs/decisions.md M3-FINAL-002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16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3  환자 증상 인식 — 최종 결과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 3-seed RoBERTa + TF-IDF 앙상블: 공식 Validation Macro F1 0.6534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667512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40080" y="242316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0.6534</a:t>
            </a:r>
            <a:endParaRPr lang="en-US" sz="3800" dirty="0"/>
          </a:p>
        </p:txBody>
      </p:sp>
      <p:sp>
        <p:nvSpPr>
          <p:cNvPr id="11" name="Text 8"/>
          <p:cNvSpPr txBox="1"/>
          <p:nvPr/>
        </p:nvSpPr>
        <p:spPr>
          <a:xfrm>
            <a:off x="640080" y="313639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Macro F1 · 공식 Val 3,640건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40080" y="3913632"/>
            <a:ext cx="2377440" cy="2103120"/>
          </a:xfrm>
          <a:prstGeom prst="roundRect">
            <a:avLst>
              <a:gd name="adj" fmla="val 4348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77240" y="3913632"/>
            <a:ext cx="3657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1188720" y="3913632"/>
            <a:ext cx="16916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Micro F1  0.6690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 예측 149건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앙상블 가중치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RoBERTa 평균 0.55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TF-IDF 0.45</a:t>
            </a:r>
            <a:endParaRPr lang="en-US" sz="13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3154680" y="2377440"/>
          <a:ext cx="384048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Shape 12"/>
          <p:cNvSpPr/>
          <p:nvPr/>
        </p:nvSpPr>
        <p:spPr>
          <a:xfrm>
            <a:off x="7406640" y="2240280"/>
            <a:ext cx="4327855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7" name="Text 13"/>
          <p:cNvSpPr txBox="1"/>
          <p:nvPr/>
        </p:nvSpPr>
        <p:spPr>
          <a:xfrm>
            <a:off x="7589520" y="2340864"/>
            <a:ext cx="39620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개선 흐름 (모두 공식 Val)</a:t>
            </a:r>
            <a:endParaRPr lang="en-US" sz="1500" dirty="0"/>
          </a:p>
        </p:txBody>
      </p:sp>
      <p:sp>
        <p:nvSpPr>
          <p:cNvPr id="18" name="Shape 14"/>
          <p:cNvSpPr/>
          <p:nvPr/>
        </p:nvSpPr>
        <p:spPr>
          <a:xfrm>
            <a:off x="7635240" y="2743200"/>
            <a:ext cx="3870655" cy="384048"/>
          </a:xfrm>
          <a:prstGeom prst="roundRect">
            <a:avLst>
              <a:gd name="adj" fmla="val 19048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7772400" y="2743200"/>
            <a:ext cx="2590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TF-IDF</a:t>
            </a:r>
            <a:endParaRPr lang="en-US" sz="1300" dirty="0"/>
          </a:p>
        </p:txBody>
      </p:sp>
      <p:sp>
        <p:nvSpPr>
          <p:cNvPr id="20" name="Text 16"/>
          <p:cNvSpPr txBox="1"/>
          <p:nvPr/>
        </p:nvSpPr>
        <p:spPr>
          <a:xfrm>
            <a:off x="10271455" y="2743200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0.5689</a:t>
            </a:r>
            <a:endParaRPr lang="en-US" sz="1300" dirty="0"/>
          </a:p>
        </p:txBody>
      </p:sp>
      <p:sp>
        <p:nvSpPr>
          <p:cNvPr id="21" name="Shape 17"/>
          <p:cNvSpPr/>
          <p:nvPr/>
        </p:nvSpPr>
        <p:spPr>
          <a:xfrm>
            <a:off x="7635240" y="3218688"/>
            <a:ext cx="3870655" cy="384048"/>
          </a:xfrm>
          <a:prstGeom prst="roundRect">
            <a:avLst>
              <a:gd name="adj" fmla="val 19048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7772400" y="3218688"/>
            <a:ext cx="2590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KcBERT</a:t>
            </a:r>
            <a:endParaRPr lang="en-US" sz="1300" dirty="0"/>
          </a:p>
        </p:txBody>
      </p:sp>
      <p:sp>
        <p:nvSpPr>
          <p:cNvPr id="23" name="Text 19"/>
          <p:cNvSpPr txBox="1"/>
          <p:nvPr/>
        </p:nvSpPr>
        <p:spPr>
          <a:xfrm>
            <a:off x="10271455" y="3218688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0.6246</a:t>
            </a:r>
            <a:endParaRPr lang="en-US" sz="1300" dirty="0"/>
          </a:p>
        </p:txBody>
      </p:sp>
      <p:sp>
        <p:nvSpPr>
          <p:cNvPr id="24" name="Shape 20"/>
          <p:cNvSpPr/>
          <p:nvPr/>
        </p:nvSpPr>
        <p:spPr>
          <a:xfrm>
            <a:off x="7635240" y="3694176"/>
            <a:ext cx="3870655" cy="384048"/>
          </a:xfrm>
          <a:prstGeom prst="roundRect">
            <a:avLst>
              <a:gd name="adj" fmla="val 19048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7772400" y="3694176"/>
            <a:ext cx="2590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RoBERTa-large</a:t>
            </a:r>
            <a:endParaRPr lang="en-US" sz="1300" dirty="0"/>
          </a:p>
        </p:txBody>
      </p:sp>
      <p:sp>
        <p:nvSpPr>
          <p:cNvPr id="26" name="Text 22"/>
          <p:cNvSpPr txBox="1"/>
          <p:nvPr/>
        </p:nvSpPr>
        <p:spPr>
          <a:xfrm>
            <a:off x="10271455" y="3694176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0.6433</a:t>
            </a:r>
            <a:endParaRPr lang="en-US" sz="1300" dirty="0"/>
          </a:p>
        </p:txBody>
      </p:sp>
      <p:sp>
        <p:nvSpPr>
          <p:cNvPr id="27" name="Shape 23"/>
          <p:cNvSpPr/>
          <p:nvPr/>
        </p:nvSpPr>
        <p:spPr>
          <a:xfrm>
            <a:off x="7635240" y="4169664"/>
            <a:ext cx="3870655" cy="384048"/>
          </a:xfrm>
          <a:prstGeom prst="roundRect">
            <a:avLst>
              <a:gd name="adj" fmla="val 19048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7772400" y="4169664"/>
            <a:ext cx="2590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앙상블</a:t>
            </a:r>
            <a:endParaRPr lang="en-US" sz="1300" dirty="0"/>
          </a:p>
        </p:txBody>
      </p:sp>
      <p:sp>
        <p:nvSpPr>
          <p:cNvPr id="29" name="Text 25"/>
          <p:cNvSpPr txBox="1"/>
          <p:nvPr/>
        </p:nvSpPr>
        <p:spPr>
          <a:xfrm>
            <a:off x="10271455" y="4169664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0.6534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7406640" y="4892040"/>
            <a:ext cx="4327855" cy="1325880"/>
          </a:xfrm>
          <a:prstGeom prst="roundRect">
            <a:avLst>
              <a:gd name="adj" fmla="val 6897"/>
            </a:avLst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1" name="Text 27"/>
          <p:cNvSpPr txBox="1"/>
          <p:nvPr/>
        </p:nvSpPr>
        <p:spPr>
          <a:xfrm>
            <a:off x="7589520" y="5001768"/>
            <a:ext cx="39620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가장 약한 증상 (빨강)</a:t>
            </a:r>
            <a:endParaRPr lang="en-US" sz="1500" dirty="0"/>
          </a:p>
        </p:txBody>
      </p:sp>
      <p:sp>
        <p:nvSpPr>
          <p:cNvPr id="32" name="Text 28"/>
          <p:cNvSpPr txBox="1"/>
          <p:nvPr/>
        </p:nvSpPr>
        <p:spPr>
          <a:xfrm>
            <a:off x="7589520" y="5413248"/>
            <a:ext cx="39620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539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오심 0.40 · 두통 0.53 · 전신쇠약 0.59</a:t>
            </a:r>
            <a:endParaRPr lang="en-US" sz="1500" dirty="0"/>
          </a:p>
        </p:txBody>
      </p:sp>
      <p:sp>
        <p:nvSpPr>
          <p:cNvPr id="33" name="Text 29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submission/mission3/README.md, m3_final_train.executed.ipynb. 모델별 점수 차이가 특정 원인만의 효과임을 뜻하지 않음.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17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3  환자 증상 인식 — 모델 선정과 오류 분석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이전 앙상블 기각과 최종 앙상블 채택은 서로 다른 실험 — 검증 조건을 구분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57200" y="2103120"/>
          <a:ext cx="1127729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Shape 6"/>
          <p:cNvSpPr/>
          <p:nvPr/>
        </p:nvSpPr>
        <p:spPr>
          <a:xfrm>
            <a:off x="457200" y="3794760"/>
            <a:ext cx="4572000" cy="1188720"/>
          </a:xfrm>
          <a:prstGeom prst="roundRect">
            <a:avLst>
              <a:gd name="adj" fmla="val 7692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594360" y="3794760"/>
            <a:ext cx="365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1005840" y="3794760"/>
            <a:ext cx="3886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선정 근거  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RoBERTa 3-seed 평균 55% + TF-IDF 45%, 임계값 0.5 고정. 결합 비율은 Training 내부 홀드아웃에서 확정.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457200" y="5074920"/>
            <a:ext cx="4572000" cy="1188720"/>
          </a:xfrm>
          <a:prstGeom prst="roundRect">
            <a:avLst>
              <a:gd name="adj" fmla="val 7692"/>
            </a:avLst>
          </a:prstGeom>
          <a:solidFill>
            <a:srgbClr val="E8F5E9"/>
          </a:solidFill>
          <a:ln w="12700">
            <a:solidFill>
              <a:srgbClr val="E8F5E9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594360" y="5074920"/>
            <a:ext cx="365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15" name="Text 11"/>
          <p:cNvSpPr txBox="1"/>
          <p:nvPr/>
        </p:nvSpPr>
        <p:spPr>
          <a:xfrm>
            <a:off x="1005840" y="5074920"/>
            <a:ext cx="3886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해석 주의  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0.6433 → 0.6534는 학습 데이터량·모델 구성이 모두 달라 통제 실험의 개선 폭으로 해석하지 않음.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5303520" y="3794760"/>
            <a:ext cx="6430975" cy="246888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7" name="Text 13"/>
          <p:cNvSpPr txBox="1"/>
          <p:nvPr/>
        </p:nvSpPr>
        <p:spPr>
          <a:xfrm>
            <a:off x="5532120" y="3904488"/>
            <a:ext cx="59737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오류 분석 — 전사에 직접 표현이 없는 양성 라벨</a:t>
            </a:r>
            <a:endParaRPr lang="en-US" sz="1500" dirty="0"/>
          </a:p>
        </p:txBody>
      </p:sp>
      <p:graphicFrame>
        <p:nvGraphicFramePr>
          <p:cNvPr id="18" name="Chart 1" descr=""/>
          <p:cNvGraphicFramePr/>
          <p:nvPr/>
        </p:nvGraphicFramePr>
        <p:xfrm>
          <a:off x="5394960" y="4251960"/>
          <a:ext cx="246888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Text 14"/>
          <p:cNvSpPr txBox="1"/>
          <p:nvPr/>
        </p:nvSpPr>
        <p:spPr>
          <a:xfrm>
            <a:off x="5394960" y="48920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E539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52%</a:t>
            </a:r>
            <a:endParaRPr lang="en-US" sz="1900" dirty="0"/>
          </a:p>
        </p:txBody>
      </p:sp>
      <p:sp>
        <p:nvSpPr>
          <p:cNvPr id="20" name="Text 15"/>
          <p:cNvSpPr txBox="1"/>
          <p:nvPr/>
        </p:nvSpPr>
        <p:spPr>
          <a:xfrm>
            <a:off x="5394960" y="532180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양성 라벨 중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표현 없음</a:t>
            </a:r>
            <a:endParaRPr lang="en-US" sz="1050" dirty="0"/>
          </a:p>
        </p:txBody>
      </p:sp>
      <p:sp>
        <p:nvSpPr>
          <p:cNvPr id="21" name="Text 16"/>
          <p:cNvSpPr txBox="1"/>
          <p:nvPr/>
        </p:nvSpPr>
        <p:spPr>
          <a:xfrm>
            <a:off x="8046720" y="4343400"/>
            <a:ext cx="16610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539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92%</a:t>
            </a:r>
            <a:endParaRPr lang="en-US" sz="3000" dirty="0"/>
          </a:p>
        </p:txBody>
      </p:sp>
      <p:sp>
        <p:nvSpPr>
          <p:cNvPr id="22" name="Text 17"/>
          <p:cNvSpPr txBox="1"/>
          <p:nvPr/>
        </p:nvSpPr>
        <p:spPr>
          <a:xfrm>
            <a:off x="8046720" y="5056632"/>
            <a:ext cx="1661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23" name="Text 18"/>
          <p:cNvSpPr txBox="1"/>
          <p:nvPr/>
        </p:nvSpPr>
        <p:spPr>
          <a:xfrm>
            <a:off x="8046720" y="5029200"/>
            <a:ext cx="1661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모델이 놓친 양성 중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 표현 없는 라벨</a:t>
            </a:r>
            <a:endParaRPr lang="en-US" sz="1100" dirty="0"/>
          </a:p>
        </p:txBody>
      </p:sp>
      <p:sp>
        <p:nvSpPr>
          <p:cNvPr id="24" name="Text 19"/>
          <p:cNvSpPr txBox="1"/>
          <p:nvPr/>
        </p:nvSpPr>
        <p:spPr>
          <a:xfrm>
            <a:off x="9799168" y="4343400"/>
            <a:ext cx="16610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9D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90%</a:t>
            </a:r>
            <a:endParaRPr lang="en-US" sz="3000" dirty="0"/>
          </a:p>
        </p:txBody>
      </p:sp>
      <p:sp>
        <p:nvSpPr>
          <p:cNvPr id="25" name="Text 20"/>
          <p:cNvSpPr txBox="1"/>
          <p:nvPr/>
        </p:nvSpPr>
        <p:spPr>
          <a:xfrm>
            <a:off x="9799168" y="5056632"/>
            <a:ext cx="1661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26" name="Text 21"/>
          <p:cNvSpPr txBox="1"/>
          <p:nvPr/>
        </p:nvSpPr>
        <p:spPr>
          <a:xfrm>
            <a:off x="9799168" y="5029200"/>
            <a:ext cx="1661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표현 있는 라벨 중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맞힌 비율</a:t>
            </a:r>
            <a:endParaRPr lang="en-US" sz="1100" dirty="0"/>
          </a:p>
        </p:txBody>
      </p:sp>
      <p:sp>
        <p:nvSpPr>
          <p:cNvPr id="27" name="Text 22"/>
          <p:cNvSpPr txBox="1"/>
          <p:nvPr/>
        </p:nvSpPr>
        <p:spPr>
          <a:xfrm>
            <a:off x="8046720" y="5669280"/>
            <a:ext cx="35048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두 모델의 오류가 달라 앙상블로 보완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(키워드 정규식 기준 탐색, 오라벨 단정 아님)</a:t>
            </a:r>
            <a:endParaRPr lang="en-US" sz="1050" dirty="0"/>
          </a:p>
        </p:txBody>
      </p:sp>
      <p:sp>
        <p:nvSpPr>
          <p:cNvPr id="28" name="Text 23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docs/decisions.md M3-FINAL-002, docs/experiment_log.md M3-ERR-001. 키워드 정규식 기준의 탐색적 결과이며 오라벨로 단정하지 않음.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 종합 및 시사점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18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(1) 성능 요약과 교훈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공식 Validation은 튜닝에 쓰지 않고, 결과를 보기 전에 고정한 기준만 확인했다.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3576218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85800" y="2331720"/>
            <a:ext cx="3119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M1 신고자 성별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2697480"/>
            <a:ext cx="2145731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98.10%</a:t>
            </a:r>
            <a:endParaRPr lang="en-US" sz="3800" dirty="0"/>
          </a:p>
        </p:txBody>
      </p:sp>
      <p:sp>
        <p:nvSpPr>
          <p:cNvPr id="12" name="Shape 9"/>
          <p:cNvSpPr/>
          <p:nvPr/>
        </p:nvSpPr>
        <p:spPr>
          <a:xfrm>
            <a:off x="2616098" y="2880360"/>
            <a:ext cx="1188720" cy="457200"/>
          </a:xfrm>
          <a:prstGeom prst="roundRect">
            <a:avLst>
              <a:gd name="adj" fmla="val 20000"/>
            </a:avLst>
          </a:prstGeom>
          <a:solidFill>
            <a:srgbClr val="E8F5E9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616098" y="288036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 +2.99%p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685800" y="3611880"/>
            <a:ext cx="31190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음향 특징 + x-vector + LR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685800" y="3886200"/>
            <a:ext cx="31190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Accuracy · 공식 Val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4307738" y="2240280"/>
            <a:ext cx="3576218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4536338" y="2331720"/>
            <a:ext cx="3119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M2 신고자/대원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4536338" y="2697480"/>
            <a:ext cx="2145731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91.49%</a:t>
            </a:r>
            <a:endParaRPr lang="en-US" sz="3800" dirty="0"/>
          </a:p>
        </p:txBody>
      </p:sp>
      <p:sp>
        <p:nvSpPr>
          <p:cNvPr id="19" name="Shape 16"/>
          <p:cNvSpPr/>
          <p:nvPr/>
        </p:nvSpPr>
        <p:spPr>
          <a:xfrm>
            <a:off x="6466637" y="2880360"/>
            <a:ext cx="1188720" cy="457200"/>
          </a:xfrm>
          <a:prstGeom prst="roundRect">
            <a:avLst>
              <a:gd name="adj" fmla="val 20000"/>
            </a:avLst>
          </a:prstGeom>
          <a:solidFill>
            <a:srgbClr val="E8F5E9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466637" y="288036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 +5.05%p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4536338" y="3611880"/>
            <a:ext cx="31190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log-mel + CNN × 3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4536338" y="3886200"/>
            <a:ext cx="31190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Accuracy · 공식 Val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8158277" y="2240280"/>
            <a:ext cx="3576218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8386877" y="2331720"/>
            <a:ext cx="3119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M3 증상 9종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8386877" y="2697480"/>
            <a:ext cx="2145731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0.6534</a:t>
            </a:r>
            <a:endParaRPr lang="en-US" sz="3800" dirty="0"/>
          </a:p>
        </p:txBody>
      </p:sp>
      <p:sp>
        <p:nvSpPr>
          <p:cNvPr id="26" name="Shape 23"/>
          <p:cNvSpPr/>
          <p:nvPr/>
        </p:nvSpPr>
        <p:spPr>
          <a:xfrm>
            <a:off x="10317175" y="2880360"/>
            <a:ext cx="1188720" cy="457200"/>
          </a:xfrm>
          <a:prstGeom prst="roundRect">
            <a:avLst>
              <a:gd name="adj" fmla="val 20000"/>
            </a:avLst>
          </a:prstGeom>
          <a:solidFill>
            <a:srgbClr val="E8F5E9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317175" y="288036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 +0.0845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8386877" y="3611880"/>
            <a:ext cx="31190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RoBERTa-large × 3 + TF-IDF</a:t>
            </a:r>
            <a:endParaRPr lang="en-US" sz="1150" dirty="0"/>
          </a:p>
        </p:txBody>
      </p:sp>
      <p:sp>
        <p:nvSpPr>
          <p:cNvPr id="29" name="Text 26"/>
          <p:cNvSpPr txBox="1"/>
          <p:nvPr/>
        </p:nvSpPr>
        <p:spPr>
          <a:xfrm>
            <a:off x="8386877" y="3886200"/>
            <a:ext cx="31190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Macro F1 · 공식 Val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457200" y="42976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baseline: M1 95.11%, M2 86.44%, M3 0.5689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457200" y="4526280"/>
            <a:ext cx="3576218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685800" y="4681728"/>
            <a:ext cx="457200" cy="457200"/>
          </a:xfrm>
          <a:prstGeom prst="ellipse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85800" y="46817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600" dirty="0"/>
          </a:p>
        </p:txBody>
      </p:sp>
      <p:sp>
        <p:nvSpPr>
          <p:cNvPr id="34" name="Text 31"/>
          <p:cNvSpPr txBox="1"/>
          <p:nvPr/>
        </p:nvSpPr>
        <p:spPr>
          <a:xfrm>
            <a:off x="1280160" y="4636008"/>
            <a:ext cx="26160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기준은 결과를 보기 전에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고정한다</a:t>
            </a:r>
            <a:endParaRPr lang="en-US" sz="1500" dirty="0"/>
          </a:p>
        </p:txBody>
      </p:sp>
      <p:sp>
        <p:nvSpPr>
          <p:cNvPr id="35" name="Text 32"/>
          <p:cNvSpPr txBox="1"/>
          <p:nvPr/>
        </p:nvSpPr>
        <p:spPr>
          <a:xfrm>
            <a:off x="685800" y="5303520"/>
            <a:ext cx="311901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결과를 본 뒤 기준을 낮추면 Validation에 과적합된다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4307738" y="4526280"/>
            <a:ext cx="3576218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4536338" y="4681728"/>
            <a:ext cx="457200" cy="457200"/>
          </a:xfrm>
          <a:prstGeom prst="ellipse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4536338" y="46817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600" dirty="0"/>
          </a:p>
        </p:txBody>
      </p:sp>
      <p:sp>
        <p:nvSpPr>
          <p:cNvPr id="39" name="Text 36"/>
          <p:cNvSpPr txBox="1"/>
          <p:nvPr/>
        </p:nvSpPr>
        <p:spPr>
          <a:xfrm>
            <a:off x="5130698" y="4636008"/>
            <a:ext cx="26160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기각도 기록한다</a:t>
            </a:r>
            <a:endParaRPr lang="en-US" sz="1500" dirty="0"/>
          </a:p>
        </p:txBody>
      </p:sp>
      <p:sp>
        <p:nvSpPr>
          <p:cNvPr id="40" name="Text 37"/>
          <p:cNvSpPr txBox="1"/>
          <p:nvPr/>
        </p:nvSpPr>
        <p:spPr>
          <a:xfrm>
            <a:off x="4536338" y="5303520"/>
            <a:ext cx="311901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효과 없던 실험과 그 이유를 decisions.md에 남겨 같은 시도를 반복하지 않음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8158277" y="4526280"/>
            <a:ext cx="3576218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8386877" y="4681728"/>
            <a:ext cx="457200" cy="457200"/>
          </a:xfrm>
          <a:prstGeom prst="ellipse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8386877" y="46817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600" dirty="0"/>
          </a:p>
        </p:txBody>
      </p:sp>
      <p:sp>
        <p:nvSpPr>
          <p:cNvPr id="44" name="Text 41"/>
          <p:cNvSpPr txBox="1"/>
          <p:nvPr/>
        </p:nvSpPr>
        <p:spPr>
          <a:xfrm>
            <a:off x="8981237" y="4636008"/>
            <a:ext cx="26160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규칙은 설계 단계에서 지킨다</a:t>
            </a:r>
            <a:endParaRPr lang="en-US" sz="1500" dirty="0"/>
          </a:p>
        </p:txBody>
      </p:sp>
      <p:sp>
        <p:nvSpPr>
          <p:cNvPr id="45" name="Text 42"/>
          <p:cNvSpPr txBox="1"/>
          <p:nvPr/>
        </p:nvSpPr>
        <p:spPr>
          <a:xfrm>
            <a:off x="8386877" y="5303520"/>
            <a:ext cx="311901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 위반 소지가 있는 특징은 성능이 좋아도 제거 (M2 통화 단위 정보)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 종합 및 시사점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19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(2) 사회안전 시사점과 향후 계획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미션을 이으면, 신고 전화가 들어오는 순간부터 출동 판단까지를 돕는 하나의 흐름이 된다.</a:t>
            </a:r>
            <a:endParaRPr lang="en-US" sz="1500" dirty="0"/>
          </a:p>
        </p:txBody>
      </p:sp>
      <p:pic>
        <p:nvPicPr>
          <p:cNvPr id="9" name="Image 1" descr="figures/anim/flow_pipeline.gif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8" y="2194560"/>
            <a:ext cx="10972800" cy="132588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57200" y="3611880"/>
            <a:ext cx="45720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685800" y="3721608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기대효과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685800" y="4206240"/>
            <a:ext cx="4114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시간 단축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— 수기 기록 부담 감소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누락 방지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— 긴박한 통화 속 증상 언급 표시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 보조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— 출동 우선순위 결정 지원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5394960" y="3611880"/>
            <a:ext cx="6339535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5623560" y="3721608"/>
            <a:ext cx="58823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본선까지 향후 계획</a:t>
            </a:r>
            <a:endParaRPr lang="en-US" sz="1800" dirty="0"/>
          </a:p>
        </p:txBody>
      </p:sp>
      <p:sp>
        <p:nvSpPr>
          <p:cNvPr id="15" name="Text 11"/>
          <p:cNvSpPr txBox="1"/>
          <p:nvPr/>
        </p:nvSpPr>
        <p:spPr>
          <a:xfrm>
            <a:off x="5623560" y="4206240"/>
            <a:ext cx="588233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M1  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오분류 통화 정성 분석, 피치(F0) 특징 검증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M2  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사전학습 음성 모델(WavLM) 앙상블의 공식 검증, 짧은 응답 발화 보강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M3  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 없는 라벨 구간 오류 분석, 오심·두통 개선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공통  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통화 도중 실시간 처리 시나리오 검토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457200" y="5852160"/>
            <a:ext cx="11277295" cy="457200"/>
          </a:xfrm>
          <a:prstGeom prst="roundRect">
            <a:avLst>
              <a:gd name="adj" fmla="val 20000"/>
            </a:avLst>
          </a:prstGeom>
          <a:solidFill>
            <a:srgbClr val="F8F9FA"/>
          </a:solidFill>
          <a:ln w="12700">
            <a:solidFill>
              <a:srgbClr val="F8F9FA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94360" y="585216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18" name="Text 14"/>
          <p:cNvSpPr txBox="1"/>
          <p:nvPr/>
        </p:nvSpPr>
        <p:spPr>
          <a:xfrm>
            <a:off x="1005840" y="5852160"/>
            <a:ext cx="105914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유의점  </a:t>
            </a:r>
            <a:pPr indent="0" marL="0">
              <a:buNone/>
            </a:pPr>
            <a:r>
              <a:rPr lang="en-US" sz="12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출력은 요원의 판단을 돕는 정보이며, 오분류 가능성을 감안해 사람이 최종 확인한다.</a:t>
            </a:r>
            <a:endParaRPr lang="en-US" sz="1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closing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20116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 eigensinn  |  김장수 · 김광희 · 지연우 · 이수빈 · 조지은</a:t>
            </a:r>
            <a:endParaRPr lang="en-US" sz="16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2359152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코드 · 실험 기록: GitHub eigensinn-dcc2026/prelim  (docs/experiment_log.md, docs/decisions.md)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DCC 2026 대학부 예선 결과 정리 — eigensinn</dc:title>
  <dc:subject>PptxGenJS Presentation</dc:subject>
  <dc:creator>PptxGenJS</dc:creator>
  <cp:lastModifiedBy>PptxGenJS</cp:lastModifiedBy>
  <cp:revision>1</cp:revision>
  <dcterms:created xsi:type="dcterms:W3CDTF">2026-10-12T18:43:05Z</dcterms:created>
  <dcterms:modified xsi:type="dcterms:W3CDTF">2026-10-12T18:43:05Z</dcterms:modified>
</cp:coreProperties>
</file>