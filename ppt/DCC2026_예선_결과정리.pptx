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charts/chart1.xml" ContentType="application/vnd.openxmlformats-officedocument.drawingml.chart+xml"/>
  <Override PartName="/ppt/slides/slide7.xml" ContentType="application/vnd.openxmlformats-officedocument.presentationml.slide+xml"/>
  <Override PartName="/ppt/slides/slide8.xml" ContentType="application/vnd.openxmlformats-officedocument.presentationml.slide+xml"/>
  <Override PartName="/ppt/charts/chart2.xml" ContentType="application/vnd.openxmlformats-officedocument.drawingml.chart+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harts/chart3.xml" ContentType="application/vnd.openxmlformats-officedocument.drawingml.chart+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charts/chart4.xml" ContentType="application/vnd.openxmlformats-officedocument.drawingml.chart+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charts/chart5.xml" ContentType="application/vnd.openxmlformats-officedocument.drawingml.chart+xml"/>
  <Override PartName="/ppt/slides/slide31.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charts/chart8.xml" ContentType="application/vnd.openxmlformats-officedocument.drawingml.chart+xml"/>
  <Override PartName="/ppt/slides/slide36.xml" ContentType="application/vnd.openxmlformats-officedocument.presentationml.slide+xml"/>
  <Override PartName="/ppt/charts/chart9.xml" ContentType="application/vnd.openxmlformats-officedocument.drawingml.chart+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12121"/>
                </a:solidFill>
                <a:latin typeface="맑은 고딕"/>
              </a:defRPr>
            </a:pPr>
            <a:r>
              <a:rPr sz="1100" b="0" i="0" u="none" strike="noStrike">
                <a:solidFill>
                  <a:srgbClr val="212121"/>
                </a:solidFill>
                <a:latin typeface="맑은 고딕"/>
              </a:rPr>
              <a:t>Training 통화 기준 (%)</a:t>
            </a:r>
          </a:p>
        </c:rich>
      </c:tx>
      <c:layout/>
      <c:overlay val="0"/>
    </c:title>
    <c:autoTitleDeleted val="0"/>
    <c:plotArea>
      <c:layout/>
      <c:barChart>
        <c:barDir val="col"/>
        <c:grouping val="clustered"/>
        <c:varyColors val="0"/>
        <c:ser>
          <c:idx val="0"/>
          <c:order val="0"/>
          <c:tx>
            <c:strRef>
              <c:f>Sheet1!$B$1</c:f>
              <c:strCache>
                <c:ptCount val="1"/>
                <c:pt idx="0">
                  <c:v>%</c:v>
                </c:pt>
              </c:strCache>
            </c:strRef>
          </c:tx>
          <c:spPr>
            <a:solidFill>
              <a:srgbClr val="009DDA"/>
            </a:solidFill>
            <a:effectLst/>
          </c:spPr>
          <c:invertIfNegative val="0"/>
          <c:dLbls>
            <c:numFmt formatCode="0.00" sourceLinked="0"/>
            <c:txPr>
              <a:bodyPr/>
              <a:lstStyle/>
              <a:p>
                <a:pPr>
                  <a:defRPr b="1" i="0" strike="noStrike" sz="14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9DDA"/>
              </a:solidFill>
              <a:effectLst/>
            </c:spPr>
          </c:dPt>
          <c:dPt>
            <c:idx val="1"/>
            <c:invertIfNegative val="0"/>
            <c:bubble3D val="0"/>
            <c:spPr>
              <a:solidFill>
                <a:srgbClr val="E53935"/>
              </a:solidFill>
              <a:effectLst/>
            </c:spPr>
          </c:dPt>
          <c:cat>
            <c:multiLvlStrRef>
              <c:f>Sheet1!$A$2:$A$3</c:f>
              <c:multiLvlStrCache>
                <c:ptCount val="2"/>
                <c:lvl>
                  <c:pt idx="0">
                    <c:v>겹침이 있는
통화 비율</c:v>
                  </c:pt>
                  <c:pt idx="1">
                    <c:v>통화당 겹침 시간
(중앙값)</c:v>
                  </c:pt>
                </c:lvl>
              </c:multiLvlStrCache>
            </c:multiLvlStrRef>
          </c:cat>
          <c:val>
            <c:numRef>
              <c:f>Sheet1!$B$2:$B$3</c:f>
              <c:numCache>
                <c:formatCode>General</c:formatCode>
                <c:ptCount val="2"/>
                <c:pt idx="0">
                  <c:v>98.15</c:v>
                </c:pt>
                <c:pt idx="1">
                  <c:v>3.82</c:v>
                </c:pt>
              </c:numCache>
            </c:numRef>
          </c:val>
        </c:ser>
        <c:dLbls>
          <c:numFmt formatCode="0.00" sourceLinked="0"/>
          <c:txPr>
            <a:bodyPr/>
            <a:lstStyle/>
            <a:p>
              <a:pPr>
                <a:defRPr b="1" i="0" strike="noStrike" sz="14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212121"/>
                </a:solidFill>
                <a:latin typeface="맑은 고딕"/>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1616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12121"/>
                </a:solidFill>
                <a:latin typeface="맑은 고딕"/>
              </a:defRPr>
            </a:pPr>
            <a:r>
              <a:rPr sz="1200" b="0" i="0" u="none" strike="noStrike">
                <a:solidFill>
                  <a:srgbClr val="212121"/>
                </a:solidFill>
                <a:latin typeface="맑은 고딕"/>
              </a:rPr>
              <a:t>공식 Validation Accuracy (%)</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E0E0E0"/>
            </a:solidFill>
            <a:effectLst/>
          </c:spPr>
          <c:invertIfNegative val="0"/>
          <c:dLbls>
            <c:numFmt formatCode="0.00" sourceLinked="0"/>
            <c:txPr>
              <a:bodyPr/>
              <a:lstStyle/>
              <a:p>
                <a:pPr>
                  <a:defRPr b="1" i="0" strike="noStrike" sz="12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E0E0E0"/>
              </a:solidFill>
              <a:effectLst/>
            </c:spPr>
          </c:dPt>
          <c:dPt>
            <c:idx val="1"/>
            <c:invertIfNegative val="0"/>
            <c:bubble3D val="0"/>
            <c:spPr>
              <a:solidFill>
                <a:srgbClr val="009DDA"/>
              </a:solidFill>
              <a:effectLst/>
            </c:spPr>
          </c:dPt>
          <c:dPt>
            <c:idx val="2"/>
            <c:invertIfNegative val="0"/>
            <c:bubble3D val="0"/>
            <c:spPr>
              <a:solidFill>
                <a:srgbClr val="009DDA"/>
              </a:solidFill>
              <a:effectLst/>
            </c:spPr>
          </c:dPt>
          <c:dPt>
            <c:idx val="3"/>
            <c:invertIfNegative val="0"/>
            <c:bubble3D val="0"/>
            <c:spPr>
              <a:solidFill>
                <a:srgbClr val="2F4E91"/>
              </a:solidFill>
              <a:effectLst/>
            </c:spPr>
          </c:dPt>
          <c:cat>
            <c:multiLvlStrRef>
              <c:f>Sheet1!$A$2:$A$5</c:f>
              <c:multiLvlStrCache>
                <c:ptCount val="4"/>
                <c:lvl>
                  <c:pt idx="0">
                    <c:v>① 음향 특징 52개
+ LR (baseline)</c:v>
                  </c:pt>
                  <c:pt idx="1">
                    <c:v>② + x-vector
(앞 20초)</c:v>
                  </c:pt>
                  <c:pt idx="2">
                    <c:v>③ + 여러 구간
평균 x-vector</c:v>
                  </c:pt>
                  <c:pt idx="3">
                    <c:v>④ ③을 전체 데이터로
재학습 (제출)</c:v>
                  </c:pt>
                </c:lvl>
              </c:multiLvlStrCache>
            </c:multiLvlStrRef>
          </c:cat>
          <c:val>
            <c:numRef>
              <c:f>Sheet1!$B$2:$B$5</c:f>
              <c:numCache>
                <c:formatCode>General</c:formatCode>
                <c:ptCount val="4"/>
                <c:pt idx="0">
                  <c:v>95.11</c:v>
                </c:pt>
                <c:pt idx="1">
                  <c:v>97.47</c:v>
                </c:pt>
                <c:pt idx="2">
                  <c:v>98.13</c:v>
                </c:pt>
                <c:pt idx="3">
                  <c:v>98.1</c:v>
                </c:pt>
              </c:numCache>
            </c:numRef>
          </c:val>
        </c:ser>
        <c:dLbls>
          <c:numFmt formatCode="0.00" sourceLinked="0"/>
          <c:txPr>
            <a:bodyPr/>
            <a:lstStyle/>
            <a:p>
              <a:pPr>
                <a:defRPr b="1"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12121"/>
                </a:solidFill>
                <a:latin typeface="맑은 고딕"/>
              </a:defRPr>
            </a:pPr>
            <a:endParaRPr lang="en-US"/>
          </a:p>
        </c:txPr>
        <c:crossAx val="2094734552"/>
        <c:crosses val="autoZero"/>
        <c:auto val="1"/>
        <c:lblAlgn val="ctr"/>
        <c:noMultiLvlLbl val="1"/>
      </c:catAx>
      <c:valAx>
        <c:axId val="2094734552"/>
        <c:scaling>
          <c:orientation val="minMax"/>
          <c:max val="99"/>
          <c:min val="94"/>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1616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12121"/>
                </a:solidFill>
                <a:latin typeface="맑은 고딕"/>
              </a:defRPr>
            </a:pPr>
            <a:r>
              <a:rPr sz="1200" b="0" i="0" u="none" strike="noStrike">
                <a:solidFill>
                  <a:srgbClr val="212121"/>
                </a:solidFill>
                <a:latin typeface="맑은 고딕"/>
              </a:rPr>
              <a:t>공식 Validation Accuracy (%)</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E0E0E0"/>
            </a:solidFill>
            <a:effectLst/>
          </c:spPr>
          <c:invertIfNegative val="0"/>
          <c:dLbls>
            <c:numFmt formatCode="0.00" sourceLinked="0"/>
            <c:txPr>
              <a:bodyPr/>
              <a:lstStyle/>
              <a:p>
                <a:pPr>
                  <a:defRPr b="1" i="0" strike="noStrike" sz="12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E0E0E0"/>
              </a:solidFill>
              <a:effectLst/>
            </c:spPr>
          </c:dPt>
          <c:dPt>
            <c:idx val="1"/>
            <c:invertIfNegative val="0"/>
            <c:bubble3D val="0"/>
            <c:spPr>
              <a:solidFill>
                <a:srgbClr val="009DDA"/>
              </a:solidFill>
              <a:effectLst/>
            </c:spPr>
          </c:dPt>
          <c:dPt>
            <c:idx val="2"/>
            <c:invertIfNegative val="0"/>
            <c:bubble3D val="0"/>
            <c:spPr>
              <a:solidFill>
                <a:srgbClr val="2F4E91"/>
              </a:solidFill>
              <a:effectLst/>
            </c:spPr>
          </c:dPt>
          <c:cat>
            <c:multiLvlStrRef>
              <c:f>Sheet1!$A$2:$A$4</c:f>
              <c:multiLvlStrCache>
                <c:ptCount val="3"/>
                <c:lvl>
                  <c:pt idx="0">
                    <c:v>L1 LightGBM</c:v>
                  </c:pt>
                  <c:pt idx="1">
                    <c:v>L2 CNN 단일</c:v>
                  </c:pt>
                  <c:pt idx="2">
                    <c:v>L2 CNN
3-seed 앙상블</c:v>
                  </c:pt>
                </c:lvl>
              </c:multiLvlStrCache>
            </c:multiLvlStrRef>
          </c:cat>
          <c:val>
            <c:numRef>
              <c:f>Sheet1!$B$2:$B$4</c:f>
              <c:numCache>
                <c:formatCode>General</c:formatCode>
                <c:ptCount val="3"/>
                <c:pt idx="0">
                  <c:v>86.44</c:v>
                </c:pt>
                <c:pt idx="1">
                  <c:v>90.98</c:v>
                </c:pt>
                <c:pt idx="2">
                  <c:v>91.49</c:v>
                </c:pt>
              </c:numCache>
            </c:numRef>
          </c:val>
        </c:ser>
        <c:dLbls>
          <c:numFmt formatCode="0.00" sourceLinked="0"/>
          <c:txPr>
            <a:bodyPr/>
            <a:lstStyle/>
            <a:p>
              <a:pPr>
                <a:defRPr b="1"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12121"/>
                </a:solidFill>
                <a:latin typeface="맑은 고딕"/>
              </a:defRPr>
            </a:pPr>
            <a:endParaRPr lang="en-US"/>
          </a:p>
        </c:txPr>
        <c:crossAx val="2094734552"/>
        <c:crosses val="autoZero"/>
        <c:auto val="1"/>
        <c:lblAlgn val="ctr"/>
        <c:noMultiLvlLbl val="1"/>
      </c:catAx>
      <c:valAx>
        <c:axId val="2094734552"/>
        <c:scaling>
          <c:orientation val="minMax"/>
          <c:max val="93"/>
          <c:min val="84"/>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1616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12121"/>
                </a:solidFill>
                <a:latin typeface="맑은 고딕"/>
              </a:defRPr>
            </a:pPr>
            <a:r>
              <a:rPr sz="1100" b="0" i="0" u="none" strike="noStrike">
                <a:solidFill>
                  <a:srgbClr val="212121"/>
                </a:solidFill>
                <a:latin typeface="맑은 고딕"/>
              </a:rPr>
              <a:t>모델별 Official Validation Accuracy (%)</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009DDA"/>
            </a:solidFill>
            <a:effectLst/>
          </c:spPr>
          <c:invertIfNegative val="0"/>
          <c:dLbls>
            <c:numFmt formatCode="0.00" sourceLinked="0"/>
            <c:txPr>
              <a:bodyPr/>
              <a:lstStyle/>
              <a:p>
                <a:pPr>
                  <a:defRPr b="1" i="0" strike="noStrike" sz="10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9DDA"/>
              </a:solidFill>
              <a:effectLst/>
            </c:spPr>
          </c:dPt>
          <c:dPt>
            <c:idx val="1"/>
            <c:invertIfNegative val="0"/>
            <c:bubble3D val="0"/>
            <c:spPr>
              <a:solidFill>
                <a:srgbClr val="009DDA"/>
              </a:solidFill>
              <a:effectLst/>
            </c:spPr>
          </c:dPt>
          <c:dPt>
            <c:idx val="2"/>
            <c:invertIfNegative val="0"/>
            <c:bubble3D val="0"/>
            <c:spPr>
              <a:solidFill>
                <a:srgbClr val="009DDA"/>
              </a:solidFill>
              <a:effectLst/>
            </c:spPr>
          </c:dPt>
          <c:dPt>
            <c:idx val="3"/>
            <c:invertIfNegative val="0"/>
            <c:bubble3D val="0"/>
            <c:spPr>
              <a:solidFill>
                <a:srgbClr val="2F4E91"/>
              </a:solidFill>
              <a:effectLst/>
            </c:spPr>
          </c:dPt>
          <c:cat>
            <c:multiLvlStrRef>
              <c:f>Sheet1!$A$2:$A$5</c:f>
              <c:multiLvlStrCache>
                <c:ptCount val="4"/>
                <c:lvl>
                  <c:pt idx="0">
                    <c:v>TabM</c:v>
                  </c:pt>
                  <c:pt idx="1">
                    <c:v>ResNet</c:v>
                  </c:pt>
                  <c:pt idx="2">
                    <c:v>GANDALF</c:v>
                  </c:pt>
                  <c:pt idx="3">
                    <c:v>E_TRG</c:v>
                  </c:pt>
                </c:lvl>
              </c:multiLvlStrCache>
            </c:multiLvlStrRef>
          </c:cat>
          <c:val>
            <c:numRef>
              <c:f>Sheet1!$B$2:$B$5</c:f>
              <c:numCache>
                <c:formatCode>General</c:formatCode>
                <c:ptCount val="4"/>
                <c:pt idx="0">
                  <c:v>88.056</c:v>
                </c:pt>
                <c:pt idx="1">
                  <c:v>88.0854</c:v>
                </c:pt>
                <c:pt idx="2">
                  <c:v>88.1864</c:v>
                </c:pt>
                <c:pt idx="3">
                  <c:v>88.4919</c:v>
                </c:pt>
              </c:numCache>
            </c:numRef>
          </c:val>
        </c:ser>
        <c:dLbls>
          <c:numFmt formatCode="0.00" sourceLinked="0"/>
          <c:txPr>
            <a:bodyPr/>
            <a:lstStyle/>
            <a:p>
              <a:pPr>
                <a:defRPr b="1"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12121"/>
                </a:solidFill>
                <a:latin typeface="맑은 고딕"/>
              </a:defRPr>
            </a:pPr>
            <a:endParaRPr lang="en-US"/>
          </a:p>
        </c:txPr>
        <c:crossAx val="2094734552"/>
        <c:crosses val="autoZero"/>
        <c:auto val="1"/>
        <c:lblAlgn val="ctr"/>
        <c:noMultiLvlLbl val="1"/>
      </c:catAx>
      <c:valAx>
        <c:axId val="2094734552"/>
        <c:scaling>
          <c:orientation val="minMax"/>
          <c:max val="90"/>
          <c:min val="86"/>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1616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12121"/>
                </a:solidFill>
                <a:latin typeface="맑은 고딕"/>
              </a:defRPr>
            </a:pPr>
            <a:r>
              <a:rPr sz="1100" b="0" i="0" u="none" strike="noStrike">
                <a:solidFill>
                  <a:srgbClr val="212121"/>
                </a:solidFill>
                <a:latin typeface="맑은 고딕"/>
              </a:rPr>
              <a:t>증상별 F1 (최종 앙상블, 공식 Val)</a:t>
            </a:r>
          </a:p>
        </c:rich>
      </c:tx>
      <c:layout/>
      <c:overlay val="0"/>
    </c:title>
    <c:autoTitleDeleted val="0"/>
    <c:plotArea>
      <c:layout/>
      <c:barChart>
        <c:barDir val="bar"/>
        <c:grouping val="clustered"/>
        <c:varyColors val="0"/>
        <c:ser>
          <c:idx val="0"/>
          <c:order val="0"/>
          <c:tx>
            <c:strRef>
              <c:f>Sheet1!$B$1</c:f>
              <c:strCache>
                <c:ptCount val="1"/>
                <c:pt idx="0">
                  <c:v>F1</c:v>
                </c:pt>
              </c:strCache>
            </c:strRef>
          </c:tx>
          <c:spPr>
            <a:solidFill>
              <a:srgbClr val="009DDA"/>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9DDA"/>
              </a:solidFill>
              <a:effectLst/>
            </c:spPr>
          </c:dPt>
          <c:dPt>
            <c:idx val="1"/>
            <c:invertIfNegative val="0"/>
            <c:bubble3D val="0"/>
            <c:spPr>
              <a:solidFill>
                <a:srgbClr val="009DDA"/>
              </a:solidFill>
              <a:effectLst/>
            </c:spPr>
          </c:dPt>
          <c:dPt>
            <c:idx val="2"/>
            <c:invertIfNegative val="0"/>
            <c:bubble3D val="0"/>
            <c:spPr>
              <a:solidFill>
                <a:srgbClr val="009DDA"/>
              </a:solidFill>
              <a:effectLst/>
            </c:spPr>
          </c:dPt>
          <c:dPt>
            <c:idx val="3"/>
            <c:invertIfNegative val="0"/>
            <c:bubble3D val="0"/>
            <c:spPr>
              <a:solidFill>
                <a:srgbClr val="009DDA"/>
              </a:solidFill>
              <a:effectLst/>
            </c:spPr>
          </c:dPt>
          <c:dPt>
            <c:idx val="4"/>
            <c:invertIfNegative val="0"/>
            <c:bubble3D val="0"/>
            <c:spPr>
              <a:solidFill>
                <a:srgbClr val="009DDA"/>
              </a:solidFill>
              <a:effectLst/>
            </c:spPr>
          </c:dPt>
          <c:dPt>
            <c:idx val="5"/>
            <c:invertIfNegative val="0"/>
            <c:bubble3D val="0"/>
            <c:spPr>
              <a:solidFill>
                <a:srgbClr val="009DDA"/>
              </a:solidFill>
              <a:effectLst/>
            </c:spPr>
          </c:dPt>
          <c:dPt>
            <c:idx val="6"/>
            <c:invertIfNegative val="0"/>
            <c:bubble3D val="0"/>
            <c:spPr>
              <a:solidFill>
                <a:srgbClr val="E53935"/>
              </a:solidFill>
              <a:effectLst/>
            </c:spPr>
          </c:dPt>
          <c:dPt>
            <c:idx val="7"/>
            <c:invertIfNegative val="0"/>
            <c:bubble3D val="0"/>
            <c:spPr>
              <a:solidFill>
                <a:srgbClr val="E53935"/>
              </a:solidFill>
              <a:effectLst/>
            </c:spPr>
          </c:dPt>
          <c:dPt>
            <c:idx val="8"/>
            <c:invertIfNegative val="0"/>
            <c:bubble3D val="0"/>
            <c:spPr>
              <a:solidFill>
                <a:srgbClr val="E53935"/>
              </a:solidFill>
              <a:effectLst/>
            </c:spPr>
          </c:dPt>
          <c:cat>
            <c:multiLvlStrRef>
              <c:f>Sheet1!$A$2:$A$10</c:f>
              <c:multiLvlStrCache>
                <c:ptCount val="9"/>
                <c:lvl>
                  <c:pt idx="0">
                    <c:v>열상</c:v>
                  </c:pt>
                  <c:pt idx="1">
                    <c:v>복통</c:v>
                  </c:pt>
                  <c:pt idx="2">
                    <c:v>고열</c:v>
                  </c:pt>
                  <c:pt idx="3">
                    <c:v>호흡곤란</c:v>
                  </c:pt>
                  <c:pt idx="4">
                    <c:v>어지러움</c:v>
                  </c:pt>
                  <c:pt idx="5">
                    <c:v>구토</c:v>
                  </c:pt>
                  <c:pt idx="6">
                    <c:v>전신쇠약</c:v>
                  </c:pt>
                  <c:pt idx="7">
                    <c:v>두통</c:v>
                  </c:pt>
                  <c:pt idx="8">
                    <c:v>오심</c:v>
                  </c:pt>
                </c:lvl>
              </c:multiLvlStrCache>
            </c:multiLvlStrRef>
          </c:cat>
          <c:val>
            <c:numRef>
              <c:f>Sheet1!$B$2:$B$10</c:f>
              <c:numCache>
                <c:formatCode>General</c:formatCode>
                <c:ptCount val="9"/>
                <c:pt idx="0">
                  <c:v>0.8828</c:v>
                </c:pt>
                <c:pt idx="1">
                  <c:v>0.8271</c:v>
                </c:pt>
                <c:pt idx="2">
                  <c:v>0.7001</c:v>
                </c:pt>
                <c:pt idx="3">
                  <c:v>0.6795</c:v>
                </c:pt>
                <c:pt idx="4">
                  <c:v>0.657</c:v>
                </c:pt>
                <c:pt idx="5">
                  <c:v>0.6088</c:v>
                </c:pt>
                <c:pt idx="6">
                  <c:v>0.5939</c:v>
                </c:pt>
                <c:pt idx="7">
                  <c:v>0.5315</c:v>
                </c:pt>
                <c:pt idx="8">
                  <c:v>0.4</c:v>
                </c:pt>
              </c:numCache>
            </c:numRef>
          </c:val>
        </c:ser>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12121"/>
                </a:solidFill>
                <a:latin typeface="맑은 고딕"/>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1616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Macro F1 · 공식 Val</c:v>
                </c:pt>
              </c:strCache>
            </c:strRef>
          </c:tx>
          <c:spPr>
            <a:solidFill>
              <a:srgbClr val="009DDA"/>
            </a:solidFill>
            <a:effectLst/>
          </c:spPr>
          <c:invertIfNegative val="0"/>
          <c:dLbls>
            <c:numFmt formatCode="0.0000" sourceLinked="0"/>
            <c:txPr>
              <a:bodyPr/>
              <a:lstStyle/>
              <a:p>
                <a:pPr>
                  <a:defRPr b="1"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9DDA"/>
              </a:solidFill>
              <a:effectLst/>
            </c:spPr>
          </c:dPt>
          <c:dPt>
            <c:idx val="1"/>
            <c:invertIfNegative val="0"/>
            <c:bubble3D val="0"/>
            <c:spPr>
              <a:solidFill>
                <a:srgbClr val="2F4E91"/>
              </a:solidFill>
              <a:effectLst/>
            </c:spPr>
          </c:dPt>
          <c:dPt>
            <c:idx val="2"/>
            <c:invertIfNegative val="0"/>
            <c:bubble3D val="0"/>
            <c:spPr>
              <a:solidFill>
                <a:srgbClr val="2F4E91"/>
              </a:solidFill>
              <a:effectLst/>
            </c:spPr>
          </c:dPt>
          <c:dPt>
            <c:idx val="3"/>
            <c:invertIfNegative val="0"/>
            <c:bubble3D val="0"/>
            <c:spPr>
              <a:solidFill>
                <a:srgbClr val="8BC34A"/>
              </a:solidFill>
              <a:effectLst/>
            </c:spPr>
          </c:dPt>
          <c:cat>
            <c:multiLvlStrRef>
              <c:f>Sheet1!$A$2:$A$5</c:f>
              <c:multiLvlStrCache>
                <c:ptCount val="4"/>
                <c:lvl>
                  <c:pt idx="0">
                    <c:v>TF-IDF + LR (기준선)</c:v>
                  </c:pt>
                  <c:pt idx="1">
                    <c:v>KcBERT-005</c:v>
                  </c:pt>
                  <c:pt idx="2">
                    <c:v>RoBERTa-003</c:v>
                  </c:pt>
                  <c:pt idx="3">
                    <c:v>최종 RoBERTa×3 + TF-IDF</c:v>
                  </c:pt>
                </c:lvl>
              </c:multiLvlStrCache>
            </c:multiLvlStrRef>
          </c:cat>
          <c:val>
            <c:numRef>
              <c:f>Sheet1!$B$2:$B$5</c:f>
              <c:numCache>
                <c:formatCode>General</c:formatCode>
                <c:ptCount val="4"/>
                <c:pt idx="0">
                  <c:v>0.5689</c:v>
                </c:pt>
                <c:pt idx="1">
                  <c:v>0.6246</c:v>
                </c:pt>
                <c:pt idx="2">
                  <c:v>0.6433</c:v>
                </c:pt>
                <c:pt idx="3">
                  <c:v>0.6534</c:v>
                </c:pt>
              </c:numCache>
            </c:numRef>
          </c:val>
        </c:ser>
        <c:dLbls>
          <c:numFmt formatCode="0.0000" sourceLinked="0"/>
          <c:txPr>
            <a:bodyPr/>
            <a:lstStyle/>
            <a:p>
              <a:pPr>
                <a:defRPr b="1"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12121"/>
                </a:solidFill>
                <a:latin typeface="맑은 고딕"/>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1616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양성 라벨</c:v>
                </c:pt>
              </c:strCache>
            </c:strRef>
          </c:tx>
          <c:spPr>
            <a:solidFill>
              <a:schemeClr val="accent1"/>
            </a:solidFill>
            <a:ln w="9525" cap="flat">
              <a:solidFill>
                <a:srgbClr val="F9F9F9"/>
              </a:solidFill>
              <a:prstDash val="solid"/>
              <a:round/>
            </a:ln>
            <a:effectLst/>
          </c:spPr>
          <c:dPt>
            <c:idx val="0"/>
            <c:bubble3D val="0"/>
            <c:spPr>
              <a:solidFill>
                <a:srgbClr val="E53935"/>
              </a:solidFill>
              <a:ln w="12700" cap="flat">
                <a:solidFill>
                  <a:srgbClr val="FFFFFF"/>
                </a:solidFill>
                <a:prstDash val="solid"/>
                <a:round/>
              </a:ln>
              <a:effectLst/>
            </c:spPr>
          </c:dPt>
          <c:dPt>
            <c:idx val="1"/>
            <c:bubble3D val="0"/>
            <c:spPr>
              <a:solidFill>
                <a:srgbClr val="E0E0E0"/>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직접 표현 없음</c:v>
                </c:pt>
                <c:pt idx="1">
                  <c:v>직접 표현 있음</c:v>
                </c:pt>
              </c:strCache>
            </c:strRef>
          </c:cat>
          <c:val>
            <c:numRef>
              <c:f>Sheet1!$B$2:$B$3</c:f>
              <c:numCache>
                <c:ptCount val="2"/>
                <c:pt idx="0">
                  <c:v>52</c:v>
                </c:pt>
                <c:pt idx="1">
                  <c:v>48</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12121"/>
                </a:solidFill>
                <a:latin typeface="맑은 고딕"/>
              </a:defRPr>
            </a:pPr>
            <a:r>
              <a:rPr sz="1150" b="0" i="0" u="none" strike="noStrike">
                <a:solidFill>
                  <a:srgbClr val="212121"/>
                </a:solidFill>
                <a:latin typeface="맑은 고딕"/>
              </a:rPr>
              <a:t>512토큰 모델의 epoch별 내부 홀드아웃 Macro F1</a:t>
            </a:r>
          </a:p>
        </c:rich>
      </c:tx>
      <c:layout/>
      <c:overlay val="0"/>
    </c:title>
    <c:autoTitleDeleted val="0"/>
    <c:plotArea>
      <c:layout/>
      <c:lineChart>
        <c:varyColors val="0"/>
        <c:ser>
          <c:idx val="0"/>
          <c:order val="0"/>
          <c:tx>
            <c:strRef>
              <c:f>Sheet1!$B$1</c:f>
              <c:strCache>
                <c:ptCount val="1"/>
                <c:pt idx="0">
                  <c:v>512토큰 모델</c:v>
                </c:pt>
              </c:strCache>
            </c:strRef>
          </c:tx>
          <c:spPr>
            <a:solidFill>
              <a:srgbClr val="2F4E91"/>
            </a:solidFill>
            <a:ln w="27940" cap="flat">
              <a:solidFill>
                <a:srgbClr val="2F4E9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F4E91"/>
              </a:solidFill>
              <a:ln w="9525" cap="flat">
                <a:solidFill>
                  <a:srgbClr val="2F4E91"/>
                </a:solidFill>
                <a:prstDash val="solid"/>
                <a:round/>
              </a:ln>
              <a:effectLst/>
            </c:spPr>
          </c:marker>
          <c:cat>
            <c:multiLvlStrRef>
              <c:f>Sheet1!$A$2:$A$4</c:f>
              <c:multiLvlStrCache>
                <c:ptCount val="3"/>
                <c:lvl>
                  <c:pt idx="0">
                    <c:v>Epoch 1</c:v>
                  </c:pt>
                  <c:pt idx="1">
                    <c:v>Epoch 2</c:v>
                  </c:pt>
                  <c:pt idx="2">
                    <c:v>Epoch 3</c:v>
                  </c:pt>
                </c:lvl>
              </c:multiLvlStrCache>
            </c:multiLvlStrRef>
          </c:cat>
          <c:val>
            <c:numRef>
              <c:f>Sheet1!$B$2:$B$4</c:f>
              <c:numCache>
                <c:formatCode>0.000</c:formatCode>
                <c:ptCount val="3"/>
                <c:pt idx="0">
                  <c:v>0.6439</c:v>
                </c:pt>
                <c:pt idx="1">
                  <c:v>0.6504</c:v>
                </c:pt>
                <c:pt idx="2">
                  <c:v>0.6515</c:v>
                </c:pt>
              </c:numCache>
            </c:numRef>
          </c:val>
          <c:smooth val="0"/>
        </c:ser>
        <c:ser>
          <c:idx val="1"/>
          <c:order val="1"/>
          <c:tx>
            <c:strRef>
              <c:f>Sheet1!$C$1</c:f>
              <c:strCache>
                <c:ptCount val="1"/>
                <c:pt idx="0">
                  <c:v>256토큰 기준 성능</c:v>
                </c:pt>
              </c:strCache>
            </c:strRef>
          </c:tx>
          <c:spPr>
            <a:solidFill>
              <a:srgbClr val="9E9E9E"/>
            </a:solidFill>
            <a:ln w="27940" cap="flat">
              <a:solidFill>
                <a:srgbClr val="9E9E9E"/>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9E9E9E"/>
              </a:solidFill>
              <a:ln w="9525" cap="flat">
                <a:solidFill>
                  <a:srgbClr val="9E9E9E"/>
                </a:solidFill>
                <a:prstDash val="solid"/>
                <a:round/>
              </a:ln>
              <a:effectLst/>
            </c:spPr>
          </c:marker>
          <c:cat>
            <c:multiLvlStrRef>
              <c:f>Sheet1!$A$2:$A$4</c:f>
              <c:multiLvlStrCache>
                <c:ptCount val="3"/>
                <c:lvl>
                  <c:pt idx="0">
                    <c:v>Epoch 1</c:v>
                  </c:pt>
                  <c:pt idx="1">
                    <c:v>Epoch 2</c:v>
                  </c:pt>
                  <c:pt idx="2">
                    <c:v>Epoch 3</c:v>
                  </c:pt>
                </c:lvl>
              </c:multiLvlStrCache>
            </c:multiLvlStrRef>
          </c:cat>
          <c:val>
            <c:numRef>
              <c:f>Sheet1!$C$2:$C$4</c:f>
              <c:numCache>
                <c:formatCode>0.000</c:formatCode>
                <c:ptCount val="3"/>
                <c:pt idx="0">
                  <c:v>0.6441</c:v>
                </c:pt>
                <c:pt idx="1">
                  <c:v>0.6441</c:v>
                </c:pt>
                <c:pt idx="2">
                  <c:v>0.6441</c:v>
                </c:pt>
              </c:numCache>
            </c:numRef>
          </c:val>
          <c:smooth val="0"/>
        </c:ser>
        <c:ser>
          <c:idx val="2"/>
          <c:order val="2"/>
          <c:tx>
            <c:strRef>
              <c:f>Sheet1!$D$1</c:f>
              <c:strCache>
                <c:ptCount val="1"/>
                <c:pt idx="0">
                  <c:v>사전 채택 기준</c:v>
                </c:pt>
              </c:strCache>
            </c:strRef>
          </c:tx>
          <c:spPr>
            <a:solidFill>
              <a:srgbClr val="E53935"/>
            </a:solidFill>
            <a:ln w="27940" cap="flat">
              <a:solidFill>
                <a:srgbClr val="E53935"/>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53935"/>
              </a:solidFill>
              <a:ln w="9525" cap="flat">
                <a:solidFill>
                  <a:srgbClr val="E53935"/>
                </a:solidFill>
                <a:prstDash val="solid"/>
                <a:round/>
              </a:ln>
              <a:effectLst/>
            </c:spPr>
          </c:marker>
          <c:cat>
            <c:multiLvlStrRef>
              <c:f>Sheet1!$A$2:$A$4</c:f>
              <c:multiLvlStrCache>
                <c:ptCount val="3"/>
                <c:lvl>
                  <c:pt idx="0">
                    <c:v>Epoch 1</c:v>
                  </c:pt>
                  <c:pt idx="1">
                    <c:v>Epoch 2</c:v>
                  </c:pt>
                  <c:pt idx="2">
                    <c:v>Epoch 3</c:v>
                  </c:pt>
                </c:lvl>
              </c:multiLvlStrCache>
            </c:multiLvlStrRef>
          </c:cat>
          <c:val>
            <c:numRef>
              <c:f>Sheet1!$D$2:$D$4</c:f>
              <c:numCache>
                <c:formatCode>0.000</c:formatCode>
                <c:ptCount val="3"/>
                <c:pt idx="0">
                  <c:v>0.6541</c:v>
                </c:pt>
                <c:pt idx="1">
                  <c:v>0.6541</c:v>
                </c:pt>
                <c:pt idx="2">
                  <c:v>0.6541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12121"/>
                </a:solidFill>
                <a:latin typeface="맑은 고딕"/>
              </a:defRPr>
            </a:pPr>
            <a:endParaRPr lang="en-US"/>
          </a:p>
        </c:txPr>
        <c:crossAx val="2094734552"/>
        <c:crosses val="autoZero"/>
        <c:auto val="1"/>
        <c:lblAlgn val="ctr"/>
        <c:noMultiLvlLbl val="1"/>
      </c:catAx>
      <c:valAx>
        <c:axId val="2094734552"/>
        <c:scaling>
          <c:orientation val="minMax"/>
          <c:max val="0.66"/>
          <c:min val="0.63"/>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16161"/>
                </a:solidFill>
                <a:latin typeface="맑은 고딕"/>
              </a:defRPr>
            </a:pPr>
            <a:endParaRPr lang="en-US"/>
          </a:p>
        </c:txPr>
        <c:crossAx val="2094734554"/>
        <c:crosses val="autoZero"/>
        <c:crossBetween val="between"/>
        <c:majorUnit val="0.005"/>
      </c:valAx>
      <c:spPr>
        <a:solidFill>
          <a:srgbClr val="FFFFFF">
            <a:alpha val="0"/>
          </a:srgbClr>
        </a:solidFill>
        <a:ln w="12700" cap="flat">
          <a:solidFill>
            <a:srgbClr val="FFFFFF"/>
          </a:solidFill>
        </a:ln>
        <a:effectLst/>
      </c:spPr>
    </c:plotArea>
    <c:legend>
      <c:legendPos val="b"/>
      <c:overlay val="0"/>
      <c:txPr>
        <a:bodyPr/>
        <a:lstStyle/>
        <a:p>
          <a:pPr>
            <a:defRPr sz="900">
              <a:latin typeface="맑은 고딕"/>
              <a:cs typeface="맑은 고딕"/>
            </a:defRPr>
          </a:pPr>
          <a:endParaRPr lang="en-US"/>
        </a:p>
      </c:txPr>
    </c:legend>
    <c:plotVisOnly val="1"/>
    <c:dispBlanksAs val="span"/>
  </c:chart>
  <c:spPr>
    <a:solidFill>
      <a:srgbClr val="FFFFFF">
        <a:alpha val="0"/>
      </a:srgbClr>
    </a:solidFill>
    <a:ln w="12700" cap="flat">
      <a:solidFill>
        <a:srgbClr val="FFFFFF"/>
      </a:solid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12121"/>
                </a:solidFill>
                <a:latin typeface="맑은 고딕"/>
              </a:defRPr>
            </a:pPr>
            <a:r>
              <a:rPr sz="1150" b="0" i="0" u="none" strike="noStrike">
                <a:solidFill>
                  <a:srgbClr val="212121"/>
                </a:solidFill>
                <a:latin typeface="맑은 고딕"/>
              </a:rPr>
              <a:t>직접 표현 유무별 recall · Training 내부 홀드아웃</a:t>
            </a:r>
          </a:p>
        </c:rich>
      </c:tx>
      <c:layout/>
      <c:overlay val="0"/>
    </c:title>
    <c:autoTitleDeleted val="0"/>
    <c:plotArea>
      <c:layout/>
      <c:barChart>
        <c:barDir val="bar"/>
        <c:grouping val="clustered"/>
        <c:varyColors val="0"/>
        <c:ser>
          <c:idx val="0"/>
          <c:order val="0"/>
          <c:tx>
            <c:strRef>
              <c:f>Sheet1!$B$1</c:f>
              <c:strCache>
                <c:ptCount val="1"/>
                <c:pt idx="0">
                  <c:v>직접 표현 있음 recall</c:v>
                </c:pt>
              </c:strCache>
            </c:strRef>
          </c:tx>
          <c:spPr>
            <a:solidFill>
              <a:srgbClr val="2F4E91"/>
            </a:solidFill>
            <a:effectLst/>
          </c:spPr>
          <c:invertIfNegative val="0"/>
          <c:dLbls>
            <c:numFmt formatCode="0.000" sourceLinked="0"/>
            <c:txPr>
              <a:bodyPr/>
              <a:lstStyle/>
              <a:p>
                <a:pPr>
                  <a:defRPr b="0" i="0" strike="noStrike" sz="1000" u="none">
                    <a:solidFill>
                      <a:srgbClr val="000000"/>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전신쇠약</c:v>
                  </c:pt>
                  <c:pt idx="1">
                    <c:v>두통</c:v>
                  </c:pt>
                  <c:pt idx="2">
                    <c:v>오심</c:v>
                  </c:pt>
                </c:lvl>
              </c:multiLvlStrCache>
            </c:multiLvlStrRef>
          </c:cat>
          <c:val>
            <c:numRef>
              <c:f>Sheet1!$B$2:$B$4</c:f>
              <c:numCache>
                <c:formatCode>0.0</c:formatCode>
                <c:ptCount val="3"/>
                <c:pt idx="0">
                  <c:v>0.907</c:v>
                </c:pt>
                <c:pt idx="1">
                  <c:v>0.82</c:v>
                </c:pt>
                <c:pt idx="2">
                  <c:v>0.684</c:v>
                </c:pt>
              </c:numCache>
            </c:numRef>
          </c:val>
        </c:ser>
        <c:ser>
          <c:idx val="1"/>
          <c:order val="1"/>
          <c:tx>
            <c:strRef>
              <c:f>Sheet1!$C$1</c:f>
              <c:strCache>
                <c:ptCount val="1"/>
                <c:pt idx="0">
                  <c:v>직접 표현 없음 recall</c:v>
                </c:pt>
              </c:strCache>
            </c:strRef>
          </c:tx>
          <c:spPr>
            <a:solidFill>
              <a:srgbClr val="EF9A9A"/>
            </a:solidFill>
            <a:effectLst/>
          </c:spPr>
          <c:invertIfNegative val="0"/>
          <c:dLbls>
            <c:numFmt formatCode="0.000" sourceLinked="0"/>
            <c:txPr>
              <a:bodyPr/>
              <a:lstStyle/>
              <a:p>
                <a:pPr>
                  <a:defRPr b="0" i="0" strike="noStrike" sz="1000" u="none">
                    <a:solidFill>
                      <a:srgbClr val="000000"/>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전신쇠약</c:v>
                  </c:pt>
                  <c:pt idx="1">
                    <c:v>두통</c:v>
                  </c:pt>
                  <c:pt idx="2">
                    <c:v>오심</c:v>
                  </c:pt>
                </c:lvl>
              </c:multiLvlStrCache>
            </c:multiLvlStrRef>
          </c:cat>
          <c:val>
            <c:numRef>
              <c:f>Sheet1!$C$2:$C$4</c:f>
              <c:numCache>
                <c:formatCode>0.0</c:formatCode>
                <c:ptCount val="3"/>
                <c:pt idx="0">
                  <c:v>0.549</c:v>
                </c:pt>
                <c:pt idx="1">
                  <c:v>0.195</c:v>
                </c:pt>
                <c:pt idx="2">
                  <c:v>0.356</c:v>
                </c:pt>
              </c:numCache>
            </c:numRef>
          </c:val>
        </c:ser>
        <c:dLbls>
          <c:numFmt formatCode="0.000" sourceLinked="0"/>
          <c:txPr>
            <a:bodyPr/>
            <a:lstStyle/>
            <a:p>
              <a:pPr>
                <a:defRPr b="0" i="0" strike="noStrike" sz="1000" u="none">
                  <a:solidFill>
                    <a:srgbClr val="000000"/>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0E0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맑은 고딕"/>
              </a:defRPr>
            </a:pPr>
            <a:endParaRPr lang="en-US"/>
          </a:p>
        </c:txPr>
        <c:crossAx val="2094734554"/>
        <c:crosses val="autoZero"/>
        <c:crossBetween val="between"/>
        <c:majorUnit val="0.2"/>
      </c:valAx>
      <c:spPr>
        <a:noFill/>
        <a:ln>
          <a:noFill/>
        </a:ln>
        <a:effectLst/>
      </c:spPr>
    </c:plotArea>
    <c:legend>
      <c:legendPos val="b"/>
      <c:overlay val="0"/>
      <c:txPr>
        <a:bodyPr/>
        <a:lstStyle/>
        <a:p>
          <a:pPr>
            <a:defRPr sz="950">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공식 템플릿(D+AICC PPT 대학부 템플릿.pptx) 슬라이드1 그대로. 이 장에는 글자를 추가하지 않음 — 프로젝트·팀 정보는 다음 장(2p)에서 제시.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타이틀. 공식 표지 바로 뒤에 배치해 제목·팀명을 보강.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main의 M2 상세 14장과 M3 별첨 3장을 통합한 총 37장 구성.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GitHub eigensinn-dcc2026/step0 README의 W1~W6 로드맵, 팀원별 notebooks/·outputs/.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README.md 역할표, WORKFLOW.md(브랜치·PR 흐름), .github/workflows/(pr-ci, pr-verdict), docs/experiment_log.md, docs/decisions.md.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reports/eda/eda_report.md, reports/eda/figures/(gender_distribution, speaker_duration_buckets, symptom_prevalence), docs/experiment_log.md COM-EDA-001.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submission/mission1/README.md(구성·상태), docs/experiment_log.md M1-XVEC-002-OFFVAL(다중 구간 평균 x-vector), M1-REFIT-OFFVAL-001(전체 재학습 제출 모델 98.10%).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① 95.11% 기존 52D LR(M1-XVEC-001-OFFVAL 비교값, docs/decisions.md 2026-10-05) / ② 97.47% M1-XVEC-001-OFFVAL / ③ 98.13% M1-XVEC-002-OFFVAL(사전 고정 기준 97.77% 충족) / ④ 98.10% M1-REFIT-OFFVAL-001. 주의 박스: M1-XVEC-002(2차) 내부 +0.34%p로 기준 +0.4%p 미달 → 기각.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LightGBM vs LR — docs/decisions.md 2026-10-05 / RBF-SVM — M1-HEAD-001 / ECAPA — M1-ECAPA-001(3차)·M1-ECAPA-002 / 확률 평균 — M1-FUSE-001, M1-FUSE-001-OFFVAL(98.30%, 사전 고정 기준 98.434% 미달, McNemar p=0.345).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submission/mission1/README.md — 공식 Validation 3,640건 98.10%, 여성 recall 98.26%, 남성 recall 97.92%. docs/experiment_log.md M1-REFIT-OFFVAL-001(단일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submission/mission2/README.md, docs/experiment_log.md M2-RERUN-001·M2-ENS-003·M2-RETRAIN-001. 제약은 출제문제·주최측 Q&amp;A(2026.09.15), 추론 방식은 submission/mission2/README.md '추론' 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L1 86.44%(M2-RETRAIN-001, 제공 라벨 재학습 L1) / CNN 단일 90.98%(M2-ENS-003 ts1) / 3-seed 앙상블 91.49%(M2-RERUN-001, submission/mission2/README.md). 겹침 구간: M2-COMPARE-002 — 겹침 L1 81.83%→L2 88.88%(+7.05%p), 안 겹침 90.01%→92.44%(+2.43%p), L2 단일 모델 기준. 패딩: M2-PAD-001(발화별 300프레임 채우기), M2-VAL-005, M2-PAD-002.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통화 단위 특징 M2-EXP-008 / 제공 라벨 재학습 M2-RETRAIN-001 / 확률 평균 M2-ENS-001 / 더 큰 CNN M2-CNN-008, 패딩 제외 풀링 M2-CNN-009, 길이 입력 M2-CNN-004·006, Mixup M2-MIX-001 / WavLM 고정 임베딩 M2-SSL-001, 기본 미세조정 M2-SSL-002 / WavLM 미세조정(3초 창·겹침 증강) M2-SSL-003. 모두 docs/experiment_log.md·docs/decisions.md.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submission/mission2/README.md '결과와 계산 효율성' 표(91.49%, 대원 recall 87.15%, 신고자 recall 95.51%). 재현성: M2-RERUN-001(원본부터 재학습 91.49%) vs M2-ENS-003(이전 앙상블 91.55%).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처음부터 복잡한 모델을 쓰기보다, MFCC라는 음성의 주파수 요약값 40개와 로지스틱 회귀로 기준선을 만들었습니다. 초기 정확도는 공식 검증에서 약 80.91%였습니다. 후속 실험은 Training 내부 검증으로 평가해 조건이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평균적인 음색 정보 외에 발화 길이, 고주파 경계, 영교차율, 스펙트럼 중심을 시험했습니다. 발화 길이는 거의 도움이 되지 않았고, rolloff와 ZCR를 함께 넣었을 때 초기 기준선보다 높은 81.31%가 나와 다음 분류기 비교에 사용했습니다. 이 초기 표는 공식 검증 결과입니다. 일부 개별 수치는 Markdown에만 남아 있다는 기록 한계도 같이 밝혀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입력 특징을 42개로 고정한 채 로지스틱 회귀, 나무 모델, QDA, MLP를 비교했습니다. 같은 내부 검증 조건에서 MLP가 약 85.95%로 가장 높았습니다. 다만 MLP는 정해 둔 반복 횟수 안에 완전히 수렴하지 않았다는 경고가 있었으므로, 이 점수만 보고 모델이 충분히 학습됐다고 단정하지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특징군은 서로 다른 질문을 확인했습니다. 에너지 변화와 프레임 간 flux는 이 비교에서 기준보다 낮았습니다. 반면 F0 높낮이와 유성성 요약은 정확도를 약 0.67%포인트 높여 다음 기준에 포함했습니다. CPP 결과는 기록에 남아 있지만 당시 단독 승격 비교 일부가 없어 근거가 완전하지 않습니다. Delta-MFCC의 초기 단독 점수는 남아 있지 않고, 포먼트는 실제 학습 전에 보류됐습니다.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MFCC 계수끼리의 상관, 여러 음높이 후보의 경쟁, 주파수 대역 간 포락선 결합을 확인했습니다. 과거 결과가 재현되는지도 살펴봤습니다. 포락선의 첫 기록 86.90%는 재현되지 않았고, 과거 캐시 재학습과 clean 결과는 별도로 기록했습니다.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에너지 경계, 스펙트럼 엔트로피, 발화 위치별 MFCC 차이를 추가로 확인했습니다. 단일 특징과 여러 조합 모두 일부 정확도 향상이 있었지만, 가장 높은 조합에서도 특정 화자나 취약 구간이 나빠졌습니다. AF05도 취약 구간에서는 나아졌지만 전체 정답 순증이 32건에 그치고 화자별 Recall이 반대 방향으로 움직여 채택하지 않았습니다. 이 수치는 과거 캐시 기준이며 이후 clean 기준과 섞지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여기서는 이전 실험과 평가 조건을 섞지 않기 위해, 같은 clean Training 내부 분할에서 handcrafted 59D와 표준 eGeMAPS 88D를 비교했습니다. eGeMAPS는 더 많은 숫자를 제공했지만 정확도가 87.38%에서 86.40%로 내려갔고 오류가 1,738건 늘었습니다. 그래서 단독 대체 표현으로는 채택하지 않았습니다. 특정 짧은 발화 구간의 결과가 나았던 점은 전체 우위와 다르므로 별도 가능성으로만 기록했습니다.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clean 59D를 유지하고 여러 분류기를 비교했습니다. 부스팅 계열은 강한 MLP보다 낮았고, 더 복잡한 숫자 임베딩 MLP는 검증 간격과 높은 확신 오류가 커 채택하지 않았습니다. 이어서 TabM, FT-Transformer, Tabular ResNet을 비교했고 TabM과 ResNet의 정확도가 약 88.4%로 가장 높고 서로 다른 화자 강점도 보여 후속 비교 기준으로 남겼습니다. 학습 recipe도 함께 달라졌으므로 차이를 모델 구조 하나의 효과라고 단정하지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검토가 정확도 실험으로 끝난 것은 아닙니다. 시간×주파수 모델은 팀원이 같은 방향을 맡아 중복을 피하기 위해 개인 실험을 건너뛰었습니다. 사전학습 음성 모델은 전체 Training을 처리하는 데 약 45시간 또는 64시간이 걸릴 것으로 예상돼 실행 가능성 문제로 종료했습니다. 실제 전체 모델 평가를 하지 않았기 때문에 두 경로 모두 성능 미평가이며, 성능 실패로 볼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단계의 목적은 clean 59개 특징에서 이전에 시험하지 않은 분류 방식을 넓게 확인하는 것이었습니다. 여섯 설정을 결과를 보기 전에 고정해 비교했고, 새 후보 중 GANDALF가 88.17%로 가장 높았습니다. 그래도 앞서 보존한 TabM 88.40%와 ResNet 88.38%에는 미치지 못했습니다. 첫 비교 결과이므로 모든 모델 계열의 우열을 확정하는 것은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MFCC 분포 요약은 평균·표준편차만으로 놓치는 값들의 퍼짐을 더 세밀하게 담으려는 특징입니다. 대역별 대비는 낮은 주파수부터 4,000Hz까지 다섯 구간에서 두드러진 소리와 조용한 소리의 차이를 요약합니다. 두 특징을 clean 59개에 추가해 총 149개 입력으로 만들고 세 모델을 학습했습니다. 세 모델의 점수는 모두 같은 고정 내부 분할에서 나온 것이며 공식 검증 점수는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모델은 신고자일 확률을 각각 내고, 이를 같은 비중으로 평균했습니다. 세 모델 평균이 내부 정확도 88.85%로 가장 높았습니다. 가장 높은 2모델 조합과의 차이는 0.04%포인트보다도 작은 약 0.0315%포인트로, 177,891개 중 약 56개 차이입니다. 신고자 Recall은 높지만 119대원 Recall과 높은 확신 오답도 함께 살펴야 합니다. 같은 내부 검증 자료를 여러 단계와 여러 후보 선택에 재사용했으므로 점수가 낙관적일 수 있습니다. 이 결과는 내부에서 채택한 후보이며 공식 검증된 최종 성능은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15는 Stage 14에서 고른 세 모델을 추가 튜닝 없이 전체 Training으로 다시 학습한 뒤, 고정 threshold 0.5에서 저장된 Official Validation 예측을 평가했습니다. Accuracy는 88.4919%이며 혼동행렬 순서는 TN/FP/FN/TP입니다. E_TRG는 세 단독 모델 중 가장 높은 GANDALF보다 0.3055%p 높습니다. Official Validation은 이 refit의 scaler, loss, gradient, early stopping, checkpoint 선택에 사용하지 않았습니다. 다만 과거 E-series 특징 비교에도 같은 Official Validation이 사용됐으므로 독립된 1회 holdout이라고 표현하지 않습니다. 1차 실행의 고정 epoch 불일치는 audit에서 중단했고, 복구 때 feature cache와 두 checkpoint를 재사용해 GANDALF만 재학습했습니다.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장의 수치는 복구 run의 FINAL_VERIFIED Official Validation 저장 예측에서 계산된 기술통계입니다. 0.5–1초, overlap, 낮은 확신 수치는 각각의 marginal slice라서 이 세 조건이 동시에 있는 표본의 성능으로 읽으면 안 됩니다. 실제 speaker 0과 0.5–1초, overlap을 함께 본 별도 slice는 n=5,003, accuracy 69.0186%입니다. 낮은 확신까지 겹친 4중 조건 수치는 저장 집계에서 확인되지 않아 미확정으로 남깁니다. 정확도 저하의 원인을 음성으로 확인하거나 청취한 결과가 아니므로 원인을 단정하지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submission/mission3/README.md '모델' 절, docs/decisions.md M3-FINAL-002. 파이프라인·'왜' 문구는 이수빈 님 PR #200(subin/ppt-m3-storytelling-20261013)에서 가져옴.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submission/mission3/README.md 결과 표(seed 42·43·44 0.6479/0.6441/0.6445, 앙상블 0.6534, Micro 0.6690, 빈 예측 149). 개선 흐름: M3-OFFVAL-001(TF-IDF 0.5689, KcBERT 0.6246), M3-OFFVAL-002(RoBERTa-large 0.6433), M3-FINAL-002(앙상블 0.6534). 증상별 약점: M3-FINAL-002(오심·두통·전신쇠약 F1이 가장 낮음).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docs/decisions.md M3-ENS-001(내부 3-seed 평균 0.6455 vs RoBERTa 0.6427, +0.0028 &lt; 사전 기준 +0.01로 기각)·M3-FINAL-002(최종 RoBERTa×3 + TF-IDF, 사전 가중치 0.55/0.45, 공식 Val 0.6534), submission/mission3/README.md, docs/experiment_log.md M3-ERR-001. 상단 차트는 공식 Val만; REJECT 카드 수치는 Training 내부 80:20 홀드아웃으로 공식 Val과 직접 비교하지 않음. 공식 Val 단일 vs 최종 점수 차이를 통제 실험의 개선으로 해석하지 않음. 오류 분석 '근거 없음'은 키워드 정규식 기준으로 오라벨 단정이 아님.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submission/mission1/README.md(98.10%), submission/mission2/README.md, docs/experiment_log.md M2-RERUN-001·M2-ENS-003·M2-RETRAIN-001, submission/mission3/README.md(0.6534). baseline: M1 95.11%(52D LR, docs/decisions.md 2026-10-05), M2 86.44%(L1 LightGBM, M2-RETRAIN-001), M3 0.5689(TF-IDF, M3-OFFVAL-001).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출제문제 12쪽 필수 항목 '사회안전 시사점'은 이 장 한 곳에만 둔다(미션별 장에는 넣지 않음). 향후 계획 근거: M1 — 10장 후속 과제, M2 — docs/experiment_log.md M2-SSL-003, M3 — M3-ERR-001·M3-FINAL-002.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p17 + p21 통합. 데이터: Training 29,200통화, 평가 전용 Validation 3,640통화, 9개 증상, Training 통화당 평균 증상 수 1.43. 라벨별 양성 비율(Training): 열상 23.2, 어지러움 21.7, 전신쇠약 18.2, 고열 17.8, 구토 15.3, 호흡곤란 13.4, 복통 11.9, 오심 11.4, 두통 9.9(%). 입력 길이와 512토큰 실험은 Training 내부 80:20 홀드아웃: 40.7% 256토큰 초과, Macro F1 +0.0074, 사전 기준 +0.01 미달, 학습시간 약 4배. 전사 utterances[].text만 원본 순서로 연결하며 화자 태그와 허용되지 않은 라벨은 사용하지 않음. Soft macro-F1 상세: pᵢⱼ = sigmoid(zᵢⱼ), SoftF1ⱼ = 2Σᵢ(pᵢⱼyᵢⱼ) / [Σᵢpᵢⱼ + Σᵢyᵢⱼ + 10⁻⁸]. 가중치 wⱼ = clip(0.5 × √((N − Pⱼ) / max(Pⱼ,1)),1,6). 실효 batch 16 = micro 8 × 2, soft-F1 micro batch별 계산. 최종 RoBERTa seeds 42·43·44 확률 평균 0.55와 TF-IDF 확률 0.45를 결합, 모든 증상 threshold 0.5 적용(별도 후처리 없음). 근거: reports/eda/eda_report.md; docs/experiment_log.md M3-ROBERTA-007; submission/mission3/README.md; submission/mission3/train/train_final.py; submission/mission3/train/build_ensemble.py; submission/mission3/mission3_model.py.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docs/experiment_log.md M3-ROBERTA-007, docs/decisions.md의 입력 512토큰 기각 결정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최종 라벨별 F1은 기존 16장의 sym 데이터와 docs/experiment_log.md M3-FINAL-002. 표현 비율과 근거별 recall: reports/mission3/error_analysis/m3_error_analysis.json. 오류 분석 설명: reports/mission3/error_analysis/README.md. precision, recall, F1, support: reports/mission3/m3_reeval_tfidf_lr/per_label_metrics.csv. 예측 양성 수와 TP/FP/FN 계산 근거: reports/mission3/p0_rerun/min1_per_label.csv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공식 템플릿(슬라이드4) 그대로. 흰 여백(약 2.1~2.9in)에만 팀 정보를 얹음 — 배너 그래픽은 건드리지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gif"/><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2-1.png"/><Relationship Id="rId3" Type="http://schemas.openxmlformats.org/officeDocument/2006/relationships/image" Target="../media/image-12-2.gif"/><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27-1.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slideLayout" Target="../slideLayouts/slideLayout1.xml"/><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30-1.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chart" Target="/ppt/charts/chart6.xml"/><Relationship Id="rId3" Type="http://schemas.openxmlformats.org/officeDocument/2006/relationships/chart" Target="/ppt/charts/chart7.xml"/><Relationship Id="rId1" Type="http://schemas.openxmlformats.org/officeDocument/2006/relationships/image" Target="../media/image-31-1.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gif"/><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chart" Target="/ppt/charts/chart8.xml"/><Relationship Id="rId1" Type="http://schemas.openxmlformats.org/officeDocument/2006/relationships/image" Target="../media/image-35-1.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chart" Target="/ppt/charts/chart9.xml"/><Relationship Id="rId1" Type="http://schemas.openxmlformats.org/officeDocument/2006/relationships/image" Target="../media/image-36-1.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figures/tpl_cover.png">    </p:cNvPr>
          <p:cNvPicPr>
            <a:picLocks noChangeAspect="1"/>
          </p:cNvPicPr>
          <p:nvPr/>
        </p:nvPicPr>
        <p:blipFill>
          <a:blip r:embed="rId1"/>
          <a:srcRect l="0" r="0" t="0" b="0"/>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Shape 0"/>
          <p:cNvSpPr/>
          <p:nvPr/>
        </p:nvSpPr>
        <p:spPr>
          <a:xfrm>
            <a:off x="5090008" y="914400"/>
            <a:ext cx="2011680" cy="365760"/>
          </a:xfrm>
          <a:prstGeom prst="roundRect">
            <a:avLst>
              <a:gd name="adj" fmla="val 20000"/>
            </a:avLst>
          </a:prstGeom>
          <a:solidFill>
            <a:srgbClr val="009DDA"/>
          </a:solidFill>
          <a:ln w="12700">
            <a:solidFill>
              <a:srgbClr val="009DDA"/>
            </a:solidFill>
            <a:prstDash val="solid"/>
          </a:ln>
        </p:spPr>
      </p:sp>
      <p:sp>
        <p:nvSpPr>
          <p:cNvPr id="4" name="Text 1"/>
          <p:cNvSpPr txBox="1"/>
          <p:nvPr/>
        </p:nvSpPr>
        <p:spPr>
          <a:xfrm>
            <a:off x="5090008" y="91440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대학부 예선</a:t>
            </a:r>
            <a:endParaRPr lang="en-US" sz="1400" dirty="0"/>
          </a:p>
        </p:txBody>
      </p:sp>
      <p:sp>
        <p:nvSpPr>
          <p:cNvPr id="5" name="Text 2"/>
          <p:cNvSpPr txBox="1"/>
          <p:nvPr/>
        </p:nvSpPr>
        <p:spPr>
          <a:xfrm>
            <a:off x="457200" y="1371600"/>
            <a:ext cx="11277295" cy="365760"/>
          </a:xfrm>
          <a:prstGeom prst="rect">
            <a:avLst/>
          </a:prstGeom>
          <a:noFill/>
          <a:ln/>
        </p:spPr>
        <p:txBody>
          <a:bodyPr wrap="square" lIns="0" tIns="0" rIns="0" bIns="0" rtlCol="0" anchor="t"/>
          <a:lstStyle/>
          <a:p>
            <a:pPr algn="ctr" indent="0" marL="0">
              <a:buNone/>
            </a:pPr>
            <a:r>
              <a:rPr lang="en-US" sz="1300" dirty="0">
                <a:solidFill>
                  <a:srgbClr val="616161"/>
                </a:solidFill>
                <a:latin typeface="맑은 고딕" pitchFamily="34" charset="0"/>
                <a:ea typeface="맑은 고딕" pitchFamily="34" charset="-122"/>
                <a:cs typeface="맑은 고딕" pitchFamily="34" charset="-120"/>
              </a:rPr>
              <a:t>2026 데이터+AI 크리에이터 캠프  |  결과 정리</a:t>
            </a:r>
            <a:endParaRPr lang="en-US" sz="1300" dirty="0"/>
          </a:p>
        </p:txBody>
      </p:sp>
      <p:sp>
        <p:nvSpPr>
          <p:cNvPr id="6" name="Text 3"/>
          <p:cNvSpPr txBox="1"/>
          <p:nvPr/>
        </p:nvSpPr>
        <p:spPr>
          <a:xfrm>
            <a:off x="457200" y="1874520"/>
            <a:ext cx="11277295" cy="548640"/>
          </a:xfrm>
          <a:prstGeom prst="rect">
            <a:avLst/>
          </a:prstGeom>
          <a:noFill/>
          <a:ln/>
        </p:spPr>
        <p:txBody>
          <a:bodyPr wrap="square" lIns="0" tIns="0" rIns="0" bIns="0" rtlCol="0" anchor="t"/>
          <a:lstStyle/>
          <a:p>
            <a:pPr algn="ctr" indent="0" marL="0">
              <a:buNone/>
            </a:pPr>
            <a:r>
              <a:rPr lang="en-US" sz="2800" b="1" dirty="0">
                <a:solidFill>
                  <a:srgbClr val="212121"/>
                </a:solidFill>
                <a:latin typeface="맑은 고딕" pitchFamily="34" charset="0"/>
                <a:ea typeface="맑은 고딕" pitchFamily="34" charset="-122"/>
                <a:cs typeface="맑은 고딕" pitchFamily="34" charset="-120"/>
              </a:rPr>
              <a:t>전화대화 음성 및 전사 데이터를 이용한</a:t>
            </a:r>
            <a:endParaRPr lang="en-US" sz="2800" dirty="0"/>
          </a:p>
        </p:txBody>
      </p:sp>
      <p:sp>
        <p:nvSpPr>
          <p:cNvPr id="7" name="Text 4"/>
          <p:cNvSpPr txBox="1"/>
          <p:nvPr/>
        </p:nvSpPr>
        <p:spPr>
          <a:xfrm>
            <a:off x="457200" y="2377440"/>
            <a:ext cx="11277295" cy="822960"/>
          </a:xfrm>
          <a:prstGeom prst="rect">
            <a:avLst/>
          </a:prstGeom>
          <a:noFill/>
          <a:ln/>
        </p:spPr>
        <p:txBody>
          <a:bodyPr wrap="square" lIns="0" tIns="0" rIns="0" bIns="0" rtlCol="0" anchor="t"/>
          <a:lstStyle/>
          <a:p>
            <a:pPr algn="ctr" indent="0" marL="0">
              <a:buNone/>
            </a:pPr>
            <a:r>
              <a:rPr lang="en-US" sz="4400" b="1" dirty="0">
                <a:solidFill>
                  <a:srgbClr val="2F4E91"/>
                </a:solidFill>
                <a:latin typeface="맑은 고딕" pitchFamily="34" charset="0"/>
                <a:ea typeface="맑은 고딕" pitchFamily="34" charset="-122"/>
                <a:cs typeface="맑은 고딕" pitchFamily="34" charset="-120"/>
              </a:rPr>
              <a:t>응급상황 인식</a:t>
            </a:r>
            <a:endParaRPr lang="en-US" sz="4400" dirty="0"/>
          </a:p>
        </p:txBody>
      </p:sp>
      <p:pic>
        <p:nvPicPr>
          <p:cNvPr id="8" name="Image 1" descr="figures/canva/hero_call_flow_crop.png">    </p:cNvPr>
          <p:cNvPicPr>
            <a:picLocks noChangeAspect="1"/>
          </p:cNvPicPr>
          <p:nvPr/>
        </p:nvPicPr>
        <p:blipFill>
          <a:blip r:embed="rId2"/>
          <a:stretch>
            <a:fillRect/>
          </a:stretch>
        </p:blipFill>
        <p:spPr>
          <a:xfrm>
            <a:off x="3615794" y="3703320"/>
            <a:ext cx="4960106" cy="1874520"/>
          </a:xfrm>
          <a:prstGeom prst="rect">
            <a:avLst/>
          </a:prstGeom>
        </p:spPr>
      </p:pic>
      <p:sp>
        <p:nvSpPr>
          <p:cNvPr id="9" name="Text 5"/>
          <p:cNvSpPr txBox="1"/>
          <p:nvPr/>
        </p:nvSpPr>
        <p:spPr>
          <a:xfrm>
            <a:off x="457200" y="3200400"/>
            <a:ext cx="11277295" cy="457200"/>
          </a:xfrm>
          <a:prstGeom prst="rect">
            <a:avLst/>
          </a:prstGeom>
          <a:noFill/>
          <a:ln/>
        </p:spPr>
        <p:txBody>
          <a:bodyPr wrap="square" lIns="0" tIns="0" rIns="0" bIns="0" rtlCol="0" anchor="t"/>
          <a:lstStyle/>
          <a:p>
            <a:pPr algn="ctr" indent="0" marL="0">
              <a:buNone/>
            </a:pPr>
            <a:r>
              <a:rPr lang="en-US" sz="2000" dirty="0">
                <a:solidFill>
                  <a:srgbClr val="616161"/>
                </a:solidFill>
                <a:latin typeface="맑은 고딕" pitchFamily="34" charset="0"/>
                <a:ea typeface="맑은 고딕" pitchFamily="34" charset="-122"/>
                <a:cs typeface="맑은 고딕" pitchFamily="34" charset="-120"/>
              </a:rPr>
              <a:t>Mission 1~3 수행 결과 정리</a:t>
            </a:r>
            <a:endParaRPr lang="en-US" sz="2000" dirty="0"/>
          </a:p>
        </p:txBody>
      </p:sp>
      <p:sp>
        <p:nvSpPr>
          <p:cNvPr id="10" name="Shape 6"/>
          <p:cNvSpPr/>
          <p:nvPr/>
        </p:nvSpPr>
        <p:spPr>
          <a:xfrm>
            <a:off x="3169768" y="5715000"/>
            <a:ext cx="5852160" cy="640080"/>
          </a:xfrm>
          <a:prstGeom prst="roundRect">
            <a:avLst>
              <a:gd name="adj" fmla="val 14286"/>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1" name="Text 7"/>
          <p:cNvSpPr txBox="1"/>
          <p:nvPr/>
        </p:nvSpPr>
        <p:spPr>
          <a:xfrm>
            <a:off x="3169768" y="5715000"/>
            <a:ext cx="5852160" cy="64008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팀 eigensinn</a:t>
            </a:r>
            <a:pPr algn="ctr" indent="0" marL="0">
              <a:buNone/>
            </a:pPr>
            <a:r>
              <a:rPr lang="en-US" sz="1500" dirty="0">
                <a:solidFill>
                  <a:srgbClr val="212121"/>
                </a:solidFill>
                <a:latin typeface="맑은 고딕" pitchFamily="34" charset="0"/>
                <a:ea typeface="맑은 고딕" pitchFamily="34" charset="-122"/>
                <a:cs typeface="맑은 고딕" pitchFamily="34" charset="-120"/>
              </a:rPr>
              <a:t>   김장수 · 김광희 · 지연우 · 이수빈 · 조지은</a:t>
            </a:r>
            <a:endParaRPr lang="en-US" sz="1500" dirty="0"/>
          </a:p>
        </p:txBody>
      </p:sp>
      <p:sp>
        <p:nvSpPr>
          <p:cNvPr id="12" name="Text 8"/>
          <p:cNvSpPr txBox="1"/>
          <p:nvPr/>
        </p:nvSpPr>
        <p:spPr>
          <a:xfrm>
            <a:off x="8076895" y="6446520"/>
            <a:ext cx="3657600" cy="274320"/>
          </a:xfrm>
          <a:prstGeom prst="rect">
            <a:avLst/>
          </a:prstGeom>
          <a:noFill/>
          <a:ln/>
        </p:spPr>
        <p:txBody>
          <a:bodyPr wrap="square" lIns="0" tIns="0" rIns="0" bIns="0" rtlCol="0" anchor="t"/>
          <a:lstStyle/>
          <a:p>
            <a:pPr algn="r" indent="0" marL="0">
              <a:buNone/>
            </a:pPr>
            <a:r>
              <a:rPr lang="en-US" sz="1200" dirty="0">
                <a:solidFill>
                  <a:srgbClr val="616161"/>
                </a:solidFill>
                <a:latin typeface="맑은 고딕" pitchFamily="34" charset="0"/>
                <a:ea typeface="맑은 고딕" pitchFamily="34" charset="-122"/>
                <a:cs typeface="맑은 고딕" pitchFamily="34" charset="-120"/>
              </a:rPr>
              <a:t>제출일 2026. 10. 14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826618"/>
            <a:ext cx="3657600" cy="548640"/>
          </a:xfrm>
          <a:prstGeom prst="rect">
            <a:avLst/>
          </a:prstGeom>
          <a:noFill/>
          <a:ln/>
        </p:spPr>
        <p:txBody>
          <a:bodyPr wrap="square" lIns="0" tIns="0" rIns="0" bIns="0" rtlCol="0" anchor="t"/>
          <a:lstStyle/>
          <a:p>
            <a:pPr indent="0" marL="0">
              <a:buNone/>
            </a:pPr>
            <a:r>
              <a:rPr lang="en-US" sz="2800" b="1" dirty="0">
                <a:solidFill>
                  <a:srgbClr val="2F4E91"/>
                </a:solidFill>
                <a:latin typeface="맑은 고딕" pitchFamily="34" charset="0"/>
                <a:ea typeface="맑은 고딕" pitchFamily="34" charset="-122"/>
                <a:cs typeface="맑은 고딕" pitchFamily="34" charset="-120"/>
              </a:rPr>
              <a:t>목차</a:t>
            </a:r>
            <a:endParaRPr lang="en-US" sz="2800" dirty="0"/>
          </a:p>
        </p:txBody>
      </p:sp>
      <p:sp>
        <p:nvSpPr>
          <p:cNvPr id="4" name="Text 1"/>
          <p:cNvSpPr txBox="1"/>
          <p:nvPr/>
        </p:nvSpPr>
        <p:spPr>
          <a:xfrm>
            <a:off x="457200" y="1920240"/>
            <a:ext cx="2613584" cy="1371600"/>
          </a:xfrm>
          <a:prstGeom prst="rect">
            <a:avLst/>
          </a:prstGeom>
          <a:noFill/>
          <a:ln/>
        </p:spPr>
        <p:txBody>
          <a:bodyPr wrap="square" lIns="0" tIns="0" rIns="0" bIns="0" rtlCol="0" anchor="t"/>
          <a:lstStyle/>
          <a:p>
            <a:pPr indent="0" marL="0">
              <a:buNone/>
            </a:pPr>
            <a:r>
              <a:rPr lang="en-US" sz="9600" b="1" dirty="0">
                <a:solidFill>
                  <a:srgbClr val="DCE3EC"/>
                </a:solidFill>
                <a:latin typeface="맑은 고딕" pitchFamily="34" charset="0"/>
                <a:ea typeface="맑은 고딕" pitchFamily="34" charset="-122"/>
                <a:cs typeface="맑은 고딕" pitchFamily="34" charset="-120"/>
              </a:rPr>
              <a:t>01</a:t>
            </a:r>
            <a:endParaRPr lang="en-US" sz="9600" dirty="0"/>
          </a:p>
        </p:txBody>
      </p:sp>
      <p:pic>
        <p:nvPicPr>
          <p:cNvPr id="5" name="Image 1" descr="figures/icons/sec_prep.png">    </p:cNvPr>
          <p:cNvPicPr>
            <a:picLocks noChangeAspect="1"/>
          </p:cNvPicPr>
          <p:nvPr/>
        </p:nvPicPr>
        <p:blipFill>
          <a:blip r:embed="rId2"/>
          <a:stretch>
            <a:fillRect/>
          </a:stretch>
        </p:blipFill>
        <p:spPr>
          <a:xfrm>
            <a:off x="2202104" y="2011680"/>
            <a:ext cx="640080" cy="640080"/>
          </a:xfrm>
          <a:prstGeom prst="rect">
            <a:avLst/>
          </a:prstGeom>
        </p:spPr>
      </p:pic>
      <p:sp>
        <p:nvSpPr>
          <p:cNvPr id="6" name="Text 2"/>
          <p:cNvSpPr txBox="1"/>
          <p:nvPr/>
        </p:nvSpPr>
        <p:spPr>
          <a:xfrm>
            <a:off x="548640" y="2880360"/>
            <a:ext cx="2522144" cy="502920"/>
          </a:xfrm>
          <a:prstGeom prst="rect">
            <a:avLst/>
          </a:prstGeom>
          <a:noFill/>
          <a:ln/>
        </p:spPr>
        <p:txBody>
          <a:bodyPr wrap="square" lIns="0" tIns="0" rIns="0" bIns="0" rtlCol="0" anchor="t"/>
          <a:lstStyle/>
          <a:p>
            <a:pPr indent="0" marL="0">
              <a:buNone/>
            </a:pPr>
            <a:r>
              <a:rPr lang="en-US" sz="2200" b="1" dirty="0">
                <a:solidFill>
                  <a:srgbClr val="212121"/>
                </a:solidFill>
                <a:latin typeface="맑은 고딕" pitchFamily="34" charset="0"/>
                <a:ea typeface="맑은 고딕" pitchFamily="34" charset="-122"/>
                <a:cs typeface="맑은 고딕" pitchFamily="34" charset="-120"/>
              </a:rPr>
              <a:t>준비 과정</a:t>
            </a:r>
            <a:endParaRPr lang="en-US" sz="2200" dirty="0"/>
          </a:p>
        </p:txBody>
      </p:sp>
      <p:sp>
        <p:nvSpPr>
          <p:cNvPr id="7" name="Shape 3"/>
          <p:cNvSpPr/>
          <p:nvPr/>
        </p:nvSpPr>
        <p:spPr>
          <a:xfrm>
            <a:off x="548640" y="3520440"/>
            <a:ext cx="2339264" cy="0"/>
          </a:xfrm>
          <a:prstGeom prst="line">
            <a:avLst/>
          </a:prstGeom>
          <a:noFill/>
          <a:ln w="12700">
            <a:solidFill>
              <a:srgbClr val="E0E0E0"/>
            </a:solidFill>
            <a:prstDash val="solid"/>
          </a:ln>
        </p:spPr>
      </p:sp>
      <p:sp>
        <p:nvSpPr>
          <p:cNvPr id="8" name="Text 4"/>
          <p:cNvSpPr txBox="1"/>
          <p:nvPr/>
        </p:nvSpPr>
        <p:spPr>
          <a:xfrm>
            <a:off x="548640" y="3703320"/>
            <a:ext cx="2522144" cy="2011680"/>
          </a:xfrm>
          <a:prstGeom prst="rect">
            <a:avLst/>
          </a:prstGeom>
          <a:noFill/>
          <a:ln/>
        </p:spPr>
        <p:txBody>
          <a:bodyPr wrap="square" lIns="0" tIns="0" rIns="0" bIns="0" rtlCol="0" anchor="t"/>
          <a:lstStyle/>
          <a:p>
            <a:pPr indent="0" marL="0">
              <a:spcAft>
                <a:spcPts val="1000"/>
              </a:spcAft>
              <a:buNone/>
            </a:pPr>
            <a:r>
              <a:rPr lang="en-US" sz="1400" dirty="0">
                <a:solidFill>
                  <a:srgbClr val="616161"/>
                </a:solidFill>
                <a:latin typeface="맑은 고딕" pitchFamily="34" charset="0"/>
                <a:ea typeface="맑은 고딕" pitchFamily="34" charset="-122"/>
                <a:cs typeface="맑은 고딕" pitchFamily="34" charset="-120"/>
              </a:rPr>
              <a:t>1. 사전 학습 로드맵</a:t>
            </a:r>
            <a:endParaRPr lang="en-US" sz="1400" dirty="0"/>
          </a:p>
          <a:p>
            <a:pPr indent="0" marL="0">
              <a:spcAft>
                <a:spcPts val="1000"/>
              </a:spcAft>
              <a:buNone/>
            </a:pPr>
            <a:r>
              <a:rPr lang="en-US" sz="1400" dirty="0">
                <a:solidFill>
                  <a:srgbClr val="616161"/>
                </a:solidFill>
                <a:latin typeface="맑은 고딕" pitchFamily="34" charset="0"/>
                <a:ea typeface="맑은 고딕" pitchFamily="34" charset="-122"/>
                <a:cs typeface="맑은 고딕" pitchFamily="34" charset="-120"/>
              </a:rPr>
              <a:t>2. 팀 구성과 협업 체계</a:t>
            </a:r>
            <a:endParaRPr lang="en-US" sz="1400" dirty="0"/>
          </a:p>
        </p:txBody>
      </p:sp>
      <p:sp>
        <p:nvSpPr>
          <p:cNvPr id="9" name="Text 5"/>
          <p:cNvSpPr txBox="1"/>
          <p:nvPr/>
        </p:nvSpPr>
        <p:spPr>
          <a:xfrm>
            <a:off x="3345104" y="1920240"/>
            <a:ext cx="2613584" cy="1371600"/>
          </a:xfrm>
          <a:prstGeom prst="rect">
            <a:avLst/>
          </a:prstGeom>
          <a:noFill/>
          <a:ln/>
        </p:spPr>
        <p:txBody>
          <a:bodyPr wrap="square" lIns="0" tIns="0" rIns="0" bIns="0" rtlCol="0" anchor="t"/>
          <a:lstStyle/>
          <a:p>
            <a:pPr indent="0" marL="0">
              <a:buNone/>
            </a:pPr>
            <a:r>
              <a:rPr lang="en-US" sz="9600" b="1" dirty="0">
                <a:solidFill>
                  <a:srgbClr val="DCE3EC"/>
                </a:solidFill>
                <a:latin typeface="맑은 고딕" pitchFamily="34" charset="0"/>
                <a:ea typeface="맑은 고딕" pitchFamily="34" charset="-122"/>
                <a:cs typeface="맑은 고딕" pitchFamily="34" charset="-120"/>
              </a:rPr>
              <a:t>02</a:t>
            </a:r>
            <a:endParaRPr lang="en-US" sz="9600" dirty="0"/>
          </a:p>
        </p:txBody>
      </p:sp>
      <p:pic>
        <p:nvPicPr>
          <p:cNvPr id="10" name="Image 2" descr="figures/icons/sec_data.png">    </p:cNvPr>
          <p:cNvPicPr>
            <a:picLocks noChangeAspect="1"/>
          </p:cNvPicPr>
          <p:nvPr/>
        </p:nvPicPr>
        <p:blipFill>
          <a:blip r:embed="rId3"/>
          <a:stretch>
            <a:fillRect/>
          </a:stretch>
        </p:blipFill>
        <p:spPr>
          <a:xfrm>
            <a:off x="5090008" y="2011680"/>
            <a:ext cx="640080" cy="640080"/>
          </a:xfrm>
          <a:prstGeom prst="rect">
            <a:avLst/>
          </a:prstGeom>
        </p:spPr>
      </p:pic>
      <p:sp>
        <p:nvSpPr>
          <p:cNvPr id="11" name="Text 6"/>
          <p:cNvSpPr txBox="1"/>
          <p:nvPr/>
        </p:nvSpPr>
        <p:spPr>
          <a:xfrm>
            <a:off x="3436544" y="2880360"/>
            <a:ext cx="2522144" cy="502920"/>
          </a:xfrm>
          <a:prstGeom prst="rect">
            <a:avLst/>
          </a:prstGeom>
          <a:noFill/>
          <a:ln/>
        </p:spPr>
        <p:txBody>
          <a:bodyPr wrap="square" lIns="0" tIns="0" rIns="0" bIns="0" rtlCol="0" anchor="t"/>
          <a:lstStyle/>
          <a:p>
            <a:pPr indent="0" marL="0">
              <a:buNone/>
            </a:pPr>
            <a:r>
              <a:rPr lang="en-US" sz="2200" b="1" dirty="0">
                <a:solidFill>
                  <a:srgbClr val="212121"/>
                </a:solidFill>
                <a:latin typeface="맑은 고딕" pitchFamily="34" charset="0"/>
                <a:ea typeface="맑은 고딕" pitchFamily="34" charset="-122"/>
                <a:cs typeface="맑은 고딕" pitchFamily="34" charset="-120"/>
              </a:rPr>
              <a:t>데이터 분석</a:t>
            </a:r>
            <a:endParaRPr lang="en-US" sz="2200" dirty="0"/>
          </a:p>
        </p:txBody>
      </p:sp>
      <p:sp>
        <p:nvSpPr>
          <p:cNvPr id="12" name="Shape 7"/>
          <p:cNvSpPr/>
          <p:nvPr/>
        </p:nvSpPr>
        <p:spPr>
          <a:xfrm>
            <a:off x="3436544" y="3520440"/>
            <a:ext cx="2339264" cy="0"/>
          </a:xfrm>
          <a:prstGeom prst="line">
            <a:avLst/>
          </a:prstGeom>
          <a:noFill/>
          <a:ln w="12700">
            <a:solidFill>
              <a:srgbClr val="E0E0E0"/>
            </a:solidFill>
            <a:prstDash val="solid"/>
          </a:ln>
        </p:spPr>
      </p:sp>
      <p:sp>
        <p:nvSpPr>
          <p:cNvPr id="13" name="Text 8"/>
          <p:cNvSpPr txBox="1"/>
          <p:nvPr/>
        </p:nvSpPr>
        <p:spPr>
          <a:xfrm>
            <a:off x="3436544" y="3703320"/>
            <a:ext cx="2522144" cy="2011680"/>
          </a:xfrm>
          <a:prstGeom prst="rect">
            <a:avLst/>
          </a:prstGeom>
          <a:noFill/>
          <a:ln/>
        </p:spPr>
        <p:txBody>
          <a:bodyPr wrap="square" lIns="0" tIns="0" rIns="0" bIns="0" rtlCol="0" anchor="t"/>
          <a:lstStyle/>
          <a:p>
            <a:pPr indent="0" marL="0">
              <a:spcAft>
                <a:spcPts val="1000"/>
              </a:spcAft>
              <a:buNone/>
            </a:pPr>
            <a:r>
              <a:rPr lang="en-US" sz="1400" dirty="0">
                <a:solidFill>
                  <a:srgbClr val="616161"/>
                </a:solidFill>
                <a:latin typeface="맑은 고딕" pitchFamily="34" charset="0"/>
                <a:ea typeface="맑은 고딕" pitchFamily="34" charset="-122"/>
                <a:cs typeface="맑은 고딕" pitchFamily="34" charset="-120"/>
              </a:rPr>
              <a:t>1. EDA 핵심 발견</a:t>
            </a:r>
            <a:endParaRPr lang="en-US" sz="1400" dirty="0"/>
          </a:p>
        </p:txBody>
      </p:sp>
      <p:sp>
        <p:nvSpPr>
          <p:cNvPr id="14" name="Text 9"/>
          <p:cNvSpPr txBox="1"/>
          <p:nvPr/>
        </p:nvSpPr>
        <p:spPr>
          <a:xfrm>
            <a:off x="6233008" y="1920240"/>
            <a:ext cx="2613584" cy="1371600"/>
          </a:xfrm>
          <a:prstGeom prst="rect">
            <a:avLst/>
          </a:prstGeom>
          <a:noFill/>
          <a:ln/>
        </p:spPr>
        <p:txBody>
          <a:bodyPr wrap="square" lIns="0" tIns="0" rIns="0" bIns="0" rtlCol="0" anchor="t"/>
          <a:lstStyle/>
          <a:p>
            <a:pPr indent="0" marL="0">
              <a:buNone/>
            </a:pPr>
            <a:r>
              <a:rPr lang="en-US" sz="9600" b="1" dirty="0">
                <a:solidFill>
                  <a:srgbClr val="DCE3EC"/>
                </a:solidFill>
                <a:latin typeface="맑은 고딕" pitchFamily="34" charset="0"/>
                <a:ea typeface="맑은 고딕" pitchFamily="34" charset="-122"/>
                <a:cs typeface="맑은 고딕" pitchFamily="34" charset="-120"/>
              </a:rPr>
              <a:t>03</a:t>
            </a:r>
            <a:endParaRPr lang="en-US" sz="9600" dirty="0"/>
          </a:p>
        </p:txBody>
      </p:sp>
      <p:pic>
        <p:nvPicPr>
          <p:cNvPr id="15" name="Image 3" descr="figures/icons/sec_mission.png">    </p:cNvPr>
          <p:cNvPicPr>
            <a:picLocks noChangeAspect="1"/>
          </p:cNvPicPr>
          <p:nvPr/>
        </p:nvPicPr>
        <p:blipFill>
          <a:blip r:embed="rId4"/>
          <a:stretch>
            <a:fillRect/>
          </a:stretch>
        </p:blipFill>
        <p:spPr>
          <a:xfrm>
            <a:off x="7977911" y="2011680"/>
            <a:ext cx="640080" cy="640080"/>
          </a:xfrm>
          <a:prstGeom prst="rect">
            <a:avLst/>
          </a:prstGeom>
        </p:spPr>
      </p:pic>
      <p:sp>
        <p:nvSpPr>
          <p:cNvPr id="16" name="Text 10"/>
          <p:cNvSpPr txBox="1"/>
          <p:nvPr/>
        </p:nvSpPr>
        <p:spPr>
          <a:xfrm>
            <a:off x="6324448" y="2880360"/>
            <a:ext cx="2522144" cy="502920"/>
          </a:xfrm>
          <a:prstGeom prst="rect">
            <a:avLst/>
          </a:prstGeom>
          <a:noFill/>
          <a:ln/>
        </p:spPr>
        <p:txBody>
          <a:bodyPr wrap="square" lIns="0" tIns="0" rIns="0" bIns="0" rtlCol="0" anchor="t"/>
          <a:lstStyle/>
          <a:p>
            <a:pPr indent="0" marL="0">
              <a:buNone/>
            </a:pPr>
            <a:r>
              <a:rPr lang="en-US" sz="2200" b="1" dirty="0">
                <a:solidFill>
                  <a:srgbClr val="212121"/>
                </a:solidFill>
                <a:latin typeface="맑은 고딕" pitchFamily="34" charset="0"/>
                <a:ea typeface="맑은 고딕" pitchFamily="34" charset="-122"/>
                <a:cs typeface="맑은 고딕" pitchFamily="34" charset="-120"/>
              </a:rPr>
              <a:t>미션별 수행</a:t>
            </a:r>
            <a:endParaRPr lang="en-US" sz="2200" dirty="0"/>
          </a:p>
        </p:txBody>
      </p:sp>
      <p:sp>
        <p:nvSpPr>
          <p:cNvPr id="17" name="Shape 11"/>
          <p:cNvSpPr/>
          <p:nvPr/>
        </p:nvSpPr>
        <p:spPr>
          <a:xfrm>
            <a:off x="6324448" y="3520440"/>
            <a:ext cx="2339264" cy="0"/>
          </a:xfrm>
          <a:prstGeom prst="line">
            <a:avLst/>
          </a:prstGeom>
          <a:noFill/>
          <a:ln w="12700">
            <a:solidFill>
              <a:srgbClr val="E0E0E0"/>
            </a:solidFill>
            <a:prstDash val="solid"/>
          </a:ln>
        </p:spPr>
      </p:sp>
      <p:sp>
        <p:nvSpPr>
          <p:cNvPr id="18" name="Text 12"/>
          <p:cNvSpPr txBox="1"/>
          <p:nvPr/>
        </p:nvSpPr>
        <p:spPr>
          <a:xfrm>
            <a:off x="6324448" y="3703320"/>
            <a:ext cx="2522144" cy="2011680"/>
          </a:xfrm>
          <a:prstGeom prst="rect">
            <a:avLst/>
          </a:prstGeom>
          <a:noFill/>
          <a:ln/>
        </p:spPr>
        <p:txBody>
          <a:bodyPr wrap="square" lIns="0" tIns="0" rIns="0" bIns="0" rtlCol="0" anchor="t"/>
          <a:lstStyle/>
          <a:p>
            <a:pPr indent="0" marL="0">
              <a:spcAft>
                <a:spcPts val="1000"/>
              </a:spcAft>
              <a:buNone/>
            </a:pPr>
            <a:r>
              <a:rPr lang="en-US" sz="1400" dirty="0">
                <a:solidFill>
                  <a:srgbClr val="616161"/>
                </a:solidFill>
                <a:latin typeface="맑은 고딕" pitchFamily="34" charset="0"/>
                <a:ea typeface="맑은 고딕" pitchFamily="34" charset="-122"/>
                <a:cs typeface="맑은 고딕" pitchFamily="34" charset="-120"/>
              </a:rPr>
              <a:t>1. Mission 1  신고자 성별 분류</a:t>
            </a:r>
            <a:endParaRPr lang="en-US" sz="1400" dirty="0"/>
          </a:p>
          <a:p>
            <a:pPr indent="0" marL="0">
              <a:spcAft>
                <a:spcPts val="1000"/>
              </a:spcAft>
              <a:buNone/>
            </a:pPr>
            <a:r>
              <a:rPr lang="en-US" sz="1400" dirty="0">
                <a:solidFill>
                  <a:srgbClr val="616161"/>
                </a:solidFill>
                <a:latin typeface="맑은 고딕" pitchFamily="34" charset="0"/>
                <a:ea typeface="맑은 고딕" pitchFamily="34" charset="-122"/>
                <a:cs typeface="맑은 고딕" pitchFamily="34" charset="-120"/>
              </a:rPr>
              <a:t>2. Mission 2  신고자/대원 분류</a:t>
            </a:r>
            <a:endParaRPr lang="en-US" sz="1400" dirty="0"/>
          </a:p>
          <a:p>
            <a:pPr indent="0" marL="0">
              <a:spcAft>
                <a:spcPts val="1000"/>
              </a:spcAft>
              <a:buNone/>
            </a:pPr>
            <a:r>
              <a:rPr lang="en-US" sz="1400" dirty="0">
                <a:solidFill>
                  <a:srgbClr val="616161"/>
                </a:solidFill>
                <a:latin typeface="맑은 고딕" pitchFamily="34" charset="0"/>
                <a:ea typeface="맑은 고딕" pitchFamily="34" charset="-122"/>
                <a:cs typeface="맑은 고딕" pitchFamily="34" charset="-120"/>
              </a:rPr>
              <a:t>   (+ 실험 흐름·공식 검증·오류 분석)</a:t>
            </a:r>
            <a:endParaRPr lang="en-US" sz="1400" dirty="0"/>
          </a:p>
          <a:p>
            <a:pPr indent="0" marL="0">
              <a:spcAft>
                <a:spcPts val="1000"/>
              </a:spcAft>
              <a:buNone/>
            </a:pPr>
            <a:r>
              <a:rPr lang="en-US" sz="1400" dirty="0">
                <a:solidFill>
                  <a:srgbClr val="616161"/>
                </a:solidFill>
                <a:latin typeface="맑은 고딕" pitchFamily="34" charset="0"/>
                <a:ea typeface="맑은 고딕" pitchFamily="34" charset="-122"/>
                <a:cs typeface="맑은 고딕" pitchFamily="34" charset="-120"/>
              </a:rPr>
              <a:t>3. Mission 3  환자 증상 인식</a:t>
            </a:r>
            <a:endParaRPr lang="en-US" sz="1400" dirty="0"/>
          </a:p>
        </p:txBody>
      </p:sp>
      <p:sp>
        <p:nvSpPr>
          <p:cNvPr id="19" name="Text 13"/>
          <p:cNvSpPr txBox="1"/>
          <p:nvPr/>
        </p:nvSpPr>
        <p:spPr>
          <a:xfrm>
            <a:off x="9120911" y="1920240"/>
            <a:ext cx="2613584" cy="1371600"/>
          </a:xfrm>
          <a:prstGeom prst="rect">
            <a:avLst/>
          </a:prstGeom>
          <a:noFill/>
          <a:ln/>
        </p:spPr>
        <p:txBody>
          <a:bodyPr wrap="square" lIns="0" tIns="0" rIns="0" bIns="0" rtlCol="0" anchor="t"/>
          <a:lstStyle/>
          <a:p>
            <a:pPr indent="0" marL="0">
              <a:buNone/>
            </a:pPr>
            <a:r>
              <a:rPr lang="en-US" sz="9600" b="1" dirty="0">
                <a:solidFill>
                  <a:srgbClr val="DCE3EC"/>
                </a:solidFill>
                <a:latin typeface="맑은 고딕" pitchFamily="34" charset="0"/>
                <a:ea typeface="맑은 고딕" pitchFamily="34" charset="-122"/>
                <a:cs typeface="맑은 고딕" pitchFamily="34" charset="-120"/>
              </a:rPr>
              <a:t>04</a:t>
            </a:r>
            <a:endParaRPr lang="en-US" sz="9600" dirty="0"/>
          </a:p>
        </p:txBody>
      </p:sp>
      <p:pic>
        <p:nvPicPr>
          <p:cNvPr id="20" name="Image 4" descr="figures/icons/sec_wrap.png">    </p:cNvPr>
          <p:cNvPicPr>
            <a:picLocks noChangeAspect="1"/>
          </p:cNvPicPr>
          <p:nvPr/>
        </p:nvPicPr>
        <p:blipFill>
          <a:blip r:embed="rId5"/>
          <a:stretch>
            <a:fillRect/>
          </a:stretch>
        </p:blipFill>
        <p:spPr>
          <a:xfrm>
            <a:off x="10865815" y="2011680"/>
            <a:ext cx="640080" cy="640080"/>
          </a:xfrm>
          <a:prstGeom prst="rect">
            <a:avLst/>
          </a:prstGeom>
        </p:spPr>
      </p:pic>
      <p:sp>
        <p:nvSpPr>
          <p:cNvPr id="21" name="Text 14"/>
          <p:cNvSpPr txBox="1"/>
          <p:nvPr/>
        </p:nvSpPr>
        <p:spPr>
          <a:xfrm>
            <a:off x="9212351" y="2880360"/>
            <a:ext cx="2522144" cy="502920"/>
          </a:xfrm>
          <a:prstGeom prst="rect">
            <a:avLst/>
          </a:prstGeom>
          <a:noFill/>
          <a:ln/>
        </p:spPr>
        <p:txBody>
          <a:bodyPr wrap="square" lIns="0" tIns="0" rIns="0" bIns="0" rtlCol="0" anchor="t"/>
          <a:lstStyle/>
          <a:p>
            <a:pPr indent="0" marL="0">
              <a:buNone/>
            </a:pPr>
            <a:r>
              <a:rPr lang="en-US" sz="2200" b="1" dirty="0">
                <a:solidFill>
                  <a:srgbClr val="212121"/>
                </a:solidFill>
                <a:latin typeface="맑은 고딕" pitchFamily="34" charset="0"/>
                <a:ea typeface="맑은 고딕" pitchFamily="34" charset="-122"/>
                <a:cs typeface="맑은 고딕" pitchFamily="34" charset="-120"/>
              </a:rPr>
              <a:t>종합 및 시사점</a:t>
            </a:r>
            <a:endParaRPr lang="en-US" sz="2200" dirty="0"/>
          </a:p>
        </p:txBody>
      </p:sp>
      <p:sp>
        <p:nvSpPr>
          <p:cNvPr id="22" name="Shape 15"/>
          <p:cNvSpPr/>
          <p:nvPr/>
        </p:nvSpPr>
        <p:spPr>
          <a:xfrm>
            <a:off x="9212351" y="3520440"/>
            <a:ext cx="2339264" cy="0"/>
          </a:xfrm>
          <a:prstGeom prst="line">
            <a:avLst/>
          </a:prstGeom>
          <a:noFill/>
          <a:ln w="12700">
            <a:solidFill>
              <a:srgbClr val="E0E0E0"/>
            </a:solidFill>
            <a:prstDash val="solid"/>
          </a:ln>
        </p:spPr>
      </p:sp>
      <p:sp>
        <p:nvSpPr>
          <p:cNvPr id="23" name="Text 16"/>
          <p:cNvSpPr txBox="1"/>
          <p:nvPr/>
        </p:nvSpPr>
        <p:spPr>
          <a:xfrm>
            <a:off x="9212351" y="3703320"/>
            <a:ext cx="2522144" cy="2011680"/>
          </a:xfrm>
          <a:prstGeom prst="rect">
            <a:avLst/>
          </a:prstGeom>
          <a:noFill/>
          <a:ln/>
        </p:spPr>
        <p:txBody>
          <a:bodyPr wrap="square" lIns="0" tIns="0" rIns="0" bIns="0" rtlCol="0" anchor="t"/>
          <a:lstStyle/>
          <a:p>
            <a:pPr indent="0" marL="0">
              <a:spcAft>
                <a:spcPts val="1000"/>
              </a:spcAft>
              <a:buNone/>
            </a:pPr>
            <a:r>
              <a:rPr lang="en-US" sz="1400" dirty="0">
                <a:solidFill>
                  <a:srgbClr val="616161"/>
                </a:solidFill>
                <a:latin typeface="맑은 고딕" pitchFamily="34" charset="0"/>
                <a:ea typeface="맑은 고딕" pitchFamily="34" charset="-122"/>
                <a:cs typeface="맑은 고딕" pitchFamily="34" charset="-120"/>
              </a:rPr>
              <a:t>1. 성능 요약과 교훈</a:t>
            </a:r>
            <a:endParaRPr lang="en-US" sz="1400" dirty="0"/>
          </a:p>
          <a:p>
            <a:pPr indent="0" marL="0">
              <a:spcAft>
                <a:spcPts val="1000"/>
              </a:spcAft>
              <a:buNone/>
            </a:pPr>
            <a:r>
              <a:rPr lang="en-US" sz="1400" dirty="0">
                <a:solidFill>
                  <a:srgbClr val="616161"/>
                </a:solidFill>
                <a:latin typeface="맑은 고딕" pitchFamily="34" charset="0"/>
                <a:ea typeface="맑은 고딕" pitchFamily="34" charset="-122"/>
                <a:cs typeface="맑은 고딕" pitchFamily="34" charset="-120"/>
              </a:rPr>
              <a:t>2. 사회안전 시사점</a:t>
            </a:r>
            <a:endParaRPr lang="en-US" sz="1400" dirty="0"/>
          </a:p>
          <a:p>
            <a:pPr indent="0" marL="0">
              <a:spcAft>
                <a:spcPts val="1000"/>
              </a:spcAft>
              <a:buNone/>
            </a:pPr>
            <a:r>
              <a:rPr lang="en-US" sz="1400" dirty="0">
                <a:solidFill>
                  <a:srgbClr val="616161"/>
                </a:solidFill>
                <a:latin typeface="맑은 고딕" pitchFamily="34" charset="0"/>
                <a:ea typeface="맑은 고딕" pitchFamily="34" charset="-122"/>
                <a:cs typeface="맑은 고딕" pitchFamily="34" charset="-120"/>
              </a:rPr>
              <a:t>3. 추후 활동 계획</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01  준비 과정</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4</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(1) 발대식 전 사전 학습 로드맵</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처음 보는 데이터로도  QA → Baseline → 검증 → 통제 실험 → 제출  흐름을 끝까지 돌 수 있도록 대회 전에 미리 연습</a:t>
            </a:r>
            <a:endParaRPr lang="en-US" sz="1500" dirty="0"/>
          </a:p>
        </p:txBody>
      </p:sp>
      <p:sp>
        <p:nvSpPr>
          <p:cNvPr id="9" name="Shape 6"/>
          <p:cNvSpPr/>
          <p:nvPr/>
        </p:nvSpPr>
        <p:spPr>
          <a:xfrm>
            <a:off x="457200" y="2331720"/>
            <a:ext cx="1627632" cy="1920240"/>
          </a:xfrm>
          <a:prstGeom prst="roundRect">
            <a:avLst>
              <a:gd name="adj" fmla="val 5618"/>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Shape 7"/>
          <p:cNvSpPr/>
          <p:nvPr/>
        </p:nvSpPr>
        <p:spPr>
          <a:xfrm>
            <a:off x="457200" y="2331720"/>
            <a:ext cx="1627632" cy="457200"/>
          </a:xfrm>
          <a:prstGeom prst="roundRect">
            <a:avLst>
              <a:gd name="adj" fmla="val 20000"/>
            </a:avLst>
          </a:prstGeom>
          <a:solidFill>
            <a:srgbClr val="009DDA"/>
          </a:solidFill>
          <a:ln w="12700">
            <a:solidFill>
              <a:srgbClr val="009DDA"/>
            </a:solidFill>
            <a:prstDash val="solid"/>
          </a:ln>
        </p:spPr>
      </p:sp>
      <p:sp>
        <p:nvSpPr>
          <p:cNvPr id="11" name="Shape 8"/>
          <p:cNvSpPr/>
          <p:nvPr/>
        </p:nvSpPr>
        <p:spPr>
          <a:xfrm>
            <a:off x="457200" y="2606040"/>
            <a:ext cx="1627632" cy="182880"/>
          </a:xfrm>
          <a:prstGeom prst="rect">
            <a:avLst/>
          </a:prstGeom>
          <a:solidFill>
            <a:srgbClr val="009DDA"/>
          </a:solidFill>
          <a:ln w="12700">
            <a:solidFill>
              <a:srgbClr val="009DDA"/>
            </a:solidFill>
            <a:prstDash val="solid"/>
          </a:ln>
        </p:spPr>
      </p:sp>
      <p:sp>
        <p:nvSpPr>
          <p:cNvPr id="12" name="Text 9"/>
          <p:cNvSpPr txBox="1"/>
          <p:nvPr/>
        </p:nvSpPr>
        <p:spPr>
          <a:xfrm>
            <a:off x="457200" y="2331720"/>
            <a:ext cx="1627632"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W1  기초</a:t>
            </a:r>
            <a:endParaRPr lang="en-US" sz="1400" dirty="0"/>
          </a:p>
        </p:txBody>
      </p:sp>
      <p:pic>
        <p:nvPicPr>
          <p:cNvPr id="13" name="Image 1" descr="figures/icons/w1.png">    </p:cNvPr>
          <p:cNvPicPr>
            <a:picLocks noChangeAspect="1"/>
          </p:cNvPicPr>
          <p:nvPr/>
        </p:nvPicPr>
        <p:blipFill>
          <a:blip r:embed="rId2"/>
          <a:stretch>
            <a:fillRect/>
          </a:stretch>
        </p:blipFill>
        <p:spPr>
          <a:xfrm>
            <a:off x="978408" y="2953512"/>
            <a:ext cx="585216" cy="585216"/>
          </a:xfrm>
          <a:prstGeom prst="rect">
            <a:avLst/>
          </a:prstGeom>
        </p:spPr>
      </p:pic>
      <p:sp>
        <p:nvSpPr>
          <p:cNvPr id="14" name="Text 10"/>
          <p:cNvSpPr txBox="1"/>
          <p:nvPr/>
        </p:nvSpPr>
        <p:spPr>
          <a:xfrm>
            <a:off x="566928" y="3611880"/>
            <a:ext cx="1408176" cy="548640"/>
          </a:xfrm>
          <a:prstGeom prst="rect">
            <a:avLst/>
          </a:prstGeom>
          <a:noFill/>
          <a:ln/>
        </p:spPr>
        <p:txBody>
          <a:bodyPr wrap="square" lIns="0" tIns="0" rIns="0" bIns="0" rtlCol="0" anchor="t"/>
          <a:lstStyle/>
          <a:p>
            <a:pPr algn="ct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Python·pandas</a:t>
            </a:r>
            <a:endParaRPr lang="en-US" sz="1150" dirty="0"/>
          </a:p>
          <a:p>
            <a:pPr algn="ct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타이타닉 EDA</a:t>
            </a:r>
            <a:endParaRPr lang="en-US" sz="1150" dirty="0"/>
          </a:p>
        </p:txBody>
      </p:sp>
      <p:sp>
        <p:nvSpPr>
          <p:cNvPr id="15" name="Shape 11"/>
          <p:cNvSpPr/>
          <p:nvPr/>
        </p:nvSpPr>
        <p:spPr>
          <a:xfrm>
            <a:off x="2126254" y="3118104"/>
            <a:ext cx="219456" cy="347472"/>
          </a:xfrm>
          <a:prstGeom prst="chevron">
            <a:avLst/>
          </a:prstGeom>
          <a:solidFill>
            <a:srgbClr val="009DDA"/>
          </a:solidFill>
          <a:ln w="12700">
            <a:solidFill>
              <a:srgbClr val="009DDA"/>
            </a:solidFill>
            <a:prstDash val="solid"/>
          </a:ln>
        </p:spPr>
      </p:sp>
      <p:sp>
        <p:nvSpPr>
          <p:cNvPr id="16" name="Shape 12"/>
          <p:cNvSpPr/>
          <p:nvPr/>
        </p:nvSpPr>
        <p:spPr>
          <a:xfrm>
            <a:off x="2387133" y="2331720"/>
            <a:ext cx="1627632" cy="1920240"/>
          </a:xfrm>
          <a:prstGeom prst="roundRect">
            <a:avLst>
              <a:gd name="adj" fmla="val 5618"/>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7" name="Shape 13"/>
          <p:cNvSpPr/>
          <p:nvPr/>
        </p:nvSpPr>
        <p:spPr>
          <a:xfrm>
            <a:off x="2387133" y="2331720"/>
            <a:ext cx="1627632" cy="457200"/>
          </a:xfrm>
          <a:prstGeom prst="roundRect">
            <a:avLst>
              <a:gd name="adj" fmla="val 20000"/>
            </a:avLst>
          </a:prstGeom>
          <a:solidFill>
            <a:srgbClr val="2F4E91"/>
          </a:solidFill>
          <a:ln w="12700">
            <a:solidFill>
              <a:srgbClr val="2F4E91"/>
            </a:solidFill>
            <a:prstDash val="solid"/>
          </a:ln>
        </p:spPr>
      </p:sp>
      <p:sp>
        <p:nvSpPr>
          <p:cNvPr id="18" name="Shape 14"/>
          <p:cNvSpPr/>
          <p:nvPr/>
        </p:nvSpPr>
        <p:spPr>
          <a:xfrm>
            <a:off x="2387133" y="2606040"/>
            <a:ext cx="1627632" cy="182880"/>
          </a:xfrm>
          <a:prstGeom prst="rect">
            <a:avLst/>
          </a:prstGeom>
          <a:solidFill>
            <a:srgbClr val="2F4E91"/>
          </a:solidFill>
          <a:ln w="12700">
            <a:solidFill>
              <a:srgbClr val="2F4E91"/>
            </a:solidFill>
            <a:prstDash val="solid"/>
          </a:ln>
        </p:spPr>
      </p:sp>
      <p:sp>
        <p:nvSpPr>
          <p:cNvPr id="19" name="Text 15"/>
          <p:cNvSpPr txBox="1"/>
          <p:nvPr/>
        </p:nvSpPr>
        <p:spPr>
          <a:xfrm>
            <a:off x="2387133" y="2331720"/>
            <a:ext cx="1627632"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W2  Baseline</a:t>
            </a:r>
            <a:endParaRPr lang="en-US" sz="1400" dirty="0"/>
          </a:p>
        </p:txBody>
      </p:sp>
      <p:pic>
        <p:nvPicPr>
          <p:cNvPr id="20" name="Image 2" descr="figures/icons/w2.png">    </p:cNvPr>
          <p:cNvPicPr>
            <a:picLocks noChangeAspect="1"/>
          </p:cNvPicPr>
          <p:nvPr/>
        </p:nvPicPr>
        <p:blipFill>
          <a:blip r:embed="rId3"/>
          <a:stretch>
            <a:fillRect/>
          </a:stretch>
        </p:blipFill>
        <p:spPr>
          <a:xfrm>
            <a:off x="2908341" y="2953512"/>
            <a:ext cx="585216" cy="585216"/>
          </a:xfrm>
          <a:prstGeom prst="rect">
            <a:avLst/>
          </a:prstGeom>
        </p:spPr>
      </p:pic>
      <p:sp>
        <p:nvSpPr>
          <p:cNvPr id="21" name="Text 16"/>
          <p:cNvSpPr txBox="1"/>
          <p:nvPr/>
        </p:nvSpPr>
        <p:spPr>
          <a:xfrm>
            <a:off x="2496861" y="3611880"/>
            <a:ext cx="1408176" cy="548640"/>
          </a:xfrm>
          <a:prstGeom prst="rect">
            <a:avLst/>
          </a:prstGeom>
          <a:noFill/>
          <a:ln/>
        </p:spPr>
        <p:txBody>
          <a:bodyPr wrap="square" lIns="0" tIns="0" rIns="0" bIns="0" rtlCol="0" anchor="t"/>
          <a:lstStyle/>
          <a:p>
            <a:pPr algn="ct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첫 모델 학습</a:t>
            </a:r>
            <a:endParaRPr lang="en-US" sz="1150" dirty="0"/>
          </a:p>
          <a:p>
            <a:pPr algn="ct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실험 로그</a:t>
            </a:r>
            <a:endParaRPr lang="en-US" sz="1150" dirty="0"/>
          </a:p>
        </p:txBody>
      </p:sp>
      <p:sp>
        <p:nvSpPr>
          <p:cNvPr id="22" name="Shape 17"/>
          <p:cNvSpPr/>
          <p:nvPr/>
        </p:nvSpPr>
        <p:spPr>
          <a:xfrm>
            <a:off x="4056187" y="3118104"/>
            <a:ext cx="219456" cy="347472"/>
          </a:xfrm>
          <a:prstGeom prst="chevron">
            <a:avLst/>
          </a:prstGeom>
          <a:solidFill>
            <a:srgbClr val="009DDA"/>
          </a:solidFill>
          <a:ln w="12700">
            <a:solidFill>
              <a:srgbClr val="009DDA"/>
            </a:solidFill>
            <a:prstDash val="solid"/>
          </a:ln>
        </p:spPr>
      </p:sp>
      <p:sp>
        <p:nvSpPr>
          <p:cNvPr id="23" name="Shape 18"/>
          <p:cNvSpPr/>
          <p:nvPr/>
        </p:nvSpPr>
        <p:spPr>
          <a:xfrm>
            <a:off x="4317065" y="2331720"/>
            <a:ext cx="1627632" cy="1920240"/>
          </a:xfrm>
          <a:prstGeom prst="roundRect">
            <a:avLst>
              <a:gd name="adj" fmla="val 5618"/>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24" name="Shape 19"/>
          <p:cNvSpPr/>
          <p:nvPr/>
        </p:nvSpPr>
        <p:spPr>
          <a:xfrm>
            <a:off x="4317065" y="2331720"/>
            <a:ext cx="1627632" cy="457200"/>
          </a:xfrm>
          <a:prstGeom prst="roundRect">
            <a:avLst>
              <a:gd name="adj" fmla="val 20000"/>
            </a:avLst>
          </a:prstGeom>
          <a:solidFill>
            <a:srgbClr val="2F4E91"/>
          </a:solidFill>
          <a:ln w="12700">
            <a:solidFill>
              <a:srgbClr val="2F4E91"/>
            </a:solidFill>
            <a:prstDash val="solid"/>
          </a:ln>
        </p:spPr>
      </p:sp>
      <p:sp>
        <p:nvSpPr>
          <p:cNvPr id="25" name="Shape 20"/>
          <p:cNvSpPr/>
          <p:nvPr/>
        </p:nvSpPr>
        <p:spPr>
          <a:xfrm>
            <a:off x="4317065" y="2606040"/>
            <a:ext cx="1627632" cy="182880"/>
          </a:xfrm>
          <a:prstGeom prst="rect">
            <a:avLst/>
          </a:prstGeom>
          <a:solidFill>
            <a:srgbClr val="2F4E91"/>
          </a:solidFill>
          <a:ln w="12700">
            <a:solidFill>
              <a:srgbClr val="2F4E91"/>
            </a:solidFill>
            <a:prstDash val="solid"/>
          </a:ln>
        </p:spPr>
      </p:sp>
      <p:sp>
        <p:nvSpPr>
          <p:cNvPr id="26" name="Text 21"/>
          <p:cNvSpPr txBox="1"/>
          <p:nvPr/>
        </p:nvSpPr>
        <p:spPr>
          <a:xfrm>
            <a:off x="4317065" y="2331720"/>
            <a:ext cx="1627632"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W3  데이터 QA</a:t>
            </a:r>
            <a:endParaRPr lang="en-US" sz="1400" dirty="0"/>
          </a:p>
        </p:txBody>
      </p:sp>
      <p:pic>
        <p:nvPicPr>
          <p:cNvPr id="27" name="Image 3" descr="figures/icons/w3.png">    </p:cNvPr>
          <p:cNvPicPr>
            <a:picLocks noChangeAspect="1"/>
          </p:cNvPicPr>
          <p:nvPr/>
        </p:nvPicPr>
        <p:blipFill>
          <a:blip r:embed="rId4"/>
          <a:stretch>
            <a:fillRect/>
          </a:stretch>
        </p:blipFill>
        <p:spPr>
          <a:xfrm>
            <a:off x="4838273" y="2953512"/>
            <a:ext cx="585216" cy="585216"/>
          </a:xfrm>
          <a:prstGeom prst="rect">
            <a:avLst/>
          </a:prstGeom>
        </p:spPr>
      </p:pic>
      <p:sp>
        <p:nvSpPr>
          <p:cNvPr id="28" name="Text 22"/>
          <p:cNvSpPr txBox="1"/>
          <p:nvPr/>
        </p:nvSpPr>
        <p:spPr>
          <a:xfrm>
            <a:off x="4426793" y="3611880"/>
            <a:ext cx="1408176" cy="548640"/>
          </a:xfrm>
          <a:prstGeom prst="rect">
            <a:avLst/>
          </a:prstGeom>
          <a:noFill/>
          <a:ln/>
        </p:spPr>
        <p:txBody>
          <a:bodyPr wrap="square" lIns="0" tIns="0" rIns="0" bIns="0" rtlCol="0" anchor="t"/>
          <a:lstStyle/>
          <a:p>
            <a:pPr algn="ct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CIFAR-10</a:t>
            </a:r>
            <a:endParaRPr lang="en-US" sz="1150" dirty="0"/>
          </a:p>
          <a:p>
            <a:pPr algn="ct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누락·중복 점검</a:t>
            </a:r>
            <a:endParaRPr lang="en-US" sz="1150" dirty="0"/>
          </a:p>
        </p:txBody>
      </p:sp>
      <p:sp>
        <p:nvSpPr>
          <p:cNvPr id="29" name="Shape 23"/>
          <p:cNvSpPr/>
          <p:nvPr/>
        </p:nvSpPr>
        <p:spPr>
          <a:xfrm>
            <a:off x="5986120" y="3118104"/>
            <a:ext cx="219456" cy="347472"/>
          </a:xfrm>
          <a:prstGeom prst="chevron">
            <a:avLst/>
          </a:prstGeom>
          <a:solidFill>
            <a:srgbClr val="009DDA"/>
          </a:solidFill>
          <a:ln w="12700">
            <a:solidFill>
              <a:srgbClr val="009DDA"/>
            </a:solidFill>
            <a:prstDash val="solid"/>
          </a:ln>
        </p:spPr>
      </p:sp>
      <p:sp>
        <p:nvSpPr>
          <p:cNvPr id="30" name="Shape 24"/>
          <p:cNvSpPr/>
          <p:nvPr/>
        </p:nvSpPr>
        <p:spPr>
          <a:xfrm>
            <a:off x="6246998" y="2331720"/>
            <a:ext cx="1627632" cy="1920240"/>
          </a:xfrm>
          <a:prstGeom prst="roundRect">
            <a:avLst>
              <a:gd name="adj" fmla="val 5618"/>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31" name="Shape 25"/>
          <p:cNvSpPr/>
          <p:nvPr/>
        </p:nvSpPr>
        <p:spPr>
          <a:xfrm>
            <a:off x="6246998" y="2331720"/>
            <a:ext cx="1627632" cy="457200"/>
          </a:xfrm>
          <a:prstGeom prst="roundRect">
            <a:avLst>
              <a:gd name="adj" fmla="val 20000"/>
            </a:avLst>
          </a:prstGeom>
          <a:solidFill>
            <a:srgbClr val="2F4E91"/>
          </a:solidFill>
          <a:ln w="12700">
            <a:solidFill>
              <a:srgbClr val="2F4E91"/>
            </a:solidFill>
            <a:prstDash val="solid"/>
          </a:ln>
        </p:spPr>
      </p:sp>
      <p:sp>
        <p:nvSpPr>
          <p:cNvPr id="32" name="Shape 26"/>
          <p:cNvSpPr/>
          <p:nvPr/>
        </p:nvSpPr>
        <p:spPr>
          <a:xfrm>
            <a:off x="6246998" y="2606040"/>
            <a:ext cx="1627632" cy="182880"/>
          </a:xfrm>
          <a:prstGeom prst="rect">
            <a:avLst/>
          </a:prstGeom>
          <a:solidFill>
            <a:srgbClr val="2F4E91"/>
          </a:solidFill>
          <a:ln w="12700">
            <a:solidFill>
              <a:srgbClr val="2F4E91"/>
            </a:solidFill>
            <a:prstDash val="solid"/>
          </a:ln>
        </p:spPr>
      </p:sp>
      <p:sp>
        <p:nvSpPr>
          <p:cNvPr id="33" name="Text 27"/>
          <p:cNvSpPr txBox="1"/>
          <p:nvPr/>
        </p:nvSpPr>
        <p:spPr>
          <a:xfrm>
            <a:off x="6246998" y="2331720"/>
            <a:ext cx="1627632"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W4  통제 실험</a:t>
            </a:r>
            <a:endParaRPr lang="en-US" sz="1400" dirty="0"/>
          </a:p>
        </p:txBody>
      </p:sp>
      <p:pic>
        <p:nvPicPr>
          <p:cNvPr id="34" name="Image 4" descr="figures/icons/w4.png">    </p:cNvPr>
          <p:cNvPicPr>
            <a:picLocks noChangeAspect="1"/>
          </p:cNvPicPr>
          <p:nvPr/>
        </p:nvPicPr>
        <p:blipFill>
          <a:blip r:embed="rId5"/>
          <a:stretch>
            <a:fillRect/>
          </a:stretch>
        </p:blipFill>
        <p:spPr>
          <a:xfrm>
            <a:off x="6768206" y="2953512"/>
            <a:ext cx="585216" cy="585216"/>
          </a:xfrm>
          <a:prstGeom prst="rect">
            <a:avLst/>
          </a:prstGeom>
        </p:spPr>
      </p:pic>
      <p:sp>
        <p:nvSpPr>
          <p:cNvPr id="35" name="Text 28"/>
          <p:cNvSpPr txBox="1"/>
          <p:nvPr/>
        </p:nvSpPr>
        <p:spPr>
          <a:xfrm>
            <a:off x="6356726" y="3611880"/>
            <a:ext cx="1408176" cy="548640"/>
          </a:xfrm>
          <a:prstGeom prst="rect">
            <a:avLst/>
          </a:prstGeom>
          <a:noFill/>
          <a:ln/>
        </p:spPr>
        <p:txBody>
          <a:bodyPr wrap="square" lIns="0" tIns="0" rIns="0" bIns="0" rtlCol="0" anchor="t"/>
          <a:lstStyle/>
          <a:p>
            <a:pPr algn="ct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baseline 감사</a:t>
            </a:r>
            <a:endParaRPr lang="en-US" sz="1150" dirty="0"/>
          </a:p>
          <a:p>
            <a:pPr algn="ct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변수 하나씩</a:t>
            </a:r>
            <a:endParaRPr lang="en-US" sz="1150" dirty="0"/>
          </a:p>
        </p:txBody>
      </p:sp>
      <p:sp>
        <p:nvSpPr>
          <p:cNvPr id="36" name="Shape 29"/>
          <p:cNvSpPr/>
          <p:nvPr/>
        </p:nvSpPr>
        <p:spPr>
          <a:xfrm>
            <a:off x="7916052" y="3118104"/>
            <a:ext cx="219456" cy="347472"/>
          </a:xfrm>
          <a:prstGeom prst="chevron">
            <a:avLst/>
          </a:prstGeom>
          <a:solidFill>
            <a:srgbClr val="009DDA"/>
          </a:solidFill>
          <a:ln w="12700">
            <a:solidFill>
              <a:srgbClr val="009DDA"/>
            </a:solidFill>
            <a:prstDash val="solid"/>
          </a:ln>
        </p:spPr>
      </p:sp>
      <p:sp>
        <p:nvSpPr>
          <p:cNvPr id="37" name="Shape 30"/>
          <p:cNvSpPr/>
          <p:nvPr/>
        </p:nvSpPr>
        <p:spPr>
          <a:xfrm>
            <a:off x="8176931" y="2331720"/>
            <a:ext cx="1627632" cy="1920240"/>
          </a:xfrm>
          <a:prstGeom prst="roundRect">
            <a:avLst>
              <a:gd name="adj" fmla="val 5618"/>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38" name="Shape 31"/>
          <p:cNvSpPr/>
          <p:nvPr/>
        </p:nvSpPr>
        <p:spPr>
          <a:xfrm>
            <a:off x="8176931" y="2331720"/>
            <a:ext cx="1627632" cy="457200"/>
          </a:xfrm>
          <a:prstGeom prst="roundRect">
            <a:avLst>
              <a:gd name="adj" fmla="val 20000"/>
            </a:avLst>
          </a:prstGeom>
          <a:solidFill>
            <a:srgbClr val="2F4E91"/>
          </a:solidFill>
          <a:ln w="12700">
            <a:solidFill>
              <a:srgbClr val="2F4E91"/>
            </a:solidFill>
            <a:prstDash val="solid"/>
          </a:ln>
        </p:spPr>
      </p:sp>
      <p:sp>
        <p:nvSpPr>
          <p:cNvPr id="39" name="Shape 32"/>
          <p:cNvSpPr/>
          <p:nvPr/>
        </p:nvSpPr>
        <p:spPr>
          <a:xfrm>
            <a:off x="8176931" y="2606040"/>
            <a:ext cx="1627632" cy="182880"/>
          </a:xfrm>
          <a:prstGeom prst="rect">
            <a:avLst/>
          </a:prstGeom>
          <a:solidFill>
            <a:srgbClr val="2F4E91"/>
          </a:solidFill>
          <a:ln w="12700">
            <a:solidFill>
              <a:srgbClr val="2F4E91"/>
            </a:solidFill>
            <a:prstDash val="solid"/>
          </a:ln>
        </p:spPr>
      </p:sp>
      <p:sp>
        <p:nvSpPr>
          <p:cNvPr id="40" name="Text 33"/>
          <p:cNvSpPr txBox="1"/>
          <p:nvPr/>
        </p:nvSpPr>
        <p:spPr>
          <a:xfrm>
            <a:off x="8176931" y="2331720"/>
            <a:ext cx="1627632"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W5  데이터 정제</a:t>
            </a:r>
            <a:endParaRPr lang="en-US" sz="1400" dirty="0"/>
          </a:p>
        </p:txBody>
      </p:sp>
      <p:pic>
        <p:nvPicPr>
          <p:cNvPr id="41" name="Image 5" descr="figures/icons/w5.png">    </p:cNvPr>
          <p:cNvPicPr>
            <a:picLocks noChangeAspect="1"/>
          </p:cNvPicPr>
          <p:nvPr/>
        </p:nvPicPr>
        <p:blipFill>
          <a:blip r:embed="rId6"/>
          <a:stretch>
            <a:fillRect/>
          </a:stretch>
        </p:blipFill>
        <p:spPr>
          <a:xfrm>
            <a:off x="8698139" y="2953512"/>
            <a:ext cx="585216" cy="585216"/>
          </a:xfrm>
          <a:prstGeom prst="rect">
            <a:avLst/>
          </a:prstGeom>
        </p:spPr>
      </p:pic>
      <p:sp>
        <p:nvSpPr>
          <p:cNvPr id="42" name="Text 34"/>
          <p:cNvSpPr txBox="1"/>
          <p:nvPr/>
        </p:nvSpPr>
        <p:spPr>
          <a:xfrm>
            <a:off x="8286659" y="3611880"/>
            <a:ext cx="1408176" cy="548640"/>
          </a:xfrm>
          <a:prstGeom prst="rect">
            <a:avLst/>
          </a:prstGeom>
          <a:noFill/>
          <a:ln/>
        </p:spPr>
        <p:txBody>
          <a:bodyPr wrap="square" lIns="0" tIns="0" rIns="0" bIns="0" rtlCol="0" anchor="t"/>
          <a:lstStyle/>
          <a:p>
            <a:pPr algn="ct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이상치 점수</a:t>
            </a:r>
            <a:endParaRPr lang="en-US" sz="1150" dirty="0"/>
          </a:p>
          <a:p>
            <a:pPr algn="ct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기준 사전 고정</a:t>
            </a:r>
            <a:endParaRPr lang="en-US" sz="1150" dirty="0"/>
          </a:p>
        </p:txBody>
      </p:sp>
      <p:sp>
        <p:nvSpPr>
          <p:cNvPr id="43" name="Shape 35"/>
          <p:cNvSpPr/>
          <p:nvPr/>
        </p:nvSpPr>
        <p:spPr>
          <a:xfrm>
            <a:off x="9845985" y="3118104"/>
            <a:ext cx="219456" cy="347472"/>
          </a:xfrm>
          <a:prstGeom prst="chevron">
            <a:avLst/>
          </a:prstGeom>
          <a:solidFill>
            <a:srgbClr val="009DDA"/>
          </a:solidFill>
          <a:ln w="12700">
            <a:solidFill>
              <a:srgbClr val="009DDA"/>
            </a:solidFill>
            <a:prstDash val="solid"/>
          </a:ln>
        </p:spPr>
      </p:sp>
      <p:sp>
        <p:nvSpPr>
          <p:cNvPr id="44" name="Shape 36"/>
          <p:cNvSpPr/>
          <p:nvPr/>
        </p:nvSpPr>
        <p:spPr>
          <a:xfrm>
            <a:off x="10106863" y="2331720"/>
            <a:ext cx="1627632" cy="1920240"/>
          </a:xfrm>
          <a:prstGeom prst="roundRect">
            <a:avLst>
              <a:gd name="adj" fmla="val 5618"/>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45" name="Shape 37"/>
          <p:cNvSpPr/>
          <p:nvPr/>
        </p:nvSpPr>
        <p:spPr>
          <a:xfrm>
            <a:off x="10106863" y="2331720"/>
            <a:ext cx="1627632" cy="457200"/>
          </a:xfrm>
          <a:prstGeom prst="roundRect">
            <a:avLst>
              <a:gd name="adj" fmla="val 20000"/>
            </a:avLst>
          </a:prstGeom>
          <a:solidFill>
            <a:srgbClr val="2F4E91"/>
          </a:solidFill>
          <a:ln w="12700">
            <a:solidFill>
              <a:srgbClr val="2F4E91"/>
            </a:solidFill>
            <a:prstDash val="solid"/>
          </a:ln>
        </p:spPr>
      </p:sp>
      <p:sp>
        <p:nvSpPr>
          <p:cNvPr id="46" name="Shape 38"/>
          <p:cNvSpPr/>
          <p:nvPr/>
        </p:nvSpPr>
        <p:spPr>
          <a:xfrm>
            <a:off x="10106863" y="2606040"/>
            <a:ext cx="1627632" cy="182880"/>
          </a:xfrm>
          <a:prstGeom prst="rect">
            <a:avLst/>
          </a:prstGeom>
          <a:solidFill>
            <a:srgbClr val="2F4E91"/>
          </a:solidFill>
          <a:ln w="12700">
            <a:solidFill>
              <a:srgbClr val="2F4E91"/>
            </a:solidFill>
            <a:prstDash val="solid"/>
          </a:ln>
        </p:spPr>
      </p:sp>
      <p:sp>
        <p:nvSpPr>
          <p:cNvPr id="47" name="Text 39"/>
          <p:cNvSpPr txBox="1"/>
          <p:nvPr/>
        </p:nvSpPr>
        <p:spPr>
          <a:xfrm>
            <a:off x="10106863" y="2331720"/>
            <a:ext cx="1627632"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W6  제출 연습</a:t>
            </a:r>
            <a:endParaRPr lang="en-US" sz="1400" dirty="0"/>
          </a:p>
        </p:txBody>
      </p:sp>
      <p:pic>
        <p:nvPicPr>
          <p:cNvPr id="48" name="Image 6" descr="figures/icons/w6.png">    </p:cNvPr>
          <p:cNvPicPr>
            <a:picLocks noChangeAspect="1"/>
          </p:cNvPicPr>
          <p:nvPr/>
        </p:nvPicPr>
        <p:blipFill>
          <a:blip r:embed="rId7"/>
          <a:stretch>
            <a:fillRect/>
          </a:stretch>
        </p:blipFill>
        <p:spPr>
          <a:xfrm>
            <a:off x="10628071" y="2953512"/>
            <a:ext cx="585216" cy="585216"/>
          </a:xfrm>
          <a:prstGeom prst="rect">
            <a:avLst/>
          </a:prstGeom>
        </p:spPr>
      </p:pic>
      <p:sp>
        <p:nvSpPr>
          <p:cNvPr id="49" name="Text 40"/>
          <p:cNvSpPr txBox="1"/>
          <p:nvPr/>
        </p:nvSpPr>
        <p:spPr>
          <a:xfrm>
            <a:off x="10216591" y="3611880"/>
            <a:ext cx="1408176" cy="548640"/>
          </a:xfrm>
          <a:prstGeom prst="rect">
            <a:avLst/>
          </a:prstGeom>
          <a:noFill/>
          <a:ln/>
        </p:spPr>
        <p:txBody>
          <a:bodyPr wrap="square" lIns="0" tIns="0" rIns="0" bIns="0" rtlCol="0" anchor="t"/>
          <a:lstStyle/>
          <a:p>
            <a:pPr algn="ct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제출 패키지</a:t>
            </a:r>
            <a:endParaRPr lang="en-US" sz="1150" dirty="0"/>
          </a:p>
          <a:p>
            <a:pPr algn="ct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채점 스크립트</a:t>
            </a:r>
            <a:endParaRPr lang="en-US" sz="1150" dirty="0"/>
          </a:p>
        </p:txBody>
      </p:sp>
      <p:sp>
        <p:nvSpPr>
          <p:cNvPr id="50" name="Shape 41"/>
          <p:cNvSpPr/>
          <p:nvPr/>
        </p:nvSpPr>
        <p:spPr>
          <a:xfrm>
            <a:off x="457200" y="4572000"/>
            <a:ext cx="11277295" cy="1188720"/>
          </a:xfrm>
          <a:prstGeom prst="roundRect">
            <a:avLst>
              <a:gd name="adj" fmla="val 7692"/>
            </a:avLst>
          </a:prstGeom>
          <a:solidFill>
            <a:srgbClr val="EAF3FA"/>
          </a:solidFill>
          <a:ln w="12700">
            <a:solidFill>
              <a:srgbClr val="EAF3FA"/>
            </a:solidFill>
            <a:prstDash val="solid"/>
          </a:ln>
        </p:spPr>
      </p:sp>
      <p:sp>
        <p:nvSpPr>
          <p:cNvPr id="51" name="Text 42"/>
          <p:cNvSpPr txBox="1"/>
          <p:nvPr/>
        </p:nvSpPr>
        <p:spPr>
          <a:xfrm>
            <a:off x="594360" y="4572000"/>
            <a:ext cx="365760" cy="1188720"/>
          </a:xfrm>
          <a:prstGeom prst="rect">
            <a:avLst/>
          </a:prstGeom>
          <a:noFill/>
          <a:ln/>
        </p:spPr>
        <p:txBody>
          <a:bodyPr wrap="square" lIns="0" tIns="0" rIns="0" bIns="0" rtlCol="0" anchor="ctr"/>
          <a:lstStyle/>
          <a:p>
            <a:pPr indent="0" marL="0">
              <a:buNone/>
            </a:pPr>
            <a:r>
              <a:rPr lang="en-US" sz="1800" dirty="0">
                <a:solidFill>
                  <a:srgbClr val="212121"/>
                </a:solidFill>
                <a:latin typeface="맑은 고딕" pitchFamily="34" charset="0"/>
                <a:ea typeface="맑은 고딕" pitchFamily="34" charset="-122"/>
                <a:cs typeface="맑은 고딕" pitchFamily="34" charset="-120"/>
              </a:rPr>
              <a:t>💡</a:t>
            </a:r>
            <a:endParaRPr lang="en-US" sz="1800" dirty="0"/>
          </a:p>
        </p:txBody>
      </p:sp>
      <p:sp>
        <p:nvSpPr>
          <p:cNvPr id="52" name="Text 43"/>
          <p:cNvSpPr txBox="1"/>
          <p:nvPr/>
        </p:nvSpPr>
        <p:spPr>
          <a:xfrm>
            <a:off x="1005840" y="4572000"/>
            <a:ext cx="10591495" cy="1188720"/>
          </a:xfrm>
          <a:prstGeom prst="rect">
            <a:avLst/>
          </a:prstGeom>
          <a:noFill/>
          <a:ln/>
        </p:spPr>
        <p:txBody>
          <a:bodyPr wrap="square" lIns="0" tIns="0" rIns="0" bIns="0" rtlCol="0" anchor="ctr"/>
          <a:lstStyle/>
          <a:p>
            <a:pPr indent="0" marL="0">
              <a:buNone/>
            </a:pPr>
            <a:r>
              <a:rPr lang="en-US" sz="1300" b="1" dirty="0">
                <a:solidFill>
                  <a:srgbClr val="2F4E91"/>
                </a:solidFill>
                <a:latin typeface="맑은 고딕" pitchFamily="34" charset="0"/>
                <a:ea typeface="맑은 고딕" pitchFamily="34" charset="-122"/>
                <a:cs typeface="맑은 고딕" pitchFamily="34" charset="-120"/>
              </a:rPr>
              <a:t>예선에 그대로 가져온 습관  </a:t>
            </a:r>
            <a:endParaRPr lang="en-US" sz="1300" dirty="0"/>
          </a:p>
          <a:p>
            <a:pPr indent="0" marL="0">
              <a:buNone/>
            </a:pPr>
            <a:r>
              <a:rPr lang="en-US" sz="1300" dirty="0">
                <a:solidFill>
                  <a:srgbClr val="212121"/>
                </a:solidFill>
                <a:latin typeface="맑은 고딕" pitchFamily="34" charset="0"/>
                <a:ea typeface="맑은 고딕" pitchFamily="34" charset="-122"/>
                <a:cs typeface="맑은 고딕" pitchFamily="34" charset="-120"/>
              </a:rPr>
              <a:t>점검이 모델보다 먼저  ·  실험마다 ID·로그  ·  변수는 하나씩  ·  기준은 결과 보기 전에 고정</a:t>
            </a:r>
            <a:endParaRPr lang="en-US" sz="1300" dirty="0"/>
          </a:p>
        </p:txBody>
      </p:sp>
      <p:sp>
        <p:nvSpPr>
          <p:cNvPr id="53" name="Text 44"/>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GitHub eigensinn-dcc2026/step0 (2026.07.14 ~ 08.23), 팀원별 notebooks/ 및 outputs/ 실습 산출물</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01  준비 과정</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5</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(2) 팀 구성과 협업 체계</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5명이 한 저장소에서 충돌 없이 일하도록 규칙·자동 검사·기록 체계를 먼저 만들고 미션에 들어갔다.</a:t>
            </a:r>
            <a:endParaRPr lang="en-US" sz="1500" dirty="0"/>
          </a:p>
        </p:txBody>
      </p:sp>
      <p:sp>
        <p:nvSpPr>
          <p:cNvPr id="9" name="Text 6"/>
          <p:cNvSpPr txBox="1"/>
          <p:nvPr/>
        </p:nvSpPr>
        <p:spPr>
          <a:xfrm>
            <a:off x="457200" y="2240280"/>
            <a:ext cx="4572000" cy="365760"/>
          </a:xfrm>
          <a:prstGeom prst="rect">
            <a:avLst/>
          </a:prstGeom>
          <a:noFill/>
          <a:ln/>
        </p:spPr>
        <p:txBody>
          <a:bodyPr wrap="square" lIns="0" tIns="0" rIns="0" bIns="0" rtlCol="0" anchor="t"/>
          <a:lstStyle/>
          <a:p>
            <a:pPr indent="0" marL="0">
              <a:buNone/>
            </a:pPr>
            <a:r>
              <a:rPr lang="en-US" sz="1800" b="1" dirty="0">
                <a:solidFill>
                  <a:srgbClr val="212121"/>
                </a:solidFill>
                <a:latin typeface="맑은 고딕" pitchFamily="34" charset="0"/>
                <a:ea typeface="맑은 고딕" pitchFamily="34" charset="-122"/>
                <a:cs typeface="맑은 고딕" pitchFamily="34" charset="-120"/>
              </a:rPr>
              <a:t>■ 역할 분담</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9144000" cy="914400"/>
        </p:xfrm>
        <a:graphic>
          <a:graphicData uri="http://schemas.openxmlformats.org/drawingml/2006/table">
            <a:tbl>
              <a:tblPr/>
              <a:tblGrid>
                <a:gridCol w="1645920"/>
                <a:gridCol w="3383280"/>
              </a:tblGrid>
              <a:tr h="548640">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팀원</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예선 담당</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548640">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김장수</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Mission 1 · 2 · 3</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48640">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김광희</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Mission 2</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48640">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지연우</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Mission 2</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48640">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이수빈</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Mission 3</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48640">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조지은</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Mission 3</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1" name="Text 7"/>
          <p:cNvSpPr txBox="1"/>
          <p:nvPr/>
        </p:nvSpPr>
        <p:spPr>
          <a:xfrm>
            <a:off x="6035040" y="2240280"/>
            <a:ext cx="5699455" cy="365760"/>
          </a:xfrm>
          <a:prstGeom prst="rect">
            <a:avLst/>
          </a:prstGeom>
          <a:noFill/>
          <a:ln/>
        </p:spPr>
        <p:txBody>
          <a:bodyPr wrap="square" lIns="0" tIns="0" rIns="0" bIns="0" rtlCol="0" anchor="t"/>
          <a:lstStyle/>
          <a:p>
            <a:pPr indent="0" marL="0">
              <a:buNone/>
            </a:pPr>
            <a:r>
              <a:rPr lang="en-US" sz="1800" b="1" dirty="0">
                <a:solidFill>
                  <a:srgbClr val="212121"/>
                </a:solidFill>
                <a:latin typeface="맑은 고딕" pitchFamily="34" charset="0"/>
                <a:ea typeface="맑은 고딕" pitchFamily="34" charset="-122"/>
                <a:cs typeface="맑은 고딕" pitchFamily="34" charset="-120"/>
              </a:rPr>
              <a:t>■ GitHub 작업 흐름</a:t>
            </a:r>
            <a:endParaRPr lang="en-US" sz="1800" dirty="0"/>
          </a:p>
        </p:txBody>
      </p:sp>
      <p:sp>
        <p:nvSpPr>
          <p:cNvPr id="12" name="Shape 8"/>
          <p:cNvSpPr/>
          <p:nvPr/>
        </p:nvSpPr>
        <p:spPr>
          <a:xfrm>
            <a:off x="6035040" y="2697480"/>
            <a:ext cx="960120" cy="914400"/>
          </a:xfrm>
          <a:prstGeom prst="roundRect">
            <a:avLst>
              <a:gd name="adj" fmla="val 10000"/>
            </a:avLst>
          </a:prstGeom>
          <a:solidFill>
            <a:srgbClr val="EAF3FA"/>
          </a:solidFill>
          <a:ln w="12700">
            <a:solidFill>
              <a:srgbClr val="EAF3FA"/>
            </a:solidFill>
            <a:prstDash val="solid"/>
          </a:ln>
        </p:spPr>
      </p:sp>
      <p:sp>
        <p:nvSpPr>
          <p:cNvPr id="13" name="Text 9"/>
          <p:cNvSpPr txBox="1"/>
          <p:nvPr/>
        </p:nvSpPr>
        <p:spPr>
          <a:xfrm>
            <a:off x="6035040" y="2697480"/>
            <a:ext cx="960120" cy="914400"/>
          </a:xfrm>
          <a:prstGeom prst="rect">
            <a:avLst/>
          </a:prstGeom>
          <a:noFill/>
          <a:ln/>
        </p:spPr>
        <p:txBody>
          <a:bodyPr wrap="square" lIns="0" tIns="0" rIns="0" bIns="0" rtlCol="0" anchor="ctr"/>
          <a:lstStyle/>
          <a:p>
            <a:pPr algn="ctr" indent="0" marL="0">
              <a:buNone/>
            </a:pPr>
            <a:r>
              <a:rPr lang="en-US" sz="1100" b="1" dirty="0">
                <a:solidFill>
                  <a:srgbClr val="2F4E91"/>
                </a:solidFill>
                <a:latin typeface="맑은 고딕" pitchFamily="34" charset="0"/>
                <a:ea typeface="맑은 고딕" pitchFamily="34" charset="-122"/>
                <a:cs typeface="맑은 고딕" pitchFamily="34" charset="-120"/>
              </a:rPr>
              <a:t>main에서</a:t>
            </a:r>
            <a:endParaRPr lang="en-US" sz="1100" dirty="0"/>
          </a:p>
          <a:p>
            <a:pPr algn="ctr" indent="0" marL="0">
              <a:buNone/>
            </a:pPr>
            <a:r>
              <a:rPr lang="en-US" sz="1100" b="1" dirty="0">
                <a:solidFill>
                  <a:srgbClr val="2F4E91"/>
                </a:solidFill>
                <a:latin typeface="맑은 고딕" pitchFamily="34" charset="0"/>
                <a:ea typeface="맑은 고딕" pitchFamily="34" charset="-122"/>
                <a:cs typeface="맑은 고딕" pitchFamily="34" charset="-120"/>
              </a:rPr>
              <a:t>브랜치 생성</a:t>
            </a:r>
            <a:endParaRPr lang="en-US" sz="1100" dirty="0"/>
          </a:p>
        </p:txBody>
      </p:sp>
      <p:sp>
        <p:nvSpPr>
          <p:cNvPr id="14" name="Shape 10"/>
          <p:cNvSpPr/>
          <p:nvPr/>
        </p:nvSpPr>
        <p:spPr>
          <a:xfrm>
            <a:off x="7043509" y="3017520"/>
            <a:ext cx="128016" cy="274320"/>
          </a:xfrm>
          <a:prstGeom prst="chevron">
            <a:avLst/>
          </a:prstGeom>
          <a:solidFill>
            <a:srgbClr val="009DDA"/>
          </a:solidFill>
          <a:ln w="12700">
            <a:solidFill>
              <a:srgbClr val="009DDA"/>
            </a:solidFill>
            <a:prstDash val="solid"/>
          </a:ln>
        </p:spPr>
      </p:sp>
      <p:sp>
        <p:nvSpPr>
          <p:cNvPr id="15" name="Shape 11"/>
          <p:cNvSpPr/>
          <p:nvPr/>
        </p:nvSpPr>
        <p:spPr>
          <a:xfrm>
            <a:off x="7219874" y="2697480"/>
            <a:ext cx="960120" cy="914400"/>
          </a:xfrm>
          <a:prstGeom prst="roundRect">
            <a:avLst>
              <a:gd name="adj" fmla="val 10000"/>
            </a:avLst>
          </a:prstGeom>
          <a:solidFill>
            <a:srgbClr val="EAF3FA"/>
          </a:solidFill>
          <a:ln w="12700">
            <a:solidFill>
              <a:srgbClr val="EAF3FA"/>
            </a:solidFill>
            <a:prstDash val="solid"/>
          </a:ln>
        </p:spPr>
      </p:sp>
      <p:sp>
        <p:nvSpPr>
          <p:cNvPr id="16" name="Text 12"/>
          <p:cNvSpPr txBox="1"/>
          <p:nvPr/>
        </p:nvSpPr>
        <p:spPr>
          <a:xfrm>
            <a:off x="7219874" y="2697480"/>
            <a:ext cx="960120" cy="914400"/>
          </a:xfrm>
          <a:prstGeom prst="rect">
            <a:avLst/>
          </a:prstGeom>
          <a:noFill/>
          <a:ln/>
        </p:spPr>
        <p:txBody>
          <a:bodyPr wrap="square" lIns="0" tIns="0" rIns="0" bIns="0" rtlCol="0" anchor="ctr"/>
          <a:lstStyle/>
          <a:p>
            <a:pPr algn="ctr" indent="0" marL="0">
              <a:buNone/>
            </a:pPr>
            <a:r>
              <a:rPr lang="en-US" sz="1100" b="1" dirty="0">
                <a:solidFill>
                  <a:srgbClr val="2F4E91"/>
                </a:solidFill>
                <a:latin typeface="맑은 고딕" pitchFamily="34" charset="0"/>
                <a:ea typeface="맑은 고딕" pitchFamily="34" charset="-122"/>
                <a:cs typeface="맑은 고딕" pitchFamily="34" charset="-120"/>
              </a:rPr>
              <a:t>실험·코드</a:t>
            </a:r>
            <a:endParaRPr lang="en-US" sz="1100" dirty="0"/>
          </a:p>
          <a:p>
            <a:pPr algn="ctr" indent="0" marL="0">
              <a:buNone/>
            </a:pPr>
            <a:r>
              <a:rPr lang="en-US" sz="1100" b="1" dirty="0">
                <a:solidFill>
                  <a:srgbClr val="2F4E91"/>
                </a:solidFill>
                <a:latin typeface="맑은 고딕" pitchFamily="34" charset="0"/>
                <a:ea typeface="맑은 고딕" pitchFamily="34" charset="-122"/>
                <a:cs typeface="맑은 고딕" pitchFamily="34" charset="-120"/>
              </a:rPr>
              <a:t>작성</a:t>
            </a:r>
            <a:endParaRPr lang="en-US" sz="1100" dirty="0"/>
          </a:p>
        </p:txBody>
      </p:sp>
      <p:sp>
        <p:nvSpPr>
          <p:cNvPr id="17" name="Shape 13"/>
          <p:cNvSpPr/>
          <p:nvPr/>
        </p:nvSpPr>
        <p:spPr>
          <a:xfrm>
            <a:off x="8228343" y="3017520"/>
            <a:ext cx="128016" cy="274320"/>
          </a:xfrm>
          <a:prstGeom prst="chevron">
            <a:avLst/>
          </a:prstGeom>
          <a:solidFill>
            <a:srgbClr val="009DDA"/>
          </a:solidFill>
          <a:ln w="12700">
            <a:solidFill>
              <a:srgbClr val="009DDA"/>
            </a:solidFill>
            <a:prstDash val="solid"/>
          </a:ln>
        </p:spPr>
      </p:sp>
      <p:sp>
        <p:nvSpPr>
          <p:cNvPr id="18" name="Shape 14"/>
          <p:cNvSpPr/>
          <p:nvPr/>
        </p:nvSpPr>
        <p:spPr>
          <a:xfrm>
            <a:off x="8404708" y="2697480"/>
            <a:ext cx="960120" cy="914400"/>
          </a:xfrm>
          <a:prstGeom prst="roundRect">
            <a:avLst>
              <a:gd name="adj" fmla="val 10000"/>
            </a:avLst>
          </a:prstGeom>
          <a:solidFill>
            <a:srgbClr val="EAF3FA"/>
          </a:solidFill>
          <a:ln w="12700">
            <a:solidFill>
              <a:srgbClr val="EAF3FA"/>
            </a:solidFill>
            <a:prstDash val="solid"/>
          </a:ln>
        </p:spPr>
      </p:sp>
      <p:sp>
        <p:nvSpPr>
          <p:cNvPr id="19" name="Text 15"/>
          <p:cNvSpPr txBox="1"/>
          <p:nvPr/>
        </p:nvSpPr>
        <p:spPr>
          <a:xfrm>
            <a:off x="8404708" y="2697480"/>
            <a:ext cx="960120" cy="914400"/>
          </a:xfrm>
          <a:prstGeom prst="rect">
            <a:avLst/>
          </a:prstGeom>
          <a:noFill/>
          <a:ln/>
        </p:spPr>
        <p:txBody>
          <a:bodyPr wrap="square" lIns="0" tIns="0" rIns="0" bIns="0" rtlCol="0" anchor="ctr"/>
          <a:lstStyle/>
          <a:p>
            <a:pPr algn="ctr" indent="0" marL="0">
              <a:buNone/>
            </a:pPr>
            <a:r>
              <a:rPr lang="en-US" sz="1100" b="1" dirty="0">
                <a:solidFill>
                  <a:srgbClr val="2F4E91"/>
                </a:solidFill>
                <a:latin typeface="맑은 고딕" pitchFamily="34" charset="0"/>
                <a:ea typeface="맑은 고딕" pitchFamily="34" charset="-122"/>
                <a:cs typeface="맑은 고딕" pitchFamily="34" charset="-120"/>
              </a:rPr>
              <a:t>PR 작성</a:t>
            </a:r>
            <a:endParaRPr lang="en-US" sz="1100" dirty="0"/>
          </a:p>
          <a:p>
            <a:pPr algn="ctr" indent="0" marL="0">
              <a:buNone/>
            </a:pPr>
            <a:r>
              <a:rPr lang="en-US" sz="1100" b="1" dirty="0">
                <a:solidFill>
                  <a:srgbClr val="2F4E91"/>
                </a:solidFill>
                <a:latin typeface="맑은 고딕" pitchFamily="34" charset="0"/>
                <a:ea typeface="맑은 고딕" pitchFamily="34" charset="-122"/>
                <a:cs typeface="맑은 고딕" pitchFamily="34" charset="-120"/>
              </a:rPr>
              <a:t>(템플릿)</a:t>
            </a:r>
            <a:endParaRPr lang="en-US" sz="1100" dirty="0"/>
          </a:p>
        </p:txBody>
      </p:sp>
      <p:sp>
        <p:nvSpPr>
          <p:cNvPr id="20" name="Shape 16"/>
          <p:cNvSpPr/>
          <p:nvPr/>
        </p:nvSpPr>
        <p:spPr>
          <a:xfrm>
            <a:off x="9413177" y="3017520"/>
            <a:ext cx="128016" cy="274320"/>
          </a:xfrm>
          <a:prstGeom prst="chevron">
            <a:avLst/>
          </a:prstGeom>
          <a:solidFill>
            <a:srgbClr val="009DDA"/>
          </a:solidFill>
          <a:ln w="12700">
            <a:solidFill>
              <a:srgbClr val="009DDA"/>
            </a:solidFill>
            <a:prstDash val="solid"/>
          </a:ln>
        </p:spPr>
      </p:sp>
      <p:sp>
        <p:nvSpPr>
          <p:cNvPr id="21" name="Shape 17"/>
          <p:cNvSpPr/>
          <p:nvPr/>
        </p:nvSpPr>
        <p:spPr>
          <a:xfrm>
            <a:off x="9589541" y="2697480"/>
            <a:ext cx="960120" cy="914400"/>
          </a:xfrm>
          <a:prstGeom prst="roundRect">
            <a:avLst>
              <a:gd name="adj" fmla="val 10000"/>
            </a:avLst>
          </a:prstGeom>
          <a:solidFill>
            <a:srgbClr val="2F4E91"/>
          </a:solidFill>
          <a:ln w="12700">
            <a:solidFill>
              <a:srgbClr val="2F4E91"/>
            </a:solidFill>
            <a:prstDash val="solid"/>
          </a:ln>
        </p:spPr>
      </p:sp>
      <p:sp>
        <p:nvSpPr>
          <p:cNvPr id="22" name="Text 18"/>
          <p:cNvSpPr txBox="1"/>
          <p:nvPr/>
        </p:nvSpPr>
        <p:spPr>
          <a:xfrm>
            <a:off x="9589541" y="2697480"/>
            <a:ext cx="9601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자동 검사</a:t>
            </a:r>
            <a:endParaRPr lang="en-US" sz="1100" dirty="0"/>
          </a:p>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(CI·병합 판정)</a:t>
            </a:r>
            <a:endParaRPr lang="en-US" sz="1100" dirty="0"/>
          </a:p>
        </p:txBody>
      </p:sp>
      <p:sp>
        <p:nvSpPr>
          <p:cNvPr id="23" name="Shape 19"/>
          <p:cNvSpPr/>
          <p:nvPr/>
        </p:nvSpPr>
        <p:spPr>
          <a:xfrm>
            <a:off x="10598010" y="3017520"/>
            <a:ext cx="128016" cy="274320"/>
          </a:xfrm>
          <a:prstGeom prst="chevron">
            <a:avLst/>
          </a:prstGeom>
          <a:solidFill>
            <a:srgbClr val="009DDA"/>
          </a:solidFill>
          <a:ln w="12700">
            <a:solidFill>
              <a:srgbClr val="009DDA"/>
            </a:solidFill>
            <a:prstDash val="solid"/>
          </a:ln>
        </p:spPr>
      </p:sp>
      <p:sp>
        <p:nvSpPr>
          <p:cNvPr id="24" name="Shape 20"/>
          <p:cNvSpPr/>
          <p:nvPr/>
        </p:nvSpPr>
        <p:spPr>
          <a:xfrm>
            <a:off x="10774375" y="2697480"/>
            <a:ext cx="960120" cy="914400"/>
          </a:xfrm>
          <a:prstGeom prst="roundRect">
            <a:avLst>
              <a:gd name="adj" fmla="val 10000"/>
            </a:avLst>
          </a:prstGeom>
          <a:solidFill>
            <a:srgbClr val="EAF3FA"/>
          </a:solidFill>
          <a:ln w="12700">
            <a:solidFill>
              <a:srgbClr val="EAF3FA"/>
            </a:solidFill>
            <a:prstDash val="solid"/>
          </a:ln>
        </p:spPr>
      </p:sp>
      <p:sp>
        <p:nvSpPr>
          <p:cNvPr id="25" name="Text 21"/>
          <p:cNvSpPr txBox="1"/>
          <p:nvPr/>
        </p:nvSpPr>
        <p:spPr>
          <a:xfrm>
            <a:off x="10774375" y="2697480"/>
            <a:ext cx="960120" cy="914400"/>
          </a:xfrm>
          <a:prstGeom prst="rect">
            <a:avLst/>
          </a:prstGeom>
          <a:noFill/>
          <a:ln/>
        </p:spPr>
        <p:txBody>
          <a:bodyPr wrap="square" lIns="0" tIns="0" rIns="0" bIns="0" rtlCol="0" anchor="ctr"/>
          <a:lstStyle/>
          <a:p>
            <a:pPr algn="ctr" indent="0" marL="0">
              <a:buNone/>
            </a:pPr>
            <a:r>
              <a:rPr lang="en-US" sz="1100" b="1" dirty="0">
                <a:solidFill>
                  <a:srgbClr val="2F4E91"/>
                </a:solidFill>
                <a:latin typeface="맑은 고딕" pitchFamily="34" charset="0"/>
                <a:ea typeface="맑은 고딕" pitchFamily="34" charset="-122"/>
                <a:cs typeface="맑은 고딕" pitchFamily="34" charset="-120"/>
              </a:rPr>
              <a:t>팀원 리뷰</a:t>
            </a:r>
            <a:endParaRPr lang="en-US" sz="1100" dirty="0"/>
          </a:p>
          <a:p>
            <a:pPr algn="ctr" indent="0" marL="0">
              <a:buNone/>
            </a:pPr>
            <a:r>
              <a:rPr lang="en-US" sz="1100" b="1" dirty="0">
                <a:solidFill>
                  <a:srgbClr val="2F4E91"/>
                </a:solidFill>
                <a:latin typeface="맑은 고딕" pitchFamily="34" charset="0"/>
                <a:ea typeface="맑은 고딕" pitchFamily="34" charset="-122"/>
                <a:cs typeface="맑은 고딕" pitchFamily="34" charset="-120"/>
              </a:rPr>
              <a:t>후 병합</a:t>
            </a:r>
            <a:endParaRPr lang="en-US" sz="1100" dirty="0"/>
          </a:p>
        </p:txBody>
      </p:sp>
      <p:sp>
        <p:nvSpPr>
          <p:cNvPr id="26" name="Text 22"/>
          <p:cNvSpPr txBox="1"/>
          <p:nvPr/>
        </p:nvSpPr>
        <p:spPr>
          <a:xfrm>
            <a:off x="6035040" y="3931920"/>
            <a:ext cx="5699455" cy="365760"/>
          </a:xfrm>
          <a:prstGeom prst="rect">
            <a:avLst/>
          </a:prstGeom>
          <a:noFill/>
          <a:ln/>
        </p:spPr>
        <p:txBody>
          <a:bodyPr wrap="square" lIns="0" tIns="0" rIns="0" bIns="0" rtlCol="0" anchor="t"/>
          <a:lstStyle/>
          <a:p>
            <a:pPr indent="0" marL="0">
              <a:buNone/>
            </a:pPr>
            <a:r>
              <a:rPr lang="en-US" sz="1800" b="1" dirty="0">
                <a:solidFill>
                  <a:srgbClr val="212121"/>
                </a:solidFill>
                <a:latin typeface="맑은 고딕" pitchFamily="34" charset="0"/>
                <a:ea typeface="맑은 고딕" pitchFamily="34" charset="-122"/>
                <a:cs typeface="맑은 고딕" pitchFamily="34" charset="-120"/>
              </a:rPr>
              <a:t>■ 기록 체계</a:t>
            </a:r>
            <a:endParaRPr lang="en-US" sz="1800" dirty="0"/>
          </a:p>
        </p:txBody>
      </p:sp>
      <p:sp>
        <p:nvSpPr>
          <p:cNvPr id="27" name="Shape 23"/>
          <p:cNvSpPr/>
          <p:nvPr/>
        </p:nvSpPr>
        <p:spPr>
          <a:xfrm>
            <a:off x="6035040" y="4389120"/>
            <a:ext cx="2712568" cy="1600200"/>
          </a:xfrm>
          <a:prstGeom prst="roundRect">
            <a:avLst>
              <a:gd name="adj" fmla="val 5714"/>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28" name="Text 24"/>
          <p:cNvSpPr txBox="1"/>
          <p:nvPr/>
        </p:nvSpPr>
        <p:spPr>
          <a:xfrm>
            <a:off x="6217920" y="4526280"/>
            <a:ext cx="2346808" cy="274320"/>
          </a:xfrm>
          <a:prstGeom prst="rect">
            <a:avLst/>
          </a:prstGeom>
          <a:noFill/>
          <a:ln/>
        </p:spPr>
        <p:txBody>
          <a:bodyPr wrap="square" lIns="0" tIns="0" rIns="0" bIns="0" rtlCol="0" anchor="t"/>
          <a:lstStyle/>
          <a:p>
            <a:pPr indent="0" marL="0">
              <a:buNone/>
            </a:pPr>
            <a:r>
              <a:rPr lang="en-US" sz="1100" dirty="0">
                <a:solidFill>
                  <a:srgbClr val="616161"/>
                </a:solidFill>
                <a:latin typeface="맑은 고딕" pitchFamily="34" charset="0"/>
                <a:ea typeface="맑은 고딕" pitchFamily="34" charset="-122"/>
                <a:cs typeface="맑은 고딕" pitchFamily="34" charset="-120"/>
              </a:rPr>
              <a:t>docs/experiment_log.md</a:t>
            </a:r>
            <a:endParaRPr lang="en-US" sz="1100" dirty="0"/>
          </a:p>
        </p:txBody>
      </p:sp>
      <p:sp>
        <p:nvSpPr>
          <p:cNvPr id="29" name="Text 25"/>
          <p:cNvSpPr txBox="1"/>
          <p:nvPr/>
        </p:nvSpPr>
        <p:spPr>
          <a:xfrm>
            <a:off x="6217920" y="4846320"/>
            <a:ext cx="2346808" cy="411480"/>
          </a:xfrm>
          <a:prstGeom prst="rect">
            <a:avLst/>
          </a:prstGeom>
          <a:noFill/>
          <a:ln/>
        </p:spPr>
        <p:txBody>
          <a:bodyPr wrap="square" lIns="0" tIns="0" rIns="0" bIns="0" rtlCol="0" anchor="t"/>
          <a:lstStyle/>
          <a:p>
            <a:pPr indent="0" marL="0">
              <a:buNone/>
            </a:pPr>
            <a:r>
              <a:rPr lang="en-US" sz="1800" b="1" dirty="0">
                <a:solidFill>
                  <a:srgbClr val="2F4E91"/>
                </a:solidFill>
                <a:latin typeface="맑은 고딕" pitchFamily="34" charset="0"/>
                <a:ea typeface="맑은 고딕" pitchFamily="34" charset="-122"/>
                <a:cs typeface="맑은 고딕" pitchFamily="34" charset="-120"/>
              </a:rPr>
              <a:t>실험 기록</a:t>
            </a:r>
            <a:endParaRPr lang="en-US" sz="1800" dirty="0"/>
          </a:p>
        </p:txBody>
      </p:sp>
      <p:sp>
        <p:nvSpPr>
          <p:cNvPr id="30" name="Text 26"/>
          <p:cNvSpPr txBox="1"/>
          <p:nvPr/>
        </p:nvSpPr>
        <p:spPr>
          <a:xfrm>
            <a:off x="6217920" y="5303520"/>
            <a:ext cx="2346808" cy="548640"/>
          </a:xfrm>
          <a:prstGeom prst="rect">
            <a:avLst/>
          </a:prstGeom>
          <a:noFill/>
          <a:ln/>
        </p:spPr>
        <p:txBody>
          <a:bodyPr wrap="square" lIns="0" tIns="0" rIns="0" bIns="0" rtlCol="0" anchor="t"/>
          <a:lstStyle/>
          <a:p>
            <a:pPr indent="0" marL="0">
              <a:buNone/>
            </a:pPr>
            <a:r>
              <a:rPr lang="en-US" sz="1300" dirty="0">
                <a:solidFill>
                  <a:srgbClr val="212121"/>
                </a:solidFill>
                <a:latin typeface="맑은 고딕" pitchFamily="34" charset="0"/>
                <a:ea typeface="맑은 고딕" pitchFamily="34" charset="-122"/>
                <a:cs typeface="맑은 고딕" pitchFamily="34" charset="-120"/>
              </a:rPr>
              <a:t>무엇을 했고 결과는?</a:t>
            </a:r>
            <a:endParaRPr lang="en-US" sz="1300" dirty="0"/>
          </a:p>
        </p:txBody>
      </p:sp>
      <p:sp>
        <p:nvSpPr>
          <p:cNvPr id="31" name="Shape 27"/>
          <p:cNvSpPr/>
          <p:nvPr/>
        </p:nvSpPr>
        <p:spPr>
          <a:xfrm>
            <a:off x="9021928" y="4389120"/>
            <a:ext cx="2712568" cy="1600200"/>
          </a:xfrm>
          <a:prstGeom prst="roundRect">
            <a:avLst>
              <a:gd name="adj" fmla="val 5714"/>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32" name="Text 28"/>
          <p:cNvSpPr txBox="1"/>
          <p:nvPr/>
        </p:nvSpPr>
        <p:spPr>
          <a:xfrm>
            <a:off x="9204808" y="4526280"/>
            <a:ext cx="2346808" cy="274320"/>
          </a:xfrm>
          <a:prstGeom prst="rect">
            <a:avLst/>
          </a:prstGeom>
          <a:noFill/>
          <a:ln/>
        </p:spPr>
        <p:txBody>
          <a:bodyPr wrap="square" lIns="0" tIns="0" rIns="0" bIns="0" rtlCol="0" anchor="t"/>
          <a:lstStyle/>
          <a:p>
            <a:pPr indent="0" marL="0">
              <a:buNone/>
            </a:pPr>
            <a:r>
              <a:rPr lang="en-US" sz="1100" dirty="0">
                <a:solidFill>
                  <a:srgbClr val="616161"/>
                </a:solidFill>
                <a:latin typeface="맑은 고딕" pitchFamily="34" charset="0"/>
                <a:ea typeface="맑은 고딕" pitchFamily="34" charset="-122"/>
                <a:cs typeface="맑은 고딕" pitchFamily="34" charset="-120"/>
              </a:rPr>
              <a:t>docs/decisions.md</a:t>
            </a:r>
            <a:endParaRPr lang="en-US" sz="1100" dirty="0"/>
          </a:p>
        </p:txBody>
      </p:sp>
      <p:sp>
        <p:nvSpPr>
          <p:cNvPr id="33" name="Text 29"/>
          <p:cNvSpPr txBox="1"/>
          <p:nvPr/>
        </p:nvSpPr>
        <p:spPr>
          <a:xfrm>
            <a:off x="9204808" y="4846320"/>
            <a:ext cx="2346808" cy="411480"/>
          </a:xfrm>
          <a:prstGeom prst="rect">
            <a:avLst/>
          </a:prstGeom>
          <a:noFill/>
          <a:ln/>
        </p:spPr>
        <p:txBody>
          <a:bodyPr wrap="square" lIns="0" tIns="0" rIns="0" bIns="0" rtlCol="0" anchor="t"/>
          <a:lstStyle/>
          <a:p>
            <a:pPr indent="0" marL="0">
              <a:buNone/>
            </a:pPr>
            <a:r>
              <a:rPr lang="en-US" sz="1800" b="1" dirty="0">
                <a:solidFill>
                  <a:srgbClr val="2F4E91"/>
                </a:solidFill>
                <a:latin typeface="맑은 고딕" pitchFamily="34" charset="0"/>
                <a:ea typeface="맑은 고딕" pitchFamily="34" charset="-122"/>
                <a:cs typeface="맑은 고딕" pitchFamily="34" charset="-120"/>
              </a:rPr>
              <a:t>결정 기록</a:t>
            </a:r>
            <a:endParaRPr lang="en-US" sz="1800" dirty="0"/>
          </a:p>
        </p:txBody>
      </p:sp>
      <p:sp>
        <p:nvSpPr>
          <p:cNvPr id="34" name="Text 30"/>
          <p:cNvSpPr txBox="1"/>
          <p:nvPr/>
        </p:nvSpPr>
        <p:spPr>
          <a:xfrm>
            <a:off x="9204808" y="5303520"/>
            <a:ext cx="2346808" cy="548640"/>
          </a:xfrm>
          <a:prstGeom prst="rect">
            <a:avLst/>
          </a:prstGeom>
          <a:noFill/>
          <a:ln/>
        </p:spPr>
        <p:txBody>
          <a:bodyPr wrap="square" lIns="0" tIns="0" rIns="0" bIns="0" rtlCol="0" anchor="t"/>
          <a:lstStyle/>
          <a:p>
            <a:pPr indent="0" marL="0">
              <a:buNone/>
            </a:pPr>
            <a:r>
              <a:rPr lang="en-US" sz="1300" dirty="0">
                <a:solidFill>
                  <a:srgbClr val="212121"/>
                </a:solidFill>
                <a:latin typeface="맑은 고딕" pitchFamily="34" charset="0"/>
                <a:ea typeface="맑은 고딕" pitchFamily="34" charset="-122"/>
                <a:cs typeface="맑은 고딕" pitchFamily="34" charset="-120"/>
              </a:rPr>
              <a:t>왜 채택·기각했나? 기각도 기록</a:t>
            </a:r>
            <a:endParaRPr lang="en-US" sz="1300" dirty="0"/>
          </a:p>
        </p:txBody>
      </p:sp>
      <p:sp>
        <p:nvSpPr>
          <p:cNvPr id="35" name="Text 31"/>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GitHub eigensinn-dcc2026/prelim — README.md(역할), WORKFLOW.md, .github/workflows (pr-ci, pr-verdict), docs/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02  데이터 분석</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6</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EDA 핵심 발견</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세 미션 모두 "쉬운 단서 하나"로는 풀리지 않는다. 이 발견이 미션별 모델 선택의 출발점이다.</a:t>
            </a:r>
            <a:endParaRPr lang="en-US" sz="1500" dirty="0"/>
          </a:p>
        </p:txBody>
      </p:sp>
      <p:sp>
        <p:nvSpPr>
          <p:cNvPr id="9" name="Shape 6"/>
          <p:cNvSpPr/>
          <p:nvPr/>
        </p:nvSpPr>
        <p:spPr>
          <a:xfrm>
            <a:off x="457200" y="2240280"/>
            <a:ext cx="3576218" cy="4023360"/>
          </a:xfrm>
          <a:prstGeom prst="roundRect">
            <a:avLst>
              <a:gd name="adj" fmla="val 2557"/>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pic>
        <p:nvPicPr>
          <p:cNvPr id="10" name="Image 1" descr="figures/icons/m1.png">    </p:cNvPr>
          <p:cNvPicPr>
            <a:picLocks noChangeAspect="1"/>
          </p:cNvPicPr>
          <p:nvPr/>
        </p:nvPicPr>
        <p:blipFill>
          <a:blip r:embed="rId2"/>
          <a:stretch>
            <a:fillRect/>
          </a:stretch>
        </p:blipFill>
        <p:spPr>
          <a:xfrm>
            <a:off x="3347618" y="2304288"/>
            <a:ext cx="411480" cy="411480"/>
          </a:xfrm>
          <a:prstGeom prst="rect">
            <a:avLst/>
          </a:prstGeom>
        </p:spPr>
      </p:pic>
      <p:sp>
        <p:nvSpPr>
          <p:cNvPr id="11" name="Text 7"/>
          <p:cNvSpPr txBox="1"/>
          <p:nvPr/>
        </p:nvSpPr>
        <p:spPr>
          <a:xfrm>
            <a:off x="640080" y="2340864"/>
            <a:ext cx="2570378" cy="329184"/>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M1 성별</a:t>
            </a:r>
            <a:endParaRPr lang="en-US" sz="1500" dirty="0"/>
          </a:p>
        </p:txBody>
      </p:sp>
      <p:sp>
        <p:nvSpPr>
          <p:cNvPr id="12" name="Shape 8"/>
          <p:cNvSpPr/>
          <p:nvPr/>
        </p:nvSpPr>
        <p:spPr>
          <a:xfrm>
            <a:off x="640080" y="2724912"/>
            <a:ext cx="3210458" cy="2377440"/>
          </a:xfrm>
          <a:prstGeom prst="rect">
            <a:avLst/>
          </a:prstGeom>
          <a:solidFill>
            <a:srgbClr val="FFFFFF"/>
          </a:solidFill>
          <a:ln w="12700">
            <a:solidFill>
              <a:srgbClr val="E0E0E0"/>
            </a:solidFill>
            <a:prstDash val="solid"/>
          </a:ln>
        </p:spPr>
      </p:sp>
      <p:pic>
        <p:nvPicPr>
          <p:cNvPr id="13" name="Image 2" descr="figures/gender_distribution.png">    </p:cNvPr>
          <p:cNvPicPr>
            <a:picLocks noChangeAspect="1"/>
          </p:cNvPicPr>
          <p:nvPr/>
        </p:nvPicPr>
        <p:blipFill>
          <a:blip r:embed="rId3"/>
          <a:srcRect l="0" r="0" t="0" b="0"/>
          <a:stretch/>
        </p:blipFill>
        <p:spPr>
          <a:xfrm>
            <a:off x="713232" y="2798064"/>
            <a:ext cx="3064154" cy="2231136"/>
          </a:xfrm>
          <a:prstGeom prst="rect">
            <a:avLst/>
          </a:prstGeom>
        </p:spPr>
      </p:pic>
      <p:sp>
        <p:nvSpPr>
          <p:cNvPr id="14" name="Text 9"/>
          <p:cNvSpPr txBox="1"/>
          <p:nvPr/>
        </p:nvSpPr>
        <p:spPr>
          <a:xfrm>
            <a:off x="640080" y="5193792"/>
            <a:ext cx="3210458" cy="1051560"/>
          </a:xfrm>
          <a:prstGeom prst="rect">
            <a:avLst/>
          </a:prstGeom>
          <a:noFill/>
          <a:ln/>
        </p:spPr>
        <p:txBody>
          <a:bodyPr wrap="square" lIns="0" tIns="0" rIns="0" bIns="0" rtlCol="0" anchor="t"/>
          <a:lstStyle/>
          <a:p>
            <a:pPr indent="0" marL="0">
              <a:spcAft>
                <a:spcPts val="400"/>
              </a:spcAft>
              <a:buNone/>
            </a:pPr>
            <a:r>
              <a:rPr lang="en-US" sz="1150" b="1" dirty="0">
                <a:solidFill>
                  <a:srgbClr val="212121"/>
                </a:solidFill>
                <a:latin typeface="맑은 고딕" pitchFamily="34" charset="0"/>
                <a:ea typeface="맑은 고딕" pitchFamily="34" charset="-122"/>
                <a:cs typeface="맑은 고딕" pitchFamily="34" charset="-120"/>
              </a:rPr>
              <a:t>발견  </a:t>
            </a:r>
            <a:pP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성별 비율은 균형. 길이·음량 같은 요약 특징으로는 성별이 거의 안 갈림</a:t>
            </a:r>
            <a:endParaRPr lang="en-US" sz="1150" dirty="0"/>
          </a:p>
          <a:p>
            <a:pPr indent="0" marL="0">
              <a:spcAft>
                <a:spcPts val="400"/>
              </a:spcAft>
              <a:buNone/>
            </a:pPr>
            <a:r>
              <a:rPr lang="en-US" sz="1150" b="1" dirty="0">
                <a:solidFill>
                  <a:srgbClr val="2F4E91"/>
                </a:solidFill>
                <a:latin typeface="맑은 고딕" pitchFamily="34" charset="0"/>
                <a:ea typeface="맑은 고딕" pitchFamily="34" charset="-122"/>
                <a:cs typeface="맑은 고딕" pitchFamily="34" charset="-120"/>
              </a:rPr>
              <a:t>설계  </a:t>
            </a:r>
            <a:pP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음색을 담는 화자 임베딩(x-vector)</a:t>
            </a:r>
            <a:endParaRPr lang="en-US" sz="1150" dirty="0"/>
          </a:p>
        </p:txBody>
      </p:sp>
      <p:sp>
        <p:nvSpPr>
          <p:cNvPr id="15" name="Shape 10"/>
          <p:cNvSpPr/>
          <p:nvPr/>
        </p:nvSpPr>
        <p:spPr>
          <a:xfrm>
            <a:off x="4307738" y="2240280"/>
            <a:ext cx="3576218" cy="4023360"/>
          </a:xfrm>
          <a:prstGeom prst="roundRect">
            <a:avLst>
              <a:gd name="adj" fmla="val 2557"/>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pic>
        <p:nvPicPr>
          <p:cNvPr id="16" name="Image 3" descr="figures/icons/m2.png">    </p:cNvPr>
          <p:cNvPicPr>
            <a:picLocks noChangeAspect="1"/>
          </p:cNvPicPr>
          <p:nvPr/>
        </p:nvPicPr>
        <p:blipFill>
          <a:blip r:embed="rId4"/>
          <a:stretch>
            <a:fillRect/>
          </a:stretch>
        </p:blipFill>
        <p:spPr>
          <a:xfrm>
            <a:off x="7198157" y="2304288"/>
            <a:ext cx="411480" cy="411480"/>
          </a:xfrm>
          <a:prstGeom prst="rect">
            <a:avLst/>
          </a:prstGeom>
        </p:spPr>
      </p:pic>
      <p:sp>
        <p:nvSpPr>
          <p:cNvPr id="17" name="Text 11"/>
          <p:cNvSpPr txBox="1"/>
          <p:nvPr/>
        </p:nvSpPr>
        <p:spPr>
          <a:xfrm>
            <a:off x="4490618" y="2340864"/>
            <a:ext cx="2570378" cy="329184"/>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M2 화자</a:t>
            </a:r>
            <a:endParaRPr lang="en-US" sz="1500" dirty="0"/>
          </a:p>
        </p:txBody>
      </p:sp>
      <p:sp>
        <p:nvSpPr>
          <p:cNvPr id="18" name="Shape 12"/>
          <p:cNvSpPr/>
          <p:nvPr/>
        </p:nvSpPr>
        <p:spPr>
          <a:xfrm>
            <a:off x="4490618" y="2724912"/>
            <a:ext cx="3210458" cy="2377440"/>
          </a:xfrm>
          <a:prstGeom prst="rect">
            <a:avLst/>
          </a:prstGeom>
          <a:solidFill>
            <a:srgbClr val="FFFFFF"/>
          </a:solidFill>
          <a:ln w="12700">
            <a:solidFill>
              <a:srgbClr val="E0E0E0"/>
            </a:solidFill>
            <a:prstDash val="solid"/>
          </a:ln>
        </p:spPr>
      </p:sp>
      <p:graphicFrame>
        <p:nvGraphicFramePr>
          <p:cNvPr id="19" name="Chart 0" descr=""/>
          <p:cNvGraphicFramePr/>
          <p:nvPr/>
        </p:nvGraphicFramePr>
        <p:xfrm>
          <a:off x="4536338" y="2761488"/>
          <a:ext cx="3119018" cy="2304288"/>
        </p:xfrm>
        <a:graphic xmlns:a="http://schemas.openxmlformats.org/drawingml/2006/main">
          <a:graphicData uri="http://schemas.openxmlformats.org/drawingml/2006/chart">
            <c:chart xmlns:c="http://schemas.openxmlformats.org/drawingml/2006/chart" r:id="rId5"/>
          </a:graphicData>
        </a:graphic>
      </p:graphicFrame>
      <p:sp>
        <p:nvSpPr>
          <p:cNvPr id="20" name="Text 13"/>
          <p:cNvSpPr txBox="1"/>
          <p:nvPr/>
        </p:nvSpPr>
        <p:spPr>
          <a:xfrm>
            <a:off x="4490618" y="5193792"/>
            <a:ext cx="3210458" cy="1051560"/>
          </a:xfrm>
          <a:prstGeom prst="rect">
            <a:avLst/>
          </a:prstGeom>
          <a:noFill/>
          <a:ln/>
        </p:spPr>
        <p:txBody>
          <a:bodyPr wrap="square" lIns="0" tIns="0" rIns="0" bIns="0" rtlCol="0" anchor="t"/>
          <a:lstStyle/>
          <a:p>
            <a:pPr indent="0" marL="0">
              <a:spcAft>
                <a:spcPts val="400"/>
              </a:spcAft>
              <a:buNone/>
            </a:pPr>
            <a:r>
              <a:rPr lang="en-US" sz="1150" b="1" dirty="0">
                <a:solidFill>
                  <a:srgbClr val="212121"/>
                </a:solidFill>
                <a:latin typeface="맑은 고딕" pitchFamily="34" charset="0"/>
                <a:ea typeface="맑은 고딕" pitchFamily="34" charset="-122"/>
                <a:cs typeface="맑은 고딕" pitchFamily="34" charset="-120"/>
              </a:rPr>
              <a:t>발견  </a:t>
            </a:r>
            <a:pP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통화의 98%에 겹침이 있지만 시간은 중앙값 3.8%. 길이만으로는 구분이 어려움</a:t>
            </a:r>
            <a:endParaRPr lang="en-US" sz="1150" dirty="0"/>
          </a:p>
          <a:p>
            <a:pPr indent="0" marL="0">
              <a:spcAft>
                <a:spcPts val="400"/>
              </a:spcAft>
              <a:buNone/>
            </a:pPr>
            <a:r>
              <a:rPr lang="en-US" sz="1150" b="1" dirty="0">
                <a:solidFill>
                  <a:srgbClr val="2F4E91"/>
                </a:solidFill>
                <a:latin typeface="맑은 고딕" pitchFamily="34" charset="0"/>
                <a:ea typeface="맑은 고딕" pitchFamily="34" charset="-122"/>
                <a:cs typeface="맑은 고딕" pitchFamily="34" charset="-120"/>
              </a:rPr>
              <a:t>설계  </a:t>
            </a:r>
            <a:pP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소리 모양 전체를 보는 CNN</a:t>
            </a:r>
            <a:endParaRPr lang="en-US" sz="1150" dirty="0"/>
          </a:p>
        </p:txBody>
      </p:sp>
      <p:sp>
        <p:nvSpPr>
          <p:cNvPr id="21" name="Shape 14"/>
          <p:cNvSpPr/>
          <p:nvPr/>
        </p:nvSpPr>
        <p:spPr>
          <a:xfrm>
            <a:off x="8158277" y="2240280"/>
            <a:ext cx="3576218" cy="4023360"/>
          </a:xfrm>
          <a:prstGeom prst="roundRect">
            <a:avLst>
              <a:gd name="adj" fmla="val 2557"/>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pic>
        <p:nvPicPr>
          <p:cNvPr id="22" name="Image 4" descr="figures/icons/m3.png">    </p:cNvPr>
          <p:cNvPicPr>
            <a:picLocks noChangeAspect="1"/>
          </p:cNvPicPr>
          <p:nvPr/>
        </p:nvPicPr>
        <p:blipFill>
          <a:blip r:embed="rId6"/>
          <a:stretch>
            <a:fillRect/>
          </a:stretch>
        </p:blipFill>
        <p:spPr>
          <a:xfrm>
            <a:off x="11048695" y="2304288"/>
            <a:ext cx="411480" cy="411480"/>
          </a:xfrm>
          <a:prstGeom prst="rect">
            <a:avLst/>
          </a:prstGeom>
        </p:spPr>
      </p:pic>
      <p:sp>
        <p:nvSpPr>
          <p:cNvPr id="23" name="Text 15"/>
          <p:cNvSpPr txBox="1"/>
          <p:nvPr/>
        </p:nvSpPr>
        <p:spPr>
          <a:xfrm>
            <a:off x="8341157" y="2340864"/>
            <a:ext cx="2570378" cy="329184"/>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M3 증상</a:t>
            </a:r>
            <a:endParaRPr lang="en-US" sz="1500" dirty="0"/>
          </a:p>
        </p:txBody>
      </p:sp>
      <p:sp>
        <p:nvSpPr>
          <p:cNvPr id="24" name="Shape 16"/>
          <p:cNvSpPr/>
          <p:nvPr/>
        </p:nvSpPr>
        <p:spPr>
          <a:xfrm>
            <a:off x="8341157" y="2724912"/>
            <a:ext cx="3210458" cy="2377440"/>
          </a:xfrm>
          <a:prstGeom prst="rect">
            <a:avLst/>
          </a:prstGeom>
          <a:solidFill>
            <a:srgbClr val="FFFFFF"/>
          </a:solidFill>
          <a:ln w="12700">
            <a:solidFill>
              <a:srgbClr val="E0E0E0"/>
            </a:solidFill>
            <a:prstDash val="solid"/>
          </a:ln>
        </p:spPr>
      </p:sp>
      <p:pic>
        <p:nvPicPr>
          <p:cNvPr id="25" name="Image 5" descr="figures/symptom_prevalence.png">    </p:cNvPr>
          <p:cNvPicPr>
            <a:picLocks noChangeAspect="1"/>
          </p:cNvPicPr>
          <p:nvPr/>
        </p:nvPicPr>
        <p:blipFill>
          <a:blip r:embed="rId7"/>
          <a:srcRect l="0" r="0" t="0" b="0"/>
          <a:stretch/>
        </p:blipFill>
        <p:spPr>
          <a:xfrm>
            <a:off x="8414309" y="2798064"/>
            <a:ext cx="3064154" cy="2231136"/>
          </a:xfrm>
          <a:prstGeom prst="rect">
            <a:avLst/>
          </a:prstGeom>
        </p:spPr>
      </p:pic>
      <p:sp>
        <p:nvSpPr>
          <p:cNvPr id="26" name="Text 17"/>
          <p:cNvSpPr txBox="1"/>
          <p:nvPr/>
        </p:nvSpPr>
        <p:spPr>
          <a:xfrm>
            <a:off x="8341157" y="5193792"/>
            <a:ext cx="3210458" cy="1051560"/>
          </a:xfrm>
          <a:prstGeom prst="rect">
            <a:avLst/>
          </a:prstGeom>
          <a:noFill/>
          <a:ln/>
        </p:spPr>
        <p:txBody>
          <a:bodyPr wrap="square" lIns="0" tIns="0" rIns="0" bIns="0" rtlCol="0" anchor="t"/>
          <a:lstStyle/>
          <a:p>
            <a:pPr indent="0" marL="0">
              <a:spcAft>
                <a:spcPts val="400"/>
              </a:spcAft>
              <a:buNone/>
            </a:pPr>
            <a:r>
              <a:rPr lang="en-US" sz="1150" b="1" dirty="0">
                <a:solidFill>
                  <a:srgbClr val="212121"/>
                </a:solidFill>
                <a:latin typeface="맑은 고딕" pitchFamily="34" charset="0"/>
                <a:ea typeface="맑은 고딕" pitchFamily="34" charset="-122"/>
                <a:cs typeface="맑은 고딕" pitchFamily="34" charset="-120"/>
              </a:rPr>
              <a:t>발견  </a:t>
            </a:r>
            <a:pP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세 통화 중 하나는 증상이 2개 이상. 증상별 빈도 차이가 큼</a:t>
            </a:r>
            <a:endParaRPr lang="en-US" sz="1150" dirty="0"/>
          </a:p>
          <a:p>
            <a:pPr indent="0" marL="0">
              <a:spcAft>
                <a:spcPts val="400"/>
              </a:spcAft>
              <a:buNone/>
            </a:pPr>
            <a:r>
              <a:rPr lang="en-US" sz="1150" b="1" dirty="0">
                <a:solidFill>
                  <a:srgbClr val="2F4E91"/>
                </a:solidFill>
                <a:latin typeface="맑은 고딕" pitchFamily="34" charset="0"/>
                <a:ea typeface="맑은 고딕" pitchFamily="34" charset="-122"/>
                <a:cs typeface="맑은 고딕" pitchFamily="34" charset="-120"/>
              </a:rPr>
              <a:t>설계  </a:t>
            </a:r>
            <a:pPr indent="0" marL="0">
              <a:spcAft>
                <a:spcPts val="400"/>
              </a:spcAft>
              <a:buNone/>
            </a:pPr>
            <a:r>
              <a:rPr lang="en-US" sz="1150" dirty="0">
                <a:solidFill>
                  <a:srgbClr val="212121"/>
                </a:solidFill>
                <a:latin typeface="맑은 고딕" pitchFamily="34" charset="0"/>
                <a:ea typeface="맑은 고딕" pitchFamily="34" charset="-122"/>
                <a:cs typeface="맑은 고딕" pitchFamily="34" charset="-120"/>
              </a:rPr>
              <a:t>증상 9개를 각각 0/1로 푸는 다중 레이블</a:t>
            </a:r>
            <a:endParaRPr lang="en-US" sz="1150" dirty="0"/>
          </a:p>
        </p:txBody>
      </p:sp>
      <p:sp>
        <p:nvSpPr>
          <p:cNvPr id="27" name="Text 18"/>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reports/eda/eda_report.md (M2 겹침: 7.2절 Training), reports/eda/figures/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7</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1  신고자 성별 분류 — 문제와 최종 모델</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음향 특징 + 화자 임베딩 → 로지스틱 회귀. 공식 Validation Accuracy 98.10%.</a:t>
            </a:r>
            <a:endParaRPr lang="en-US" sz="1500" dirty="0"/>
          </a:p>
        </p:txBody>
      </p:sp>
      <p:sp>
        <p:nvSpPr>
          <p:cNvPr id="9" name="Text 6"/>
          <p:cNvSpPr txBox="1"/>
          <p:nvPr/>
        </p:nvSpPr>
        <p:spPr>
          <a:xfrm>
            <a:off x="457200" y="2240280"/>
            <a:ext cx="8275320" cy="365760"/>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 문제   </a:t>
            </a:r>
            <a:pPr indent="0" marL="0">
              <a:buNone/>
            </a:pPr>
            <a:r>
              <a:rPr lang="en-US" sz="1500" dirty="0">
                <a:solidFill>
                  <a:srgbClr val="212121"/>
                </a:solidFill>
                <a:latin typeface="맑은 고딕" pitchFamily="34" charset="0"/>
                <a:ea typeface="맑은 고딕" pitchFamily="34" charset="-122"/>
                <a:cs typeface="맑은 고딕" pitchFamily="34" charset="-120"/>
              </a:rPr>
              <a:t>신고자 발화 음성 → 성별(F/M)   ·   지표 Accuracy</a:t>
            </a:r>
            <a:endParaRPr lang="en-US" sz="1500" dirty="0"/>
          </a:p>
        </p:txBody>
      </p:sp>
      <p:sp>
        <p:nvSpPr>
          <p:cNvPr id="10" name="Shape 7"/>
          <p:cNvSpPr/>
          <p:nvPr/>
        </p:nvSpPr>
        <p:spPr>
          <a:xfrm>
            <a:off x="457200" y="2697480"/>
            <a:ext cx="1371600" cy="1554480"/>
          </a:xfrm>
          <a:prstGeom prst="roundRect">
            <a:avLst>
              <a:gd name="adj" fmla="val 5333"/>
            </a:avLst>
          </a:prstGeom>
          <a:solidFill>
            <a:srgbClr val="EAF3FA"/>
          </a:solidFill>
          <a:ln w="12700">
            <a:solidFill>
              <a:srgbClr val="009DDA"/>
            </a:solidFill>
            <a:prstDash val="solid"/>
          </a:ln>
        </p:spPr>
      </p:sp>
      <p:sp>
        <p:nvSpPr>
          <p:cNvPr id="11" name="Text 8"/>
          <p:cNvSpPr txBox="1"/>
          <p:nvPr/>
        </p:nvSpPr>
        <p:spPr>
          <a:xfrm>
            <a:off x="512064" y="2697480"/>
            <a:ext cx="1261872" cy="1554480"/>
          </a:xfrm>
          <a:prstGeom prst="rect">
            <a:avLst/>
          </a:prstGeom>
          <a:noFill/>
          <a:ln/>
        </p:spPr>
        <p:txBody>
          <a:bodyPr wrap="square" lIns="0" tIns="0" rIns="0" bIns="0" rtlCol="0" anchor="ctr"/>
          <a:lstStyle/>
          <a:p>
            <a:pPr algn="ctr" indent="0" marL="0">
              <a:buNone/>
            </a:pPr>
            <a:r>
              <a:rPr lang="en-US" sz="1250" b="1" dirty="0">
                <a:solidFill>
                  <a:srgbClr val="2F4E91"/>
                </a:solidFill>
                <a:latin typeface="맑은 고딕" pitchFamily="34" charset="0"/>
                <a:ea typeface="맑은 고딕" pitchFamily="34" charset="-122"/>
                <a:cs typeface="맑은 고딕" pitchFamily="34" charset="-120"/>
              </a:rPr>
              <a:t>신고자 구간</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신고자 발화만</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잘라내기</a:t>
            </a:r>
            <a:endParaRPr lang="en-US" sz="1400" dirty="0"/>
          </a:p>
        </p:txBody>
      </p:sp>
      <p:sp>
        <p:nvSpPr>
          <p:cNvPr id="12" name="Shape 9"/>
          <p:cNvSpPr/>
          <p:nvPr/>
        </p:nvSpPr>
        <p:spPr>
          <a:xfrm>
            <a:off x="2346960" y="2697480"/>
            <a:ext cx="2331720" cy="713232"/>
          </a:xfrm>
          <a:prstGeom prst="roundRect">
            <a:avLst>
              <a:gd name="adj" fmla="val 10256"/>
            </a:avLst>
          </a:prstGeom>
          <a:solidFill>
            <a:srgbClr val="EAF3FA"/>
          </a:solidFill>
          <a:ln w="12700">
            <a:solidFill>
              <a:srgbClr val="009DDA"/>
            </a:solidFill>
            <a:prstDash val="solid"/>
          </a:ln>
        </p:spPr>
      </p:sp>
      <p:sp>
        <p:nvSpPr>
          <p:cNvPr id="13" name="Text 10"/>
          <p:cNvSpPr txBox="1"/>
          <p:nvPr/>
        </p:nvSpPr>
        <p:spPr>
          <a:xfrm>
            <a:off x="2401824" y="2697480"/>
            <a:ext cx="2221992" cy="713232"/>
          </a:xfrm>
          <a:prstGeom prst="rect">
            <a:avLst/>
          </a:prstGeom>
          <a:noFill/>
          <a:ln/>
        </p:spPr>
        <p:txBody>
          <a:bodyPr wrap="square" lIns="0" tIns="0" rIns="0" bIns="0" rtlCol="0" anchor="ctr"/>
          <a:lstStyle/>
          <a:p>
            <a:pPr algn="ctr" indent="0" marL="0">
              <a:buNone/>
            </a:pPr>
            <a:r>
              <a:rPr lang="en-US" sz="1250" b="1" dirty="0">
                <a:solidFill>
                  <a:srgbClr val="2F4E91"/>
                </a:solidFill>
                <a:latin typeface="맑은 고딕" pitchFamily="34" charset="0"/>
                <a:ea typeface="맑은 고딕" pitchFamily="34" charset="-122"/>
                <a:cs typeface="맑은 고딕" pitchFamily="34" charset="-120"/>
              </a:rPr>
              <a:t>음향 특징 52D</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통계 특징</a:t>
            </a:r>
            <a:endParaRPr lang="en-US" sz="1400" dirty="0"/>
          </a:p>
        </p:txBody>
      </p:sp>
      <p:sp>
        <p:nvSpPr>
          <p:cNvPr id="14" name="Shape 11"/>
          <p:cNvSpPr/>
          <p:nvPr/>
        </p:nvSpPr>
        <p:spPr>
          <a:xfrm flipV="1">
            <a:off x="1828800" y="3054096"/>
            <a:ext cx="518160" cy="420624"/>
          </a:xfrm>
          <a:prstGeom prst="line">
            <a:avLst/>
          </a:prstGeom>
          <a:noFill/>
          <a:ln w="19050">
            <a:solidFill>
              <a:srgbClr val="009DDA"/>
            </a:solidFill>
            <a:prstDash val="solid"/>
            <a:tailEnd type="triangle"/>
          </a:ln>
        </p:spPr>
      </p:sp>
      <p:sp>
        <p:nvSpPr>
          <p:cNvPr id="15" name="Shape 12"/>
          <p:cNvSpPr/>
          <p:nvPr/>
        </p:nvSpPr>
        <p:spPr>
          <a:xfrm>
            <a:off x="4678680" y="3054096"/>
            <a:ext cx="518160" cy="420624"/>
          </a:xfrm>
          <a:prstGeom prst="line">
            <a:avLst/>
          </a:prstGeom>
          <a:noFill/>
          <a:ln w="19050">
            <a:solidFill>
              <a:srgbClr val="009DDA"/>
            </a:solidFill>
            <a:prstDash val="solid"/>
            <a:tailEnd type="triangle"/>
          </a:ln>
        </p:spPr>
      </p:sp>
      <p:sp>
        <p:nvSpPr>
          <p:cNvPr id="16" name="Shape 13"/>
          <p:cNvSpPr/>
          <p:nvPr/>
        </p:nvSpPr>
        <p:spPr>
          <a:xfrm>
            <a:off x="2346960" y="3538728"/>
            <a:ext cx="2331720" cy="713232"/>
          </a:xfrm>
          <a:prstGeom prst="roundRect">
            <a:avLst>
              <a:gd name="adj" fmla="val 10256"/>
            </a:avLst>
          </a:prstGeom>
          <a:solidFill>
            <a:srgbClr val="EAF3FA"/>
          </a:solidFill>
          <a:ln w="12700">
            <a:solidFill>
              <a:srgbClr val="009DDA"/>
            </a:solidFill>
            <a:prstDash val="solid"/>
          </a:ln>
        </p:spPr>
      </p:sp>
      <p:sp>
        <p:nvSpPr>
          <p:cNvPr id="17" name="Text 14"/>
          <p:cNvSpPr txBox="1"/>
          <p:nvPr/>
        </p:nvSpPr>
        <p:spPr>
          <a:xfrm>
            <a:off x="2401824" y="3538728"/>
            <a:ext cx="2221992" cy="713232"/>
          </a:xfrm>
          <a:prstGeom prst="rect">
            <a:avLst/>
          </a:prstGeom>
          <a:noFill/>
          <a:ln/>
        </p:spPr>
        <p:txBody>
          <a:bodyPr wrap="square" lIns="0" tIns="0" rIns="0" bIns="0" rtlCol="0" anchor="ctr"/>
          <a:lstStyle/>
          <a:p>
            <a:pPr algn="ctr" indent="0" marL="0">
              <a:buNone/>
            </a:pPr>
            <a:r>
              <a:rPr lang="en-US" sz="1250" b="1" dirty="0">
                <a:solidFill>
                  <a:srgbClr val="2F4E91"/>
                </a:solidFill>
                <a:latin typeface="맑은 고딕" pitchFamily="34" charset="0"/>
                <a:ea typeface="맑은 고딕" pitchFamily="34" charset="-122"/>
                <a:cs typeface="맑은 고딕" pitchFamily="34" charset="-120"/>
              </a:rPr>
              <a:t>WavLM x-vector 512D</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20초 창 최대 4개 평균</a:t>
            </a:r>
            <a:endParaRPr lang="en-US" sz="1400" dirty="0"/>
          </a:p>
        </p:txBody>
      </p:sp>
      <p:sp>
        <p:nvSpPr>
          <p:cNvPr id="18" name="Shape 15"/>
          <p:cNvSpPr/>
          <p:nvPr/>
        </p:nvSpPr>
        <p:spPr>
          <a:xfrm>
            <a:off x="1828800" y="3474720"/>
            <a:ext cx="518160" cy="420624"/>
          </a:xfrm>
          <a:prstGeom prst="line">
            <a:avLst/>
          </a:prstGeom>
          <a:noFill/>
          <a:ln w="19050">
            <a:solidFill>
              <a:srgbClr val="009DDA"/>
            </a:solidFill>
            <a:prstDash val="solid"/>
            <a:tailEnd type="triangle"/>
          </a:ln>
        </p:spPr>
      </p:sp>
      <p:sp>
        <p:nvSpPr>
          <p:cNvPr id="19" name="Shape 16"/>
          <p:cNvSpPr/>
          <p:nvPr/>
        </p:nvSpPr>
        <p:spPr>
          <a:xfrm flipV="1">
            <a:off x="4678680" y="3474720"/>
            <a:ext cx="518160" cy="420624"/>
          </a:xfrm>
          <a:prstGeom prst="line">
            <a:avLst/>
          </a:prstGeom>
          <a:noFill/>
          <a:ln w="19050">
            <a:solidFill>
              <a:srgbClr val="009DDA"/>
            </a:solidFill>
            <a:prstDash val="solid"/>
            <a:tailEnd type="triangle"/>
          </a:ln>
        </p:spPr>
      </p:sp>
      <p:sp>
        <p:nvSpPr>
          <p:cNvPr id="20" name="Shape 17"/>
          <p:cNvSpPr/>
          <p:nvPr/>
        </p:nvSpPr>
        <p:spPr>
          <a:xfrm>
            <a:off x="5196840" y="2697480"/>
            <a:ext cx="1508760" cy="1554480"/>
          </a:xfrm>
          <a:prstGeom prst="roundRect">
            <a:avLst>
              <a:gd name="adj" fmla="val 4848"/>
            </a:avLst>
          </a:prstGeom>
          <a:solidFill>
            <a:srgbClr val="EAF3FA"/>
          </a:solidFill>
          <a:ln w="12700">
            <a:solidFill>
              <a:srgbClr val="009DDA"/>
            </a:solidFill>
            <a:prstDash val="solid"/>
          </a:ln>
        </p:spPr>
      </p:sp>
      <p:sp>
        <p:nvSpPr>
          <p:cNvPr id="21" name="Text 18"/>
          <p:cNvSpPr txBox="1"/>
          <p:nvPr/>
        </p:nvSpPr>
        <p:spPr>
          <a:xfrm>
            <a:off x="5251704" y="2697480"/>
            <a:ext cx="1399032" cy="1554480"/>
          </a:xfrm>
          <a:prstGeom prst="rect">
            <a:avLst/>
          </a:prstGeom>
          <a:noFill/>
          <a:ln/>
        </p:spPr>
        <p:txBody>
          <a:bodyPr wrap="square" lIns="0" tIns="0" rIns="0" bIns="0" rtlCol="0" anchor="ctr"/>
          <a:lstStyle/>
          <a:p>
            <a:pPr algn="ctr" indent="0" marL="0">
              <a:buNone/>
            </a:pPr>
            <a:r>
              <a:rPr lang="en-US" sz="1250" b="1" dirty="0">
                <a:solidFill>
                  <a:srgbClr val="2F4E91"/>
                </a:solidFill>
                <a:latin typeface="맑은 고딕" pitchFamily="34" charset="0"/>
                <a:ea typeface="맑은 고딕" pitchFamily="34" charset="-122"/>
                <a:cs typeface="맑은 고딕" pitchFamily="34" charset="-120"/>
              </a:rPr>
              <a:t>결합·표준화</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52D + 512D</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 564D</a:t>
            </a:r>
            <a:endParaRPr lang="en-US" sz="1400" dirty="0"/>
          </a:p>
        </p:txBody>
      </p:sp>
      <p:sp>
        <p:nvSpPr>
          <p:cNvPr id="22" name="Shape 19"/>
          <p:cNvSpPr/>
          <p:nvPr/>
        </p:nvSpPr>
        <p:spPr>
          <a:xfrm>
            <a:off x="7223760" y="2697480"/>
            <a:ext cx="1508760" cy="1554480"/>
          </a:xfrm>
          <a:prstGeom prst="roundRect">
            <a:avLst>
              <a:gd name="adj" fmla="val 4848"/>
            </a:avLst>
          </a:prstGeom>
          <a:solidFill>
            <a:srgbClr val="2F4E91"/>
          </a:solidFill>
          <a:ln w="12700">
            <a:solidFill>
              <a:srgbClr val="2F4E91"/>
            </a:solidFill>
            <a:prstDash val="solid"/>
          </a:ln>
        </p:spPr>
      </p:sp>
      <p:sp>
        <p:nvSpPr>
          <p:cNvPr id="23" name="Text 20"/>
          <p:cNvSpPr txBox="1"/>
          <p:nvPr/>
        </p:nvSpPr>
        <p:spPr>
          <a:xfrm>
            <a:off x="7278624" y="2697480"/>
            <a:ext cx="1399032" cy="1554480"/>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로지스틱 회귀</a:t>
            </a:r>
            <a:endParaRPr lang="en-US" sz="1400" dirty="0"/>
          </a:p>
          <a:p>
            <a:pPr algn="ctr" indent="0" marL="0">
              <a:buNone/>
            </a:pPr>
            <a:r>
              <a:rPr lang="en-US" sz="1050" dirty="0">
                <a:solidFill>
                  <a:srgbClr val="FFFFFF"/>
                </a:solidFill>
                <a:latin typeface="맑은 고딕" pitchFamily="34" charset="0"/>
                <a:ea typeface="맑은 고딕" pitchFamily="34" charset="-122"/>
                <a:cs typeface="맑은 고딕" pitchFamily="34" charset="-120"/>
              </a:rPr>
              <a:t>F / M</a:t>
            </a:r>
            <a:endParaRPr lang="en-US" sz="1400" dirty="0"/>
          </a:p>
        </p:txBody>
      </p:sp>
      <p:sp>
        <p:nvSpPr>
          <p:cNvPr id="24" name="Shape 21"/>
          <p:cNvSpPr/>
          <p:nvPr/>
        </p:nvSpPr>
        <p:spPr>
          <a:xfrm>
            <a:off x="6705600" y="3474720"/>
            <a:ext cx="518160" cy="0"/>
          </a:xfrm>
          <a:prstGeom prst="line">
            <a:avLst/>
          </a:prstGeom>
          <a:noFill/>
          <a:ln w="19050">
            <a:solidFill>
              <a:srgbClr val="009DDA"/>
            </a:solidFill>
            <a:prstDash val="solid"/>
            <a:tailEnd type="triangle"/>
          </a:ln>
        </p:spPr>
      </p:sp>
      <p:sp>
        <p:nvSpPr>
          <p:cNvPr id="25" name="Text 22"/>
          <p:cNvSpPr txBox="1"/>
          <p:nvPr/>
        </p:nvSpPr>
        <p:spPr>
          <a:xfrm>
            <a:off x="457200" y="4434840"/>
            <a:ext cx="8275320" cy="329184"/>
          </a:xfrm>
          <a:prstGeom prst="rect">
            <a:avLst/>
          </a:prstGeom>
          <a:noFill/>
          <a:ln/>
        </p:spPr>
        <p:txBody>
          <a:bodyPr wrap="square" lIns="0" tIns="0" rIns="0" bIns="0" rtlCol="0" anchor="t"/>
          <a:lstStyle/>
          <a:p>
            <a:pPr indent="0" marL="0">
              <a:buNone/>
            </a:pPr>
            <a:r>
              <a:rPr lang="en-US" sz="1600" b="1" dirty="0">
                <a:solidFill>
                  <a:srgbClr val="2F4E91"/>
                </a:solidFill>
                <a:latin typeface="맑은 고딕" pitchFamily="34" charset="0"/>
                <a:ea typeface="맑은 고딕" pitchFamily="34" charset="-122"/>
                <a:cs typeface="맑은 고딕" pitchFamily="34" charset="-120"/>
              </a:rPr>
              <a:t>■ 왜 이 구조인가</a:t>
            </a:r>
            <a:endParaRPr lang="en-US" sz="1600" dirty="0"/>
          </a:p>
        </p:txBody>
      </p:sp>
      <p:sp>
        <p:nvSpPr>
          <p:cNvPr id="26" name="Text 23"/>
          <p:cNvSpPr txBox="1"/>
          <p:nvPr/>
        </p:nvSpPr>
        <p:spPr>
          <a:xfrm>
            <a:off x="457200" y="4846320"/>
            <a:ext cx="8275320" cy="1371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12121"/>
                </a:solidFill>
                <a:latin typeface="맑은 고딕" pitchFamily="34" charset="0"/>
                <a:ea typeface="맑은 고딕" pitchFamily="34" charset="-122"/>
                <a:cs typeface="맑은 고딕" pitchFamily="34" charset="-120"/>
              </a:rPr>
              <a:t>EDA에서 요약 통계가 성별을 못 가름 → 음색을 담는 사전학습 화자 임베딩 추가</a:t>
            </a:r>
            <a:endParaRPr lang="en-US" sz="1300" dirty="0"/>
          </a:p>
          <a:p>
            <a:pPr marL="342900" indent="-342900">
              <a:spcAft>
                <a:spcPts val="800"/>
              </a:spcAft>
              <a:buSzPct val="100000"/>
              <a:buChar char="•"/>
            </a:pPr>
            <a:r>
              <a:rPr lang="en-US" sz="1300" dirty="0">
                <a:solidFill>
                  <a:srgbClr val="212121"/>
                </a:solidFill>
                <a:latin typeface="맑은 고딕" pitchFamily="34" charset="0"/>
                <a:ea typeface="맑은 고딕" pitchFamily="34" charset="-122"/>
                <a:cs typeface="맑은 고딕" pitchFamily="34" charset="-120"/>
              </a:rPr>
              <a:t>분류기는 단순한 로지스틱 회귀로 충분했다 (더 복잡한 분류기는 이득이 기준에 못 미침 → 9장)</a:t>
            </a:r>
            <a:endParaRPr lang="en-US" sz="1300" dirty="0"/>
          </a:p>
          <a:p>
            <a:pPr marL="342900" indent="-342900">
              <a:spcAft>
                <a:spcPts val="800"/>
              </a:spcAft>
              <a:buSzPct val="100000"/>
              <a:buChar char="•"/>
            </a:pPr>
            <a:r>
              <a:rPr lang="en-US" sz="1300" dirty="0">
                <a:solidFill>
                  <a:srgbClr val="212121"/>
                </a:solidFill>
                <a:latin typeface="맑은 고딕" pitchFamily="34" charset="0"/>
                <a:ea typeface="맑은 고딕" pitchFamily="34" charset="-122"/>
                <a:cs typeface="맑은 고딕" pitchFamily="34" charset="-120"/>
              </a:rPr>
              <a:t>최종 모델은 학습 데이터 전체로 재학습했다</a:t>
            </a:r>
            <a:endParaRPr lang="en-US" sz="1300" dirty="0"/>
          </a:p>
        </p:txBody>
      </p:sp>
      <p:sp>
        <p:nvSpPr>
          <p:cNvPr id="27" name="Shape 24"/>
          <p:cNvSpPr/>
          <p:nvPr/>
        </p:nvSpPr>
        <p:spPr>
          <a:xfrm>
            <a:off x="9006840" y="2240280"/>
            <a:ext cx="2727655" cy="3977640"/>
          </a:xfrm>
          <a:prstGeom prst="roundRect">
            <a:avLst>
              <a:gd name="adj" fmla="val 3352"/>
            </a:avLst>
          </a:prstGeom>
          <a:solidFill>
            <a:srgbClr val="EAF3FA"/>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28" name="Text 25"/>
          <p:cNvSpPr txBox="1"/>
          <p:nvPr/>
        </p:nvSpPr>
        <p:spPr>
          <a:xfrm>
            <a:off x="9006840" y="3291840"/>
            <a:ext cx="2727655" cy="914400"/>
          </a:xfrm>
          <a:prstGeom prst="rect">
            <a:avLst/>
          </a:prstGeom>
          <a:noFill/>
          <a:ln/>
        </p:spPr>
        <p:txBody>
          <a:bodyPr wrap="square" lIns="0" tIns="0" rIns="0" bIns="0" rtlCol="0" anchor="ctr"/>
          <a:lstStyle/>
          <a:p>
            <a:pPr algn="ctr" indent="0" marL="0">
              <a:buNone/>
            </a:pPr>
            <a:r>
              <a:rPr lang="en-US" sz="4400" b="1" dirty="0">
                <a:solidFill>
                  <a:srgbClr val="2F4E91"/>
                </a:solidFill>
                <a:latin typeface="맑은 고딕" pitchFamily="34" charset="0"/>
                <a:ea typeface="맑은 고딕" pitchFamily="34" charset="-122"/>
                <a:cs typeface="맑은 고딕" pitchFamily="34" charset="-120"/>
              </a:rPr>
              <a:t>98.10%</a:t>
            </a:r>
            <a:endParaRPr lang="en-US" sz="4400" dirty="0"/>
          </a:p>
        </p:txBody>
      </p:sp>
      <p:sp>
        <p:nvSpPr>
          <p:cNvPr id="29" name="Text 26"/>
          <p:cNvSpPr txBox="1"/>
          <p:nvPr/>
        </p:nvSpPr>
        <p:spPr>
          <a:xfrm>
            <a:off x="9006840" y="4251960"/>
            <a:ext cx="2727655" cy="640080"/>
          </a:xfrm>
          <a:prstGeom prst="rect">
            <a:avLst/>
          </a:prstGeom>
          <a:noFill/>
          <a:ln/>
        </p:spPr>
        <p:txBody>
          <a:bodyPr wrap="square" lIns="0" tIns="0" rIns="0" bIns="0" rtlCol="0" anchor="t"/>
          <a:lstStyle/>
          <a:p>
            <a:pPr algn="ctr" indent="0" marL="0">
              <a:buNone/>
            </a:pPr>
            <a:r>
              <a:rPr lang="en-US" sz="1300" dirty="0">
                <a:solidFill>
                  <a:srgbClr val="616161"/>
                </a:solidFill>
                <a:latin typeface="맑은 고딕" pitchFamily="34" charset="0"/>
                <a:ea typeface="맑은 고딕" pitchFamily="34" charset="-122"/>
                <a:cs typeface="맑은 고딕" pitchFamily="34" charset="-120"/>
              </a:rPr>
              <a:t>Accuracy</a:t>
            </a:r>
            <a:endParaRPr lang="en-US" sz="1300" dirty="0"/>
          </a:p>
          <a:p>
            <a:pPr algn="ctr" indent="0" marL="0">
              <a:buNone/>
            </a:pPr>
            <a:r>
              <a:rPr lang="en-US" sz="1300" dirty="0">
                <a:solidFill>
                  <a:srgbClr val="616161"/>
                </a:solidFill>
                <a:latin typeface="맑은 고딕" pitchFamily="34" charset="0"/>
                <a:ea typeface="맑은 고딕" pitchFamily="34" charset="-122"/>
                <a:cs typeface="맑은 고딕" pitchFamily="34" charset="-120"/>
              </a:rPr>
              <a:t>공식 Validation</a:t>
            </a:r>
            <a:endParaRPr lang="en-US" sz="1300" dirty="0"/>
          </a:p>
        </p:txBody>
      </p:sp>
      <p:sp>
        <p:nvSpPr>
          <p:cNvPr id="30" name="Text 27"/>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submission/mission1/README.md, docs/experiment_log.md M1-REFIT-OFFVAL-001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8</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1  신고자 성별 분류 — 성능 개선 과정</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95.11% → 98.10%. 개선의 대부분은 화자 임베딩(x-vector)에서 나왔다.</a:t>
            </a:r>
            <a:endParaRPr lang="en-US" sz="1500" dirty="0"/>
          </a:p>
        </p:txBody>
      </p:sp>
      <p:sp>
        <p:nvSpPr>
          <p:cNvPr id="9" name="Shape 6"/>
          <p:cNvSpPr/>
          <p:nvPr/>
        </p:nvSpPr>
        <p:spPr>
          <a:xfrm>
            <a:off x="457200" y="2240280"/>
            <a:ext cx="6675120" cy="3977640"/>
          </a:xfrm>
          <a:prstGeom prst="roundRect">
            <a:avLst>
              <a:gd name="adj" fmla="val 2299"/>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graphicFrame>
        <p:nvGraphicFramePr>
          <p:cNvPr id="10" name="Chart 0" descr=""/>
          <p:cNvGraphicFramePr/>
          <p:nvPr/>
        </p:nvGraphicFramePr>
        <p:xfrm>
          <a:off x="594360" y="2331720"/>
          <a:ext cx="6400800" cy="379476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7406640" y="2240280"/>
            <a:ext cx="4327855" cy="2011680"/>
          </a:xfrm>
          <a:prstGeom prst="roundRect">
            <a:avLst>
              <a:gd name="adj" fmla="val 4545"/>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2" name="Text 8"/>
          <p:cNvSpPr txBox="1"/>
          <p:nvPr/>
        </p:nvSpPr>
        <p:spPr>
          <a:xfrm>
            <a:off x="7589520" y="2350008"/>
            <a:ext cx="3962095" cy="329184"/>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 해석</a:t>
            </a:r>
            <a:endParaRPr lang="en-US" sz="1500" dirty="0"/>
          </a:p>
        </p:txBody>
      </p:sp>
      <p:sp>
        <p:nvSpPr>
          <p:cNvPr id="13" name="Text 9"/>
          <p:cNvSpPr txBox="1"/>
          <p:nvPr/>
        </p:nvSpPr>
        <p:spPr>
          <a:xfrm>
            <a:off x="7589520" y="2724912"/>
            <a:ext cx="3962095" cy="14630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12121"/>
                </a:solidFill>
                <a:latin typeface="맑은 고딕" pitchFamily="34" charset="0"/>
                <a:ea typeface="맑은 고딕" pitchFamily="34" charset="-122"/>
                <a:cs typeface="맑은 고딕" pitchFamily="34" charset="-120"/>
              </a:rPr>
              <a:t>음향 특징 단독보다 x-vector 단독이 훨씬 높았다 → 개선의 대부분이 x-vector.</a:t>
            </a:r>
            <a:endParaRPr lang="en-US" sz="1200" dirty="0"/>
          </a:p>
          <a:p>
            <a:pPr marL="342900" indent="-342900">
              <a:spcAft>
                <a:spcPts val="800"/>
              </a:spcAft>
              <a:buSzPct val="100000"/>
              <a:buChar char="•"/>
            </a:pPr>
            <a:r>
              <a:rPr lang="en-US" sz="1200" dirty="0">
                <a:solidFill>
                  <a:srgbClr val="212121"/>
                </a:solidFill>
                <a:latin typeface="맑은 고딕" pitchFamily="34" charset="0"/>
                <a:ea typeface="맑은 고딕" pitchFamily="34" charset="-122"/>
                <a:cs typeface="맑은 고딕" pitchFamily="34" charset="-120"/>
              </a:rPr>
              <a:t>긴 통화는 앞부분만 쓰면 나머지를 버리게 되어, 여러 구간을 평균했다.</a:t>
            </a:r>
            <a:endParaRPr lang="en-US" sz="1200" dirty="0"/>
          </a:p>
        </p:txBody>
      </p:sp>
      <p:sp>
        <p:nvSpPr>
          <p:cNvPr id="14" name="Shape 10"/>
          <p:cNvSpPr/>
          <p:nvPr/>
        </p:nvSpPr>
        <p:spPr>
          <a:xfrm>
            <a:off x="7406640" y="4434840"/>
            <a:ext cx="4327855" cy="1783080"/>
          </a:xfrm>
          <a:prstGeom prst="roundRect">
            <a:avLst>
              <a:gd name="adj" fmla="val 5128"/>
            </a:avLst>
          </a:prstGeom>
          <a:solidFill>
            <a:srgbClr val="FFCDD2"/>
          </a:solidFill>
          <a:ln w="12700">
            <a:solidFill>
              <a:srgbClr val="FFCDD2"/>
            </a:solidFill>
            <a:prstDash val="solid"/>
          </a:ln>
        </p:spPr>
      </p:sp>
      <p:sp>
        <p:nvSpPr>
          <p:cNvPr id="15" name="Text 11"/>
          <p:cNvSpPr txBox="1"/>
          <p:nvPr/>
        </p:nvSpPr>
        <p:spPr>
          <a:xfrm>
            <a:off x="7589520" y="4434840"/>
            <a:ext cx="3962095" cy="1783080"/>
          </a:xfrm>
          <a:prstGeom prst="rect">
            <a:avLst/>
          </a:prstGeom>
          <a:noFill/>
          <a:ln/>
        </p:spPr>
        <p:txBody>
          <a:bodyPr wrap="square" lIns="0" tIns="0" rIns="0" bIns="0" rtlCol="0" anchor="ctr"/>
          <a:lstStyle/>
          <a:p>
            <a:pPr indent="0" marL="0">
              <a:spcAft>
                <a:spcPts val="400"/>
              </a:spcAft>
              <a:buNone/>
            </a:pPr>
            <a:r>
              <a:rPr lang="en-US" sz="1200" b="1" dirty="0">
                <a:solidFill>
                  <a:srgbClr val="E53935"/>
                </a:solidFill>
                <a:latin typeface="맑은 고딕" pitchFamily="34" charset="0"/>
                <a:ea typeface="맑은 고딕" pitchFamily="34" charset="-122"/>
                <a:cs typeface="맑은 고딕" pitchFamily="34" charset="-120"/>
              </a:rPr>
              <a:t>주의  </a:t>
            </a:r>
            <a:endParaRPr lang="en-US" sz="1200" dirty="0"/>
          </a:p>
          <a:p>
            <a:pPr indent="0" marL="0">
              <a:spcAft>
                <a:spcPts val="400"/>
              </a:spcAft>
              <a:buNone/>
            </a:pPr>
            <a:r>
              <a:rPr lang="en-US" sz="1200" dirty="0">
                <a:solidFill>
                  <a:srgbClr val="212121"/>
                </a:solidFill>
                <a:latin typeface="맑은 고딕" pitchFamily="34" charset="0"/>
                <a:ea typeface="맑은 고딕" pitchFamily="34" charset="-122"/>
                <a:cs typeface="맑은 고딕" pitchFamily="34" charset="-120"/>
              </a:rPr>
              <a:t>다중 구간 평균은 내부 홀드아웃에서는 사전 기준에 못 미쳐 일단 기각했고, 이후 공식 Validation에서 별도로 고정한 기준을 넘어 제출 후보가 됐다. 두 판정과 이유를 모두 기록했다.</a:t>
            </a:r>
            <a:endParaRPr lang="en-US" sz="1200" dirty="0"/>
          </a:p>
        </p:txBody>
      </p:sp>
      <p:sp>
        <p:nvSpPr>
          <p:cNvPr id="16" name="Text 12"/>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docs/experiment_log.md M1-XVEC-001-OFFVAL, M1-XVEC-002(2차), M1-XVEC-002-OFFVAL, M1-REFIT-OFFVAL-001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9</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1  신고자 성별 분류 — 채택하지 않은 시도</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점수가 올라도 미리 정한 기준을 못 넘으면 채택하지 않았다.</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9144000" cy="914400"/>
        </p:xfrm>
        <a:graphic>
          <a:graphicData uri="http://schemas.openxmlformats.org/drawingml/2006/table">
            <a:tbl>
              <a:tblPr/>
              <a:tblGrid>
                <a:gridCol w="3200400"/>
                <a:gridCol w="1280160"/>
                <a:gridCol w="6793992"/>
              </a:tblGrid>
              <a:tr h="566928">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시도</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판정</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이유</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566928">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LightGBM</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b="1" dirty="0">
                          <a:solidFill>
                            <a:srgbClr val="2F4E91"/>
                          </a:solidFill>
                          <a:latin typeface="맑은 고딕" pitchFamily="34" charset="0"/>
                          <a:ea typeface="맑은 고딕" pitchFamily="34" charset="-122"/>
                          <a:cs typeface="맑은 고딕" pitchFamily="34" charset="-120"/>
                        </a:rPr>
                        <a:t>✓ LR 채택</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점수 차이가 작고 더 단순·해석 쉬움</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66928">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RBF-SVM 분류기</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b="1" dirty="0">
                          <a:solidFill>
                            <a:srgbClr val="E53935"/>
                          </a:solidFill>
                          <a:latin typeface="맑은 고딕" pitchFamily="34" charset="0"/>
                          <a:ea typeface="맑은 고딕" pitchFamily="34" charset="-122"/>
                          <a:cs typeface="맑은 고딕" pitchFamily="34" charset="-120"/>
                        </a:rPr>
                        <a:t>✗ 기각</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이득이 기준 미달, 추론이 훨씬 느림</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66928">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ECAPA 임베딩 추가·교체</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b="1" dirty="0">
                          <a:solidFill>
                            <a:srgbClr val="E53935"/>
                          </a:solidFill>
                          <a:latin typeface="맑은 고딕" pitchFamily="34" charset="0"/>
                          <a:ea typeface="맑은 고딕" pitchFamily="34" charset="-122"/>
                          <a:cs typeface="맑은 고딕" pitchFamily="34" charset="-120"/>
                        </a:rPr>
                        <a:t>✗ 기각</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이득이 기준 미달</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66928">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x-vector LR + ECAPA LR 확률 평균</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b="1" dirty="0">
                          <a:solidFill>
                            <a:srgbClr val="E53935"/>
                          </a:solidFill>
                          <a:latin typeface="맑은 고딕" pitchFamily="34" charset="0"/>
                          <a:ea typeface="맑은 고딕" pitchFamily="34" charset="-122"/>
                          <a:cs typeface="맑은 고딕" pitchFamily="34" charset="-120"/>
                        </a:rPr>
                        <a:t>✗ 기각</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공식 Val 98.30%로 소폭 높았지만 미리 정한 기준 미달, 차이가 우연과 구분되지 않음</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0" name="Shape 6"/>
          <p:cNvSpPr/>
          <p:nvPr/>
        </p:nvSpPr>
        <p:spPr>
          <a:xfrm>
            <a:off x="457200" y="5257800"/>
            <a:ext cx="11277295" cy="960120"/>
          </a:xfrm>
          <a:prstGeom prst="roundRect">
            <a:avLst>
              <a:gd name="adj" fmla="val 9524"/>
            </a:avLst>
          </a:prstGeom>
          <a:solidFill>
            <a:srgbClr val="EAF3FA"/>
          </a:solidFill>
          <a:ln w="12700">
            <a:solidFill>
              <a:srgbClr val="EAF3FA"/>
            </a:solidFill>
            <a:prstDash val="solid"/>
          </a:ln>
        </p:spPr>
      </p:sp>
      <p:sp>
        <p:nvSpPr>
          <p:cNvPr id="11" name="Text 7"/>
          <p:cNvSpPr txBox="1"/>
          <p:nvPr/>
        </p:nvSpPr>
        <p:spPr>
          <a:xfrm>
            <a:off x="594360" y="5257800"/>
            <a:ext cx="365760" cy="960120"/>
          </a:xfrm>
          <a:prstGeom prst="rect">
            <a:avLst/>
          </a:prstGeom>
          <a:noFill/>
          <a:ln/>
        </p:spPr>
        <p:txBody>
          <a:bodyPr wrap="square" lIns="0" tIns="0" rIns="0" bIns="0" rtlCol="0" anchor="ctr"/>
          <a:lstStyle/>
          <a:p>
            <a:pPr indent="0" marL="0">
              <a:buNone/>
            </a:pPr>
            <a:r>
              <a:rPr lang="en-US" sz="1800" dirty="0">
                <a:solidFill>
                  <a:srgbClr val="212121"/>
                </a:solidFill>
                <a:latin typeface="맑은 고딕" pitchFamily="34" charset="0"/>
                <a:ea typeface="맑은 고딕" pitchFamily="34" charset="-122"/>
                <a:cs typeface="맑은 고딕" pitchFamily="34" charset="-120"/>
              </a:rPr>
              <a:t>💡</a:t>
            </a:r>
            <a:endParaRPr lang="en-US" sz="1800" dirty="0"/>
          </a:p>
        </p:txBody>
      </p:sp>
      <p:sp>
        <p:nvSpPr>
          <p:cNvPr id="12" name="Text 8"/>
          <p:cNvSpPr txBox="1"/>
          <p:nvPr/>
        </p:nvSpPr>
        <p:spPr>
          <a:xfrm>
            <a:off x="1005840" y="5257800"/>
            <a:ext cx="10591495" cy="960120"/>
          </a:xfrm>
          <a:prstGeom prst="rect">
            <a:avLst/>
          </a:prstGeom>
          <a:noFill/>
          <a:ln/>
        </p:spPr>
        <p:txBody>
          <a:bodyPr wrap="square" lIns="0" tIns="0" rIns="0" bIns="0" rtlCol="0" anchor="ctr"/>
          <a:lstStyle/>
          <a:p>
            <a:pPr indent="0" marL="0">
              <a:buNone/>
            </a:pPr>
            <a:r>
              <a:rPr lang="en-US" sz="1350" b="1" dirty="0">
                <a:solidFill>
                  <a:srgbClr val="2F4E91"/>
                </a:solidFill>
                <a:latin typeface="맑은 고딕" pitchFamily="34" charset="0"/>
                <a:ea typeface="맑은 고딕" pitchFamily="34" charset="-122"/>
                <a:cs typeface="맑은 고딕" pitchFamily="34" charset="-120"/>
              </a:rPr>
              <a:t>공식 Val에서 더 높았던 모델을 왜 버렸나?  </a:t>
            </a:r>
            <a:endParaRPr lang="en-US" sz="1350" dirty="0"/>
          </a:p>
          <a:p>
            <a:pPr indent="0" marL="0">
              <a:buNone/>
            </a:pPr>
            <a:r>
              <a:rPr lang="en-US" sz="1350" dirty="0">
                <a:solidFill>
                  <a:srgbClr val="212121"/>
                </a:solidFill>
                <a:latin typeface="맑은 고딕" pitchFamily="34" charset="0"/>
                <a:ea typeface="맑은 고딕" pitchFamily="34" charset="-122"/>
                <a:cs typeface="맑은 고딕" pitchFamily="34" charset="-120"/>
              </a:rPr>
              <a:t>몇 통화 차이는 우연과 구분되지 않는다. 결과를 본 뒤 기준을 낮추면 Validation에 과적합된다.</a:t>
            </a:r>
            <a:endParaRPr lang="en-US" sz="1350" dirty="0"/>
          </a:p>
        </p:txBody>
      </p:sp>
      <p:sp>
        <p:nvSpPr>
          <p:cNvPr id="13" name="Text 9"/>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docs/decisions.md 2026-10-05, docs/experiment_log.md M1-HEAD-001, M1-ECAPA-002, M1-FUSE-001-OFFVAL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10</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1  신고자 성별 분류 — 최종 결과와 후속 과제</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공식 Validation 98.10%. 남녀 recall이 고르다.</a:t>
            </a:r>
            <a:endParaRPr lang="en-US" sz="1500" dirty="0"/>
          </a:p>
        </p:txBody>
      </p:sp>
      <p:sp>
        <p:nvSpPr>
          <p:cNvPr id="9" name="Shape 6"/>
          <p:cNvSpPr/>
          <p:nvPr/>
        </p:nvSpPr>
        <p:spPr>
          <a:xfrm>
            <a:off x="457200" y="2240280"/>
            <a:ext cx="5120640" cy="3977640"/>
          </a:xfrm>
          <a:prstGeom prst="roundRect">
            <a:avLst>
              <a:gd name="adj" fmla="val 2299"/>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Text 7"/>
          <p:cNvSpPr txBox="1"/>
          <p:nvPr/>
        </p:nvSpPr>
        <p:spPr>
          <a:xfrm>
            <a:off x="457200" y="2514600"/>
            <a:ext cx="5120640" cy="685800"/>
          </a:xfrm>
          <a:prstGeom prst="rect">
            <a:avLst/>
          </a:prstGeom>
          <a:noFill/>
          <a:ln/>
        </p:spPr>
        <p:txBody>
          <a:bodyPr wrap="square" lIns="0" tIns="0" rIns="0" bIns="0" rtlCol="0" anchor="ctr"/>
          <a:lstStyle/>
          <a:p>
            <a:pPr algn="ctr" indent="0" marL="0">
              <a:buNone/>
            </a:pPr>
            <a:r>
              <a:rPr lang="en-US" sz="4800" b="1" dirty="0">
                <a:solidFill>
                  <a:srgbClr val="2F4E91"/>
                </a:solidFill>
                <a:latin typeface="맑은 고딕" pitchFamily="34" charset="0"/>
                <a:ea typeface="맑은 고딕" pitchFamily="34" charset="-122"/>
                <a:cs typeface="맑은 고딕" pitchFamily="34" charset="-120"/>
              </a:rPr>
              <a:t>98.10%</a:t>
            </a:r>
            <a:endParaRPr lang="en-US" sz="4800" dirty="0"/>
          </a:p>
        </p:txBody>
      </p:sp>
      <p:sp>
        <p:nvSpPr>
          <p:cNvPr id="11" name="Text 8"/>
          <p:cNvSpPr txBox="1"/>
          <p:nvPr/>
        </p:nvSpPr>
        <p:spPr>
          <a:xfrm>
            <a:off x="457200" y="3227832"/>
            <a:ext cx="5120640" cy="365760"/>
          </a:xfrm>
          <a:prstGeom prst="rect">
            <a:avLst/>
          </a:prstGeom>
          <a:noFill/>
          <a:ln/>
        </p:spPr>
        <p:txBody>
          <a:bodyPr wrap="square" lIns="0" tIns="0" rIns="0" bIns="0" rtlCol="0" anchor="t"/>
          <a:lstStyle/>
          <a:p>
            <a:pPr algn="ctr" indent="0" marL="0">
              <a:buNone/>
            </a:pPr>
            <a:r>
              <a:rPr lang="en-US" sz="1200" dirty="0">
                <a:solidFill>
                  <a:srgbClr val="616161"/>
                </a:solidFill>
                <a:latin typeface="맑은 고딕" pitchFamily="34" charset="0"/>
                <a:ea typeface="맑은 고딕" pitchFamily="34" charset="-122"/>
                <a:cs typeface="맑은 고딕" pitchFamily="34" charset="-120"/>
              </a:rPr>
              <a:t>Accuracy (공식 Validation)</a:t>
            </a:r>
            <a:endParaRPr lang="en-US" sz="1200" dirty="0"/>
          </a:p>
        </p:txBody>
      </p:sp>
      <p:sp>
        <p:nvSpPr>
          <p:cNvPr id="12" name="Shape 9"/>
          <p:cNvSpPr/>
          <p:nvPr/>
        </p:nvSpPr>
        <p:spPr>
          <a:xfrm>
            <a:off x="822960" y="3886200"/>
            <a:ext cx="4389120" cy="0"/>
          </a:xfrm>
          <a:prstGeom prst="line">
            <a:avLst/>
          </a:prstGeom>
          <a:noFill/>
          <a:ln w="12700">
            <a:solidFill>
              <a:srgbClr val="E0E0E0"/>
            </a:solidFill>
            <a:prstDash val="solid"/>
          </a:ln>
        </p:spPr>
      </p:sp>
      <p:sp>
        <p:nvSpPr>
          <p:cNvPr id="13" name="Text 10"/>
          <p:cNvSpPr txBox="1"/>
          <p:nvPr/>
        </p:nvSpPr>
        <p:spPr>
          <a:xfrm>
            <a:off x="457200" y="4160520"/>
            <a:ext cx="2560320" cy="685800"/>
          </a:xfrm>
          <a:prstGeom prst="rect">
            <a:avLst/>
          </a:prstGeom>
          <a:noFill/>
          <a:ln/>
        </p:spPr>
        <p:txBody>
          <a:bodyPr wrap="square" lIns="0" tIns="0" rIns="0" bIns="0" rtlCol="0" anchor="ctr"/>
          <a:lstStyle/>
          <a:p>
            <a:pPr algn="ctr" indent="0" marL="0">
              <a:buNone/>
            </a:pPr>
            <a:r>
              <a:rPr lang="en-US" sz="3000" b="1" dirty="0">
                <a:solidFill>
                  <a:srgbClr val="009DDA"/>
                </a:solidFill>
                <a:latin typeface="맑은 고딕" pitchFamily="34" charset="0"/>
                <a:ea typeface="맑은 고딕" pitchFamily="34" charset="-122"/>
                <a:cs typeface="맑은 고딕" pitchFamily="34" charset="-120"/>
              </a:rPr>
              <a:t>98.26%</a:t>
            </a:r>
            <a:endParaRPr lang="en-US" sz="3000" dirty="0"/>
          </a:p>
        </p:txBody>
      </p:sp>
      <p:sp>
        <p:nvSpPr>
          <p:cNvPr id="14" name="Text 11"/>
          <p:cNvSpPr txBox="1"/>
          <p:nvPr/>
        </p:nvSpPr>
        <p:spPr>
          <a:xfrm>
            <a:off x="457200" y="4873752"/>
            <a:ext cx="2560320" cy="365760"/>
          </a:xfrm>
          <a:prstGeom prst="rect">
            <a:avLst/>
          </a:prstGeom>
          <a:noFill/>
          <a:ln/>
        </p:spPr>
        <p:txBody>
          <a:bodyPr wrap="square" lIns="0" tIns="0" rIns="0" bIns="0" rtlCol="0" anchor="t"/>
          <a:lstStyle/>
          <a:p>
            <a:pPr algn="ctr" indent="0" marL="0">
              <a:buNone/>
            </a:pPr>
            <a:r>
              <a:rPr lang="en-US" sz="1200" dirty="0">
                <a:solidFill>
                  <a:srgbClr val="616161"/>
                </a:solidFill>
                <a:latin typeface="맑은 고딕" pitchFamily="34" charset="0"/>
                <a:ea typeface="맑은 고딕" pitchFamily="34" charset="-122"/>
                <a:cs typeface="맑은 고딕" pitchFamily="34" charset="-120"/>
              </a:rPr>
              <a:t>여성 recall</a:t>
            </a:r>
            <a:endParaRPr lang="en-US" sz="1200" dirty="0"/>
          </a:p>
        </p:txBody>
      </p:sp>
      <p:sp>
        <p:nvSpPr>
          <p:cNvPr id="15" name="Text 12"/>
          <p:cNvSpPr txBox="1"/>
          <p:nvPr/>
        </p:nvSpPr>
        <p:spPr>
          <a:xfrm>
            <a:off x="3017520" y="4160520"/>
            <a:ext cx="2560320" cy="685800"/>
          </a:xfrm>
          <a:prstGeom prst="rect">
            <a:avLst/>
          </a:prstGeom>
          <a:noFill/>
          <a:ln/>
        </p:spPr>
        <p:txBody>
          <a:bodyPr wrap="square" lIns="0" tIns="0" rIns="0" bIns="0" rtlCol="0" anchor="ctr"/>
          <a:lstStyle/>
          <a:p>
            <a:pPr algn="ctr" indent="0" marL="0">
              <a:buNone/>
            </a:pPr>
            <a:r>
              <a:rPr lang="en-US" sz="3000" b="1" dirty="0">
                <a:solidFill>
                  <a:srgbClr val="009DDA"/>
                </a:solidFill>
                <a:latin typeface="맑은 고딕" pitchFamily="34" charset="0"/>
                <a:ea typeface="맑은 고딕" pitchFamily="34" charset="-122"/>
                <a:cs typeface="맑은 고딕" pitchFamily="34" charset="-120"/>
              </a:rPr>
              <a:t>97.92%</a:t>
            </a:r>
            <a:endParaRPr lang="en-US" sz="3000" dirty="0"/>
          </a:p>
        </p:txBody>
      </p:sp>
      <p:sp>
        <p:nvSpPr>
          <p:cNvPr id="16" name="Text 13"/>
          <p:cNvSpPr txBox="1"/>
          <p:nvPr/>
        </p:nvSpPr>
        <p:spPr>
          <a:xfrm>
            <a:off x="3017520" y="4873752"/>
            <a:ext cx="2560320" cy="365760"/>
          </a:xfrm>
          <a:prstGeom prst="rect">
            <a:avLst/>
          </a:prstGeom>
          <a:noFill/>
          <a:ln/>
        </p:spPr>
        <p:txBody>
          <a:bodyPr wrap="square" lIns="0" tIns="0" rIns="0" bIns="0" rtlCol="0" anchor="t"/>
          <a:lstStyle/>
          <a:p>
            <a:pPr algn="ctr" indent="0" marL="0">
              <a:buNone/>
            </a:pPr>
            <a:r>
              <a:rPr lang="en-US" sz="1200" dirty="0">
                <a:solidFill>
                  <a:srgbClr val="616161"/>
                </a:solidFill>
                <a:latin typeface="맑은 고딕" pitchFamily="34" charset="0"/>
                <a:ea typeface="맑은 고딕" pitchFamily="34" charset="-122"/>
                <a:cs typeface="맑은 고딕" pitchFamily="34" charset="-120"/>
              </a:rPr>
              <a:t>남성 recall</a:t>
            </a:r>
            <a:endParaRPr lang="en-US" sz="1200" dirty="0"/>
          </a:p>
        </p:txBody>
      </p:sp>
      <p:sp>
        <p:nvSpPr>
          <p:cNvPr id="17" name="Shape 14"/>
          <p:cNvSpPr/>
          <p:nvPr/>
        </p:nvSpPr>
        <p:spPr>
          <a:xfrm>
            <a:off x="5852160" y="2240280"/>
            <a:ext cx="5882335" cy="3977640"/>
          </a:xfrm>
          <a:prstGeom prst="roundRect">
            <a:avLst>
              <a:gd name="adj" fmla="val 2299"/>
            </a:avLst>
          </a:prstGeom>
          <a:solidFill>
            <a:srgbClr val="F8F9FA"/>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8" name="Text 15"/>
          <p:cNvSpPr txBox="1"/>
          <p:nvPr/>
        </p:nvSpPr>
        <p:spPr>
          <a:xfrm>
            <a:off x="6080760" y="2395728"/>
            <a:ext cx="5425135" cy="329184"/>
          </a:xfrm>
          <a:prstGeom prst="rect">
            <a:avLst/>
          </a:prstGeom>
          <a:noFill/>
          <a:ln/>
        </p:spPr>
        <p:txBody>
          <a:bodyPr wrap="square" lIns="0" tIns="0" rIns="0" bIns="0" rtlCol="0" anchor="t"/>
          <a:lstStyle/>
          <a:p>
            <a:pPr indent="0" marL="0">
              <a:buNone/>
            </a:pPr>
            <a:r>
              <a:rPr lang="en-US" sz="1800" b="1" dirty="0">
                <a:solidFill>
                  <a:srgbClr val="2F4E91"/>
                </a:solidFill>
                <a:latin typeface="맑은 고딕" pitchFamily="34" charset="0"/>
                <a:ea typeface="맑은 고딕" pitchFamily="34" charset="-122"/>
                <a:cs typeface="맑은 고딕" pitchFamily="34" charset="-120"/>
              </a:rPr>
              <a:t>■ 후속 과제</a:t>
            </a:r>
            <a:endParaRPr lang="en-US" sz="1800" dirty="0"/>
          </a:p>
        </p:txBody>
      </p:sp>
      <p:sp>
        <p:nvSpPr>
          <p:cNvPr id="19" name="Text 16"/>
          <p:cNvSpPr txBox="1"/>
          <p:nvPr/>
        </p:nvSpPr>
        <p:spPr>
          <a:xfrm>
            <a:off x="6080760" y="2971800"/>
            <a:ext cx="5425135" cy="30175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12121"/>
                </a:solidFill>
                <a:latin typeface="맑은 고딕" pitchFamily="34" charset="0"/>
                <a:ea typeface="맑은 고딕" pitchFamily="34" charset="-122"/>
                <a:cs typeface="맑은 고딕" pitchFamily="34" charset="-120"/>
              </a:rPr>
              <a:t>여러 seed로 결과 재현 확인</a:t>
            </a:r>
            <a:endParaRPr lang="en-US" sz="1700" dirty="0"/>
          </a:p>
          <a:p>
            <a:pPr marL="342900" indent="-342900">
              <a:spcAft>
                <a:spcPts val="800"/>
              </a:spcAft>
              <a:buSzPct val="100000"/>
              <a:buChar char="•"/>
            </a:pPr>
            <a:r>
              <a:rPr lang="en-US" sz="1700" dirty="0">
                <a:solidFill>
                  <a:srgbClr val="212121"/>
                </a:solidFill>
                <a:latin typeface="맑은 고딕" pitchFamily="34" charset="0"/>
                <a:ea typeface="맑은 고딕" pitchFamily="34" charset="-122"/>
                <a:cs typeface="맑은 고딕" pitchFamily="34" charset="-120"/>
              </a:rPr>
              <a:t>오분류 통화의 화자 단위 정성 분석</a:t>
            </a:r>
            <a:endParaRPr lang="en-US" sz="1700" dirty="0"/>
          </a:p>
          <a:p>
            <a:pPr marL="342900" indent="-342900">
              <a:spcAft>
                <a:spcPts val="800"/>
              </a:spcAft>
              <a:buSzPct val="100000"/>
              <a:buChar char="•"/>
            </a:pPr>
            <a:r>
              <a:rPr lang="en-US" sz="1700" dirty="0">
                <a:solidFill>
                  <a:srgbClr val="212121"/>
                </a:solidFill>
                <a:latin typeface="맑은 고딕" pitchFamily="34" charset="0"/>
                <a:ea typeface="맑은 고딕" pitchFamily="34" charset="-122"/>
                <a:cs typeface="맑은 고딕" pitchFamily="34" charset="-120"/>
              </a:rPr>
              <a:t>피치(F0) 특징 검증 (미검증 가설)</a:t>
            </a:r>
            <a:endParaRPr lang="en-US" sz="1700" dirty="0"/>
          </a:p>
        </p:txBody>
      </p:sp>
      <p:sp>
        <p:nvSpPr>
          <p:cNvPr id="20" name="Text 17"/>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submission/mission1/README.md 상태(2026-10-12), docs/experiment_log.md M1-REFIT-OFFVAL-001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11</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신고자/119대원 분류 — 문제·제약·최종 모델</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발화 하나만 보고 신고자/대원을 가린다. log-mel + CNN 3개 평균, 공식 Validation 91.49%.</a:t>
            </a:r>
            <a:endParaRPr lang="en-US" sz="1500" dirty="0"/>
          </a:p>
        </p:txBody>
      </p:sp>
      <p:sp>
        <p:nvSpPr>
          <p:cNvPr id="9" name="Text 6"/>
          <p:cNvSpPr txBox="1"/>
          <p:nvPr/>
        </p:nvSpPr>
        <p:spPr>
          <a:xfrm>
            <a:off x="457200" y="2286000"/>
            <a:ext cx="8138160" cy="365760"/>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 문제   </a:t>
            </a:r>
            <a:pPr indent="0" marL="0">
              <a:buNone/>
            </a:pPr>
            <a:r>
              <a:rPr lang="en-US" sz="1500" dirty="0">
                <a:solidFill>
                  <a:srgbClr val="212121"/>
                </a:solidFill>
                <a:latin typeface="맑은 고딕" pitchFamily="34" charset="0"/>
                <a:ea typeface="맑은 고딕" pitchFamily="34" charset="-122"/>
                <a:cs typeface="맑은 고딕" pitchFamily="34" charset="-120"/>
              </a:rPr>
              <a:t>한 발화 조각 → 신고자(1) / 대원(0)   ·   지표 Accuracy</a:t>
            </a:r>
            <a:endParaRPr lang="en-US" sz="1500" dirty="0"/>
          </a:p>
        </p:txBody>
      </p:sp>
      <p:sp>
        <p:nvSpPr>
          <p:cNvPr id="10" name="Text 7"/>
          <p:cNvSpPr txBox="1"/>
          <p:nvPr/>
        </p:nvSpPr>
        <p:spPr>
          <a:xfrm>
            <a:off x="457200" y="2697480"/>
            <a:ext cx="8138160" cy="365760"/>
          </a:xfrm>
          <a:prstGeom prst="rect">
            <a:avLst/>
          </a:prstGeom>
          <a:noFill/>
          <a:ln/>
        </p:spPr>
        <p:txBody>
          <a:bodyPr wrap="square" lIns="0" tIns="0" rIns="0" bIns="0" rtlCol="0" anchor="t"/>
          <a:lstStyle/>
          <a:p>
            <a:pPr indent="0" marL="0">
              <a:buNone/>
            </a:pPr>
            <a:r>
              <a:rPr lang="en-US" sz="1500" b="1" dirty="0">
                <a:solidFill>
                  <a:srgbClr val="E53935"/>
                </a:solidFill>
                <a:latin typeface="맑은 고딕" pitchFamily="34" charset="0"/>
                <a:ea typeface="맑은 고딕" pitchFamily="34" charset="-122"/>
                <a:cs typeface="맑은 고딕" pitchFamily="34" charset="-120"/>
              </a:rPr>
              <a:t>■ 제약   </a:t>
            </a:r>
            <a:pPr indent="0" marL="0">
              <a:buNone/>
            </a:pPr>
            <a:r>
              <a:rPr lang="en-US" sz="1500" dirty="0">
                <a:solidFill>
                  <a:srgbClr val="212121"/>
                </a:solidFill>
                <a:latin typeface="맑은 고딕" pitchFamily="34" charset="0"/>
                <a:ea typeface="맑은 고딕" pitchFamily="34" charset="-122"/>
                <a:cs typeface="맑은 고딕" pitchFamily="34" charset="-120"/>
              </a:rPr>
              <a:t>text · 발화 순서 · 다른 발화 정보 사용 불가</a:t>
            </a:r>
            <a:endParaRPr lang="en-US" sz="1500" dirty="0"/>
          </a:p>
        </p:txBody>
      </p:sp>
      <p:sp>
        <p:nvSpPr>
          <p:cNvPr id="11" name="Shape 8"/>
          <p:cNvSpPr/>
          <p:nvPr/>
        </p:nvSpPr>
        <p:spPr>
          <a:xfrm>
            <a:off x="8869680" y="2240280"/>
            <a:ext cx="2864815" cy="868680"/>
          </a:xfrm>
          <a:prstGeom prst="roundRect">
            <a:avLst>
              <a:gd name="adj" fmla="val 10526"/>
            </a:avLst>
          </a:prstGeom>
          <a:solidFill>
            <a:srgbClr val="EAF3FA"/>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2" name="Text 9"/>
          <p:cNvSpPr txBox="1"/>
          <p:nvPr/>
        </p:nvSpPr>
        <p:spPr>
          <a:xfrm>
            <a:off x="8869680" y="2240280"/>
            <a:ext cx="2864815" cy="868680"/>
          </a:xfrm>
          <a:prstGeom prst="rect">
            <a:avLst/>
          </a:prstGeom>
          <a:noFill/>
          <a:ln/>
        </p:spPr>
        <p:txBody>
          <a:bodyPr wrap="square" lIns="0" tIns="0" rIns="0" bIns="0" rtlCol="0" anchor="ctr"/>
          <a:lstStyle/>
          <a:p>
            <a:pPr algn="ctr" indent="0" marL="0">
              <a:buNone/>
            </a:pPr>
            <a:r>
              <a:rPr lang="en-US" sz="2800" b="1" dirty="0">
                <a:solidFill>
                  <a:srgbClr val="2F4E91"/>
                </a:solidFill>
                <a:latin typeface="맑은 고딕" pitchFamily="34" charset="0"/>
                <a:ea typeface="맑은 고딕" pitchFamily="34" charset="-122"/>
                <a:cs typeface="맑은 고딕" pitchFamily="34" charset="-120"/>
              </a:rPr>
              <a:t>91.49%</a:t>
            </a:r>
            <a:pPr algn="ctr" indent="0" marL="0">
              <a:buNone/>
            </a:pPr>
            <a:r>
              <a:rPr lang="en-US" sz="1200" dirty="0">
                <a:solidFill>
                  <a:srgbClr val="616161"/>
                </a:solidFill>
                <a:latin typeface="맑은 고딕" pitchFamily="34" charset="0"/>
                <a:ea typeface="맑은 고딕" pitchFamily="34" charset="-122"/>
                <a:cs typeface="맑은 고딕" pitchFamily="34" charset="-120"/>
              </a:rPr>
              <a:t>   공식 Validation</a:t>
            </a:r>
            <a:endParaRPr lang="en-US" sz="1400" dirty="0"/>
          </a:p>
        </p:txBody>
      </p:sp>
      <p:sp>
        <p:nvSpPr>
          <p:cNvPr id="13" name="Shape 10"/>
          <p:cNvSpPr/>
          <p:nvPr/>
        </p:nvSpPr>
        <p:spPr>
          <a:xfrm>
            <a:off x="457200" y="3246120"/>
            <a:ext cx="1783080" cy="1051560"/>
          </a:xfrm>
          <a:prstGeom prst="roundRect">
            <a:avLst>
              <a:gd name="adj" fmla="val 6957"/>
            </a:avLst>
          </a:prstGeom>
          <a:solidFill>
            <a:srgbClr val="EAF3FA"/>
          </a:solidFill>
          <a:ln w="12700">
            <a:solidFill>
              <a:srgbClr val="009DDA"/>
            </a:solidFill>
            <a:prstDash val="solid"/>
          </a:ln>
        </p:spPr>
      </p:sp>
      <p:sp>
        <p:nvSpPr>
          <p:cNvPr id="14" name="Text 11"/>
          <p:cNvSpPr txBox="1"/>
          <p:nvPr/>
        </p:nvSpPr>
        <p:spPr>
          <a:xfrm>
            <a:off x="512064" y="3246120"/>
            <a:ext cx="1673352" cy="1051560"/>
          </a:xfrm>
          <a:prstGeom prst="rect">
            <a:avLst/>
          </a:prstGeom>
          <a:noFill/>
          <a:ln/>
        </p:spPr>
        <p:txBody>
          <a:bodyPr wrap="square" lIns="0" tIns="0" rIns="0" bIns="0" rtlCol="0" anchor="ctr"/>
          <a:lstStyle/>
          <a:p>
            <a:pPr algn="ctr" indent="0" marL="0">
              <a:buNone/>
            </a:pPr>
            <a:r>
              <a:rPr lang="en-US" sz="1250" b="1" dirty="0">
                <a:solidFill>
                  <a:srgbClr val="2F4E91"/>
                </a:solidFill>
                <a:latin typeface="맑은 고딕" pitchFamily="34" charset="0"/>
                <a:ea typeface="맑은 고딕" pitchFamily="34" charset="-122"/>
                <a:cs typeface="맑은 고딕" pitchFamily="34" charset="-120"/>
              </a:rPr>
              <a:t>발화 구간</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startAt~endAt만</a:t>
            </a:r>
            <a:endParaRPr lang="en-US" sz="1400" dirty="0"/>
          </a:p>
        </p:txBody>
      </p:sp>
      <p:sp>
        <p:nvSpPr>
          <p:cNvPr id="15" name="Shape 12"/>
          <p:cNvSpPr/>
          <p:nvPr/>
        </p:nvSpPr>
        <p:spPr>
          <a:xfrm>
            <a:off x="2727884" y="3246120"/>
            <a:ext cx="1783080" cy="1051560"/>
          </a:xfrm>
          <a:prstGeom prst="roundRect">
            <a:avLst>
              <a:gd name="adj" fmla="val 6957"/>
            </a:avLst>
          </a:prstGeom>
          <a:solidFill>
            <a:srgbClr val="EAF3FA"/>
          </a:solidFill>
          <a:ln w="12700">
            <a:solidFill>
              <a:srgbClr val="009DDA"/>
            </a:solidFill>
            <a:prstDash val="solid"/>
          </a:ln>
        </p:spPr>
      </p:sp>
      <p:sp>
        <p:nvSpPr>
          <p:cNvPr id="16" name="Text 13"/>
          <p:cNvSpPr txBox="1"/>
          <p:nvPr/>
        </p:nvSpPr>
        <p:spPr>
          <a:xfrm>
            <a:off x="2782748" y="3246120"/>
            <a:ext cx="1673352" cy="1051560"/>
          </a:xfrm>
          <a:prstGeom prst="rect">
            <a:avLst/>
          </a:prstGeom>
          <a:noFill/>
          <a:ln/>
        </p:spPr>
        <p:txBody>
          <a:bodyPr wrap="square" lIns="0" tIns="0" rIns="0" bIns="0" rtlCol="0" anchor="ctr"/>
          <a:lstStyle/>
          <a:p>
            <a:pPr algn="ctr" indent="0" marL="0">
              <a:buNone/>
            </a:pPr>
            <a:r>
              <a:rPr lang="en-US" sz="1250" b="1" dirty="0">
                <a:solidFill>
                  <a:srgbClr val="2F4E91"/>
                </a:solidFill>
                <a:latin typeface="맑은 고딕" pitchFamily="34" charset="0"/>
                <a:ea typeface="맑은 고딕" pitchFamily="34" charset="-122"/>
                <a:cs typeface="맑은 고딕" pitchFamily="34" charset="-120"/>
              </a:rPr>
              <a:t>log-mel</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40 mel · 8 kHz</a:t>
            </a:r>
            <a:endParaRPr lang="en-US" sz="1400" dirty="0"/>
          </a:p>
        </p:txBody>
      </p:sp>
      <p:sp>
        <p:nvSpPr>
          <p:cNvPr id="17" name="Shape 14"/>
          <p:cNvSpPr/>
          <p:nvPr/>
        </p:nvSpPr>
        <p:spPr>
          <a:xfrm>
            <a:off x="2240280" y="3771900"/>
            <a:ext cx="487604" cy="0"/>
          </a:xfrm>
          <a:prstGeom prst="line">
            <a:avLst/>
          </a:prstGeom>
          <a:noFill/>
          <a:ln w="19050">
            <a:solidFill>
              <a:srgbClr val="009DDA"/>
            </a:solidFill>
            <a:prstDash val="solid"/>
            <a:tailEnd type="triangle"/>
          </a:ln>
        </p:spPr>
      </p:sp>
      <p:sp>
        <p:nvSpPr>
          <p:cNvPr id="18" name="Shape 15"/>
          <p:cNvSpPr/>
          <p:nvPr/>
        </p:nvSpPr>
        <p:spPr>
          <a:xfrm>
            <a:off x="4998568" y="3246120"/>
            <a:ext cx="1783080" cy="1051560"/>
          </a:xfrm>
          <a:prstGeom prst="roundRect">
            <a:avLst>
              <a:gd name="adj" fmla="val 6957"/>
            </a:avLst>
          </a:prstGeom>
          <a:solidFill>
            <a:srgbClr val="EAF3FA"/>
          </a:solidFill>
          <a:ln w="12700">
            <a:solidFill>
              <a:srgbClr val="009DDA"/>
            </a:solidFill>
            <a:prstDash val="solid"/>
          </a:ln>
        </p:spPr>
      </p:sp>
      <p:sp>
        <p:nvSpPr>
          <p:cNvPr id="19" name="Text 16"/>
          <p:cNvSpPr txBox="1"/>
          <p:nvPr/>
        </p:nvSpPr>
        <p:spPr>
          <a:xfrm>
            <a:off x="5053432" y="3246120"/>
            <a:ext cx="1673352" cy="1051560"/>
          </a:xfrm>
          <a:prstGeom prst="rect">
            <a:avLst/>
          </a:prstGeom>
          <a:noFill/>
          <a:ln/>
        </p:spPr>
        <p:txBody>
          <a:bodyPr wrap="square" lIns="0" tIns="0" rIns="0" bIns="0" rtlCol="0" anchor="ctr"/>
          <a:lstStyle/>
          <a:p>
            <a:pPr algn="ctr" indent="0" marL="0">
              <a:buNone/>
            </a:pPr>
            <a:r>
              <a:rPr lang="en-US" sz="1250" b="1" dirty="0">
                <a:solidFill>
                  <a:srgbClr val="2F4E91"/>
                </a:solidFill>
                <a:latin typeface="맑은 고딕" pitchFamily="34" charset="0"/>
                <a:ea typeface="맑은 고딕" pitchFamily="34" charset="-122"/>
                <a:cs typeface="맑은 고딕" pitchFamily="34" charset="-120"/>
              </a:rPr>
              <a:t>길이 맞춤</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300프레임</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그 발화만 사용</a:t>
            </a:r>
            <a:endParaRPr lang="en-US" sz="1400" dirty="0"/>
          </a:p>
        </p:txBody>
      </p:sp>
      <p:sp>
        <p:nvSpPr>
          <p:cNvPr id="20" name="Shape 17"/>
          <p:cNvSpPr/>
          <p:nvPr/>
        </p:nvSpPr>
        <p:spPr>
          <a:xfrm>
            <a:off x="4510964" y="3771900"/>
            <a:ext cx="487604" cy="0"/>
          </a:xfrm>
          <a:prstGeom prst="line">
            <a:avLst/>
          </a:prstGeom>
          <a:noFill/>
          <a:ln w="19050">
            <a:solidFill>
              <a:srgbClr val="009DDA"/>
            </a:solidFill>
            <a:prstDash val="solid"/>
            <a:tailEnd type="triangle"/>
          </a:ln>
        </p:spPr>
      </p:sp>
      <p:sp>
        <p:nvSpPr>
          <p:cNvPr id="21" name="Shape 18"/>
          <p:cNvSpPr/>
          <p:nvPr/>
        </p:nvSpPr>
        <p:spPr>
          <a:xfrm>
            <a:off x="7269251" y="3246120"/>
            <a:ext cx="2148840" cy="289560"/>
          </a:xfrm>
          <a:prstGeom prst="roundRect">
            <a:avLst>
              <a:gd name="adj" fmla="val 25263"/>
            </a:avLst>
          </a:prstGeom>
          <a:solidFill>
            <a:srgbClr val="EAF3FA"/>
          </a:solidFill>
          <a:ln w="12700">
            <a:solidFill>
              <a:srgbClr val="009DDA"/>
            </a:solidFill>
            <a:prstDash val="solid"/>
          </a:ln>
        </p:spPr>
      </p:sp>
      <p:sp>
        <p:nvSpPr>
          <p:cNvPr id="22" name="Text 19"/>
          <p:cNvSpPr txBox="1"/>
          <p:nvPr/>
        </p:nvSpPr>
        <p:spPr>
          <a:xfrm>
            <a:off x="7324115" y="3246120"/>
            <a:ext cx="2039112" cy="289560"/>
          </a:xfrm>
          <a:prstGeom prst="rect">
            <a:avLst/>
          </a:prstGeom>
          <a:noFill/>
          <a:ln/>
        </p:spPr>
        <p:txBody>
          <a:bodyPr wrap="square" lIns="0" tIns="0" rIns="0" bIns="0" rtlCol="0" anchor="ctr"/>
          <a:lstStyle/>
          <a:p>
            <a:pPr algn="ctr" indent="0" marL="0">
              <a:buNone/>
            </a:pPr>
            <a:r>
              <a:rPr lang="en-US" sz="1250" b="1" dirty="0">
                <a:solidFill>
                  <a:srgbClr val="2F4E91"/>
                </a:solidFill>
                <a:latin typeface="맑은 고딕" pitchFamily="34" charset="0"/>
                <a:ea typeface="맑은 고딕" pitchFamily="34" charset="-122"/>
                <a:cs typeface="맑은 고딕" pitchFamily="34" charset="-120"/>
              </a:rPr>
              <a:t>SpeakerCNNLarge · seed 1</a:t>
            </a:r>
            <a:endParaRPr lang="en-US" sz="1400" dirty="0"/>
          </a:p>
        </p:txBody>
      </p:sp>
      <p:sp>
        <p:nvSpPr>
          <p:cNvPr id="23" name="Shape 20"/>
          <p:cNvSpPr/>
          <p:nvPr/>
        </p:nvSpPr>
        <p:spPr>
          <a:xfrm flipV="1">
            <a:off x="6781648" y="3390900"/>
            <a:ext cx="487604" cy="381000"/>
          </a:xfrm>
          <a:prstGeom prst="line">
            <a:avLst/>
          </a:prstGeom>
          <a:noFill/>
          <a:ln w="19050">
            <a:solidFill>
              <a:srgbClr val="009DDA"/>
            </a:solidFill>
            <a:prstDash val="solid"/>
            <a:tailEnd type="triangle"/>
          </a:ln>
        </p:spPr>
      </p:sp>
      <p:sp>
        <p:nvSpPr>
          <p:cNvPr id="24" name="Shape 21"/>
          <p:cNvSpPr/>
          <p:nvPr/>
        </p:nvSpPr>
        <p:spPr>
          <a:xfrm>
            <a:off x="9418091" y="3390900"/>
            <a:ext cx="487604" cy="381000"/>
          </a:xfrm>
          <a:prstGeom prst="line">
            <a:avLst/>
          </a:prstGeom>
          <a:noFill/>
          <a:ln w="19050">
            <a:solidFill>
              <a:srgbClr val="009DDA"/>
            </a:solidFill>
            <a:prstDash val="solid"/>
            <a:tailEnd type="triangle"/>
          </a:ln>
        </p:spPr>
      </p:sp>
      <p:sp>
        <p:nvSpPr>
          <p:cNvPr id="25" name="Shape 22"/>
          <p:cNvSpPr/>
          <p:nvPr/>
        </p:nvSpPr>
        <p:spPr>
          <a:xfrm>
            <a:off x="7269251" y="3627120"/>
            <a:ext cx="2148840" cy="289560"/>
          </a:xfrm>
          <a:prstGeom prst="roundRect">
            <a:avLst>
              <a:gd name="adj" fmla="val 25263"/>
            </a:avLst>
          </a:prstGeom>
          <a:solidFill>
            <a:srgbClr val="EAF3FA"/>
          </a:solidFill>
          <a:ln w="12700">
            <a:solidFill>
              <a:srgbClr val="009DDA"/>
            </a:solidFill>
            <a:prstDash val="solid"/>
          </a:ln>
        </p:spPr>
      </p:sp>
      <p:sp>
        <p:nvSpPr>
          <p:cNvPr id="26" name="Text 23"/>
          <p:cNvSpPr txBox="1"/>
          <p:nvPr/>
        </p:nvSpPr>
        <p:spPr>
          <a:xfrm>
            <a:off x="7324115" y="3627120"/>
            <a:ext cx="2039112" cy="289560"/>
          </a:xfrm>
          <a:prstGeom prst="rect">
            <a:avLst/>
          </a:prstGeom>
          <a:noFill/>
          <a:ln/>
        </p:spPr>
        <p:txBody>
          <a:bodyPr wrap="square" lIns="0" tIns="0" rIns="0" bIns="0" rtlCol="0" anchor="ctr"/>
          <a:lstStyle/>
          <a:p>
            <a:pPr algn="ctr" indent="0" marL="0">
              <a:buNone/>
            </a:pPr>
            <a:r>
              <a:rPr lang="en-US" sz="1250" b="1" dirty="0">
                <a:solidFill>
                  <a:srgbClr val="2F4E91"/>
                </a:solidFill>
                <a:latin typeface="맑은 고딕" pitchFamily="34" charset="0"/>
                <a:ea typeface="맑은 고딕" pitchFamily="34" charset="-122"/>
                <a:cs typeface="맑은 고딕" pitchFamily="34" charset="-120"/>
              </a:rPr>
              <a:t>SpeakerCNNLarge · seed 2</a:t>
            </a:r>
            <a:endParaRPr lang="en-US" sz="1400" dirty="0"/>
          </a:p>
        </p:txBody>
      </p:sp>
      <p:sp>
        <p:nvSpPr>
          <p:cNvPr id="27" name="Shape 24"/>
          <p:cNvSpPr/>
          <p:nvPr/>
        </p:nvSpPr>
        <p:spPr>
          <a:xfrm>
            <a:off x="6781648" y="3771900"/>
            <a:ext cx="487604" cy="0"/>
          </a:xfrm>
          <a:prstGeom prst="line">
            <a:avLst/>
          </a:prstGeom>
          <a:noFill/>
          <a:ln w="19050">
            <a:solidFill>
              <a:srgbClr val="009DDA"/>
            </a:solidFill>
            <a:prstDash val="solid"/>
            <a:tailEnd type="triangle"/>
          </a:ln>
        </p:spPr>
      </p:sp>
      <p:sp>
        <p:nvSpPr>
          <p:cNvPr id="28" name="Shape 25"/>
          <p:cNvSpPr/>
          <p:nvPr/>
        </p:nvSpPr>
        <p:spPr>
          <a:xfrm>
            <a:off x="9418091" y="3771900"/>
            <a:ext cx="487604" cy="0"/>
          </a:xfrm>
          <a:prstGeom prst="line">
            <a:avLst/>
          </a:prstGeom>
          <a:noFill/>
          <a:ln w="19050">
            <a:solidFill>
              <a:srgbClr val="009DDA"/>
            </a:solidFill>
            <a:prstDash val="solid"/>
            <a:tailEnd type="triangle"/>
          </a:ln>
        </p:spPr>
      </p:sp>
      <p:sp>
        <p:nvSpPr>
          <p:cNvPr id="29" name="Shape 26"/>
          <p:cNvSpPr/>
          <p:nvPr/>
        </p:nvSpPr>
        <p:spPr>
          <a:xfrm>
            <a:off x="7269251" y="4008120"/>
            <a:ext cx="2148840" cy="289560"/>
          </a:xfrm>
          <a:prstGeom prst="roundRect">
            <a:avLst>
              <a:gd name="adj" fmla="val 25263"/>
            </a:avLst>
          </a:prstGeom>
          <a:solidFill>
            <a:srgbClr val="EAF3FA"/>
          </a:solidFill>
          <a:ln w="12700">
            <a:solidFill>
              <a:srgbClr val="009DDA"/>
            </a:solidFill>
            <a:prstDash val="solid"/>
          </a:ln>
        </p:spPr>
      </p:sp>
      <p:sp>
        <p:nvSpPr>
          <p:cNvPr id="30" name="Text 27"/>
          <p:cNvSpPr txBox="1"/>
          <p:nvPr/>
        </p:nvSpPr>
        <p:spPr>
          <a:xfrm>
            <a:off x="7324115" y="4008120"/>
            <a:ext cx="2039112" cy="289560"/>
          </a:xfrm>
          <a:prstGeom prst="rect">
            <a:avLst/>
          </a:prstGeom>
          <a:noFill/>
          <a:ln/>
        </p:spPr>
        <p:txBody>
          <a:bodyPr wrap="square" lIns="0" tIns="0" rIns="0" bIns="0" rtlCol="0" anchor="ctr"/>
          <a:lstStyle/>
          <a:p>
            <a:pPr algn="ctr" indent="0" marL="0">
              <a:buNone/>
            </a:pPr>
            <a:r>
              <a:rPr lang="en-US" sz="1250" b="1" dirty="0">
                <a:solidFill>
                  <a:srgbClr val="2F4E91"/>
                </a:solidFill>
                <a:latin typeface="맑은 고딕" pitchFamily="34" charset="0"/>
                <a:ea typeface="맑은 고딕" pitchFamily="34" charset="-122"/>
                <a:cs typeface="맑은 고딕" pitchFamily="34" charset="-120"/>
              </a:rPr>
              <a:t>SpeakerCNNLarge · seed 3</a:t>
            </a:r>
            <a:endParaRPr lang="en-US" sz="1400" dirty="0"/>
          </a:p>
        </p:txBody>
      </p:sp>
      <p:sp>
        <p:nvSpPr>
          <p:cNvPr id="31" name="Shape 28"/>
          <p:cNvSpPr/>
          <p:nvPr/>
        </p:nvSpPr>
        <p:spPr>
          <a:xfrm>
            <a:off x="6781648" y="3771900"/>
            <a:ext cx="487604" cy="381000"/>
          </a:xfrm>
          <a:prstGeom prst="line">
            <a:avLst/>
          </a:prstGeom>
          <a:noFill/>
          <a:ln w="19050">
            <a:solidFill>
              <a:srgbClr val="009DDA"/>
            </a:solidFill>
            <a:prstDash val="solid"/>
            <a:tailEnd type="triangle"/>
          </a:ln>
        </p:spPr>
      </p:sp>
      <p:sp>
        <p:nvSpPr>
          <p:cNvPr id="32" name="Shape 29"/>
          <p:cNvSpPr/>
          <p:nvPr/>
        </p:nvSpPr>
        <p:spPr>
          <a:xfrm flipV="1">
            <a:off x="9418091" y="3771900"/>
            <a:ext cx="487604" cy="381000"/>
          </a:xfrm>
          <a:prstGeom prst="line">
            <a:avLst/>
          </a:prstGeom>
          <a:noFill/>
          <a:ln w="19050">
            <a:solidFill>
              <a:srgbClr val="009DDA"/>
            </a:solidFill>
            <a:prstDash val="solid"/>
            <a:tailEnd type="triangle"/>
          </a:ln>
        </p:spPr>
      </p:sp>
      <p:sp>
        <p:nvSpPr>
          <p:cNvPr id="33" name="Shape 30"/>
          <p:cNvSpPr/>
          <p:nvPr/>
        </p:nvSpPr>
        <p:spPr>
          <a:xfrm>
            <a:off x="9905695" y="3246120"/>
            <a:ext cx="1828800" cy="1051560"/>
          </a:xfrm>
          <a:prstGeom prst="roundRect">
            <a:avLst>
              <a:gd name="adj" fmla="val 6957"/>
            </a:avLst>
          </a:prstGeom>
          <a:solidFill>
            <a:srgbClr val="2F4E91"/>
          </a:solidFill>
          <a:ln w="12700">
            <a:solidFill>
              <a:srgbClr val="2F4E91"/>
            </a:solidFill>
            <a:prstDash val="solid"/>
          </a:ln>
        </p:spPr>
      </p:sp>
      <p:sp>
        <p:nvSpPr>
          <p:cNvPr id="34" name="Text 31"/>
          <p:cNvSpPr txBox="1"/>
          <p:nvPr/>
        </p:nvSpPr>
        <p:spPr>
          <a:xfrm>
            <a:off x="9960559" y="3246120"/>
            <a:ext cx="1719072" cy="1051560"/>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확률 평균</a:t>
            </a:r>
            <a:endParaRPr lang="en-US" sz="1400" dirty="0"/>
          </a:p>
          <a:p>
            <a:pPr algn="ctr" indent="0" marL="0">
              <a:buNone/>
            </a:pPr>
            <a:r>
              <a:rPr lang="en-US" sz="1050" dirty="0">
                <a:solidFill>
                  <a:srgbClr val="FFFFFF"/>
                </a:solidFill>
                <a:latin typeface="맑은 고딕" pitchFamily="34" charset="0"/>
                <a:ea typeface="맑은 고딕" pitchFamily="34" charset="-122"/>
                <a:cs typeface="맑은 고딕" pitchFamily="34" charset="-120"/>
              </a:rPr>
              <a:t>≥ 0.5 → 신고자</a:t>
            </a:r>
            <a:endParaRPr lang="en-US" sz="1400" dirty="0"/>
          </a:p>
          <a:p>
            <a:pPr algn="ctr" indent="0" marL="0">
              <a:buNone/>
            </a:pPr>
            <a:r>
              <a:rPr lang="en-US" sz="1050" dirty="0">
                <a:solidFill>
                  <a:srgbClr val="FFFFFF"/>
                </a:solidFill>
                <a:latin typeface="맑은 고딕" pitchFamily="34" charset="0"/>
                <a:ea typeface="맑은 고딕" pitchFamily="34" charset="-122"/>
                <a:cs typeface="맑은 고딕" pitchFamily="34" charset="-120"/>
              </a:rPr>
              <a:t>&lt; 0.5 → 대원</a:t>
            </a:r>
            <a:endParaRPr lang="en-US" sz="1400" dirty="0"/>
          </a:p>
        </p:txBody>
      </p:sp>
      <p:sp>
        <p:nvSpPr>
          <p:cNvPr id="35" name="Shape 32"/>
          <p:cNvSpPr/>
          <p:nvPr/>
        </p:nvSpPr>
        <p:spPr>
          <a:xfrm>
            <a:off x="457200" y="4480560"/>
            <a:ext cx="6181344" cy="1900761"/>
          </a:xfrm>
          <a:prstGeom prst="rect">
            <a:avLst/>
          </a:prstGeom>
          <a:solidFill>
            <a:srgbClr val="FFFFFF"/>
          </a:solidFill>
          <a:ln w="12700">
            <a:solidFill>
              <a:srgbClr val="E0E0E0"/>
            </a:solidFill>
            <a:prstDash val="solid"/>
          </a:ln>
        </p:spPr>
      </p:sp>
      <p:pic>
        <p:nvPicPr>
          <p:cNvPr id="36" name="Image 1" descr="figures/anim/m2_waveform_to_mel.gif">    </p:cNvPr>
          <p:cNvPicPr>
            <a:picLocks noChangeAspect="1"/>
          </p:cNvPicPr>
          <p:nvPr/>
        </p:nvPicPr>
        <p:blipFill>
          <a:blip r:embed="rId2"/>
          <a:stretch>
            <a:fillRect/>
          </a:stretch>
        </p:blipFill>
        <p:spPr>
          <a:xfrm>
            <a:off x="530352" y="4553712"/>
            <a:ext cx="6035040" cy="1754457"/>
          </a:xfrm>
          <a:prstGeom prst="rect">
            <a:avLst/>
          </a:prstGeom>
        </p:spPr>
      </p:pic>
      <p:sp>
        <p:nvSpPr>
          <p:cNvPr id="37" name="Shape 33"/>
          <p:cNvSpPr/>
          <p:nvPr/>
        </p:nvSpPr>
        <p:spPr>
          <a:xfrm>
            <a:off x="6858000" y="4480560"/>
            <a:ext cx="4876495" cy="560435"/>
          </a:xfrm>
          <a:prstGeom prst="roundRect">
            <a:avLst>
              <a:gd name="adj" fmla="val 16316"/>
            </a:avLst>
          </a:prstGeom>
          <a:solidFill>
            <a:srgbClr val="EAF3FA"/>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38" name="Text 34"/>
          <p:cNvSpPr txBox="1"/>
          <p:nvPr/>
        </p:nvSpPr>
        <p:spPr>
          <a:xfrm>
            <a:off x="6995160" y="4480560"/>
            <a:ext cx="1325880" cy="560435"/>
          </a:xfrm>
          <a:prstGeom prst="rect">
            <a:avLst/>
          </a:prstGeom>
          <a:noFill/>
          <a:ln/>
        </p:spPr>
        <p:txBody>
          <a:bodyPr wrap="square" lIns="0" tIns="0" rIns="0" bIns="0" rtlCol="0" anchor="ctr"/>
          <a:lstStyle/>
          <a:p>
            <a:pPr indent="0" marL="0">
              <a:buNone/>
            </a:pPr>
            <a:r>
              <a:rPr lang="en-US" sz="1300" b="1" dirty="0">
                <a:solidFill>
                  <a:srgbClr val="2F4E91"/>
                </a:solidFill>
                <a:latin typeface="맑은 고딕" pitchFamily="34" charset="0"/>
                <a:ea typeface="맑은 고딕" pitchFamily="34" charset="-122"/>
                <a:cs typeface="맑은 고딕" pitchFamily="34" charset="-120"/>
              </a:rPr>
              <a:t>음향 차이</a:t>
            </a:r>
            <a:endParaRPr lang="en-US" sz="1300" dirty="0"/>
          </a:p>
        </p:txBody>
      </p:sp>
      <p:sp>
        <p:nvSpPr>
          <p:cNvPr id="39" name="Text 35"/>
          <p:cNvSpPr txBox="1"/>
          <p:nvPr/>
        </p:nvSpPr>
        <p:spPr>
          <a:xfrm>
            <a:off x="8321040" y="4480560"/>
            <a:ext cx="3322015" cy="560435"/>
          </a:xfrm>
          <a:prstGeom prst="rect">
            <a:avLst/>
          </a:prstGeom>
          <a:noFill/>
          <a:ln/>
        </p:spPr>
        <p:txBody>
          <a:bodyPr wrap="square" lIns="0" tIns="0" rIns="0" bIns="0" rtlCol="0" anchor="ct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대원 헤드셋·정해진 말투</a:t>
            </a:r>
            <a:endParaRPr lang="en-US" sz="1150" dirty="0"/>
          </a:p>
          <a:p>
            <a:pPr indent="0" marL="0">
              <a:buNone/>
            </a:pPr>
            <a:r>
              <a:rPr lang="en-US" sz="1150" dirty="0">
                <a:solidFill>
                  <a:srgbClr val="212121"/>
                </a:solidFill>
                <a:latin typeface="맑은 고딕" pitchFamily="34" charset="0"/>
                <a:ea typeface="맑은 고딕" pitchFamily="34" charset="-122"/>
                <a:cs typeface="맑은 고딕" pitchFamily="34" charset="-120"/>
              </a:rPr>
              <a:t>신고자 휴대전화·잡음</a:t>
            </a:r>
            <a:endParaRPr lang="en-US" sz="1150" dirty="0"/>
          </a:p>
        </p:txBody>
      </p:sp>
      <p:sp>
        <p:nvSpPr>
          <p:cNvPr id="40" name="Shape 36"/>
          <p:cNvSpPr/>
          <p:nvPr/>
        </p:nvSpPr>
        <p:spPr>
          <a:xfrm>
            <a:off x="6858000" y="5150723"/>
            <a:ext cx="4876495" cy="560435"/>
          </a:xfrm>
          <a:prstGeom prst="roundRect">
            <a:avLst>
              <a:gd name="adj" fmla="val 16316"/>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41" name="Text 37"/>
          <p:cNvSpPr txBox="1"/>
          <p:nvPr/>
        </p:nvSpPr>
        <p:spPr>
          <a:xfrm>
            <a:off x="6995160" y="5150723"/>
            <a:ext cx="1325880" cy="560435"/>
          </a:xfrm>
          <a:prstGeom prst="rect">
            <a:avLst/>
          </a:prstGeom>
          <a:noFill/>
          <a:ln/>
        </p:spPr>
        <p:txBody>
          <a:bodyPr wrap="square" lIns="0" tIns="0" rIns="0" bIns="0" rtlCol="0" anchor="ctr"/>
          <a:lstStyle/>
          <a:p>
            <a:pPr indent="0" marL="0">
              <a:buNone/>
            </a:pPr>
            <a:r>
              <a:rPr lang="en-US" sz="1300" b="1" dirty="0">
                <a:solidFill>
                  <a:srgbClr val="2F4E91"/>
                </a:solidFill>
                <a:latin typeface="맑은 고딕" pitchFamily="34" charset="0"/>
                <a:ea typeface="맑은 고딕" pitchFamily="34" charset="-122"/>
                <a:cs typeface="맑은 고딕" pitchFamily="34" charset="-120"/>
              </a:rPr>
              <a:t>단계적 검증</a:t>
            </a:r>
            <a:endParaRPr lang="en-US" sz="1300" dirty="0"/>
          </a:p>
        </p:txBody>
      </p:sp>
      <p:sp>
        <p:nvSpPr>
          <p:cNvPr id="42" name="Text 38"/>
          <p:cNvSpPr txBox="1"/>
          <p:nvPr/>
        </p:nvSpPr>
        <p:spPr>
          <a:xfrm>
            <a:off x="8321040" y="5150723"/>
            <a:ext cx="3322015" cy="560435"/>
          </a:xfrm>
          <a:prstGeom prst="rect">
            <a:avLst/>
          </a:prstGeom>
          <a:noFill/>
          <a:ln/>
        </p:spPr>
        <p:txBody>
          <a:bodyPr wrap="square" lIns="0" tIns="0" rIns="0" bIns="0" rtlCol="0" anchor="ct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통계 특징(L1) → CNN(L2)</a:t>
            </a:r>
            <a:endParaRPr lang="en-US" sz="1150" dirty="0"/>
          </a:p>
        </p:txBody>
      </p:sp>
      <p:sp>
        <p:nvSpPr>
          <p:cNvPr id="43" name="Shape 39"/>
          <p:cNvSpPr/>
          <p:nvPr/>
        </p:nvSpPr>
        <p:spPr>
          <a:xfrm>
            <a:off x="6858000" y="5820886"/>
            <a:ext cx="4876495" cy="560435"/>
          </a:xfrm>
          <a:prstGeom prst="roundRect">
            <a:avLst>
              <a:gd name="adj" fmla="val 16316"/>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44" name="Text 40"/>
          <p:cNvSpPr txBox="1"/>
          <p:nvPr/>
        </p:nvSpPr>
        <p:spPr>
          <a:xfrm>
            <a:off x="6995160" y="5820886"/>
            <a:ext cx="1325880" cy="560435"/>
          </a:xfrm>
          <a:prstGeom prst="rect">
            <a:avLst/>
          </a:prstGeom>
          <a:noFill/>
          <a:ln/>
        </p:spPr>
        <p:txBody>
          <a:bodyPr wrap="square" lIns="0" tIns="0" rIns="0" bIns="0" rtlCol="0" anchor="ctr"/>
          <a:lstStyle/>
          <a:p>
            <a:pPr indent="0" marL="0">
              <a:buNone/>
            </a:pPr>
            <a:r>
              <a:rPr lang="en-US" sz="1300" b="1" dirty="0">
                <a:solidFill>
                  <a:srgbClr val="2F4E91"/>
                </a:solidFill>
                <a:latin typeface="맑은 고딕" pitchFamily="34" charset="0"/>
                <a:ea typeface="맑은 고딕" pitchFamily="34" charset="-122"/>
                <a:cs typeface="맑은 고딕" pitchFamily="34" charset="-120"/>
              </a:rPr>
              <a:t>처음부터 학습</a:t>
            </a:r>
            <a:endParaRPr lang="en-US" sz="1300" dirty="0"/>
          </a:p>
        </p:txBody>
      </p:sp>
      <p:sp>
        <p:nvSpPr>
          <p:cNvPr id="45" name="Text 41"/>
          <p:cNvSpPr txBox="1"/>
          <p:nvPr/>
        </p:nvSpPr>
        <p:spPr>
          <a:xfrm>
            <a:off x="8321040" y="5820886"/>
            <a:ext cx="3322015" cy="560435"/>
          </a:xfrm>
          <a:prstGeom prst="rect">
            <a:avLst/>
          </a:prstGeom>
          <a:noFill/>
          <a:ln/>
        </p:spPr>
        <p:txBody>
          <a:bodyPr wrap="square" lIns="0" tIns="0" rIns="0" bIns="0" rtlCol="0" anchor="ct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사전학습·외부 데이터 없음</a:t>
            </a:r>
            <a:endParaRPr lang="en-US" sz="1150" dirty="0"/>
          </a:p>
        </p:txBody>
      </p:sp>
      <p:sp>
        <p:nvSpPr>
          <p:cNvPr id="46" name="Text 42"/>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 왼쪽 도식은 합성 신호(실제 통화 아님).  근거: submission/mission2/README.md, docs/experiment_log.md M2-RERUN-001·M2-ENS-003·M2-RETRAIN-001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12</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신고자/119대원 분류 — 성능 개선 과정</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86.44% → 90.98% → 91.49%. CNN의 이득은 목소리가 겹친 구간에 몰려 있었다.</a:t>
            </a:r>
            <a:endParaRPr lang="en-US" sz="1500" dirty="0"/>
          </a:p>
        </p:txBody>
      </p:sp>
      <p:sp>
        <p:nvSpPr>
          <p:cNvPr id="9" name="Shape 6"/>
          <p:cNvSpPr/>
          <p:nvPr/>
        </p:nvSpPr>
        <p:spPr>
          <a:xfrm>
            <a:off x="457200" y="2240280"/>
            <a:ext cx="5669280" cy="3977640"/>
          </a:xfrm>
          <a:prstGeom prst="roundRect">
            <a:avLst>
              <a:gd name="adj" fmla="val 2299"/>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graphicFrame>
        <p:nvGraphicFramePr>
          <p:cNvPr id="10" name="Chart 0" descr=""/>
          <p:cNvGraphicFramePr/>
          <p:nvPr/>
        </p:nvGraphicFramePr>
        <p:xfrm>
          <a:off x="594360" y="2331720"/>
          <a:ext cx="5394960" cy="379476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6400800" y="2240280"/>
            <a:ext cx="5333695" cy="1965960"/>
          </a:xfrm>
          <a:prstGeom prst="roundRect">
            <a:avLst>
              <a:gd name="adj" fmla="val 4651"/>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2" name="Text 8"/>
          <p:cNvSpPr txBox="1"/>
          <p:nvPr/>
        </p:nvSpPr>
        <p:spPr>
          <a:xfrm>
            <a:off x="6583680" y="2340864"/>
            <a:ext cx="4967935" cy="329184"/>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 CNN의 이득이 몰린 곳</a:t>
            </a:r>
            <a:endParaRPr lang="en-US" sz="1500" dirty="0"/>
          </a:p>
        </p:txBody>
      </p:sp>
      <p:pic>
        <p:nvPicPr>
          <p:cNvPr id="13" name="Image 1" descr="figures/anim/speakers_separation.gif">    </p:cNvPr>
          <p:cNvPicPr>
            <a:picLocks noChangeAspect="1"/>
          </p:cNvPicPr>
          <p:nvPr/>
        </p:nvPicPr>
        <p:blipFill>
          <a:blip r:embed="rId3"/>
          <a:stretch>
            <a:fillRect/>
          </a:stretch>
        </p:blipFill>
        <p:spPr>
          <a:xfrm>
            <a:off x="6583680" y="2743200"/>
            <a:ext cx="2377440" cy="977392"/>
          </a:xfrm>
          <a:prstGeom prst="rect">
            <a:avLst/>
          </a:prstGeom>
        </p:spPr>
      </p:pic>
      <p:sp>
        <p:nvSpPr>
          <p:cNvPr id="14" name="Text 9"/>
          <p:cNvSpPr txBox="1"/>
          <p:nvPr/>
        </p:nvSpPr>
        <p:spPr>
          <a:xfrm>
            <a:off x="9144000" y="2743200"/>
            <a:ext cx="1371600" cy="457200"/>
          </a:xfrm>
          <a:prstGeom prst="rect">
            <a:avLst/>
          </a:prstGeom>
          <a:noFill/>
          <a:ln/>
        </p:spPr>
        <p:txBody>
          <a:bodyPr wrap="square" lIns="0" tIns="0" rIns="0" bIns="0" rtlCol="0" anchor="ctr"/>
          <a:lstStyle/>
          <a:p>
            <a:pPr indent="0" marL="0">
              <a:buNone/>
            </a:pPr>
            <a:r>
              <a:rPr lang="en-US" sz="2400" b="1" dirty="0">
                <a:solidFill>
                  <a:srgbClr val="2F4E91"/>
                </a:solidFill>
                <a:latin typeface="맑은 고딕" pitchFamily="34" charset="0"/>
                <a:ea typeface="맑은 고딕" pitchFamily="34" charset="-122"/>
                <a:cs typeface="맑은 고딕" pitchFamily="34" charset="-120"/>
              </a:rPr>
              <a:t>약 +7%p</a:t>
            </a:r>
            <a:endParaRPr lang="en-US" sz="2400" dirty="0"/>
          </a:p>
        </p:txBody>
      </p:sp>
      <p:sp>
        <p:nvSpPr>
          <p:cNvPr id="15" name="Text 10"/>
          <p:cNvSpPr txBox="1"/>
          <p:nvPr/>
        </p:nvSpPr>
        <p:spPr>
          <a:xfrm>
            <a:off x="10469880" y="2743200"/>
            <a:ext cx="1173175" cy="457200"/>
          </a:xfrm>
          <a:prstGeom prst="rect">
            <a:avLst/>
          </a:prstGeom>
          <a:noFill/>
          <a:ln/>
        </p:spPr>
        <p:txBody>
          <a:bodyPr wrap="square" lIns="0" tIns="0" rIns="0" bIns="0" rtlCol="0" anchor="ctr"/>
          <a:lstStyle/>
          <a:p>
            <a:pPr indent="0" marL="0">
              <a:buNone/>
            </a:pPr>
            <a:r>
              <a:rPr lang="en-US" sz="1150" dirty="0">
                <a:solidFill>
                  <a:srgbClr val="616161"/>
                </a:solidFill>
                <a:latin typeface="맑은 고딕" pitchFamily="34" charset="0"/>
                <a:ea typeface="맑은 고딕" pitchFamily="34" charset="-122"/>
                <a:cs typeface="맑은 고딕" pitchFamily="34" charset="-120"/>
              </a:rPr>
              <a:t>겹친 구간</a:t>
            </a:r>
            <a:endParaRPr lang="en-US" sz="1150" dirty="0"/>
          </a:p>
        </p:txBody>
      </p:sp>
      <p:sp>
        <p:nvSpPr>
          <p:cNvPr id="16" name="Text 11"/>
          <p:cNvSpPr txBox="1"/>
          <p:nvPr/>
        </p:nvSpPr>
        <p:spPr>
          <a:xfrm>
            <a:off x="9144000" y="3273552"/>
            <a:ext cx="1371600" cy="457200"/>
          </a:xfrm>
          <a:prstGeom prst="rect">
            <a:avLst/>
          </a:prstGeom>
          <a:noFill/>
          <a:ln/>
        </p:spPr>
        <p:txBody>
          <a:bodyPr wrap="square" lIns="0" tIns="0" rIns="0" bIns="0" rtlCol="0" anchor="ctr"/>
          <a:lstStyle/>
          <a:p>
            <a:pPr indent="0" marL="0">
              <a:buNone/>
            </a:pPr>
            <a:r>
              <a:rPr lang="en-US" sz="2400" b="1" dirty="0">
                <a:solidFill>
                  <a:srgbClr val="009DDA"/>
                </a:solidFill>
                <a:latin typeface="맑은 고딕" pitchFamily="34" charset="0"/>
                <a:ea typeface="맑은 고딕" pitchFamily="34" charset="-122"/>
                <a:cs typeface="맑은 고딕" pitchFamily="34" charset="-120"/>
              </a:rPr>
              <a:t>약 +2%p</a:t>
            </a:r>
            <a:endParaRPr lang="en-US" sz="2400" dirty="0"/>
          </a:p>
        </p:txBody>
      </p:sp>
      <p:sp>
        <p:nvSpPr>
          <p:cNvPr id="17" name="Text 12"/>
          <p:cNvSpPr txBox="1"/>
          <p:nvPr/>
        </p:nvSpPr>
        <p:spPr>
          <a:xfrm>
            <a:off x="10469880" y="3273552"/>
            <a:ext cx="1173175" cy="457200"/>
          </a:xfrm>
          <a:prstGeom prst="rect">
            <a:avLst/>
          </a:prstGeom>
          <a:noFill/>
          <a:ln/>
        </p:spPr>
        <p:txBody>
          <a:bodyPr wrap="square" lIns="0" tIns="0" rIns="0" bIns="0" rtlCol="0" anchor="ctr"/>
          <a:lstStyle/>
          <a:p>
            <a:pPr indent="0" marL="0">
              <a:buNone/>
            </a:pPr>
            <a:r>
              <a:rPr lang="en-US" sz="1150" dirty="0">
                <a:solidFill>
                  <a:srgbClr val="616161"/>
                </a:solidFill>
                <a:latin typeface="맑은 고딕" pitchFamily="34" charset="0"/>
                <a:ea typeface="맑은 고딕" pitchFamily="34" charset="-122"/>
                <a:cs typeface="맑은 고딕" pitchFamily="34" charset="-120"/>
              </a:rPr>
              <a:t>겹치지 않은 구간</a:t>
            </a:r>
            <a:endParaRPr lang="en-US" sz="1150" dirty="0"/>
          </a:p>
        </p:txBody>
      </p:sp>
      <p:sp>
        <p:nvSpPr>
          <p:cNvPr id="18" name="Text 13"/>
          <p:cNvSpPr txBox="1"/>
          <p:nvPr/>
        </p:nvSpPr>
        <p:spPr>
          <a:xfrm>
            <a:off x="6583680" y="3840480"/>
            <a:ext cx="4967935" cy="274320"/>
          </a:xfrm>
          <a:prstGeom prst="rect">
            <a:avLst/>
          </a:prstGeom>
          <a:noFill/>
          <a:ln/>
        </p:spPr>
        <p:txBody>
          <a:bodyPr wrap="square" lIns="0" tIns="0" rIns="0" bIns="0" rtlCol="0" anchor="t"/>
          <a:lstStyle/>
          <a:p>
            <a:pPr algn="ctr" indent="0" marL="0">
              <a:buNone/>
            </a:pPr>
            <a:r>
              <a:rPr lang="en-US" sz="1000" dirty="0">
                <a:solidFill>
                  <a:srgbClr val="616161"/>
                </a:solidFill>
                <a:latin typeface="맑은 고딕" pitchFamily="34" charset="0"/>
                <a:ea typeface="맑은 고딕" pitchFamily="34" charset="-122"/>
                <a:cs typeface="맑은 고딕" pitchFamily="34" charset="-120"/>
              </a:rPr>
              <a:t>통계 특징(L1) 대비 CNN 단일 모델의 개선 폭 (공식 Validation)</a:t>
            </a:r>
            <a:endParaRPr lang="en-US" sz="1000" dirty="0"/>
          </a:p>
        </p:txBody>
      </p:sp>
      <p:sp>
        <p:nvSpPr>
          <p:cNvPr id="19" name="Shape 14"/>
          <p:cNvSpPr/>
          <p:nvPr/>
        </p:nvSpPr>
        <p:spPr>
          <a:xfrm>
            <a:off x="6400800" y="4343400"/>
            <a:ext cx="5333695" cy="1874520"/>
          </a:xfrm>
          <a:prstGeom prst="roundRect">
            <a:avLst>
              <a:gd name="adj" fmla="val 4878"/>
            </a:avLst>
          </a:prstGeom>
          <a:solidFill>
            <a:srgbClr val="E8F5E9"/>
          </a:solidFill>
          <a:ln w="12700">
            <a:solidFill>
              <a:srgbClr val="E8F5E9"/>
            </a:solidFill>
            <a:prstDash val="solid"/>
          </a:ln>
        </p:spPr>
      </p:sp>
      <p:sp>
        <p:nvSpPr>
          <p:cNvPr id="20" name="Text 15"/>
          <p:cNvSpPr txBox="1"/>
          <p:nvPr/>
        </p:nvSpPr>
        <p:spPr>
          <a:xfrm>
            <a:off x="6537960" y="4343400"/>
            <a:ext cx="365760" cy="1874520"/>
          </a:xfrm>
          <a:prstGeom prst="rect">
            <a:avLst/>
          </a:prstGeom>
          <a:noFill/>
          <a:ln/>
        </p:spPr>
        <p:txBody>
          <a:bodyPr wrap="square" lIns="0" tIns="0" rIns="0" bIns="0" rtlCol="0" anchor="ctr"/>
          <a:lstStyle/>
          <a:p>
            <a:pPr indent="0" marL="0">
              <a:buNone/>
            </a:pPr>
            <a:r>
              <a:rPr lang="en-US" sz="1800" dirty="0">
                <a:solidFill>
                  <a:srgbClr val="212121"/>
                </a:solidFill>
                <a:latin typeface="맑은 고딕" pitchFamily="34" charset="0"/>
                <a:ea typeface="맑은 고딕" pitchFamily="34" charset="-122"/>
                <a:cs typeface="맑은 고딕" pitchFamily="34" charset="-120"/>
              </a:rPr>
              <a:t>💡</a:t>
            </a:r>
            <a:endParaRPr lang="en-US" sz="1800" dirty="0"/>
          </a:p>
        </p:txBody>
      </p:sp>
      <p:sp>
        <p:nvSpPr>
          <p:cNvPr id="21" name="Text 16"/>
          <p:cNvSpPr txBox="1"/>
          <p:nvPr/>
        </p:nvSpPr>
        <p:spPr>
          <a:xfrm>
            <a:off x="6949440" y="4343400"/>
            <a:ext cx="4647895" cy="1874520"/>
          </a:xfrm>
          <a:prstGeom prst="rect">
            <a:avLst/>
          </a:prstGeom>
          <a:noFill/>
          <a:ln/>
        </p:spPr>
        <p:txBody>
          <a:bodyPr wrap="square" lIns="0" tIns="0" rIns="0" bIns="0" rtlCol="0" anchor="ctr"/>
          <a:lstStyle/>
          <a:p>
            <a:pPr indent="0" marL="0">
              <a:buNone/>
            </a:pPr>
            <a:r>
              <a:rPr lang="en-US" sz="1200" b="1" dirty="0">
                <a:solidFill>
                  <a:srgbClr val="2F4E91"/>
                </a:solidFill>
                <a:latin typeface="맑은 고딕" pitchFamily="34" charset="0"/>
                <a:ea typeface="맑은 고딕" pitchFamily="34" charset="-122"/>
                <a:cs typeface="맑은 고딕" pitchFamily="34" charset="-120"/>
              </a:rPr>
              <a:t>발견  </a:t>
            </a:r>
            <a:endParaRPr lang="en-US" sz="1200" dirty="0"/>
          </a:p>
          <a:p>
            <a:pPr indent="0" marL="0">
              <a:buNone/>
            </a:pPr>
            <a:r>
              <a:rPr lang="en-US" sz="1200" dirty="0">
                <a:solidFill>
                  <a:srgbClr val="212121"/>
                </a:solidFill>
                <a:latin typeface="맑은 고딕" pitchFamily="34" charset="0"/>
                <a:ea typeface="맑은 고딕" pitchFamily="34" charset="-122"/>
                <a:cs typeface="맑은 고딕" pitchFamily="34" charset="-120"/>
              </a:rPr>
              <a:t>제출 방식(한 발화씩 추론)으로 바꾸자 정확도가 떨어졌다. 원인은 학습 때의 배치 패딩과 추론 방식 차이였고, 모든 발화를 자기 자신만으로 같은 길이까지 채우도록 맞춰 회복했다.</a:t>
            </a:r>
            <a:endParaRPr lang="en-US" sz="1200" dirty="0"/>
          </a:p>
        </p:txBody>
      </p:sp>
      <p:sp>
        <p:nvSpPr>
          <p:cNvPr id="22" name="Text 17"/>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docs/experiment_log.md M2-RETRAIN-001, M2-ENS-003, M2-RERUN-001, M2-COMPARE-002, M2-PAD-001·002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13</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신고자/119대원 분류 — 다른 접근과 기각·보류 이유</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CNN 하나로 끝내지 않고 여러 방향을 검증했다. 효과가 없거나 규칙에 어긋난 것은 이유와 함께 기록했다.</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9144000" cy="914400"/>
        </p:xfrm>
        <a:graphic>
          <a:graphicData uri="http://schemas.openxmlformats.org/drawingml/2006/table">
            <a:tbl>
              <a:tblPr/>
              <a:tblGrid>
                <a:gridCol w="4754880"/>
                <a:gridCol w="2194560"/>
                <a:gridCol w="4325112"/>
              </a:tblGrid>
              <a:tr h="548640">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시도</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판정</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이유</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548640">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같은 통화의 다른 발화와 비교하는 특징</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b="1" dirty="0">
                          <a:solidFill>
                            <a:srgbClr val="E53935"/>
                          </a:solidFill>
                          <a:latin typeface="맑은 고딕" pitchFamily="34" charset="0"/>
                          <a:ea typeface="맑은 고딕" pitchFamily="34" charset="-122"/>
                          <a:cs typeface="맑은 고딕" pitchFamily="34" charset="-120"/>
                        </a:rPr>
                        <a:t>✗ 제거</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규칙 위반 소지 (주최 측 답변)</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48640">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text로 고친 라벨로 학습</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b="1" dirty="0">
                          <a:solidFill>
                            <a:srgbClr val="2F4E91"/>
                          </a:solidFill>
                          <a:latin typeface="맑은 고딕" pitchFamily="34" charset="0"/>
                          <a:ea typeface="맑은 고딕" pitchFamily="34" charset="-122"/>
                          <a:cs typeface="맑은 고딕" pitchFamily="34" charset="-120"/>
                        </a:rPr>
                        <a:t>제공 라벨로 재학습</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점수는 거의 그대로</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48640">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통계 모델과 CNN 확률 평균</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b="1" dirty="0">
                          <a:solidFill>
                            <a:srgbClr val="E53935"/>
                          </a:solidFill>
                          <a:latin typeface="맑은 고딕" pitchFamily="34" charset="0"/>
                          <a:ea typeface="맑은 고딕" pitchFamily="34" charset="-122"/>
                          <a:cs typeface="맑은 고딕" pitchFamily="34" charset="-120"/>
                        </a:rPr>
                        <a:t>✗ 기각</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단독 CNN보다 낮음</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48640">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더 큰 CNN / 패딩 제외 풀링 / 길이 입력 / Mixup</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b="1" dirty="0">
                          <a:solidFill>
                            <a:srgbClr val="E53935"/>
                          </a:solidFill>
                          <a:latin typeface="맑은 고딕" pitchFamily="34" charset="0"/>
                          <a:ea typeface="맑은 고딕" pitchFamily="34" charset="-122"/>
                          <a:cs typeface="맑은 고딕" pitchFamily="34" charset="-120"/>
                        </a:rPr>
                        <a:t>✗ 기각</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사전 기준 미달 또는 재현 안 됨</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48640">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WavLM 고정 임베딩 · 기본 미세조정</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b="1" dirty="0">
                          <a:solidFill>
                            <a:srgbClr val="E53935"/>
                          </a:solidFill>
                          <a:latin typeface="맑은 고딕" pitchFamily="34" charset="0"/>
                          <a:ea typeface="맑은 고딕" pitchFamily="34" charset="-122"/>
                          <a:cs typeface="맑은 고딕" pitchFamily="34" charset="-120"/>
                        </a:rPr>
                        <a:t>✗ 기각</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이득 없음, 추론 비용 큼</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48640">
                <a:tc>
                  <a:txBody>
                    <a:bodyPr/>
                    <a:lstStyle/>
                    <a:p>
                      <a:pPr indent="0" marL="0">
                        <a:buNone/>
                      </a:pPr>
                      <a:r>
                        <a:rPr lang="en-US" sz="1300" b="1" dirty="0">
                          <a:solidFill>
                            <a:srgbClr val="212121"/>
                          </a:solidFill>
                          <a:latin typeface="맑은 고딕" pitchFamily="34" charset="0"/>
                          <a:ea typeface="맑은 고딕" pitchFamily="34" charset="-122"/>
                          <a:cs typeface="맑은 고딕" pitchFamily="34" charset="-120"/>
                        </a:rPr>
                        <a:t>WavLM 미세조정 (3초 창·겹침 증강)</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b="1" dirty="0">
                          <a:solidFill>
                            <a:srgbClr val="616161"/>
                          </a:solidFill>
                          <a:latin typeface="맑은 고딕" pitchFamily="34" charset="0"/>
                          <a:ea typeface="맑은 고딕" pitchFamily="34" charset="-122"/>
                          <a:cs typeface="맑은 고딕" pitchFamily="34" charset="-120"/>
                        </a:rPr>
                        <a:t>보류</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공식 평가 진행 중</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0" name="Text 6"/>
          <p:cNvSpPr txBox="1"/>
          <p:nvPr/>
        </p:nvSpPr>
        <p:spPr>
          <a:xfrm>
            <a:off x="457200" y="61722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비교는 Training 내부 통화 단위 홀드아웃 기준 (공식 Val 아님).</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14</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신고자/119대원 분류 — 최종 결과와 보완할 점</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공식 Validation 91.49%. 원본 데이터부터 다시 학습해도 같은 수준이 재현됐다.</a:t>
            </a:r>
            <a:endParaRPr lang="en-US" sz="1500" dirty="0"/>
          </a:p>
        </p:txBody>
      </p:sp>
      <p:sp>
        <p:nvSpPr>
          <p:cNvPr id="9" name="Shape 6"/>
          <p:cNvSpPr/>
          <p:nvPr/>
        </p:nvSpPr>
        <p:spPr>
          <a:xfrm>
            <a:off x="457200" y="2240280"/>
            <a:ext cx="5120640" cy="3977640"/>
          </a:xfrm>
          <a:prstGeom prst="roundRect">
            <a:avLst>
              <a:gd name="adj" fmla="val 2299"/>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Text 7"/>
          <p:cNvSpPr txBox="1"/>
          <p:nvPr/>
        </p:nvSpPr>
        <p:spPr>
          <a:xfrm>
            <a:off x="457200" y="2514600"/>
            <a:ext cx="5120640" cy="685800"/>
          </a:xfrm>
          <a:prstGeom prst="rect">
            <a:avLst/>
          </a:prstGeom>
          <a:noFill/>
          <a:ln/>
        </p:spPr>
        <p:txBody>
          <a:bodyPr wrap="square" lIns="0" tIns="0" rIns="0" bIns="0" rtlCol="0" anchor="ctr"/>
          <a:lstStyle/>
          <a:p>
            <a:pPr algn="ctr" indent="0" marL="0">
              <a:buNone/>
            </a:pPr>
            <a:r>
              <a:rPr lang="en-US" sz="4800" b="1" dirty="0">
                <a:solidFill>
                  <a:srgbClr val="2F4E91"/>
                </a:solidFill>
                <a:latin typeface="맑은 고딕" pitchFamily="34" charset="0"/>
                <a:ea typeface="맑은 고딕" pitchFamily="34" charset="-122"/>
                <a:cs typeface="맑은 고딕" pitchFamily="34" charset="-120"/>
              </a:rPr>
              <a:t>91.49%</a:t>
            </a:r>
            <a:endParaRPr lang="en-US" sz="4800" dirty="0"/>
          </a:p>
        </p:txBody>
      </p:sp>
      <p:sp>
        <p:nvSpPr>
          <p:cNvPr id="11" name="Text 8"/>
          <p:cNvSpPr txBox="1"/>
          <p:nvPr/>
        </p:nvSpPr>
        <p:spPr>
          <a:xfrm>
            <a:off x="457200" y="3227832"/>
            <a:ext cx="5120640" cy="365760"/>
          </a:xfrm>
          <a:prstGeom prst="rect">
            <a:avLst/>
          </a:prstGeom>
          <a:noFill/>
          <a:ln/>
        </p:spPr>
        <p:txBody>
          <a:bodyPr wrap="square" lIns="0" tIns="0" rIns="0" bIns="0" rtlCol="0" anchor="t"/>
          <a:lstStyle/>
          <a:p>
            <a:pPr algn="ctr" indent="0" marL="0">
              <a:buNone/>
            </a:pPr>
            <a:r>
              <a:rPr lang="en-US" sz="1200" dirty="0">
                <a:solidFill>
                  <a:srgbClr val="616161"/>
                </a:solidFill>
                <a:latin typeface="맑은 고딕" pitchFamily="34" charset="0"/>
                <a:ea typeface="맑은 고딕" pitchFamily="34" charset="-122"/>
                <a:cs typeface="맑은 고딕" pitchFamily="34" charset="-120"/>
              </a:rPr>
              <a:t>Accuracy (공식 Validation)</a:t>
            </a:r>
            <a:endParaRPr lang="en-US" sz="1200" dirty="0"/>
          </a:p>
        </p:txBody>
      </p:sp>
      <p:sp>
        <p:nvSpPr>
          <p:cNvPr id="12" name="Shape 9"/>
          <p:cNvSpPr/>
          <p:nvPr/>
        </p:nvSpPr>
        <p:spPr>
          <a:xfrm>
            <a:off x="822960" y="3886200"/>
            <a:ext cx="4389120" cy="0"/>
          </a:xfrm>
          <a:prstGeom prst="line">
            <a:avLst/>
          </a:prstGeom>
          <a:noFill/>
          <a:ln w="12700">
            <a:solidFill>
              <a:srgbClr val="E0E0E0"/>
            </a:solidFill>
            <a:prstDash val="solid"/>
          </a:ln>
        </p:spPr>
      </p:sp>
      <p:sp>
        <p:nvSpPr>
          <p:cNvPr id="13" name="Text 10"/>
          <p:cNvSpPr txBox="1"/>
          <p:nvPr/>
        </p:nvSpPr>
        <p:spPr>
          <a:xfrm>
            <a:off x="822960" y="4069080"/>
            <a:ext cx="1828800" cy="320040"/>
          </a:xfrm>
          <a:prstGeom prst="rect">
            <a:avLst/>
          </a:prstGeom>
          <a:noFill/>
          <a:ln/>
        </p:spPr>
        <p:txBody>
          <a:bodyPr wrap="square" lIns="0" tIns="0" rIns="0" bIns="0" rtlCol="0" anchor="ctr"/>
          <a:lstStyle/>
          <a:p>
            <a:pPr indent="0" marL="0">
              <a:buNone/>
            </a:pPr>
            <a:r>
              <a:rPr lang="en-US" sz="1300" b="1" dirty="0">
                <a:solidFill>
                  <a:srgbClr val="616161"/>
                </a:solidFill>
                <a:latin typeface="맑은 고딕" pitchFamily="34" charset="0"/>
                <a:ea typeface="맑은 고딕" pitchFamily="34" charset="-122"/>
                <a:cs typeface="맑은 고딕" pitchFamily="34" charset="-120"/>
              </a:rPr>
              <a:t>대원 recall</a:t>
            </a:r>
            <a:endParaRPr lang="en-US" sz="1300" dirty="0"/>
          </a:p>
        </p:txBody>
      </p:sp>
      <p:sp>
        <p:nvSpPr>
          <p:cNvPr id="14" name="Text 11"/>
          <p:cNvSpPr txBox="1"/>
          <p:nvPr/>
        </p:nvSpPr>
        <p:spPr>
          <a:xfrm>
            <a:off x="3566160" y="4069080"/>
            <a:ext cx="1645920" cy="320040"/>
          </a:xfrm>
          <a:prstGeom prst="rect">
            <a:avLst/>
          </a:prstGeom>
          <a:noFill/>
          <a:ln/>
        </p:spPr>
        <p:txBody>
          <a:bodyPr wrap="square" lIns="0" tIns="0" rIns="0" bIns="0" rtlCol="0" anchor="ctr"/>
          <a:lstStyle/>
          <a:p>
            <a:pPr algn="r" indent="0" marL="0">
              <a:buNone/>
            </a:pPr>
            <a:r>
              <a:rPr lang="en-US" sz="2000" b="1" dirty="0">
                <a:solidFill>
                  <a:srgbClr val="E53935"/>
                </a:solidFill>
                <a:latin typeface="맑은 고딕" pitchFamily="34" charset="0"/>
                <a:ea typeface="맑은 고딕" pitchFamily="34" charset="-122"/>
                <a:cs typeface="맑은 고딕" pitchFamily="34" charset="-120"/>
              </a:rPr>
              <a:t>87.15%</a:t>
            </a:r>
            <a:endParaRPr lang="en-US" sz="2000" dirty="0"/>
          </a:p>
        </p:txBody>
      </p:sp>
      <p:sp>
        <p:nvSpPr>
          <p:cNvPr id="15" name="Shape 12"/>
          <p:cNvSpPr/>
          <p:nvPr/>
        </p:nvSpPr>
        <p:spPr>
          <a:xfrm>
            <a:off x="822960" y="4453128"/>
            <a:ext cx="4389120" cy="201168"/>
          </a:xfrm>
          <a:prstGeom prst="roundRect">
            <a:avLst>
              <a:gd name="adj" fmla="val 45455"/>
            </a:avLst>
          </a:prstGeom>
          <a:solidFill>
            <a:srgbClr val="E0E0E0"/>
          </a:solidFill>
          <a:ln w="12700">
            <a:solidFill>
              <a:srgbClr val="E0E0E0"/>
            </a:solidFill>
            <a:prstDash val="solid"/>
          </a:ln>
        </p:spPr>
      </p:sp>
      <p:sp>
        <p:nvSpPr>
          <p:cNvPr id="16" name="Shape 13"/>
          <p:cNvSpPr/>
          <p:nvPr/>
        </p:nvSpPr>
        <p:spPr>
          <a:xfrm>
            <a:off x="822960" y="4453128"/>
            <a:ext cx="3825118" cy="201168"/>
          </a:xfrm>
          <a:prstGeom prst="roundRect">
            <a:avLst>
              <a:gd name="adj" fmla="val 45455"/>
            </a:avLst>
          </a:prstGeom>
          <a:solidFill>
            <a:srgbClr val="E53935"/>
          </a:solidFill>
          <a:ln w="12700">
            <a:solidFill>
              <a:srgbClr val="E53935"/>
            </a:solidFill>
            <a:prstDash val="solid"/>
          </a:ln>
        </p:spPr>
      </p:sp>
      <p:sp>
        <p:nvSpPr>
          <p:cNvPr id="17" name="Text 14"/>
          <p:cNvSpPr txBox="1"/>
          <p:nvPr/>
        </p:nvSpPr>
        <p:spPr>
          <a:xfrm>
            <a:off x="822960" y="5029200"/>
            <a:ext cx="1828800" cy="320040"/>
          </a:xfrm>
          <a:prstGeom prst="rect">
            <a:avLst/>
          </a:prstGeom>
          <a:noFill/>
          <a:ln/>
        </p:spPr>
        <p:txBody>
          <a:bodyPr wrap="square" lIns="0" tIns="0" rIns="0" bIns="0" rtlCol="0" anchor="ctr"/>
          <a:lstStyle/>
          <a:p>
            <a:pPr indent="0" marL="0">
              <a:buNone/>
            </a:pPr>
            <a:r>
              <a:rPr lang="en-US" sz="1300" b="1" dirty="0">
                <a:solidFill>
                  <a:srgbClr val="616161"/>
                </a:solidFill>
                <a:latin typeface="맑은 고딕" pitchFamily="34" charset="0"/>
                <a:ea typeface="맑은 고딕" pitchFamily="34" charset="-122"/>
                <a:cs typeface="맑은 고딕" pitchFamily="34" charset="-120"/>
              </a:rPr>
              <a:t>신고자 recall</a:t>
            </a:r>
            <a:endParaRPr lang="en-US" sz="1300" dirty="0"/>
          </a:p>
        </p:txBody>
      </p:sp>
      <p:sp>
        <p:nvSpPr>
          <p:cNvPr id="18" name="Text 15"/>
          <p:cNvSpPr txBox="1"/>
          <p:nvPr/>
        </p:nvSpPr>
        <p:spPr>
          <a:xfrm>
            <a:off x="3566160" y="5029200"/>
            <a:ext cx="1645920" cy="320040"/>
          </a:xfrm>
          <a:prstGeom prst="rect">
            <a:avLst/>
          </a:prstGeom>
          <a:noFill/>
          <a:ln/>
        </p:spPr>
        <p:txBody>
          <a:bodyPr wrap="square" lIns="0" tIns="0" rIns="0" bIns="0" rtlCol="0" anchor="ctr"/>
          <a:lstStyle/>
          <a:p>
            <a:pPr algn="r" indent="0" marL="0">
              <a:buNone/>
            </a:pPr>
            <a:r>
              <a:rPr lang="en-US" sz="2000" b="1" dirty="0">
                <a:solidFill>
                  <a:srgbClr val="009DDA"/>
                </a:solidFill>
                <a:latin typeface="맑은 고딕" pitchFamily="34" charset="0"/>
                <a:ea typeface="맑은 고딕" pitchFamily="34" charset="-122"/>
                <a:cs typeface="맑은 고딕" pitchFamily="34" charset="-120"/>
              </a:rPr>
              <a:t>95.51%</a:t>
            </a:r>
            <a:endParaRPr lang="en-US" sz="2000" dirty="0"/>
          </a:p>
        </p:txBody>
      </p:sp>
      <p:sp>
        <p:nvSpPr>
          <p:cNvPr id="19" name="Shape 16"/>
          <p:cNvSpPr/>
          <p:nvPr/>
        </p:nvSpPr>
        <p:spPr>
          <a:xfrm>
            <a:off x="822960" y="5413248"/>
            <a:ext cx="4389120" cy="201168"/>
          </a:xfrm>
          <a:prstGeom prst="roundRect">
            <a:avLst>
              <a:gd name="adj" fmla="val 45455"/>
            </a:avLst>
          </a:prstGeom>
          <a:solidFill>
            <a:srgbClr val="E0E0E0"/>
          </a:solidFill>
          <a:ln w="12700">
            <a:solidFill>
              <a:srgbClr val="E0E0E0"/>
            </a:solidFill>
            <a:prstDash val="solid"/>
          </a:ln>
        </p:spPr>
      </p:sp>
      <p:sp>
        <p:nvSpPr>
          <p:cNvPr id="20" name="Shape 17"/>
          <p:cNvSpPr/>
          <p:nvPr/>
        </p:nvSpPr>
        <p:spPr>
          <a:xfrm>
            <a:off x="822960" y="5413248"/>
            <a:ext cx="4192049" cy="201168"/>
          </a:xfrm>
          <a:prstGeom prst="roundRect">
            <a:avLst>
              <a:gd name="adj" fmla="val 45455"/>
            </a:avLst>
          </a:prstGeom>
          <a:solidFill>
            <a:srgbClr val="009DDA"/>
          </a:solidFill>
          <a:ln w="12700">
            <a:solidFill>
              <a:srgbClr val="009DDA"/>
            </a:solidFill>
            <a:prstDash val="solid"/>
          </a:ln>
        </p:spPr>
      </p:sp>
      <p:sp>
        <p:nvSpPr>
          <p:cNvPr id="21" name="Shape 18"/>
          <p:cNvSpPr/>
          <p:nvPr/>
        </p:nvSpPr>
        <p:spPr>
          <a:xfrm>
            <a:off x="5852160" y="2240280"/>
            <a:ext cx="5882335" cy="1463040"/>
          </a:xfrm>
          <a:prstGeom prst="roundRect">
            <a:avLst>
              <a:gd name="adj" fmla="val 6250"/>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22" name="Text 19"/>
          <p:cNvSpPr txBox="1"/>
          <p:nvPr/>
        </p:nvSpPr>
        <p:spPr>
          <a:xfrm>
            <a:off x="6080760" y="2377440"/>
            <a:ext cx="5425135" cy="329184"/>
          </a:xfrm>
          <a:prstGeom prst="rect">
            <a:avLst/>
          </a:prstGeom>
          <a:noFill/>
          <a:ln/>
        </p:spPr>
        <p:txBody>
          <a:bodyPr wrap="square" lIns="0" tIns="0" rIns="0" bIns="0" rtlCol="0" anchor="t"/>
          <a:lstStyle/>
          <a:p>
            <a:pPr indent="0" marL="0">
              <a:buNone/>
            </a:pPr>
            <a:r>
              <a:rPr lang="en-US" sz="1600" b="1" dirty="0">
                <a:solidFill>
                  <a:srgbClr val="2F4E91"/>
                </a:solidFill>
                <a:latin typeface="맑은 고딕" pitchFamily="34" charset="0"/>
                <a:ea typeface="맑은 고딕" pitchFamily="34" charset="-122"/>
                <a:cs typeface="맑은 고딕" pitchFamily="34" charset="-120"/>
              </a:rPr>
              <a:t>■ 재현성</a:t>
            </a:r>
            <a:endParaRPr lang="en-US" sz="1600" dirty="0"/>
          </a:p>
        </p:txBody>
      </p:sp>
      <p:sp>
        <p:nvSpPr>
          <p:cNvPr id="23" name="Text 20"/>
          <p:cNvSpPr txBox="1"/>
          <p:nvPr/>
        </p:nvSpPr>
        <p:spPr>
          <a:xfrm>
            <a:off x="6080760" y="2788920"/>
            <a:ext cx="5425135" cy="822960"/>
          </a:xfrm>
          <a:prstGeom prst="rect">
            <a:avLst/>
          </a:prstGeom>
          <a:noFill/>
          <a:ln/>
        </p:spPr>
        <p:txBody>
          <a:bodyPr wrap="square" lIns="0" tIns="0" rIns="0" bIns="0" rtlCol="0" anchor="t"/>
          <a:lstStyle/>
          <a:p>
            <a:pPr indent="0" marL="0">
              <a:buNone/>
            </a:pPr>
            <a:r>
              <a:rPr lang="en-US" sz="1400" dirty="0">
                <a:solidFill>
                  <a:srgbClr val="212121"/>
                </a:solidFill>
                <a:latin typeface="맑은 고딕" pitchFamily="34" charset="0"/>
                <a:ea typeface="맑은 고딕" pitchFamily="34" charset="-122"/>
                <a:cs typeface="맑은 고딕" pitchFamily="34" charset="-120"/>
              </a:rPr>
              <a:t>원본부터 다시 학습해도 같은 수준(91.49%)</a:t>
            </a:r>
            <a:endParaRPr lang="en-US" sz="1400" dirty="0"/>
          </a:p>
        </p:txBody>
      </p:sp>
      <p:sp>
        <p:nvSpPr>
          <p:cNvPr id="24" name="Shape 21"/>
          <p:cNvSpPr/>
          <p:nvPr/>
        </p:nvSpPr>
        <p:spPr>
          <a:xfrm>
            <a:off x="5852160" y="3840480"/>
            <a:ext cx="5882335" cy="2377440"/>
          </a:xfrm>
          <a:prstGeom prst="roundRect">
            <a:avLst>
              <a:gd name="adj" fmla="val 3846"/>
            </a:avLst>
          </a:prstGeom>
          <a:solidFill>
            <a:srgbClr val="F8F9FA"/>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25" name="Text 22"/>
          <p:cNvSpPr txBox="1"/>
          <p:nvPr/>
        </p:nvSpPr>
        <p:spPr>
          <a:xfrm>
            <a:off x="6080760" y="3977640"/>
            <a:ext cx="5425135" cy="329184"/>
          </a:xfrm>
          <a:prstGeom prst="rect">
            <a:avLst/>
          </a:prstGeom>
          <a:noFill/>
          <a:ln/>
        </p:spPr>
        <p:txBody>
          <a:bodyPr wrap="square" lIns="0" tIns="0" rIns="0" bIns="0" rtlCol="0" anchor="t"/>
          <a:lstStyle/>
          <a:p>
            <a:pPr indent="0" marL="0">
              <a:buNone/>
            </a:pPr>
            <a:r>
              <a:rPr lang="en-US" sz="1600" b="1" dirty="0">
                <a:solidFill>
                  <a:srgbClr val="2F4E91"/>
                </a:solidFill>
                <a:latin typeface="맑은 고딕" pitchFamily="34" charset="0"/>
                <a:ea typeface="맑은 고딕" pitchFamily="34" charset="-122"/>
                <a:cs typeface="맑은 고딕" pitchFamily="34" charset="-120"/>
              </a:rPr>
              <a:t>■ 보완할 점</a:t>
            </a:r>
            <a:endParaRPr lang="en-US" sz="1600" dirty="0"/>
          </a:p>
        </p:txBody>
      </p:sp>
      <p:sp>
        <p:nvSpPr>
          <p:cNvPr id="26" name="Text 23"/>
          <p:cNvSpPr txBox="1"/>
          <p:nvPr/>
        </p:nvSpPr>
        <p:spPr>
          <a:xfrm>
            <a:off x="6080760" y="4389120"/>
            <a:ext cx="5425135" cy="1737360"/>
          </a:xfrm>
          <a:prstGeom prst="rect">
            <a:avLst/>
          </a:prstGeom>
          <a:noFill/>
          <a:ln/>
        </p:spPr>
        <p:txBody>
          <a:bodyPr wrap="square" lIns="0" tIns="0" rIns="0" bIns="0" rtlCol="0" anchor="t"/>
          <a:lstStyle/>
          <a:p>
            <a:pPr indent="0" marL="0">
              <a:buNone/>
            </a:pPr>
            <a:r>
              <a:rPr lang="en-US" sz="1400" dirty="0">
                <a:solidFill>
                  <a:srgbClr val="212121"/>
                </a:solidFill>
                <a:latin typeface="맑은 고딕" pitchFamily="34" charset="0"/>
                <a:ea typeface="맑은 고딕" pitchFamily="34" charset="-122"/>
                <a:cs typeface="맑은 고딕" pitchFamily="34" charset="-120"/>
              </a:rPr>
              <a:t>대원 recall이 더 낮다.</a:t>
            </a:r>
            <a:endParaRPr lang="en-US" sz="1400" dirty="0"/>
          </a:p>
          <a:p>
            <a:pPr indent="0" marL="0">
              <a:buNone/>
            </a:pPr>
            <a:r>
              <a:rPr lang="en-US" sz="1400" dirty="0">
                <a:solidFill>
                  <a:srgbClr val="212121"/>
                </a:solidFill>
                <a:latin typeface="맑은 고딕" pitchFamily="34" charset="0"/>
                <a:ea typeface="맑은 고딕" pitchFamily="34" charset="-122"/>
                <a:cs typeface="맑은 고딕" pitchFamily="34" charset="-120"/>
              </a:rPr>
              <a:t>"네", "여보세요" 같은 짧은 응답은 두 화자가 비슷하게 들리고, 규칙상 통화 맥락을 쓸 수 없다.</a:t>
            </a:r>
            <a:endParaRPr lang="en-US" sz="1400" dirty="0"/>
          </a:p>
        </p:txBody>
      </p:sp>
      <p:sp>
        <p:nvSpPr>
          <p:cNvPr id="27" name="Text 24"/>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submission/mission2/README.md, docs/experiment_log.md M2-RERUN-001·M2-ENS-003·M2-RETRAIN-001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15</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처음 기준선: MFCC로 발화 요약</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먼저 발화 하나에서 목소리 특징을 뽑고, 신고자와 119대원을 구분하는 기준을 만들었습니다</a:t>
            </a:r>
            <a:endParaRPr lang="en-US" sz="1500" dirty="0"/>
          </a:p>
        </p:txBody>
      </p:sp>
      <p:sp>
        <p:nvSpPr>
          <p:cNvPr id="9" name="Shape 6"/>
          <p:cNvSpPr/>
          <p:nvPr/>
        </p:nvSpPr>
        <p:spPr>
          <a:xfrm>
            <a:off x="457200" y="2286000"/>
            <a:ext cx="5478628" cy="3566160"/>
          </a:xfrm>
          <a:prstGeom prst="roundRect">
            <a:avLst>
              <a:gd name="adj" fmla="val 2564"/>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Shape 7"/>
          <p:cNvSpPr/>
          <p:nvPr/>
        </p:nvSpPr>
        <p:spPr>
          <a:xfrm>
            <a:off x="6255868" y="2286000"/>
            <a:ext cx="5478628" cy="3566160"/>
          </a:xfrm>
          <a:prstGeom prst="roundRect">
            <a:avLst>
              <a:gd name="adj" fmla="val 2564"/>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1" name="Text 8"/>
          <p:cNvSpPr txBox="1"/>
          <p:nvPr/>
        </p:nvSpPr>
        <p:spPr>
          <a:xfrm>
            <a:off x="685800" y="2514600"/>
            <a:ext cx="5021428" cy="347472"/>
          </a:xfrm>
          <a:prstGeom prst="rect">
            <a:avLst/>
          </a:prstGeom>
          <a:noFill/>
          <a:ln/>
        </p:spPr>
        <p:txBody>
          <a:bodyPr wrap="square" lIns="0" tIns="0" rIns="0" bIns="0" rtlCol="0" anchor="t"/>
          <a:lstStyle/>
          <a:p>
            <a:pPr indent="0" marL="0">
              <a:buNone/>
            </a:pPr>
            <a:r>
              <a:rPr lang="en-US" sz="1800" b="1" dirty="0">
                <a:solidFill>
                  <a:srgbClr val="2F4E91"/>
                </a:solidFill>
                <a:latin typeface="맑은 고딕" pitchFamily="34" charset="0"/>
                <a:ea typeface="맑은 고딕" pitchFamily="34" charset="-122"/>
                <a:cs typeface="맑은 고딕" pitchFamily="34" charset="-120"/>
              </a:rPr>
              <a:t>무엇을 숫자로 바꿨나</a:t>
            </a:r>
            <a:endParaRPr lang="en-US" sz="1800" dirty="0"/>
          </a:p>
        </p:txBody>
      </p:sp>
      <p:sp>
        <p:nvSpPr>
          <p:cNvPr id="12" name="Text 9"/>
          <p:cNvSpPr txBox="1"/>
          <p:nvPr/>
        </p:nvSpPr>
        <p:spPr>
          <a:xfrm>
            <a:off x="713232" y="3063240"/>
            <a:ext cx="4966564" cy="2286000"/>
          </a:xfrm>
          <a:prstGeom prst="rect">
            <a:avLst/>
          </a:prstGeom>
          <a:noFill/>
          <a:ln/>
        </p:spPr>
        <p:txBody>
          <a:bodyPr wrap="square" lIns="0" tIns="0" rIns="0" bIns="0" rtlCol="0" anchor="t"/>
          <a:lstStyle/>
          <a:p>
            <a:pPr indent="0" marL="0">
              <a:spcAft>
                <a:spcPts val="700"/>
              </a:spcAft>
              <a:buNone/>
            </a:pPr>
            <a:r>
              <a:rPr lang="en-US" sz="1500" b="1" dirty="0">
                <a:solidFill>
                  <a:srgbClr val="212121"/>
                </a:solidFill>
                <a:latin typeface="맑은 고딕" pitchFamily="34" charset="0"/>
                <a:ea typeface="맑은 고딕" pitchFamily="34" charset="-122"/>
                <a:cs typeface="맑은 고딕" pitchFamily="34" charset="-120"/>
              </a:rPr>
              <a:t>전화 음성 한 발화를 입력으로 사용</a:t>
            </a:r>
            <a:endParaRPr lang="en-US" sz="1500" dirty="0"/>
          </a:p>
          <a:p>
            <a:pPr indent="0" marL="0">
              <a:spcAft>
                <a:spcPts val="700"/>
              </a:spcAft>
              <a:buNone/>
            </a:pPr>
            <a:r>
              <a:rPr lang="en-US" sz="1500" dirty="0">
                <a:solidFill>
                  <a:srgbClr val="212121"/>
                </a:solidFill>
                <a:latin typeface="맑은 고딕" pitchFamily="34" charset="0"/>
                <a:ea typeface="맑은 고딕" pitchFamily="34" charset="-122"/>
                <a:cs typeface="맑은 고딕" pitchFamily="34" charset="-120"/>
              </a:rPr>
              <a:t>MFCC는 소리의 음색·주파수 모양을 간단한 숫자로 요약합니다.</a:t>
            </a:r>
            <a:endParaRPr lang="en-US" sz="1500" dirty="0"/>
          </a:p>
          <a:p>
            <a:pPr indent="0" marL="0">
              <a:spcAft>
                <a:spcPts val="700"/>
              </a:spcAft>
              <a:buNone/>
            </a:pPr>
            <a:r>
              <a:rPr lang="en-US" sz="1500" dirty="0">
                <a:solidFill>
                  <a:srgbClr val="212121"/>
                </a:solidFill>
                <a:latin typeface="맑은 고딕" pitchFamily="34" charset="0"/>
                <a:ea typeface="맑은 고딕" pitchFamily="34" charset="-122"/>
                <a:cs typeface="맑은 고딕" pitchFamily="34" charset="-120"/>
              </a:rPr>
              <a:t>20개 계수의 평균과 표준편차를 붙여 발화마다 40개 숫자를 만들었습니다.</a:t>
            </a:r>
            <a:endParaRPr lang="en-US" sz="1500" dirty="0"/>
          </a:p>
        </p:txBody>
      </p:sp>
      <p:sp>
        <p:nvSpPr>
          <p:cNvPr id="13" name="Text 10"/>
          <p:cNvSpPr txBox="1"/>
          <p:nvPr/>
        </p:nvSpPr>
        <p:spPr>
          <a:xfrm>
            <a:off x="6484468" y="2514600"/>
            <a:ext cx="5021428" cy="347472"/>
          </a:xfrm>
          <a:prstGeom prst="rect">
            <a:avLst/>
          </a:prstGeom>
          <a:noFill/>
          <a:ln/>
        </p:spPr>
        <p:txBody>
          <a:bodyPr wrap="square" lIns="0" tIns="0" rIns="0" bIns="0" rtlCol="0" anchor="t"/>
          <a:lstStyle/>
          <a:p>
            <a:pPr indent="0" marL="0">
              <a:buNone/>
            </a:pPr>
            <a:r>
              <a:rPr lang="en-US" sz="1800" b="1" dirty="0">
                <a:solidFill>
                  <a:srgbClr val="2F4E91"/>
                </a:solidFill>
                <a:latin typeface="맑은 고딕" pitchFamily="34" charset="0"/>
                <a:ea typeface="맑은 고딕" pitchFamily="34" charset="-122"/>
                <a:cs typeface="맑은 고딕" pitchFamily="34" charset="-120"/>
              </a:rPr>
              <a:t>첫 기준선 결과</a:t>
            </a:r>
            <a:endParaRPr lang="en-US" sz="1800" dirty="0"/>
          </a:p>
        </p:txBody>
      </p:sp>
      <p:sp>
        <p:nvSpPr>
          <p:cNvPr id="14" name="Text 11"/>
          <p:cNvSpPr txBox="1"/>
          <p:nvPr/>
        </p:nvSpPr>
        <p:spPr>
          <a:xfrm>
            <a:off x="6438748" y="2971800"/>
            <a:ext cx="5112868" cy="685800"/>
          </a:xfrm>
          <a:prstGeom prst="rect">
            <a:avLst/>
          </a:prstGeom>
          <a:noFill/>
          <a:ln/>
        </p:spPr>
        <p:txBody>
          <a:bodyPr wrap="square" lIns="0" tIns="0" rIns="0" bIns="0" rtlCol="0" anchor="ctr"/>
          <a:lstStyle/>
          <a:p>
            <a:pPr algn="ctr" indent="0" marL="0">
              <a:buNone/>
            </a:pPr>
            <a:r>
              <a:rPr lang="en-US" sz="3600" b="1" dirty="0">
                <a:solidFill>
                  <a:srgbClr val="2F4E91"/>
                </a:solidFill>
                <a:latin typeface="맑은 고딕" pitchFamily="34" charset="0"/>
                <a:ea typeface="맑은 고딕" pitchFamily="34" charset="-122"/>
                <a:cs typeface="맑은 고딕" pitchFamily="34" charset="-120"/>
              </a:rPr>
              <a:t>80.91%</a:t>
            </a:r>
            <a:endParaRPr lang="en-US" sz="3600" dirty="0"/>
          </a:p>
        </p:txBody>
      </p:sp>
      <p:sp>
        <p:nvSpPr>
          <p:cNvPr id="15" name="Text 12"/>
          <p:cNvSpPr txBox="1"/>
          <p:nvPr/>
        </p:nvSpPr>
        <p:spPr>
          <a:xfrm>
            <a:off x="6438748" y="3685032"/>
            <a:ext cx="5112868" cy="365760"/>
          </a:xfrm>
          <a:prstGeom prst="rect">
            <a:avLst/>
          </a:prstGeom>
          <a:noFill/>
          <a:ln/>
        </p:spPr>
        <p:txBody>
          <a:bodyPr wrap="square" lIns="0" tIns="0" rIns="0" bIns="0" rtlCol="0" anchor="t"/>
          <a:lstStyle/>
          <a:p>
            <a:pPr algn="ctr" indent="0" marL="0">
              <a:buNone/>
            </a:pPr>
            <a:r>
              <a:rPr lang="en-US" sz="1200" dirty="0">
                <a:solidFill>
                  <a:srgbClr val="616161"/>
                </a:solidFill>
                <a:latin typeface="맑은 고딕" pitchFamily="34" charset="0"/>
                <a:ea typeface="맑은 고딕" pitchFamily="34" charset="-122"/>
                <a:cs typeface="맑은 고딕" pitchFamily="34" charset="-120"/>
              </a:rPr>
              <a:t>초기 공식 검증 정확도</a:t>
            </a:r>
            <a:endParaRPr lang="en-US" sz="1200" dirty="0"/>
          </a:p>
        </p:txBody>
      </p:sp>
      <p:sp>
        <p:nvSpPr>
          <p:cNvPr id="16" name="Text 13"/>
          <p:cNvSpPr txBox="1"/>
          <p:nvPr/>
        </p:nvSpPr>
        <p:spPr>
          <a:xfrm>
            <a:off x="6530188" y="4343400"/>
            <a:ext cx="4929988" cy="822960"/>
          </a:xfrm>
          <a:prstGeom prst="rect">
            <a:avLst/>
          </a:prstGeom>
          <a:noFill/>
          <a:ln/>
        </p:spPr>
        <p:txBody>
          <a:bodyPr wrap="square" lIns="0" tIns="0" rIns="0" bIns="0" rtlCol="0" anchor="ctr"/>
          <a:lstStyle/>
          <a:p>
            <a:pPr algn="ctr" indent="0" marL="0">
              <a:buNone/>
            </a:pPr>
            <a:r>
              <a:rPr lang="en-US" sz="1400" dirty="0">
                <a:solidFill>
                  <a:srgbClr val="212121"/>
                </a:solidFill>
                <a:latin typeface="맑은 고딕" pitchFamily="34" charset="0"/>
                <a:ea typeface="맑은 고딕" pitchFamily="34" charset="-122"/>
                <a:cs typeface="맑은 고딕" pitchFamily="34" charset="-120"/>
              </a:rPr>
              <a:t>이 점수를 이후의 간단한 음향 특징이 얼마나 보완하는지 확인하는 출발점으로 삼았습니다.</a:t>
            </a:r>
            <a:endParaRPr lang="en-US" sz="1400" dirty="0"/>
          </a:p>
        </p:txBody>
      </p:sp>
      <p:sp>
        <p:nvSpPr>
          <p:cNvPr id="17" name="Text 14"/>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§1, §2 (초기 Official Validation 결과)</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16</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간단한 음향 정보도 보탬이 될까?</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발화 길이와 주파수 특징을 하나씩 더해 보고, 함께 쓸 만한 조합을 골랐습니다</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30352" y="2212848"/>
          <a:ext cx="9144000" cy="914400"/>
        </p:xfrm>
        <a:graphic>
          <a:graphicData uri="http://schemas.openxmlformats.org/drawingml/2006/table">
            <a:tbl>
              <a:tblPr/>
              <a:tblGrid>
                <a:gridCol w="2423160"/>
                <a:gridCol w="3749040"/>
                <a:gridCol w="4709160"/>
              </a:tblGrid>
              <a:tr h="530352">
                <a:tc>
                  <a:txBody>
                    <a:bodyPr/>
                    <a:lstStyle/>
                    <a:p>
                      <a:pPr algn="ctr" indent="0" marL="0">
                        <a:buNone/>
                      </a:pPr>
                      <a:r>
                        <a:rPr lang="en-US" sz="1070" b="1" dirty="0">
                          <a:solidFill>
                            <a:srgbClr val="FFFFFF"/>
                          </a:solidFill>
                          <a:latin typeface="맑은 고딕" pitchFamily="34" charset="0"/>
                          <a:ea typeface="맑은 고딕" pitchFamily="34" charset="-122"/>
                          <a:cs typeface="맑은 고딕" pitchFamily="34" charset="-120"/>
                        </a:rPr>
                        <a:t>추가한 정보</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070" b="1" dirty="0">
                          <a:solidFill>
                            <a:srgbClr val="FFFFFF"/>
                          </a:solidFill>
                          <a:latin typeface="맑은 고딕" pitchFamily="34" charset="0"/>
                          <a:ea typeface="맑은 고딕" pitchFamily="34" charset="-122"/>
                          <a:cs typeface="맑은 고딕" pitchFamily="34" charset="-120"/>
                        </a:rPr>
                        <a:t>왜 확인했나</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070" b="1" dirty="0">
                          <a:solidFill>
                            <a:srgbClr val="FFFFFF"/>
                          </a:solidFill>
                          <a:latin typeface="맑은 고딕" pitchFamily="34" charset="0"/>
                          <a:ea typeface="맑은 고딕" pitchFamily="34" charset="-122"/>
                          <a:cs typeface="맑은 고딕" pitchFamily="34" charset="-120"/>
                        </a:rPr>
                        <a:t>공식 검증 정확도와 판단</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530352">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발화 길이</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짧고 긴 발화의 차이를 보완</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80.91% → 80.91%, 사실상 변화 없음 · 제외</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고주파 경계(rolloff)</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에너지가 어느 주파수까지 퍼지는지 확인</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81.15% (+0.24%p vs E00) · 단일 추가 중 최대 개선</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영교차율(ZCR)</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마찰음·무성음 단서를 보완</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81.01% (+0.10%p) · 단독 이득은 작아 조합 확인</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스펙트럼 중심(centroid)</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소리의 무게중심 주파수 확인</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81.05% (+0.14%p); 두 Recall은 상승했지만 HCE 2,086→2,102 · 미승격</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070" b="1" dirty="0">
                          <a:solidFill>
                            <a:srgbClr val="2F4E91"/>
                          </a:solidFill>
                          <a:latin typeface="맑은 고딕" pitchFamily="34" charset="0"/>
                          <a:ea typeface="맑은 고딕" pitchFamily="34" charset="-122"/>
                          <a:cs typeface="맑은 고딕" pitchFamily="34" charset="-120"/>
                        </a:rPr>
                        <a:t>rolloff + ZCR</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두 정보가 서로 보완되는지 확인</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b="1" dirty="0">
                          <a:solidFill>
                            <a:srgbClr val="2F4E91"/>
                          </a:solidFill>
                          <a:latin typeface="맑은 고딕" pitchFamily="34" charset="0"/>
                          <a:ea typeface="맑은 고딕" pitchFamily="34" charset="-122"/>
                          <a:cs typeface="맑은 고딕" pitchFamily="34" charset="-120"/>
                        </a:rPr>
                        <a:t>81.31% (+0.40%p vs E00) · 둘 다 든 E05 42D를 다음 모델 비교에 사용</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0" name="Text 6"/>
          <p:cNvSpPr txBox="1"/>
          <p:nvPr/>
        </p:nvSpPr>
        <p:spPr>
          <a:xfrm>
            <a:off x="548640" y="5486400"/>
            <a:ext cx="11094415" cy="502920"/>
          </a:xfrm>
          <a:prstGeom prst="rect">
            <a:avLst/>
          </a:prstGeom>
          <a:noFill/>
          <a:ln/>
        </p:spPr>
        <p:txBody>
          <a:bodyPr wrap="square" lIns="0" tIns="0" rIns="0" bIns="0" rtlCol="0" anchor="t"/>
          <a:lstStyle/>
          <a:p>
            <a:pPr algn="ctr" indent="0" marL="0">
              <a:buNone/>
            </a:pPr>
            <a:r>
              <a:rPr lang="en-US" sz="1080" dirty="0">
                <a:solidFill>
                  <a:srgbClr val="616161"/>
                </a:solidFill>
                <a:latin typeface="맑은 고딕" pitchFamily="34" charset="0"/>
                <a:ea typeface="맑은 고딕" pitchFamily="34" charset="-122"/>
                <a:cs typeface="맑은 고딕" pitchFamily="34" charset="-120"/>
              </a:rPr>
              <a:t>E05는 두 특징이 함께 든 후속 모델 비교용 표현입니다. 최종 모델 채택을 뜻하지 않습니다. E02–E04는 저장 Notebook 출력 없이 Markdown 기록만 남아 있습니다.</a:t>
            </a:r>
            <a:endParaRPr lang="en-US" sz="1080" dirty="0"/>
          </a:p>
        </p:txBody>
      </p:sp>
      <p:sp>
        <p:nvSpPr>
          <p:cNvPr id="11" name="Text 7"/>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§2, §9.3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17</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같은 특징도 모델에 따라 달라질까?</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42개 입력은 고정하고 분류 방법을 바꾸자, 작은 모델보다 MLP가 높은 정확도를 보였습니다</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9144000" cy="914400"/>
        </p:xfrm>
        <a:graphic>
          <a:graphicData uri="http://schemas.openxmlformats.org/drawingml/2006/table">
            <a:tbl>
              <a:tblPr/>
              <a:tblGrid>
                <a:gridCol w="3383280"/>
                <a:gridCol w="2194560"/>
                <a:gridCol w="5303520"/>
              </a:tblGrid>
              <a:tr h="521208">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분류 방법</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내부 검증 정확도</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관찰</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521208">
                <a:tc>
                  <a:txBody>
                    <a:bodyP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로지스틱 회귀</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81.73%</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비교 기준</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21208">
                <a:tc>
                  <a:txBody>
                    <a:bodyP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HistGradientBoosting</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84.19%</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나무 기반 후보 중 가장 높음</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21208">
                <a:tc>
                  <a:txBody>
                    <a:bodyP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ExtraTrees</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82.00%</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로지스틱보다 +0.27%p, HistGradientBoosting보다 −2.19%p</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21208">
                <a:tc>
                  <a:txBody>
                    <a:bodyP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QDA</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79.73%</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50" dirty="0">
                          <a:solidFill>
                            <a:srgbClr val="212121"/>
                          </a:solidFill>
                          <a:latin typeface="맑은 고딕" pitchFamily="34" charset="0"/>
                          <a:ea typeface="맑은 고딕" pitchFamily="34" charset="-122"/>
                          <a:cs typeface="맑은 고딕" pitchFamily="34" charset="-120"/>
                        </a:rPr>
                        <a:t>정확도와 화자 균형이 낮아 제외</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21208">
                <a:tc>
                  <a:txBody>
                    <a:bodyPr/>
                    <a:lstStyle/>
                    <a:p>
                      <a:pPr indent="0" marL="0">
                        <a:buNone/>
                      </a:pPr>
                      <a:r>
                        <a:rPr lang="en-US" sz="1150" b="1" dirty="0">
                          <a:solidFill>
                            <a:srgbClr val="2F4E91"/>
                          </a:solidFill>
                          <a:latin typeface="맑은 고딕" pitchFamily="34" charset="0"/>
                          <a:ea typeface="맑은 고딕" pitchFamily="34" charset="-122"/>
                          <a:cs typeface="맑은 고딕" pitchFamily="34" charset="-120"/>
                        </a:rPr>
                        <a:t>MLP 신경망</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50" b="1" dirty="0">
                          <a:solidFill>
                            <a:srgbClr val="2F4E91"/>
                          </a:solidFill>
                          <a:latin typeface="맑은 고딕" pitchFamily="34" charset="0"/>
                          <a:ea typeface="맑은 고딕" pitchFamily="34" charset="-122"/>
                          <a:cs typeface="맑은 고딕" pitchFamily="34" charset="-120"/>
                        </a:rPr>
                        <a:t>85.95%</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50" b="1" dirty="0">
                          <a:solidFill>
                            <a:srgbClr val="2F4E91"/>
                          </a:solidFill>
                          <a:latin typeface="맑은 고딕" pitchFamily="34" charset="0"/>
                          <a:ea typeface="맑은 고딕" pitchFamily="34" charset="-122"/>
                          <a:cs typeface="맑은 고딕" pitchFamily="34" charset="-120"/>
                        </a:rPr>
                        <a:t>가장 높은 후보로 유지; 수렴 경고는 남음</a:t>
                      </a:r>
                      <a:endParaRPr lang="en-US" sz="115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0" name="Text 6"/>
          <p:cNvSpPr txBox="1"/>
          <p:nvPr/>
        </p:nvSpPr>
        <p:spPr>
          <a:xfrm>
            <a:off x="685800" y="5596128"/>
            <a:ext cx="10820095" cy="365760"/>
          </a:xfrm>
          <a:prstGeom prst="rect">
            <a:avLst/>
          </a:prstGeom>
          <a:noFill/>
          <a:ln/>
        </p:spPr>
        <p:txBody>
          <a:bodyPr wrap="square" lIns="0" tIns="0" rIns="0" bIns="0" rtlCol="0" anchor="t"/>
          <a:lstStyle/>
          <a:p>
            <a:pPr algn="ctr" indent="0" marL="0">
              <a:buNone/>
            </a:pPr>
            <a:r>
              <a:rPr lang="en-US" sz="1200" dirty="0">
                <a:solidFill>
                  <a:srgbClr val="616161"/>
                </a:solidFill>
                <a:latin typeface="맑은 고딕" pitchFamily="34" charset="0"/>
                <a:ea typeface="맑은 고딕" pitchFamily="34" charset="-122"/>
                <a:cs typeface="맑은 고딕" pitchFamily="34" charset="-120"/>
              </a:rPr>
              <a:t>이 단계부터 Training 내부의 통화 단위 고정 분할로 평가했습니다.</a:t>
            </a:r>
            <a:endParaRPr lang="en-US" sz="1200" dirty="0"/>
          </a:p>
        </p:txBody>
      </p:sp>
      <p:sp>
        <p:nvSpPr>
          <p:cNvPr id="11" name="Text 7"/>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§3 (42D 입력, 내부 검증)</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18</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어떤 음향 단서가 유용했나?</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목소리 높낮이·유성성 요약은 도움을 줬지만, 모든 음향 특징이 성능을 높이지는 않았습니다</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12064" y="2148840"/>
          <a:ext cx="9144000" cy="914400"/>
        </p:xfrm>
        <a:graphic>
          <a:graphicData uri="http://schemas.openxmlformats.org/drawingml/2006/table">
            <a:tbl>
              <a:tblPr/>
              <a:tblGrid>
                <a:gridCol w="2468880"/>
                <a:gridCol w="4114800"/>
                <a:gridCol w="4434840"/>
              </a:tblGrid>
              <a:tr h="502920">
                <a:tc>
                  <a:txBody>
                    <a:bodyPr/>
                    <a:lstStyle/>
                    <a:p>
                      <a:pPr algn="ctr" indent="0" marL="0">
                        <a:buNone/>
                      </a:pPr>
                      <a:r>
                        <a:rPr lang="en-US" sz="1090" b="1" dirty="0">
                          <a:solidFill>
                            <a:srgbClr val="FFFFFF"/>
                          </a:solidFill>
                          <a:latin typeface="맑은 고딕" pitchFamily="34" charset="0"/>
                          <a:ea typeface="맑은 고딕" pitchFamily="34" charset="-122"/>
                          <a:cs typeface="맑은 고딕" pitchFamily="34" charset="-120"/>
                        </a:rPr>
                        <a:t>살펴본 소리 단서</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090" b="1" dirty="0">
                          <a:solidFill>
                            <a:srgbClr val="FFFFFF"/>
                          </a:solidFill>
                          <a:latin typeface="맑은 고딕" pitchFamily="34" charset="0"/>
                          <a:ea typeface="맑은 고딕" pitchFamily="34" charset="-122"/>
                          <a:cs typeface="맑은 고딕" pitchFamily="34" charset="-120"/>
                        </a:rPr>
                        <a:t>왜 더했나</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090" b="1" dirty="0">
                          <a:solidFill>
                            <a:srgbClr val="FFFFFF"/>
                          </a:solidFill>
                          <a:latin typeface="맑은 고딕" pitchFamily="34" charset="0"/>
                          <a:ea typeface="맑은 고딕" pitchFamily="34" charset="-122"/>
                          <a:cs typeface="맑은 고딕" pitchFamily="34" charset="-120"/>
                        </a:rPr>
                        <a:t>내부 검증 결과</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502920">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에너지 변화</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발화 안에서 소리 크기 변화 확인</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85.71% (42D 기준 −0.24%p) · 제외</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02920">
                <a:tc>
                  <a:txBody>
                    <a:bodyPr/>
                    <a:lstStyle/>
                    <a:p>
                      <a:pPr indent="0" marL="0">
                        <a:buNone/>
                      </a:pPr>
                      <a:r>
                        <a:rPr lang="en-US" sz="1090" b="1" dirty="0">
                          <a:solidFill>
                            <a:srgbClr val="2F4E91"/>
                          </a:solidFill>
                          <a:latin typeface="맑은 고딕" pitchFamily="34" charset="0"/>
                          <a:ea typeface="맑은 고딕" pitchFamily="34" charset="-122"/>
                          <a:cs typeface="맑은 고딕" pitchFamily="34" charset="-120"/>
                        </a:rPr>
                        <a:t>Pitch / Voicing (음높이·유성성)</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높낮이와 주기적 발성 단서 반영</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90" b="1" dirty="0">
                          <a:solidFill>
                            <a:srgbClr val="2F4E91"/>
                          </a:solidFill>
                          <a:latin typeface="맑은 고딕" pitchFamily="34" charset="0"/>
                          <a:ea typeface="맑은 고딕" pitchFamily="34" charset="-122"/>
                          <a:cs typeface="맑은 고딕" pitchFamily="34" charset="-120"/>
                        </a:rPr>
                        <a:t>86.63% (+0.67%p); Recall 0 +0.71%p, Recall 1 +0.64%p · 47D 기준에 포함</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02920">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Spectral Flux (프레임 간 변화)</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연속 프레임 사이의 소리 변화 확인</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85.38% (42D 기준 −0.57%p) · 제외</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02920">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CPP (조화성 단서)</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목소리 주기성이 뚜렷한 정도 확인</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AF02+CPP 누적 49D에서 86.86%; 47D 직접 비교 output이 없어 CPP 단독 증분은 미확인</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02920">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Delta-MFCC (시간 변화)</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프레임 순서에 따른 음색 변화 확인</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최초 단독 점수·혼동행렬 미보존; 뒤의 old-cache 재검토는 17-F에 표시</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02920">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Formants (성도 공명)</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성도 공명 위치 단서 검토</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90" dirty="0">
                          <a:solidFill>
                            <a:srgbClr val="212121"/>
                          </a:solidFill>
                          <a:latin typeface="맑은 고딕" pitchFamily="34" charset="0"/>
                          <a:ea typeface="맑은 고딕" pitchFamily="34" charset="-122"/>
                          <a:cs typeface="맑은 고딕" pitchFamily="34" charset="-120"/>
                        </a:rPr>
                        <a:t>실험 전에 위험·중복 우려로 보류, 성능 결과 없음</a:t>
                      </a:r>
                      <a:endParaRPr lang="en-US" sz="109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0" name="Text 6"/>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§4.1–4.3</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19</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특징 사이의 관계와 재현성</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주파수끼리의 관계도 시험했지만, 과거 점수 하나만으로 특징을 채택하지 않았습니다</a:t>
            </a:r>
            <a:endParaRPr lang="en-US" sz="1500" dirty="0"/>
          </a:p>
        </p:txBody>
      </p:sp>
      <p:sp>
        <p:nvSpPr>
          <p:cNvPr id="9" name="Shape 6"/>
          <p:cNvSpPr/>
          <p:nvPr/>
        </p:nvSpPr>
        <p:spPr>
          <a:xfrm>
            <a:off x="457200" y="2267712"/>
            <a:ext cx="5478628" cy="3611880"/>
          </a:xfrm>
          <a:prstGeom prst="roundRect">
            <a:avLst>
              <a:gd name="adj" fmla="val 2532"/>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Shape 7"/>
          <p:cNvSpPr/>
          <p:nvPr/>
        </p:nvSpPr>
        <p:spPr>
          <a:xfrm>
            <a:off x="6255868" y="2267712"/>
            <a:ext cx="5478628" cy="3611880"/>
          </a:xfrm>
          <a:prstGeom prst="roundRect">
            <a:avLst>
              <a:gd name="adj" fmla="val 2532"/>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1" name="Text 8"/>
          <p:cNvSpPr txBox="1"/>
          <p:nvPr/>
        </p:nvSpPr>
        <p:spPr>
          <a:xfrm>
            <a:off x="685800" y="2496312"/>
            <a:ext cx="5021428" cy="347472"/>
          </a:xfrm>
          <a:prstGeom prst="rect">
            <a:avLst/>
          </a:prstGeom>
          <a:noFill/>
          <a:ln/>
        </p:spPr>
        <p:txBody>
          <a:bodyPr wrap="square" lIns="0" tIns="0" rIns="0" bIns="0" rtlCol="0" anchor="t"/>
          <a:lstStyle/>
          <a:p>
            <a:pPr indent="0" marL="0">
              <a:buNone/>
            </a:pPr>
            <a:r>
              <a:rPr lang="en-US" sz="1800" b="1" dirty="0">
                <a:solidFill>
                  <a:srgbClr val="2F4E91"/>
                </a:solidFill>
                <a:latin typeface="맑은 고딕" pitchFamily="34" charset="0"/>
                <a:ea typeface="맑은 고딕" pitchFamily="34" charset="-122"/>
                <a:cs typeface="맑은 고딕" pitchFamily="34" charset="-120"/>
              </a:rPr>
              <a:t>관계 특징 비교</a:t>
            </a: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94360" y="2926080"/>
          <a:ext cx="9144000" cy="914400"/>
        </p:xfrm>
        <a:graphic>
          <a:graphicData uri="http://schemas.openxmlformats.org/drawingml/2006/table">
            <a:tbl>
              <a:tblPr/>
              <a:tblGrid>
                <a:gridCol w="2331720"/>
                <a:gridCol w="2606040"/>
              </a:tblGrid>
              <a:tr h="457200">
                <a:tc>
                  <a:txBody>
                    <a:bodyPr/>
                    <a:lstStyle/>
                    <a:p>
                      <a:pPr algn="ctr" indent="0" marL="0">
                        <a:buNone/>
                      </a:pPr>
                      <a:r>
                        <a:rPr lang="en-US" sz="1030" b="1" dirty="0">
                          <a:solidFill>
                            <a:srgbClr val="FFFFFF"/>
                          </a:solidFill>
                          <a:latin typeface="맑은 고딕" pitchFamily="34" charset="0"/>
                          <a:ea typeface="맑은 고딕" pitchFamily="34" charset="-122"/>
                          <a:cs typeface="맑은 고딕" pitchFamily="34" charset="-120"/>
                        </a:rPr>
                        <a:t>무엇을 확인했나</a:t>
                      </a:r>
                      <a:endParaRPr lang="en-US" sz="103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030" b="1" dirty="0">
                          <a:solidFill>
                            <a:srgbClr val="FFFFFF"/>
                          </a:solidFill>
                          <a:latin typeface="맑은 고딕" pitchFamily="34" charset="0"/>
                          <a:ea typeface="맑은 고딕" pitchFamily="34" charset="-122"/>
                          <a:cs typeface="맑은 고딕" pitchFamily="34" charset="-120"/>
                        </a:rPr>
                        <a:t>결과</a:t>
                      </a:r>
                      <a:endParaRPr lang="en-US" sz="103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457200">
                <a:tc>
                  <a:txBody>
                    <a:bodyPr/>
                    <a:lstStyle/>
                    <a:p>
                      <a:pPr indent="0" marL="0">
                        <a:buNone/>
                      </a:pPr>
                      <a:r>
                        <a:rPr lang="en-US" sz="1030" dirty="0">
                          <a:solidFill>
                            <a:srgbClr val="212121"/>
                          </a:solidFill>
                          <a:latin typeface="맑은 고딕" pitchFamily="34" charset="0"/>
                          <a:ea typeface="맑은 고딕" pitchFamily="34" charset="-122"/>
                          <a:cs typeface="맑은 고딕" pitchFamily="34" charset="-120"/>
                        </a:rPr>
                        <a:t>MFCC cross-correlation (계수 간 상관)</a:t>
                      </a:r>
                      <a:endParaRPr lang="en-US" sz="103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30" dirty="0">
                          <a:solidFill>
                            <a:srgbClr val="212121"/>
                          </a:solidFill>
                          <a:latin typeface="맑은 고딕" pitchFamily="34" charset="0"/>
                          <a:ea typeface="맑은 고딕" pitchFamily="34" charset="-122"/>
                          <a:cs typeface="맑은 고딕" pitchFamily="34" charset="-120"/>
                        </a:rPr>
                        <a:t>86.91% · 소폭 상승, 이후 추가 시 제외</a:t>
                      </a:r>
                      <a:endParaRPr lang="en-US" sz="103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457200">
                <a:tc>
                  <a:txBody>
                    <a:bodyPr/>
                    <a:lstStyle/>
                    <a:p>
                      <a:pPr indent="0" marL="0">
                        <a:buNone/>
                      </a:pPr>
                      <a:r>
                        <a:rPr lang="en-US" sz="1030" dirty="0">
                          <a:solidFill>
                            <a:srgbClr val="212121"/>
                          </a:solidFill>
                          <a:latin typeface="맑은 고딕" pitchFamily="34" charset="0"/>
                          <a:ea typeface="맑은 고딕" pitchFamily="34" charset="-122"/>
                          <a:cs typeface="맑은 고딕" pitchFamily="34" charset="-120"/>
                        </a:rPr>
                        <a:t>Pitch candidates (복수 음높이 후보)</a:t>
                      </a:r>
                      <a:endParaRPr lang="en-US" sz="103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30" dirty="0">
                          <a:solidFill>
                            <a:srgbClr val="212121"/>
                          </a:solidFill>
                          <a:latin typeface="맑은 고딕" pitchFamily="34" charset="0"/>
                          <a:ea typeface="맑은 고딕" pitchFamily="34" charset="-122"/>
                          <a:cs typeface="맑은 고딕" pitchFamily="34" charset="-120"/>
                        </a:rPr>
                        <a:t>86.84% · 기준보다 낮음</a:t>
                      </a:r>
                      <a:endParaRPr lang="en-US" sz="103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457200">
                <a:tc>
                  <a:txBody>
                    <a:bodyPr/>
                    <a:lstStyle/>
                    <a:p>
                      <a:pPr indent="0" marL="0">
                        <a:buNone/>
                      </a:pPr>
                      <a:r>
                        <a:rPr lang="en-US" sz="1030" dirty="0">
                          <a:solidFill>
                            <a:srgbClr val="212121"/>
                          </a:solidFill>
                          <a:latin typeface="맑은 고딕" pitchFamily="34" charset="0"/>
                          <a:ea typeface="맑은 고딕" pitchFamily="34" charset="-122"/>
                          <a:cs typeface="맑은 고딕" pitchFamily="34" charset="-120"/>
                        </a:rPr>
                        <a:t>Band-envelope coherence (대역 동조)</a:t>
                      </a:r>
                      <a:endParaRPr lang="en-US" sz="103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30" dirty="0">
                          <a:solidFill>
                            <a:srgbClr val="212121"/>
                          </a:solidFill>
                          <a:latin typeface="맑은 고딕" pitchFamily="34" charset="0"/>
                          <a:ea typeface="맑은 고딕" pitchFamily="34" charset="-122"/>
                          <a:cs typeface="맑은 고딕" pitchFamily="34" charset="-120"/>
                        </a:rPr>
                        <a:t>초기 86.90%; 재학습 86.95%</a:t>
                      </a:r>
                      <a:endParaRPr lang="en-US" sz="103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457200">
                <a:tc>
                  <a:txBody>
                    <a:bodyPr/>
                    <a:lstStyle/>
                    <a:p>
                      <a:pPr indent="0" marL="0">
                        <a:buNone/>
                      </a:pPr>
                      <a:r>
                        <a:rPr lang="en-US" sz="1030" dirty="0">
                          <a:solidFill>
                            <a:srgbClr val="212121"/>
                          </a:solidFill>
                          <a:latin typeface="맑은 고딕" pitchFamily="34" charset="0"/>
                          <a:ea typeface="맑은 고딕" pitchFamily="34" charset="-122"/>
                          <a:cs typeface="맑은 고딕" pitchFamily="34" charset="-120"/>
                        </a:rPr>
                        <a:t>MFCC reduction (계수 축소)</a:t>
                      </a:r>
                      <a:endParaRPr lang="en-US" sz="103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30" dirty="0">
                          <a:solidFill>
                            <a:srgbClr val="212121"/>
                          </a:solidFill>
                          <a:latin typeface="맑은 고딕" pitchFamily="34" charset="0"/>
                          <a:ea typeface="맑은 고딕" pitchFamily="34" charset="-122"/>
                          <a:cs typeface="맑은 고딕" pitchFamily="34" charset="-120"/>
                        </a:rPr>
                        <a:t>세 조합 모두 86.32–86.87%로 기존 표현을 대체하지 못함</a:t>
                      </a:r>
                      <a:endParaRPr lang="en-US" sz="103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3" name="Text 9"/>
          <p:cNvSpPr txBox="1"/>
          <p:nvPr/>
        </p:nvSpPr>
        <p:spPr>
          <a:xfrm>
            <a:off x="6484468" y="2496312"/>
            <a:ext cx="5021428" cy="347472"/>
          </a:xfrm>
          <a:prstGeom prst="rect">
            <a:avLst/>
          </a:prstGeom>
          <a:noFill/>
          <a:ln/>
        </p:spPr>
        <p:txBody>
          <a:bodyPr wrap="square" lIns="0" tIns="0" rIns="0" bIns="0" rtlCol="0" anchor="t"/>
          <a:lstStyle/>
          <a:p>
            <a:pPr indent="0" marL="0">
              <a:buNone/>
            </a:pPr>
            <a:r>
              <a:rPr lang="en-US" sz="1800" b="1" dirty="0">
                <a:solidFill>
                  <a:srgbClr val="2F4E91"/>
                </a:solidFill>
                <a:latin typeface="맑은 고딕" pitchFamily="34" charset="0"/>
                <a:ea typeface="맑은 고딕" pitchFamily="34" charset="-122"/>
                <a:cs typeface="맑은 고딕" pitchFamily="34" charset="-120"/>
              </a:rPr>
              <a:t>과거 점수 재현 여부</a:t>
            </a:r>
            <a:endParaRPr lang="en-US" sz="1800" dirty="0"/>
          </a:p>
        </p:txBody>
      </p:sp>
      <p:sp>
        <p:nvSpPr>
          <p:cNvPr id="14" name="Text 10"/>
          <p:cNvSpPr txBox="1"/>
          <p:nvPr/>
        </p:nvSpPr>
        <p:spPr>
          <a:xfrm>
            <a:off x="6511900" y="3063240"/>
            <a:ext cx="4966564" cy="2103120"/>
          </a:xfrm>
          <a:prstGeom prst="rect">
            <a:avLst/>
          </a:prstGeom>
          <a:noFill/>
          <a:ln/>
        </p:spPr>
        <p:txBody>
          <a:bodyPr wrap="square" lIns="0" tIns="0" rIns="0" bIns="0" rtlCol="0" anchor="t"/>
          <a:lstStyle/>
          <a:p>
            <a:pPr indent="0" marL="0">
              <a:spcAft>
                <a:spcPts val="800"/>
              </a:spcAft>
              <a:buNone/>
            </a:pPr>
            <a:r>
              <a:rPr lang="en-US" sz="1400" dirty="0">
                <a:solidFill>
                  <a:srgbClr val="212121"/>
                </a:solidFill>
                <a:latin typeface="맑은 고딕" pitchFamily="34" charset="0"/>
                <a:ea typeface="맑은 고딕" pitchFamily="34" charset="-122"/>
                <a:cs typeface="맑은 고딕" pitchFamily="34" charset="-120"/>
              </a:rPr>
              <a:t>대역 간 포락선 특징의 최초 86.90%는 같은 과거 캐시로 재현되지 않았습니다.</a:t>
            </a:r>
            <a:endParaRPr lang="en-US" sz="1400" dirty="0"/>
          </a:p>
          <a:p>
            <a:pPr indent="0" marL="0">
              <a:spcAft>
                <a:spcPts val="800"/>
              </a:spcAft>
              <a:buNone/>
            </a:pPr>
            <a:r>
              <a:rPr lang="en-US" sz="1400" dirty="0">
                <a:solidFill>
                  <a:srgbClr val="212121"/>
                </a:solidFill>
                <a:latin typeface="맑은 고딕" pitchFamily="34" charset="0"/>
                <a:ea typeface="맑은 고딕" pitchFamily="34" charset="-122"/>
                <a:cs typeface="맑은 고딕" pitchFamily="34" charset="-120"/>
              </a:rPr>
              <a:t>검증된 과거 캐시 재학습은 86.95%였고, 이후 clean chain은 86.96%였습니다.</a:t>
            </a:r>
            <a:endParaRPr lang="en-US" sz="1400" dirty="0"/>
          </a:p>
          <a:p>
            <a:pPr indent="0" marL="0">
              <a:spcAft>
                <a:spcPts val="800"/>
              </a:spcAft>
              <a:buNone/>
            </a:pPr>
            <a:r>
              <a:rPr lang="en-US" sz="1400" b="1" dirty="0">
                <a:solidFill>
                  <a:srgbClr val="212121"/>
                </a:solidFill>
                <a:latin typeface="맑은 고딕" pitchFamily="34" charset="0"/>
                <a:ea typeface="맑은 고딕" pitchFamily="34" charset="-122"/>
                <a:cs typeface="맑은 고딕" pitchFamily="34" charset="-120"/>
              </a:rPr>
              <a:t>실행 조건이 달라 점수 차이는 직접 비교하지 않았습니다.</a:t>
            </a:r>
            <a:endParaRPr lang="en-US" sz="1400" dirty="0"/>
          </a:p>
        </p:txBody>
      </p:sp>
      <p:sp>
        <p:nvSpPr>
          <p:cNvPr id="15" name="Text 11"/>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§4.4, §9.1</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20</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발화 안의 시간 변화도 더해 보기</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경계·엔트로피·시간대별 음색 변화는 일부 점수를 높였지만, 조합별 이득은 균형을 따져 보류했습니다</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93776" y="2176272"/>
          <a:ext cx="9144000" cy="914400"/>
        </p:xfrm>
        <a:graphic>
          <a:graphicData uri="http://schemas.openxmlformats.org/drawingml/2006/table">
            <a:tbl>
              <a:tblPr/>
              <a:tblGrid>
                <a:gridCol w="2240280"/>
                <a:gridCol w="3749040"/>
                <a:gridCol w="4617720"/>
              </a:tblGrid>
              <a:tr h="539496">
                <a:tc>
                  <a:txBody>
                    <a:bodyPr/>
                    <a:lstStyle/>
                    <a:p>
                      <a:pPr algn="ctr" indent="0" marL="0">
                        <a:buNone/>
                      </a:pPr>
                      <a:r>
                        <a:rPr lang="en-US" sz="980" b="1" dirty="0">
                          <a:solidFill>
                            <a:srgbClr val="FFFFFF"/>
                          </a:solidFill>
                          <a:latin typeface="맑은 고딕" pitchFamily="34" charset="0"/>
                          <a:ea typeface="맑은 고딕" pitchFamily="34" charset="-122"/>
                          <a:cs typeface="맑은 고딕" pitchFamily="34" charset="-120"/>
                        </a:rPr>
                        <a:t>검토한 정보</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980" b="1" dirty="0">
                          <a:solidFill>
                            <a:srgbClr val="FFFFFF"/>
                          </a:solidFill>
                          <a:latin typeface="맑은 고딕" pitchFamily="34" charset="0"/>
                          <a:ea typeface="맑은 고딕" pitchFamily="34" charset="-122"/>
                          <a:cs typeface="맑은 고딕" pitchFamily="34" charset="-120"/>
                        </a:rPr>
                        <a:t>확인하려던 점</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980" b="1" dirty="0">
                          <a:solidFill>
                            <a:srgbClr val="FFFFFF"/>
                          </a:solidFill>
                          <a:latin typeface="맑은 고딕" pitchFamily="34" charset="0"/>
                          <a:ea typeface="맑은 고딕" pitchFamily="34" charset="-122"/>
                          <a:cs typeface="맑은 고딕" pitchFamily="34" charset="-120"/>
                        </a:rPr>
                        <a:t>요약 결과와 결정</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539496">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발화 경계·활동 패턴</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짧거나 잘린 발화의 시작·끝 단서</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52D 대비 +630 정답, 가장 높은 단일 추가 결과지만 자동 승격 보류</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39496">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스펙트럼 엔트로피 변화</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소리의 퍼짐·변동성</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+216 정답; 화자별 균형 차이로 보류</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39496">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시간대별 MFCC 대비</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발화 앞·중간·뒤의 차이</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+103 정답; 보류</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39496">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특징 조합</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단일 특징의 상보성 확인</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과거 캐시에서 3개 조합은 87.21–87.60%; 가장 높은 조합도 화자·취약 구간 저하로 자동 채택 안 함</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39496">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Delta-MFCC 재검토</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짧은 겹침 발화의 오류 보완</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980" dirty="0">
                          <a:solidFill>
                            <a:srgbClr val="212121"/>
                          </a:solidFill>
                          <a:latin typeface="맑은 고딕" pitchFamily="34" charset="0"/>
                          <a:ea typeface="맑은 고딕" pitchFamily="34" charset="-122"/>
                          <a:cs typeface="맑은 고딕" pitchFamily="34" charset="-120"/>
                        </a:rPr>
                        <a:t>old-cache 59→61D +0.018%p (+32건); Recall 0 +1.47%p / 1 −1.32%p. 취약 구간 개선에도 순이득이 작고 균형 교환이 있어 HOLD</a:t>
                      </a:r>
                      <a:endParaRPr lang="en-US" sz="9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0" name="Text 6"/>
          <p:cNvSpPr txBox="1"/>
          <p:nvPr/>
        </p:nvSpPr>
        <p:spPr>
          <a:xfrm>
            <a:off x="640080" y="5742432"/>
            <a:ext cx="10911535" cy="256032"/>
          </a:xfrm>
          <a:prstGeom prst="rect">
            <a:avLst/>
          </a:prstGeom>
          <a:noFill/>
          <a:ln/>
        </p:spPr>
        <p:txBody>
          <a:bodyPr wrap="square" lIns="0" tIns="0" rIns="0" bIns="0" rtlCol="0" anchor="t"/>
          <a:lstStyle/>
          <a:p>
            <a:pPr algn="ctr" indent="0" marL="0">
              <a:buNone/>
            </a:pPr>
            <a:r>
              <a:rPr lang="en-US" sz="1150" b="1" dirty="0">
                <a:solidFill>
                  <a:srgbClr val="616161"/>
                </a:solidFill>
                <a:latin typeface="맑은 고딕" pitchFamily="34" charset="0"/>
                <a:ea typeface="맑은 고딕" pitchFamily="34" charset="-122"/>
                <a:cs typeface="맑은 고딕" pitchFamily="34" charset="-120"/>
              </a:rPr>
              <a:t>과거 캐시의 59D 점수(87.46%)와 clean chain의 59D(87.38%)는 같은 결과가 아닙니다.</a:t>
            </a:r>
            <a:endParaRPr lang="en-US" sz="1150" dirty="0"/>
          </a:p>
        </p:txBody>
      </p:sp>
      <p:sp>
        <p:nvSpPr>
          <p:cNvPr id="11" name="Text 7"/>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§4.5–4.7</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21</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clean 기준에서 표준 음향 특징 비교</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더 많은 표준 음향 통계를 써도 clean 59개 특징보다 정확도가 높아지지는 않았습니다</a:t>
            </a:r>
            <a:endParaRPr lang="en-US" sz="1500" dirty="0"/>
          </a:p>
        </p:txBody>
      </p:sp>
      <p:sp>
        <p:nvSpPr>
          <p:cNvPr id="9" name="Shape 6"/>
          <p:cNvSpPr/>
          <p:nvPr/>
        </p:nvSpPr>
        <p:spPr>
          <a:xfrm>
            <a:off x="457200" y="2304288"/>
            <a:ext cx="5478628" cy="3246120"/>
          </a:xfrm>
          <a:prstGeom prst="roundRect">
            <a:avLst>
              <a:gd name="adj" fmla="val 2817"/>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Shape 7"/>
          <p:cNvSpPr/>
          <p:nvPr/>
        </p:nvSpPr>
        <p:spPr>
          <a:xfrm>
            <a:off x="6255868" y="2304288"/>
            <a:ext cx="5478628" cy="3246120"/>
          </a:xfrm>
          <a:prstGeom prst="roundRect">
            <a:avLst>
              <a:gd name="adj" fmla="val 2817"/>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1" name="Text 8"/>
          <p:cNvSpPr txBox="1"/>
          <p:nvPr/>
        </p:nvSpPr>
        <p:spPr>
          <a:xfrm>
            <a:off x="640080" y="2606040"/>
            <a:ext cx="5112868" cy="685800"/>
          </a:xfrm>
          <a:prstGeom prst="rect">
            <a:avLst/>
          </a:prstGeom>
          <a:noFill/>
          <a:ln/>
        </p:spPr>
        <p:txBody>
          <a:bodyPr wrap="square" lIns="0" tIns="0" rIns="0" bIns="0" rtlCol="0" anchor="ctr"/>
          <a:lstStyle/>
          <a:p>
            <a:pPr algn="ctr" indent="0" marL="0">
              <a:buNone/>
            </a:pPr>
            <a:r>
              <a:rPr lang="en-US" sz="3400" b="1" dirty="0">
                <a:solidFill>
                  <a:srgbClr val="2F4E91"/>
                </a:solidFill>
                <a:latin typeface="맑은 고딕" pitchFamily="34" charset="0"/>
                <a:ea typeface="맑은 고딕" pitchFamily="34" charset="-122"/>
                <a:cs typeface="맑은 고딕" pitchFamily="34" charset="-120"/>
              </a:rPr>
              <a:t>87.38%</a:t>
            </a:r>
            <a:endParaRPr lang="en-US" sz="3400" dirty="0"/>
          </a:p>
        </p:txBody>
      </p:sp>
      <p:sp>
        <p:nvSpPr>
          <p:cNvPr id="12" name="Text 9"/>
          <p:cNvSpPr txBox="1"/>
          <p:nvPr/>
        </p:nvSpPr>
        <p:spPr>
          <a:xfrm>
            <a:off x="640080" y="3319272"/>
            <a:ext cx="5112868" cy="365760"/>
          </a:xfrm>
          <a:prstGeom prst="rect">
            <a:avLst/>
          </a:prstGeom>
          <a:noFill/>
          <a:ln/>
        </p:spPr>
        <p:txBody>
          <a:bodyPr wrap="square" lIns="0" tIns="0" rIns="0" bIns="0" rtlCol="0" anchor="t"/>
          <a:lstStyle/>
          <a:p>
            <a:pPr algn="ctr" indent="0" marL="0">
              <a:buNone/>
            </a:pPr>
            <a:r>
              <a:rPr lang="en-US" sz="1200" dirty="0">
                <a:solidFill>
                  <a:srgbClr val="616161"/>
                </a:solidFill>
                <a:latin typeface="맑은 고딕" pitchFamily="34" charset="0"/>
                <a:ea typeface="맑은 고딕" pitchFamily="34" charset="-122"/>
                <a:cs typeface="맑은 고딕" pitchFamily="34" charset="-120"/>
              </a:rPr>
              <a:t>clean handcrafted 59D</a:t>
            </a:r>
            <a:endParaRPr lang="en-US" sz="1200" dirty="0"/>
          </a:p>
        </p:txBody>
      </p:sp>
      <p:sp>
        <p:nvSpPr>
          <p:cNvPr id="13" name="Text 10"/>
          <p:cNvSpPr txBox="1"/>
          <p:nvPr/>
        </p:nvSpPr>
        <p:spPr>
          <a:xfrm>
            <a:off x="731520" y="3913632"/>
            <a:ext cx="4929988" cy="914400"/>
          </a:xfrm>
          <a:prstGeom prst="rect">
            <a:avLst/>
          </a:prstGeom>
          <a:noFill/>
          <a:ln/>
        </p:spPr>
        <p:txBody>
          <a:bodyPr wrap="square" lIns="0" tIns="0" rIns="0" bIns="0" rtlCol="0" anchor="ctr"/>
          <a:lstStyle/>
          <a:p>
            <a:pPr algn="ctr" indent="0" marL="0">
              <a:buNone/>
            </a:pPr>
            <a:r>
              <a:rPr lang="en-US" sz="1400" dirty="0">
                <a:solidFill>
                  <a:srgbClr val="212121"/>
                </a:solidFill>
                <a:latin typeface="맑은 고딕" pitchFamily="34" charset="0"/>
                <a:ea typeface="맑은 고딕" pitchFamily="34" charset="-122"/>
                <a:cs typeface="맑은 고딕" pitchFamily="34" charset="-120"/>
              </a:rPr>
              <a:t>현재 비교 기준</a:t>
            </a:r>
            <a:endParaRPr lang="en-US" sz="1400" dirty="0"/>
          </a:p>
          <a:p>
            <a:pPr algn="ctr" indent="0" marL="0">
              <a:buNone/>
            </a:pPr>
            <a:r>
              <a:rPr lang="en-US" sz="1400" dirty="0">
                <a:solidFill>
                  <a:srgbClr val="212121"/>
                </a:solidFill>
                <a:latin typeface="맑은 고딕" pitchFamily="34" charset="0"/>
                <a:ea typeface="맑은 고딕" pitchFamily="34" charset="-122"/>
                <a:cs typeface="맑은 고딕" pitchFamily="34" charset="-120"/>
              </a:rPr>
              <a:t>MFCC + 음높이·유성성 + CPP + 대역·시간 변화 특징</a:t>
            </a:r>
            <a:endParaRPr lang="en-US" sz="1400" dirty="0"/>
          </a:p>
        </p:txBody>
      </p:sp>
      <p:sp>
        <p:nvSpPr>
          <p:cNvPr id="14" name="Text 11"/>
          <p:cNvSpPr txBox="1"/>
          <p:nvPr/>
        </p:nvSpPr>
        <p:spPr>
          <a:xfrm>
            <a:off x="6438748" y="2606040"/>
            <a:ext cx="5112868" cy="685800"/>
          </a:xfrm>
          <a:prstGeom prst="rect">
            <a:avLst/>
          </a:prstGeom>
          <a:noFill/>
          <a:ln/>
        </p:spPr>
        <p:txBody>
          <a:bodyPr wrap="square" lIns="0" tIns="0" rIns="0" bIns="0" rtlCol="0" anchor="ctr"/>
          <a:lstStyle/>
          <a:p>
            <a:pPr algn="ctr" indent="0" marL="0">
              <a:buNone/>
            </a:pPr>
            <a:r>
              <a:rPr lang="en-US" sz="3400" b="1" dirty="0">
                <a:solidFill>
                  <a:srgbClr val="E53935"/>
                </a:solidFill>
                <a:latin typeface="맑은 고딕" pitchFamily="34" charset="0"/>
                <a:ea typeface="맑은 고딕" pitchFamily="34" charset="-122"/>
                <a:cs typeface="맑은 고딕" pitchFamily="34" charset="-120"/>
              </a:rPr>
              <a:t>86.40%</a:t>
            </a:r>
            <a:endParaRPr lang="en-US" sz="3400" dirty="0"/>
          </a:p>
        </p:txBody>
      </p:sp>
      <p:sp>
        <p:nvSpPr>
          <p:cNvPr id="15" name="Text 12"/>
          <p:cNvSpPr txBox="1"/>
          <p:nvPr/>
        </p:nvSpPr>
        <p:spPr>
          <a:xfrm>
            <a:off x="6438748" y="3319272"/>
            <a:ext cx="5112868" cy="365760"/>
          </a:xfrm>
          <a:prstGeom prst="rect">
            <a:avLst/>
          </a:prstGeom>
          <a:noFill/>
          <a:ln/>
        </p:spPr>
        <p:txBody>
          <a:bodyPr wrap="square" lIns="0" tIns="0" rIns="0" bIns="0" rtlCol="0" anchor="t"/>
          <a:lstStyle/>
          <a:p>
            <a:pPr algn="ctr" indent="0" marL="0">
              <a:buNone/>
            </a:pPr>
            <a:r>
              <a:rPr lang="en-US" sz="1200" dirty="0">
                <a:solidFill>
                  <a:srgbClr val="616161"/>
                </a:solidFill>
                <a:latin typeface="맑은 고딕" pitchFamily="34" charset="0"/>
                <a:ea typeface="맑은 고딕" pitchFamily="34" charset="-122"/>
                <a:cs typeface="맑은 고딕" pitchFamily="34" charset="-120"/>
              </a:rPr>
              <a:t>eGeMAPSv02 표준 88D</a:t>
            </a:r>
            <a:endParaRPr lang="en-US" sz="1200" dirty="0"/>
          </a:p>
        </p:txBody>
      </p:sp>
      <p:sp>
        <p:nvSpPr>
          <p:cNvPr id="16" name="Text 13"/>
          <p:cNvSpPr txBox="1"/>
          <p:nvPr/>
        </p:nvSpPr>
        <p:spPr>
          <a:xfrm>
            <a:off x="6530188" y="3913632"/>
            <a:ext cx="4929988" cy="914400"/>
          </a:xfrm>
          <a:prstGeom prst="rect">
            <a:avLst/>
          </a:prstGeom>
          <a:noFill/>
          <a:ln/>
        </p:spPr>
        <p:txBody>
          <a:bodyPr wrap="square" lIns="0" tIns="0" rIns="0" bIns="0" rtlCol="0" anchor="ctr"/>
          <a:lstStyle/>
          <a:p>
            <a:pPr algn="ctr" indent="0" marL="0">
              <a:buNone/>
            </a:pPr>
            <a:r>
              <a:rPr lang="en-US" sz="1400" dirty="0">
                <a:solidFill>
                  <a:srgbClr val="212121"/>
                </a:solidFill>
                <a:latin typeface="맑은 고딕" pitchFamily="34" charset="0"/>
                <a:ea typeface="맑은 고딕" pitchFamily="34" charset="-122"/>
                <a:cs typeface="맑은 고딕" pitchFamily="34" charset="-120"/>
              </a:rPr>
              <a:t>같은 내부 분할과 학습 조건</a:t>
            </a:r>
            <a:endParaRPr lang="en-US" sz="1400" dirty="0"/>
          </a:p>
          <a:p>
            <a:pPr algn="ctr" indent="0" marL="0">
              <a:buNone/>
            </a:pPr>
            <a:r>
              <a:rPr lang="en-US" sz="1400" dirty="0">
                <a:solidFill>
                  <a:srgbClr val="212121"/>
                </a:solidFill>
                <a:latin typeface="맑은 고딕" pitchFamily="34" charset="0"/>
                <a:ea typeface="맑은 고딕" pitchFamily="34" charset="-122"/>
                <a:cs typeface="맑은 고딕" pitchFamily="34" charset="-120"/>
              </a:rPr>
              <a:t>오류 1,738건 증가 · 화자 0 재현율 약 2.30%p 하락</a:t>
            </a:r>
            <a:endParaRPr lang="en-US" sz="1400" dirty="0"/>
          </a:p>
        </p:txBody>
      </p:sp>
      <p:sp>
        <p:nvSpPr>
          <p:cNvPr id="17" name="Shape 14"/>
          <p:cNvSpPr/>
          <p:nvPr/>
        </p:nvSpPr>
        <p:spPr>
          <a:xfrm>
            <a:off x="457200" y="5715000"/>
            <a:ext cx="11277295" cy="457200"/>
          </a:xfrm>
          <a:prstGeom prst="roundRect">
            <a:avLst>
              <a:gd name="adj" fmla="val 20000"/>
            </a:avLst>
          </a:prstGeom>
          <a:solidFill>
            <a:srgbClr val="EAF3FA"/>
          </a:solidFill>
          <a:ln w="12700">
            <a:solidFill>
              <a:srgbClr val="EAF3FA"/>
            </a:solidFill>
            <a:prstDash val="solid"/>
          </a:ln>
        </p:spPr>
      </p:sp>
      <p:sp>
        <p:nvSpPr>
          <p:cNvPr id="18" name="Text 15"/>
          <p:cNvSpPr txBox="1"/>
          <p:nvPr/>
        </p:nvSpPr>
        <p:spPr>
          <a:xfrm>
            <a:off x="594360" y="5715000"/>
            <a:ext cx="365760" cy="457200"/>
          </a:xfrm>
          <a:prstGeom prst="rect">
            <a:avLst/>
          </a:prstGeom>
          <a:noFill/>
          <a:ln/>
        </p:spPr>
        <p:txBody>
          <a:bodyPr wrap="square" lIns="0" tIns="0" rIns="0" bIns="0" rtlCol="0" anchor="ctr"/>
          <a:lstStyle/>
          <a:p>
            <a:pPr indent="0" marL="0">
              <a:buNone/>
            </a:pPr>
            <a:r>
              <a:rPr lang="en-US" sz="1800" dirty="0">
                <a:solidFill>
                  <a:srgbClr val="212121"/>
                </a:solidFill>
                <a:latin typeface="맑은 고딕" pitchFamily="34" charset="0"/>
                <a:ea typeface="맑은 고딕" pitchFamily="34" charset="-122"/>
                <a:cs typeface="맑은 고딕" pitchFamily="34" charset="-120"/>
              </a:rPr>
              <a:t>💡</a:t>
            </a:r>
            <a:endParaRPr lang="en-US" sz="1800" dirty="0"/>
          </a:p>
        </p:txBody>
      </p:sp>
      <p:sp>
        <p:nvSpPr>
          <p:cNvPr id="19" name="Text 16"/>
          <p:cNvSpPr txBox="1"/>
          <p:nvPr/>
        </p:nvSpPr>
        <p:spPr>
          <a:xfrm>
            <a:off x="1005840" y="5715000"/>
            <a:ext cx="10591495" cy="457200"/>
          </a:xfrm>
          <a:prstGeom prst="rect">
            <a:avLst/>
          </a:prstGeom>
          <a:noFill/>
          <a:ln/>
        </p:spPr>
        <p:txBody>
          <a:bodyPr wrap="square" lIns="0" tIns="0" rIns="0" bIns="0" rtlCol="0" anchor="ctr"/>
          <a:lstStyle/>
          <a:p>
            <a:pPr indent="0" marL="0">
              <a:buNone/>
            </a:pPr>
            <a:r>
              <a:rPr lang="en-US" sz="1300" b="1" dirty="0">
                <a:solidFill>
                  <a:srgbClr val="2F4E91"/>
                </a:solidFill>
                <a:latin typeface="맑은 고딕" pitchFamily="34" charset="0"/>
                <a:ea typeface="맑은 고딕" pitchFamily="34" charset="-122"/>
                <a:cs typeface="맑은 고딕" pitchFamily="34" charset="-120"/>
              </a:rPr>
              <a:t>판단  </a:t>
            </a:r>
            <a:pPr indent="0" marL="0">
              <a:buNone/>
            </a:pPr>
            <a:r>
              <a:rPr lang="en-US" sz="1300" dirty="0">
                <a:solidFill>
                  <a:srgbClr val="212121"/>
                </a:solidFill>
                <a:latin typeface="맑은 고딕" pitchFamily="34" charset="0"/>
                <a:ea typeface="맑은 고딕" pitchFamily="34" charset="-122"/>
                <a:cs typeface="맑은 고딕" pitchFamily="34" charset="-120"/>
              </a:rPr>
              <a:t>eGeMAPS를 단독 입력으로 바꾸는 방향은 채택하지 않았습니다. 일부 구간의 장점은 별도 가설로 남겼습니다.</a:t>
            </a:r>
            <a:endParaRPr lang="en-US" sz="1300" dirty="0"/>
          </a:p>
        </p:txBody>
      </p:sp>
      <p:sp>
        <p:nvSpPr>
          <p:cNvPr id="20" name="Text 17"/>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§4.8–4.9 (같은 clean 내부 검증 비교)</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22</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clean 59개 입력에서 더 강한 모델 탐색</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모델 계열을 바꾸자 TabM과 ResNet이 약 88.4%로 가장 높은 내부 기준이 됐습니다</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2148840"/>
          <a:ext cx="9144000" cy="914400"/>
        </p:xfrm>
        <a:graphic>
          <a:graphicData uri="http://schemas.openxmlformats.org/drawingml/2006/table">
            <a:tbl>
              <a:tblPr/>
              <a:tblGrid>
                <a:gridCol w="2103120"/>
                <a:gridCol w="4023360"/>
                <a:gridCol w="4480560"/>
              </a:tblGrid>
              <a:tr h="521208">
                <a:tc>
                  <a:txBody>
                    <a:bodyPr/>
                    <a:lstStyle/>
                    <a:p>
                      <a:pPr algn="ctr" indent="0" marL="0">
                        <a:buNone/>
                      </a:pPr>
                      <a:r>
                        <a:rPr lang="en-US" sz="1070" b="1" dirty="0">
                          <a:solidFill>
                            <a:srgbClr val="FFFFFF"/>
                          </a:solidFill>
                          <a:latin typeface="맑은 고딕" pitchFamily="34" charset="0"/>
                          <a:ea typeface="맑은 고딕" pitchFamily="34" charset="-122"/>
                          <a:cs typeface="맑은 고딕" pitchFamily="34" charset="-120"/>
                        </a:rPr>
                        <a:t>비교 단계</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070" b="1" dirty="0">
                          <a:solidFill>
                            <a:srgbClr val="FFFFFF"/>
                          </a:solidFill>
                          <a:latin typeface="맑은 고딕" pitchFamily="34" charset="0"/>
                          <a:ea typeface="맑은 고딕" pitchFamily="34" charset="-122"/>
                          <a:cs typeface="맑은 고딕" pitchFamily="34" charset="-120"/>
                        </a:rPr>
                        <a:t>무엇을 시험했나</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070" b="1" dirty="0">
                          <a:solidFill>
                            <a:srgbClr val="FFFFFF"/>
                          </a:solidFill>
                          <a:latin typeface="맑은 고딕" pitchFamily="34" charset="0"/>
                          <a:ea typeface="맑은 고딕" pitchFamily="34" charset="-122"/>
                          <a:cs typeface="맑은 고딕" pitchFamily="34" charset="-120"/>
                        </a:rPr>
                        <a:t>내부 검증 결과와 결정</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521208">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기본 분류기 비교</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부스팅 모델과 더 큰 MLP</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LightGBM·XGBoost·CatBoost는 85.36–85.97%; 강한 MLP는 87.60%</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21208">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수치 임베딩 MLP</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각 숫자를 학습 표현으로 변환</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87.49%; 학습-검증 간격과 높은 확신 오류가 커 기준으로 채택 안 함</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21208">
                <a:tc>
                  <a:txBody>
                    <a:bodyPr/>
                    <a:lstStyle/>
                    <a:p>
                      <a:pPr indent="0" marL="0">
                        <a:buNone/>
                      </a:pPr>
                      <a:r>
                        <a:rPr lang="en-US" sz="1070" b="1" dirty="0">
                          <a:solidFill>
                            <a:srgbClr val="2F4E91"/>
                          </a:solidFill>
                          <a:latin typeface="맑은 고딕" pitchFamily="34" charset="0"/>
                          <a:ea typeface="맑은 고딕" pitchFamily="34" charset="-122"/>
                          <a:cs typeface="맑은 고딕" pitchFamily="34" charset="-120"/>
                        </a:rPr>
                        <a:t>TabM</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여러 MLP 예측을 함께 학습</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b="1" dirty="0">
                          <a:solidFill>
                            <a:srgbClr val="2F4E91"/>
                          </a:solidFill>
                          <a:latin typeface="맑은 고딕" pitchFamily="34" charset="0"/>
                          <a:ea typeface="맑은 고딕" pitchFamily="34" charset="-122"/>
                          <a:cs typeface="맑은 고딕" pitchFamily="34" charset="-120"/>
                        </a:rPr>
                        <a:t>88.40% · 비교 기준 A</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21208">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FT-Transformer</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특징 간 관계를 attention으로 학습</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88.22% · 결과는 보존, 기준 두 모델에는 미포함</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21208">
                <a:tc>
                  <a:txBody>
                    <a:bodyPr/>
                    <a:lstStyle/>
                    <a:p>
                      <a:pPr indent="0" marL="0">
                        <a:buNone/>
                      </a:pPr>
                      <a:r>
                        <a:rPr lang="en-US" sz="1070" b="1" dirty="0">
                          <a:solidFill>
                            <a:srgbClr val="2F4E91"/>
                          </a:solidFill>
                          <a:latin typeface="맑은 고딕" pitchFamily="34" charset="0"/>
                          <a:ea typeface="맑은 고딕" pitchFamily="34" charset="-122"/>
                          <a:cs typeface="맑은 고딕" pitchFamily="34" charset="-120"/>
                        </a:rPr>
                        <a:t>Tabular ResNet</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dirty="0">
                          <a:solidFill>
                            <a:srgbClr val="212121"/>
                          </a:solidFill>
                          <a:latin typeface="맑은 고딕" pitchFamily="34" charset="0"/>
                          <a:ea typeface="맑은 고딕" pitchFamily="34" charset="-122"/>
                          <a:cs typeface="맑은 고딕" pitchFamily="34" charset="-120"/>
                        </a:rPr>
                        <a:t>층 사이 정보를 연결해 학습</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70" b="1" dirty="0">
                          <a:solidFill>
                            <a:srgbClr val="2F4E91"/>
                          </a:solidFill>
                          <a:latin typeface="맑은 고딕" pitchFamily="34" charset="0"/>
                          <a:ea typeface="맑은 고딕" pitchFamily="34" charset="-122"/>
                          <a:cs typeface="맑은 고딕" pitchFamily="34" charset="-120"/>
                        </a:rPr>
                        <a:t>88.38% · 비교 기준 B, 화자 0 재현율이 상대적으로 높음</a:t>
                      </a:r>
                      <a:endParaRPr lang="en-US" sz="107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0" name="Text 6"/>
          <p:cNvSpPr txBox="1"/>
          <p:nvPr/>
        </p:nvSpPr>
        <p:spPr>
          <a:xfrm>
            <a:off x="640080" y="5669280"/>
            <a:ext cx="10911535" cy="301752"/>
          </a:xfrm>
          <a:prstGeom prst="rect">
            <a:avLst/>
          </a:prstGeom>
          <a:noFill/>
          <a:ln/>
        </p:spPr>
        <p:txBody>
          <a:bodyPr wrap="square" lIns="0" tIns="0" rIns="0" bIns="0" rtlCol="0" anchor="t"/>
          <a:lstStyle/>
          <a:p>
            <a:pPr algn="ctr" indent="0" marL="0">
              <a:buNone/>
            </a:pPr>
            <a:r>
              <a:rPr lang="en-US" sz="1150" b="1" dirty="0">
                <a:solidFill>
                  <a:srgbClr val="616161"/>
                </a:solidFill>
                <a:latin typeface="맑은 고딕" pitchFamily="34" charset="0"/>
                <a:ea typeface="맑은 고딕" pitchFamily="34" charset="-122"/>
                <a:cs typeface="맑은 고딕" pitchFamily="34" charset="-120"/>
              </a:rPr>
              <a:t>TabM과 ResNet 모두 최종 모델로 정한 것은 아니며, 이후 표현 비교에 쓰는 두 기준으로 보존했습니다.</a:t>
            </a:r>
            <a:endParaRPr lang="en-US" sz="1150" dirty="0"/>
          </a:p>
        </p:txBody>
      </p:sp>
      <p:sp>
        <p:nvSpPr>
          <p:cNvPr id="11" name="Text 7"/>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§4.10–4.12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23</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점수 대신 실행 가능성을 본 경로</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일부 표현 실험은 성능을 겨룬 것이 아니라 중복과 계산 시간을 따져 멈췄습니다</a:t>
            </a:r>
            <a:endParaRPr lang="en-US" sz="1500" dirty="0"/>
          </a:p>
        </p:txBody>
      </p:sp>
      <p:sp>
        <p:nvSpPr>
          <p:cNvPr id="9" name="Shape 6"/>
          <p:cNvSpPr/>
          <p:nvPr/>
        </p:nvSpPr>
        <p:spPr>
          <a:xfrm>
            <a:off x="457200" y="2267712"/>
            <a:ext cx="5478628" cy="3547872"/>
          </a:xfrm>
          <a:prstGeom prst="roundRect">
            <a:avLst>
              <a:gd name="adj" fmla="val 2577"/>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Shape 7"/>
          <p:cNvSpPr/>
          <p:nvPr/>
        </p:nvSpPr>
        <p:spPr>
          <a:xfrm>
            <a:off x="6255868" y="2267712"/>
            <a:ext cx="5478628" cy="3547872"/>
          </a:xfrm>
          <a:prstGeom prst="roundRect">
            <a:avLst>
              <a:gd name="adj" fmla="val 2577"/>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1" name="Text 8"/>
          <p:cNvSpPr txBox="1"/>
          <p:nvPr/>
        </p:nvSpPr>
        <p:spPr>
          <a:xfrm>
            <a:off x="685800" y="2514600"/>
            <a:ext cx="5021428" cy="347472"/>
          </a:xfrm>
          <a:prstGeom prst="rect">
            <a:avLst/>
          </a:prstGeom>
          <a:noFill/>
          <a:ln/>
        </p:spPr>
        <p:txBody>
          <a:bodyPr wrap="square" lIns="0" tIns="0" rIns="0" bIns="0" rtlCol="0" anchor="t"/>
          <a:lstStyle/>
          <a:p>
            <a:pPr indent="0" marL="0">
              <a:buNone/>
            </a:pPr>
            <a:r>
              <a:rPr lang="en-US" sz="1600" b="1" dirty="0">
                <a:solidFill>
                  <a:srgbClr val="2F4E91"/>
                </a:solidFill>
                <a:latin typeface="맑은 고딕" pitchFamily="34" charset="0"/>
                <a:ea typeface="맑은 고딕" pitchFamily="34" charset="-122"/>
                <a:cs typeface="맑은 고딕" pitchFamily="34" charset="-120"/>
              </a:rPr>
              <a:t>Time-Frequency Models (시간·주파수)</a:t>
            </a:r>
            <a:endParaRPr lang="en-US" sz="1600" dirty="0"/>
          </a:p>
        </p:txBody>
      </p:sp>
      <p:sp>
        <p:nvSpPr>
          <p:cNvPr id="12" name="Text 9"/>
          <p:cNvSpPr txBox="1"/>
          <p:nvPr/>
        </p:nvSpPr>
        <p:spPr>
          <a:xfrm>
            <a:off x="731520" y="3090672"/>
            <a:ext cx="4929988" cy="2148840"/>
          </a:xfrm>
          <a:prstGeom prst="rect">
            <a:avLst/>
          </a:prstGeom>
          <a:noFill/>
          <a:ln/>
        </p:spPr>
        <p:txBody>
          <a:bodyPr wrap="square" lIns="0" tIns="0" rIns="0" bIns="0" rtlCol="0" anchor="t"/>
          <a:lstStyle/>
          <a:p>
            <a:pPr indent="0" marL="0">
              <a:spcAft>
                <a:spcPts val="800"/>
              </a:spcAft>
              <a:buNone/>
            </a:pPr>
            <a:r>
              <a:rPr lang="en-US" sz="1400" b="1" dirty="0">
                <a:solidFill>
                  <a:srgbClr val="2F4E91"/>
                </a:solidFill>
                <a:latin typeface="맑은 고딕" pitchFamily="34" charset="0"/>
                <a:ea typeface="맑은 고딕" pitchFamily="34" charset="-122"/>
                <a:cs typeface="맑은 고딕" pitchFamily="34" charset="-120"/>
              </a:rPr>
              <a:t>목적  </a:t>
            </a:r>
            <a:pPr indent="0" marL="0">
              <a:spcAft>
                <a:spcPts val="800"/>
              </a:spcAft>
              <a:buNone/>
            </a:pPr>
            <a:r>
              <a:rPr lang="en-US" sz="1400" dirty="0">
                <a:solidFill>
                  <a:srgbClr val="212121"/>
                </a:solidFill>
                <a:latin typeface="맑은 고딕" pitchFamily="34" charset="0"/>
                <a:ea typeface="맑은 고딕" pitchFamily="34" charset="-122"/>
                <a:cs typeface="맑은 고딕" pitchFamily="34" charset="-120"/>
              </a:rPr>
              <a:t>음성의 시간 변화와 주파수 패턴을 직접 보는 계열 검토</a:t>
            </a:r>
            <a:endParaRPr lang="en-US" sz="1400" dirty="0"/>
          </a:p>
          <a:p>
            <a:pPr indent="0" marL="0">
              <a:spcAft>
                <a:spcPts val="800"/>
              </a:spcAft>
              <a:buNone/>
            </a:pPr>
            <a:r>
              <a:rPr lang="en-US" sz="1400" b="1" dirty="0">
                <a:solidFill>
                  <a:srgbClr val="2F4E91"/>
                </a:solidFill>
                <a:latin typeface="맑은 고딕" pitchFamily="34" charset="0"/>
                <a:ea typeface="맑은 고딕" pitchFamily="34" charset="-122"/>
                <a:cs typeface="맑은 고딕" pitchFamily="34" charset="-120"/>
              </a:rPr>
              <a:t>결정  </a:t>
            </a:r>
            <a:pPr indent="0" marL="0">
              <a:spcAft>
                <a:spcPts val="800"/>
              </a:spcAft>
              <a:buNone/>
            </a:pPr>
            <a:r>
              <a:rPr lang="en-US" sz="1400" dirty="0">
                <a:solidFill>
                  <a:srgbClr val="212121"/>
                </a:solidFill>
                <a:latin typeface="맑은 고딕" pitchFamily="34" charset="0"/>
                <a:ea typeface="맑은 고딕" pitchFamily="34" charset="-122"/>
                <a:cs typeface="맑은 고딕" pitchFamily="34" charset="-120"/>
              </a:rPr>
              <a:t>팀원이 같은 계열을 탐색 중이라 중복을 피하려고 개인 실험은 건너뜀</a:t>
            </a:r>
            <a:endParaRPr lang="en-US" sz="1400" dirty="0"/>
          </a:p>
          <a:p>
            <a:pPr indent="0" marL="0">
              <a:spcAft>
                <a:spcPts val="800"/>
              </a:spcAft>
              <a:buNone/>
            </a:pPr>
            <a:r>
              <a:rPr lang="en-US" sz="1400" b="1" dirty="0">
                <a:solidFill>
                  <a:srgbClr val="2F4E91"/>
                </a:solidFill>
                <a:latin typeface="맑은 고딕" pitchFamily="34" charset="0"/>
                <a:ea typeface="맑은 고딕" pitchFamily="34" charset="-122"/>
                <a:cs typeface="맑은 고딕" pitchFamily="34" charset="-120"/>
              </a:rPr>
              <a:t>상태  </a:t>
            </a:r>
            <a:pPr indent="0" marL="0">
              <a:spcAft>
                <a:spcPts val="800"/>
              </a:spcAft>
              <a:buNone/>
            </a:pPr>
            <a:r>
              <a:rPr lang="en-US" sz="1400" dirty="0">
                <a:solidFill>
                  <a:srgbClr val="212121"/>
                </a:solidFill>
                <a:latin typeface="맑은 고딕" pitchFamily="34" charset="0"/>
                <a:ea typeface="맑은 고딕" pitchFamily="34" charset="-122"/>
                <a:cs typeface="맑은 고딕" pitchFamily="34" charset="-120"/>
              </a:rPr>
              <a:t>성능 실패가 아니라 팀 역할 분담에 따른 미실행</a:t>
            </a:r>
            <a:endParaRPr lang="en-US" sz="1400" dirty="0"/>
          </a:p>
        </p:txBody>
      </p:sp>
      <p:sp>
        <p:nvSpPr>
          <p:cNvPr id="13" name="Text 10"/>
          <p:cNvSpPr txBox="1"/>
          <p:nvPr/>
        </p:nvSpPr>
        <p:spPr>
          <a:xfrm>
            <a:off x="6484468" y="2514600"/>
            <a:ext cx="5021428" cy="347472"/>
          </a:xfrm>
          <a:prstGeom prst="rect">
            <a:avLst/>
          </a:prstGeom>
          <a:noFill/>
          <a:ln/>
        </p:spPr>
        <p:txBody>
          <a:bodyPr wrap="square" lIns="0" tIns="0" rIns="0" bIns="0" rtlCol="0" anchor="t"/>
          <a:lstStyle/>
          <a:p>
            <a:pPr indent="0" marL="0">
              <a:buNone/>
            </a:pPr>
            <a:r>
              <a:rPr lang="en-US" sz="1600" b="1" dirty="0">
                <a:solidFill>
                  <a:srgbClr val="2F4E91"/>
                </a:solidFill>
                <a:latin typeface="맑은 고딕" pitchFamily="34" charset="0"/>
                <a:ea typeface="맑은 고딕" pitchFamily="34" charset="-122"/>
                <a:cs typeface="맑은 고딕" pitchFamily="34" charset="-120"/>
              </a:rPr>
              <a:t>Pretrained Speech Models (사전학습 음성)</a:t>
            </a:r>
            <a:endParaRPr lang="en-US" sz="1600" dirty="0"/>
          </a:p>
        </p:txBody>
      </p:sp>
      <p:sp>
        <p:nvSpPr>
          <p:cNvPr id="14" name="Text 11"/>
          <p:cNvSpPr txBox="1"/>
          <p:nvPr/>
        </p:nvSpPr>
        <p:spPr>
          <a:xfrm>
            <a:off x="6530188" y="3090672"/>
            <a:ext cx="4929988" cy="2148840"/>
          </a:xfrm>
          <a:prstGeom prst="rect">
            <a:avLst/>
          </a:prstGeom>
          <a:noFill/>
          <a:ln/>
        </p:spPr>
        <p:txBody>
          <a:bodyPr wrap="square" lIns="0" tIns="0" rIns="0" bIns="0" rtlCol="0" anchor="t"/>
          <a:lstStyle/>
          <a:p>
            <a:pPr indent="0" marL="0">
              <a:spcAft>
                <a:spcPts val="800"/>
              </a:spcAft>
              <a:buNone/>
            </a:pPr>
            <a:r>
              <a:rPr lang="en-US" sz="1400" b="1" dirty="0">
                <a:solidFill>
                  <a:srgbClr val="2F4E91"/>
                </a:solidFill>
                <a:latin typeface="맑은 고딕" pitchFamily="34" charset="0"/>
                <a:ea typeface="맑은 고딕" pitchFamily="34" charset="-122"/>
                <a:cs typeface="맑은 고딕" pitchFamily="34" charset="-120"/>
              </a:rPr>
              <a:t>목적  </a:t>
            </a:r>
            <a:pPr indent="0" marL="0">
              <a:spcAft>
                <a:spcPts val="800"/>
              </a:spcAft>
              <a:buNone/>
            </a:pPr>
            <a:r>
              <a:rPr lang="en-US" sz="1400" dirty="0">
                <a:solidFill>
                  <a:srgbClr val="212121"/>
                </a:solidFill>
                <a:latin typeface="맑은 고딕" pitchFamily="34" charset="0"/>
                <a:ea typeface="맑은 고딕" pitchFamily="34" charset="-122"/>
                <a:cs typeface="맑은 고딕" pitchFamily="34" charset="-120"/>
              </a:rPr>
              <a:t>대규모 음성으로 미리 학습된 표현이 도움되는지 검토</a:t>
            </a:r>
            <a:endParaRPr lang="en-US" sz="1400" dirty="0"/>
          </a:p>
          <a:p>
            <a:pPr indent="0" marL="0">
              <a:spcAft>
                <a:spcPts val="800"/>
              </a:spcAft>
              <a:buNone/>
            </a:pPr>
            <a:r>
              <a:rPr lang="en-US" sz="1400" b="1" dirty="0">
                <a:solidFill>
                  <a:srgbClr val="2F4E91"/>
                </a:solidFill>
                <a:latin typeface="맑은 고딕" pitchFamily="34" charset="0"/>
                <a:ea typeface="맑은 고딕" pitchFamily="34" charset="-122"/>
                <a:cs typeface="맑은 고딕" pitchFamily="34" charset="-120"/>
              </a:rPr>
              <a:t>시간 확인  </a:t>
            </a:r>
            <a:pPr indent="0" marL="0">
              <a:spcAft>
                <a:spcPts val="800"/>
              </a:spcAft>
              <a:buNone/>
            </a:pPr>
            <a:r>
              <a:rPr lang="en-US" sz="1400" dirty="0">
                <a:solidFill>
                  <a:srgbClr val="212121"/>
                </a:solidFill>
                <a:latin typeface="맑은 고딕" pitchFamily="34" charset="0"/>
                <a:ea typeface="맑은 고딕" pitchFamily="34" charset="-122"/>
                <a:cs typeface="맑은 고딕" pitchFamily="34" charset="-120"/>
              </a:rPr>
              <a:t>WavLM 약 45.37시간, DPWavLM 약 63.87시간 추정</a:t>
            </a:r>
            <a:endParaRPr lang="en-US" sz="1400" dirty="0"/>
          </a:p>
          <a:p>
            <a:pPr indent="0" marL="0">
              <a:spcAft>
                <a:spcPts val="800"/>
              </a:spcAft>
              <a:buNone/>
            </a:pPr>
            <a:r>
              <a:rPr lang="en-US" sz="1400" b="1" dirty="0">
                <a:solidFill>
                  <a:srgbClr val="2F4E91"/>
                </a:solidFill>
                <a:latin typeface="맑은 고딕" pitchFamily="34" charset="0"/>
                <a:ea typeface="맑은 고딕" pitchFamily="34" charset="-122"/>
                <a:cs typeface="맑은 고딕" pitchFamily="34" charset="-120"/>
              </a:rPr>
              <a:t>결론  </a:t>
            </a:r>
            <a:pPr indent="0" marL="0">
              <a:spcAft>
                <a:spcPts val="800"/>
              </a:spcAft>
              <a:buNone/>
            </a:pPr>
            <a:r>
              <a:rPr lang="en-US" sz="1400" dirty="0">
                <a:solidFill>
                  <a:srgbClr val="212121"/>
                </a:solidFill>
                <a:latin typeface="맑은 고딕" pitchFamily="34" charset="0"/>
                <a:ea typeface="맑은 고딕" pitchFamily="34" charset="-122"/>
                <a:cs typeface="맑은 고딕" pitchFamily="34" charset="-120"/>
              </a:rPr>
              <a:t>전체 추출·분류기 평가까지 진행하지 않아 성능은 미평가</a:t>
            </a:r>
            <a:endParaRPr lang="en-US" sz="1400" dirty="0"/>
          </a:p>
        </p:txBody>
      </p:sp>
      <p:sp>
        <p:nvSpPr>
          <p:cNvPr id="15" name="Shape 12"/>
          <p:cNvSpPr/>
          <p:nvPr/>
        </p:nvSpPr>
        <p:spPr>
          <a:xfrm>
            <a:off x="457200" y="5961888"/>
            <a:ext cx="11277295" cy="384048"/>
          </a:xfrm>
          <a:prstGeom prst="roundRect">
            <a:avLst>
              <a:gd name="adj" fmla="val 23810"/>
            </a:avLst>
          </a:prstGeom>
          <a:solidFill>
            <a:srgbClr val="EAF3FA"/>
          </a:solidFill>
          <a:ln w="12700">
            <a:solidFill>
              <a:srgbClr val="EAF3FA"/>
            </a:solidFill>
            <a:prstDash val="solid"/>
          </a:ln>
        </p:spPr>
      </p:sp>
      <p:sp>
        <p:nvSpPr>
          <p:cNvPr id="16" name="Text 13"/>
          <p:cNvSpPr txBox="1"/>
          <p:nvPr/>
        </p:nvSpPr>
        <p:spPr>
          <a:xfrm>
            <a:off x="594360" y="5961888"/>
            <a:ext cx="365760" cy="384048"/>
          </a:xfrm>
          <a:prstGeom prst="rect">
            <a:avLst/>
          </a:prstGeom>
          <a:noFill/>
          <a:ln/>
        </p:spPr>
        <p:txBody>
          <a:bodyPr wrap="square" lIns="0" tIns="0" rIns="0" bIns="0" rtlCol="0" anchor="ctr"/>
          <a:lstStyle/>
          <a:p>
            <a:pPr indent="0" marL="0">
              <a:buNone/>
            </a:pPr>
            <a:r>
              <a:rPr lang="en-US" sz="1800" dirty="0">
                <a:solidFill>
                  <a:srgbClr val="212121"/>
                </a:solidFill>
                <a:latin typeface="맑은 고딕" pitchFamily="34" charset="0"/>
                <a:ea typeface="맑은 고딕" pitchFamily="34" charset="-122"/>
                <a:cs typeface="맑은 고딕" pitchFamily="34" charset="-120"/>
              </a:rPr>
              <a:t>💡</a:t>
            </a:r>
            <a:endParaRPr lang="en-US" sz="1800" dirty="0"/>
          </a:p>
        </p:txBody>
      </p:sp>
      <p:sp>
        <p:nvSpPr>
          <p:cNvPr id="17" name="Text 14"/>
          <p:cNvSpPr txBox="1"/>
          <p:nvPr/>
        </p:nvSpPr>
        <p:spPr>
          <a:xfrm>
            <a:off x="1005840" y="5961888"/>
            <a:ext cx="10591495" cy="384048"/>
          </a:xfrm>
          <a:prstGeom prst="rect">
            <a:avLst/>
          </a:prstGeom>
          <a:noFill/>
          <a:ln/>
        </p:spPr>
        <p:txBody>
          <a:bodyPr wrap="square" lIns="0" tIns="0" rIns="0" bIns="0" rtlCol="0" anchor="ctr"/>
          <a:lstStyle/>
          <a:p>
            <a:pPr indent="0" marL="0">
              <a:buNone/>
            </a:pPr>
            <a:r>
              <a:rPr lang="en-US" sz="1300" b="1" dirty="0">
                <a:solidFill>
                  <a:srgbClr val="2F4E91"/>
                </a:solidFill>
                <a:latin typeface="맑은 고딕" pitchFamily="34" charset="0"/>
                <a:ea typeface="맑은 고딕" pitchFamily="34" charset="-122"/>
                <a:cs typeface="맑은 고딕" pitchFamily="34" charset="-120"/>
              </a:rPr>
              <a:t>구분  </a:t>
            </a:r>
            <a:pPr indent="0" marL="0">
              <a:buNone/>
            </a:pPr>
            <a:r>
              <a:rPr lang="en-US" sz="1300" dirty="0">
                <a:solidFill>
                  <a:srgbClr val="212121"/>
                </a:solidFill>
                <a:latin typeface="맑은 고딕" pitchFamily="34" charset="0"/>
                <a:ea typeface="맑은 고딕" pitchFamily="34" charset="-122"/>
                <a:cs typeface="맑은 고딕" pitchFamily="34" charset="-120"/>
              </a:rPr>
              <a:t>실행하지 않은 경로의 점수는 없으며, 이를 낮은 성능으로 해석하지 않습니다.</a:t>
            </a:r>
            <a:endParaRPr lang="en-US" sz="1300" dirty="0"/>
          </a:p>
        </p:txBody>
      </p:sp>
      <p:sp>
        <p:nvSpPr>
          <p:cNvPr id="18" name="Text 15"/>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§4.12, Stage 11·12 기록</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24</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아직 보지 않은 분류 방식도 확인</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새로운 여섯 방식 중 GANDALF가 가장 높았지만, 기존 TabM·ResNet 기준은 넘지 못했습니다</a:t>
            </a:r>
            <a:endParaRPr lang="en-US" sz="15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2167128"/>
          <a:ext cx="9144000" cy="914400"/>
        </p:xfrm>
        <a:graphic>
          <a:graphicData uri="http://schemas.openxmlformats.org/drawingml/2006/table">
            <a:tbl>
              <a:tblPr/>
              <a:tblGrid>
                <a:gridCol w="2240280"/>
                <a:gridCol w="5669280"/>
                <a:gridCol w="2697480"/>
              </a:tblGrid>
              <a:tr h="484632">
                <a:tc>
                  <a:txBody>
                    <a:bodyPr/>
                    <a:lstStyle/>
                    <a:p>
                      <a:pPr algn="ctr" indent="0" marL="0">
                        <a:buNone/>
                      </a:pPr>
                      <a:r>
                        <a:rPr lang="en-US" sz="1120" b="1" dirty="0">
                          <a:solidFill>
                            <a:srgbClr val="FFFFFF"/>
                          </a:solidFill>
                          <a:latin typeface="맑은 고딕" pitchFamily="34" charset="0"/>
                          <a:ea typeface="맑은 고딕" pitchFamily="34" charset="-122"/>
                          <a:cs typeface="맑은 고딕" pitchFamily="34" charset="-120"/>
                        </a:rPr>
                        <a:t>방식</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120" b="1" dirty="0">
                          <a:solidFill>
                            <a:srgbClr val="FFFFFF"/>
                          </a:solidFill>
                          <a:latin typeface="맑은 고딕" pitchFamily="34" charset="0"/>
                          <a:ea typeface="맑은 고딕" pitchFamily="34" charset="-122"/>
                          <a:cs typeface="맑은 고딕" pitchFamily="34" charset="-120"/>
                        </a:rPr>
                        <a:t>무엇을 다르게 하나</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120" b="1" dirty="0">
                          <a:solidFill>
                            <a:srgbClr val="FFFFFF"/>
                          </a:solidFill>
                          <a:latin typeface="맑은 고딕" pitchFamily="34" charset="0"/>
                          <a:ea typeface="맑은 고딕" pitchFamily="34" charset="-122"/>
                          <a:cs typeface="맑은 고딕" pitchFamily="34" charset="-120"/>
                        </a:rPr>
                        <a:t>내부 검증 정확도</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484632">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EBM</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특징별 효과를 더하는 해석형 부스팅</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83.96%</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484632">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Spline-GAM</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부드러운 곡선으로 특징 효과 학습</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85.18%</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484632">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RFF + Logistic SGD</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비선형 관계를 빠르게 근사</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83.15%</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484632">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DCNv2</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특징 간 조합을 직접 학습</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87.78%</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484632">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TabNet</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단계별로 중요한 입력에 집중</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87.75%</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484632">
                <a:tc>
                  <a:txBody>
                    <a:bodyPr/>
                    <a:lstStyle/>
                    <a:p>
                      <a:pPr indent="0" marL="0">
                        <a:buNone/>
                      </a:pPr>
                      <a:r>
                        <a:rPr lang="en-US" sz="1120" b="1" dirty="0">
                          <a:solidFill>
                            <a:srgbClr val="2F4E91"/>
                          </a:solidFill>
                          <a:latin typeface="맑은 고딕" pitchFamily="34" charset="0"/>
                          <a:ea typeface="맑은 고딕" pitchFamily="34" charset="-122"/>
                          <a:cs typeface="맑은 고딕" pitchFamily="34" charset="-120"/>
                        </a:rPr>
                        <a:t>GANDALF</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20" dirty="0">
                          <a:solidFill>
                            <a:srgbClr val="212121"/>
                          </a:solidFill>
                          <a:latin typeface="맑은 고딕" pitchFamily="34" charset="0"/>
                          <a:ea typeface="맑은 고딕" pitchFamily="34" charset="-122"/>
                          <a:cs typeface="맑은 고딕" pitchFamily="34" charset="-120"/>
                        </a:rPr>
                        <a:t>Feature gating (특징별 정보 선택)</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120" b="1" dirty="0">
                          <a:solidFill>
                            <a:srgbClr val="2F4E91"/>
                          </a:solidFill>
                          <a:latin typeface="맑은 고딕" pitchFamily="34" charset="0"/>
                          <a:ea typeface="맑은 고딕" pitchFamily="34" charset="-122"/>
                          <a:cs typeface="맑은 고딕" pitchFamily="34" charset="-120"/>
                        </a:rPr>
                        <a:t>88.17% · 신규 계열 중 최고</a:t>
                      </a:r>
                      <a:endParaRPr lang="en-US" sz="112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0" name="Text 6"/>
          <p:cNvSpPr txBox="1"/>
          <p:nvPr/>
        </p:nvSpPr>
        <p:spPr>
          <a:xfrm>
            <a:off x="640080" y="5650992"/>
            <a:ext cx="10911535" cy="365760"/>
          </a:xfrm>
          <a:prstGeom prst="rect">
            <a:avLst/>
          </a:prstGeom>
          <a:noFill/>
          <a:ln/>
        </p:spPr>
        <p:txBody>
          <a:bodyPr wrap="square" lIns="0" tIns="0" rIns="0" bIns="0" rtlCol="0" anchor="t"/>
          <a:lstStyle/>
          <a:p>
            <a:pPr algn="ctr" indent="0" marL="0">
              <a:buNone/>
            </a:pPr>
            <a:r>
              <a:rPr lang="en-US" sz="1140" dirty="0">
                <a:solidFill>
                  <a:srgbClr val="616161"/>
                </a:solidFill>
                <a:latin typeface="맑은 고딕" pitchFamily="34" charset="0"/>
                <a:ea typeface="맑은 고딕" pitchFamily="34" charset="-122"/>
                <a:cs typeface="맑은 고딕" pitchFamily="34" charset="-120"/>
              </a:rPr>
              <a:t>같은 clean 59D 비교에서 GANDALF가 신규 계열 중 가장 높아 F01·F02 결합 후보로 포함했습니다. TabM·ResNet 기준은 넘지 못했습니다.</a:t>
            </a:r>
            <a:endParaRPr lang="en-US" sz="1140" dirty="0"/>
          </a:p>
        </p:txBody>
      </p:sp>
      <p:sp>
        <p:nvSpPr>
          <p:cNvPr id="11" name="Text 7"/>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§4.13 (고정 설정 6개 모델 비교)</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25</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두 음향 특징을 함께 넣은 모델</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세 모델에서 각각 개선된 두 특징을 함께 넣어, 결합해도 효과가 이어지는지 확인했습니다</a:t>
            </a:r>
            <a:endParaRPr lang="en-US" sz="1500" dirty="0"/>
          </a:p>
        </p:txBody>
      </p:sp>
      <p:sp>
        <p:nvSpPr>
          <p:cNvPr id="9" name="Shape 6"/>
          <p:cNvSpPr/>
          <p:nvPr/>
        </p:nvSpPr>
        <p:spPr>
          <a:xfrm>
            <a:off x="457200" y="2267712"/>
            <a:ext cx="5492344" cy="3584448"/>
          </a:xfrm>
          <a:prstGeom prst="roundRect">
            <a:avLst>
              <a:gd name="adj" fmla="val 2551"/>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Shape 7"/>
          <p:cNvSpPr/>
          <p:nvPr/>
        </p:nvSpPr>
        <p:spPr>
          <a:xfrm>
            <a:off x="6242152" y="2267712"/>
            <a:ext cx="5492344" cy="3584448"/>
          </a:xfrm>
          <a:prstGeom prst="roundRect">
            <a:avLst>
              <a:gd name="adj" fmla="val 2551"/>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1" name="Text 8"/>
          <p:cNvSpPr txBox="1"/>
          <p:nvPr/>
        </p:nvSpPr>
        <p:spPr>
          <a:xfrm>
            <a:off x="685800" y="2487168"/>
            <a:ext cx="5035144" cy="347472"/>
          </a:xfrm>
          <a:prstGeom prst="rect">
            <a:avLst/>
          </a:prstGeom>
          <a:noFill/>
          <a:ln/>
        </p:spPr>
        <p:txBody>
          <a:bodyPr wrap="square" lIns="0" tIns="0" rIns="0" bIns="0" rtlCol="0" anchor="t"/>
          <a:lstStyle/>
          <a:p>
            <a:pPr indent="0" marL="0">
              <a:buNone/>
            </a:pPr>
            <a:r>
              <a:rPr lang="en-US" sz="1800" b="1" dirty="0">
                <a:solidFill>
                  <a:srgbClr val="2F4E91"/>
                </a:solidFill>
                <a:latin typeface="맑은 고딕" pitchFamily="34" charset="0"/>
                <a:ea typeface="맑은 고딕" pitchFamily="34" charset="-122"/>
                <a:cs typeface="맑은 고딕" pitchFamily="34" charset="-120"/>
              </a:rPr>
              <a:t>새로 더한 두 소리 요약</a:t>
            </a:r>
            <a:endParaRPr lang="en-US" sz="1800" dirty="0"/>
          </a:p>
        </p:txBody>
      </p:sp>
      <p:sp>
        <p:nvSpPr>
          <p:cNvPr id="12" name="Text 9"/>
          <p:cNvSpPr txBox="1"/>
          <p:nvPr/>
        </p:nvSpPr>
        <p:spPr>
          <a:xfrm>
            <a:off x="713232" y="3017520"/>
            <a:ext cx="4980280" cy="2331720"/>
          </a:xfrm>
          <a:prstGeom prst="rect">
            <a:avLst/>
          </a:prstGeom>
          <a:noFill/>
          <a:ln/>
        </p:spPr>
        <p:txBody>
          <a:bodyPr wrap="square" lIns="0" tIns="0" rIns="0" bIns="0" rtlCol="0" anchor="t"/>
          <a:lstStyle/>
          <a:p>
            <a:pPr indent="0" marL="0">
              <a:spcAft>
                <a:spcPts val="800"/>
              </a:spcAft>
              <a:buNone/>
            </a:pPr>
            <a:r>
              <a:rPr lang="en-US" sz="1400" b="1" dirty="0">
                <a:solidFill>
                  <a:srgbClr val="2F4E91"/>
                </a:solidFill>
                <a:latin typeface="맑은 고딕" pitchFamily="34" charset="0"/>
                <a:ea typeface="맑은 고딕" pitchFamily="34" charset="-122"/>
                <a:cs typeface="맑은 고딕" pitchFamily="34" charset="-120"/>
              </a:rPr>
              <a:t>F01 · MFCC Robust Statistics (분포 요약) · 80D</a:t>
            </a:r>
            <a:endParaRPr lang="en-US" sz="1400" dirty="0"/>
          </a:p>
          <a:p>
            <a:pPr indent="0" marL="0">
              <a:spcAft>
                <a:spcPts val="800"/>
              </a:spcAft>
              <a:buNone/>
            </a:pPr>
            <a:r>
              <a:rPr lang="en-US" sz="1400" dirty="0">
                <a:solidFill>
                  <a:srgbClr val="212121"/>
                </a:solidFill>
                <a:latin typeface="맑은 고딕" pitchFamily="34" charset="0"/>
                <a:ea typeface="맑은 고딕" pitchFamily="34" charset="-122"/>
                <a:cs typeface="맑은 고딕" pitchFamily="34" charset="-120"/>
              </a:rPr>
              <a:t>Quantiles (분포 위치)와 IQR (가운데 50% 폭)로 20개 계수의 퍼짐을 요약합니다.</a:t>
            </a:r>
            <a:endParaRPr lang="en-US" sz="1400" dirty="0"/>
          </a:p>
          <a:p>
            <a:pPr indent="0" marL="0">
              <a:spcAft>
                <a:spcPts val="800"/>
              </a:spcAft>
              <a:buNone/>
            </a:pPr>
            <a:r>
              <a:rPr lang="en-US" sz="1400" b="1" dirty="0">
                <a:solidFill>
                  <a:srgbClr val="2F4E91"/>
                </a:solidFill>
                <a:latin typeface="맑은 고딕" pitchFamily="34" charset="0"/>
                <a:ea typeface="맑은 고딕" pitchFamily="34" charset="-122"/>
                <a:cs typeface="맑은 고딕" pitchFamily="34" charset="-120"/>
              </a:rPr>
              <a:t>F02 · Spectral Contrast (대역 대비) · 10D</a:t>
            </a:r>
            <a:endParaRPr lang="en-US" sz="1400" dirty="0"/>
          </a:p>
          <a:p>
            <a:pPr indent="0" marL="0">
              <a:spcAft>
                <a:spcPts val="800"/>
              </a:spcAft>
              <a:buNone/>
            </a:pPr>
            <a:r>
              <a:rPr lang="en-US" sz="1400" dirty="0">
                <a:solidFill>
                  <a:srgbClr val="212121"/>
                </a:solidFill>
                <a:latin typeface="맑은 고딕" pitchFamily="34" charset="0"/>
                <a:ea typeface="맑은 고딕" pitchFamily="34" charset="-122"/>
                <a:cs typeface="맑은 고딕" pitchFamily="34" charset="-120"/>
              </a:rPr>
              <a:t>0–4,000Hz 다섯 구간에서 뚜렷한 소리와 조용한 소리의 차이를 요약합니다.</a:t>
            </a:r>
            <a:endParaRPr lang="en-US" sz="1400" dirty="0"/>
          </a:p>
        </p:txBody>
      </p:sp>
      <p:sp>
        <p:nvSpPr>
          <p:cNvPr id="13" name="Text 10"/>
          <p:cNvSpPr txBox="1"/>
          <p:nvPr/>
        </p:nvSpPr>
        <p:spPr>
          <a:xfrm>
            <a:off x="6470752" y="2487168"/>
            <a:ext cx="5035144" cy="347472"/>
          </a:xfrm>
          <a:prstGeom prst="rect">
            <a:avLst/>
          </a:prstGeom>
          <a:noFill/>
          <a:ln/>
        </p:spPr>
        <p:txBody>
          <a:bodyPr wrap="square" lIns="0" tIns="0" rIns="0" bIns="0" rtlCol="0" anchor="t"/>
          <a:lstStyle/>
          <a:p>
            <a:pPr indent="0" marL="0">
              <a:buNone/>
            </a:pPr>
            <a:r>
              <a:rPr lang="en-US" sz="1800" b="1" dirty="0">
                <a:solidFill>
                  <a:srgbClr val="2F4E91"/>
                </a:solidFill>
                <a:latin typeface="맑은 고딕" pitchFamily="34" charset="0"/>
                <a:ea typeface="맑은 고딕" pitchFamily="34" charset="-122"/>
                <a:cs typeface="맑은 고딕" pitchFamily="34" charset="-120"/>
              </a:rPr>
              <a:t>결합 입력으로 학습한 세 모델</a:t>
            </a:r>
            <a:endParaRPr lang="en-US" sz="1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53632" y="3017520"/>
          <a:ext cx="4846320" cy="914400"/>
        </p:xfrm>
        <a:graphic>
          <a:graphicData uri="http://schemas.openxmlformats.org/drawingml/2006/table">
            <a:tbl>
              <a:tblPr/>
              <a:tblGrid>
                <a:gridCol w="2560320"/>
                <a:gridCol w="2286000"/>
              </a:tblGrid>
              <a:tr h="502920">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모델</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내부 검증 정확도</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502920">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TabM</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88.64%</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02920">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Tabular ResNet</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88.55%</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02920">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GANDALF</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88.58%</a:t>
                      </a:r>
                      <a:endParaRPr lang="en-US" sz="13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5" name="Text 11"/>
          <p:cNvSpPr txBox="1"/>
          <p:nvPr/>
        </p:nvSpPr>
        <p:spPr>
          <a:xfrm>
            <a:off x="6516472" y="5166360"/>
            <a:ext cx="4943704" cy="411480"/>
          </a:xfrm>
          <a:prstGeom prst="rect">
            <a:avLst/>
          </a:prstGeom>
          <a:noFill/>
          <a:ln/>
        </p:spPr>
        <p:txBody>
          <a:bodyPr wrap="square" lIns="0" tIns="0" rIns="0" bIns="0" rtlCol="0" anchor="t"/>
          <a:lstStyle/>
          <a:p>
            <a:pPr algn="ctr" indent="0" marL="0">
              <a:buNone/>
            </a:pPr>
            <a:r>
              <a:rPr lang="en-US" sz="1150" dirty="0">
                <a:solidFill>
                  <a:srgbClr val="616161"/>
                </a:solidFill>
                <a:latin typeface="맑은 고딕" pitchFamily="34" charset="0"/>
                <a:ea typeface="맑은 고딕" pitchFamily="34" charset="-122"/>
                <a:cs typeface="맑은 고딕" pitchFamily="34" charset="-120"/>
              </a:rPr>
              <a:t>같은 고정 내부 split·seed 42·threshold 0.5 사용; 공식 Validation은 사용하지 않음</a:t>
            </a:r>
            <a:endParaRPr lang="en-US" sz="1150" dirty="0"/>
          </a:p>
        </p:txBody>
      </p:sp>
      <p:sp>
        <p:nvSpPr>
          <p:cNvPr id="16" name="Text 12"/>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§4.14 (특징 정의·멤버 결과)</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26</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같은 비중으로 평균한 앙상블</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세 모델의 확률을 똑같이 평균한 후보가 내부 정확도는 가장 높았지만, 모든 위험이 해결된 것은 아닙니다</a:t>
            </a:r>
            <a:endParaRPr lang="en-US" sz="15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31520" y="2075688"/>
          <a:ext cx="9144000" cy="914400"/>
        </p:xfrm>
        <a:graphic>
          <a:graphicData uri="http://schemas.openxmlformats.org/drawingml/2006/table">
            <a:tbl>
              <a:tblPr/>
              <a:tblGrid>
                <a:gridCol w="3657600"/>
                <a:gridCol w="1828800"/>
                <a:gridCol w="5303520"/>
              </a:tblGrid>
              <a:tr h="411480">
                <a:tc>
                  <a:txBody>
                    <a:bodyPr/>
                    <a:lstStyle/>
                    <a:p>
                      <a:pPr algn="ctr" indent="0" marL="0">
                        <a:buNone/>
                      </a:pPr>
                      <a:r>
                        <a:rPr lang="en-US" sz="1080" b="1" dirty="0">
                          <a:solidFill>
                            <a:srgbClr val="FFFFFF"/>
                          </a:solidFill>
                          <a:latin typeface="맑은 고딕" pitchFamily="34" charset="0"/>
                          <a:ea typeface="맑은 고딕" pitchFamily="34" charset="-122"/>
                          <a:cs typeface="맑은 고딕" pitchFamily="34" charset="-120"/>
                        </a:rPr>
                        <a:t>평균한 모델</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080" b="1" dirty="0">
                          <a:solidFill>
                            <a:srgbClr val="FFFFFF"/>
                          </a:solidFill>
                          <a:latin typeface="맑은 고딕" pitchFamily="34" charset="0"/>
                          <a:ea typeface="맑은 고딕" pitchFamily="34" charset="-122"/>
                          <a:cs typeface="맑은 고딕" pitchFamily="34" charset="-120"/>
                        </a:rPr>
                        <a:t>내부 정확도</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080" b="1" dirty="0">
                          <a:solidFill>
                            <a:srgbClr val="FFFFFF"/>
                          </a:solidFill>
                          <a:latin typeface="맑은 고딕" pitchFamily="34" charset="0"/>
                          <a:ea typeface="맑은 고딕" pitchFamily="34" charset="-122"/>
                          <a:cs typeface="맑은 고딕" pitchFamily="34" charset="-120"/>
                        </a:rPr>
                        <a:t>간단한 해석</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411480">
                <a:tc>
                  <a:txBody>
                    <a:bodyPr/>
                    <a:lstStyle/>
                    <a:p>
                      <a:pPr indent="0" marL="0">
                        <a:buNone/>
                      </a:pPr>
                      <a:r>
                        <a:rPr lang="en-US" sz="1080" dirty="0">
                          <a:solidFill>
                            <a:srgbClr val="212121"/>
                          </a:solidFill>
                          <a:latin typeface="맑은 고딕" pitchFamily="34" charset="0"/>
                          <a:ea typeface="맑은 고딕" pitchFamily="34" charset="-122"/>
                          <a:cs typeface="맑은 고딕" pitchFamily="34" charset="-120"/>
                        </a:rPr>
                        <a:t>TabM + ResNet</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80" dirty="0">
                          <a:solidFill>
                            <a:srgbClr val="212121"/>
                          </a:solidFill>
                          <a:latin typeface="맑은 고딕" pitchFamily="34" charset="0"/>
                          <a:ea typeface="맑은 고딕" pitchFamily="34" charset="-122"/>
                          <a:cs typeface="맑은 고딕" pitchFamily="34" charset="-120"/>
                        </a:rPr>
                        <a:t>88.72%</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80" dirty="0">
                          <a:solidFill>
                            <a:srgbClr val="212121"/>
                          </a:solidFill>
                          <a:latin typeface="맑은 고딕" pitchFamily="34" charset="0"/>
                          <a:ea typeface="맑은 고딕" pitchFamily="34" charset="-122"/>
                          <a:cs typeface="맑은 고딕" pitchFamily="34" charset="-120"/>
                        </a:rPr>
                        <a:t>두 모델 평균</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411480">
                <a:tc>
                  <a:txBody>
                    <a:bodyPr/>
                    <a:lstStyle/>
                    <a:p>
                      <a:pPr indent="0" marL="0">
                        <a:buNone/>
                      </a:pPr>
                      <a:r>
                        <a:rPr lang="en-US" sz="1080" dirty="0">
                          <a:solidFill>
                            <a:srgbClr val="212121"/>
                          </a:solidFill>
                          <a:latin typeface="맑은 고딕" pitchFamily="34" charset="0"/>
                          <a:ea typeface="맑은 고딕" pitchFamily="34" charset="-122"/>
                          <a:cs typeface="맑은 고딕" pitchFamily="34" charset="-120"/>
                        </a:rPr>
                        <a:t>TabM + GANDALF</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80" dirty="0">
                          <a:solidFill>
                            <a:srgbClr val="212121"/>
                          </a:solidFill>
                          <a:latin typeface="맑은 고딕" pitchFamily="34" charset="0"/>
                          <a:ea typeface="맑은 고딕" pitchFamily="34" charset="-122"/>
                          <a:cs typeface="맑은 고딕" pitchFamily="34" charset="-120"/>
                        </a:rPr>
                        <a:t>88.82%</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80" dirty="0">
                          <a:solidFill>
                            <a:srgbClr val="212121"/>
                          </a:solidFill>
                          <a:latin typeface="맑은 고딕" pitchFamily="34" charset="0"/>
                          <a:ea typeface="맑은 고딕" pitchFamily="34" charset="-122"/>
                          <a:cs typeface="맑은 고딕" pitchFamily="34" charset="-120"/>
                        </a:rPr>
                        <a:t>두 모델 평균</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411480">
                <a:tc>
                  <a:txBody>
                    <a:bodyPr/>
                    <a:lstStyle/>
                    <a:p>
                      <a:pPr indent="0" marL="0">
                        <a:buNone/>
                      </a:pPr>
                      <a:r>
                        <a:rPr lang="en-US" sz="1080" dirty="0">
                          <a:solidFill>
                            <a:srgbClr val="212121"/>
                          </a:solidFill>
                          <a:latin typeface="맑은 고딕" pitchFamily="34" charset="0"/>
                          <a:ea typeface="맑은 고딕" pitchFamily="34" charset="-122"/>
                          <a:cs typeface="맑은 고딕" pitchFamily="34" charset="-120"/>
                        </a:rPr>
                        <a:t>ResNet + GANDALF</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80" dirty="0">
                          <a:solidFill>
                            <a:srgbClr val="212121"/>
                          </a:solidFill>
                          <a:latin typeface="맑은 고딕" pitchFamily="34" charset="0"/>
                          <a:ea typeface="맑은 고딕" pitchFamily="34" charset="-122"/>
                          <a:cs typeface="맑은 고딕" pitchFamily="34" charset="-120"/>
                        </a:rPr>
                        <a:t>88.82%</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80" dirty="0">
                          <a:solidFill>
                            <a:srgbClr val="212121"/>
                          </a:solidFill>
                          <a:latin typeface="맑은 고딕" pitchFamily="34" charset="0"/>
                          <a:ea typeface="맑은 고딕" pitchFamily="34" charset="-122"/>
                          <a:cs typeface="맑은 고딕" pitchFamily="34" charset="-120"/>
                        </a:rPr>
                        <a:t>가장 강한 2모델 조합</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411480">
                <a:tc>
                  <a:txBody>
                    <a:bodyPr/>
                    <a:lstStyle/>
                    <a:p>
                      <a:pPr indent="0" marL="0">
                        <a:buNone/>
                      </a:pPr>
                      <a:r>
                        <a:rPr lang="en-US" sz="1080" b="1" dirty="0">
                          <a:solidFill>
                            <a:srgbClr val="2F4E91"/>
                          </a:solidFill>
                          <a:latin typeface="맑은 고딕" pitchFamily="34" charset="0"/>
                          <a:ea typeface="맑은 고딕" pitchFamily="34" charset="-122"/>
                          <a:cs typeface="맑은 고딕" pitchFamily="34" charset="-120"/>
                        </a:rPr>
                        <a:t>E_TRG (TabM + ResNet + GANDALF)</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80" b="1" dirty="0">
                          <a:solidFill>
                            <a:srgbClr val="2F4E91"/>
                          </a:solidFill>
                          <a:latin typeface="맑은 고딕" pitchFamily="34" charset="0"/>
                          <a:ea typeface="맑은 고딕" pitchFamily="34" charset="-122"/>
                          <a:cs typeface="맑은 고딕" pitchFamily="34" charset="-120"/>
                        </a:rPr>
                        <a:t>88.85%</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indent="0" marL="0">
                        <a:buNone/>
                      </a:pPr>
                      <a:r>
                        <a:rPr lang="en-US" sz="1080" b="1" dirty="0">
                          <a:solidFill>
                            <a:srgbClr val="2F4E91"/>
                          </a:solidFill>
                          <a:latin typeface="맑은 고딕" pitchFamily="34" charset="0"/>
                          <a:ea typeface="맑은 고딕" pitchFamily="34" charset="-122"/>
                          <a:cs typeface="맑은 고딕" pitchFamily="34" charset="-120"/>
                        </a:rPr>
                        <a:t>세 모델 1/3씩 평균; 내부 검증 정확도가 가장 높아 후보로 선택</a:t>
                      </a:r>
                      <a:endParaRPr lang="en-US" sz="108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0" name="Text 6"/>
          <p:cNvSpPr txBox="1"/>
          <p:nvPr/>
        </p:nvSpPr>
        <p:spPr>
          <a:xfrm>
            <a:off x="457200" y="4590288"/>
            <a:ext cx="3588410" cy="685800"/>
          </a:xfrm>
          <a:prstGeom prst="rect">
            <a:avLst/>
          </a:prstGeom>
          <a:noFill/>
          <a:ln/>
        </p:spPr>
        <p:txBody>
          <a:bodyPr wrap="square" lIns="0" tIns="0" rIns="0" bIns="0" rtlCol="0" anchor="ctr"/>
          <a:lstStyle/>
          <a:p>
            <a:pPr algn="ctr" indent="0" marL="0">
              <a:buNone/>
            </a:pPr>
            <a:r>
              <a:rPr lang="en-US" sz="2500" b="1" dirty="0">
                <a:solidFill>
                  <a:srgbClr val="2F4E91"/>
                </a:solidFill>
                <a:latin typeface="맑은 고딕" pitchFamily="34" charset="0"/>
                <a:ea typeface="맑은 고딕" pitchFamily="34" charset="-122"/>
                <a:cs typeface="맑은 고딕" pitchFamily="34" charset="-120"/>
              </a:rPr>
              <a:t>84.34%</a:t>
            </a:r>
            <a:endParaRPr lang="en-US" sz="2500" dirty="0"/>
          </a:p>
        </p:txBody>
      </p:sp>
      <p:sp>
        <p:nvSpPr>
          <p:cNvPr id="11" name="Text 7"/>
          <p:cNvSpPr txBox="1"/>
          <p:nvPr/>
        </p:nvSpPr>
        <p:spPr>
          <a:xfrm>
            <a:off x="457200" y="5303520"/>
            <a:ext cx="3588410" cy="365760"/>
          </a:xfrm>
          <a:prstGeom prst="rect">
            <a:avLst/>
          </a:prstGeom>
          <a:noFill/>
          <a:ln/>
        </p:spPr>
        <p:txBody>
          <a:bodyPr wrap="square" lIns="0" tIns="0" rIns="0" bIns="0" rtlCol="0" anchor="t"/>
          <a:lstStyle/>
          <a:p>
            <a:pPr algn="ctr" indent="0" marL="0">
              <a:buNone/>
            </a:pPr>
            <a:r>
              <a:rPr lang="en-US" sz="1200" dirty="0">
                <a:solidFill>
                  <a:srgbClr val="616161"/>
                </a:solidFill>
                <a:latin typeface="맑은 고딕" pitchFamily="34" charset="0"/>
                <a:ea typeface="맑은 고딕" pitchFamily="34" charset="-122"/>
                <a:cs typeface="맑은 고딕" pitchFamily="34" charset="-120"/>
              </a:rPr>
              <a:t>119대원 Recall</a:t>
            </a:r>
            <a:endParaRPr lang="en-US" sz="1200" dirty="0"/>
          </a:p>
        </p:txBody>
      </p:sp>
      <p:sp>
        <p:nvSpPr>
          <p:cNvPr id="12" name="Text 8"/>
          <p:cNvSpPr txBox="1"/>
          <p:nvPr/>
        </p:nvSpPr>
        <p:spPr>
          <a:xfrm>
            <a:off x="4301642" y="4590288"/>
            <a:ext cx="3588410" cy="685800"/>
          </a:xfrm>
          <a:prstGeom prst="rect">
            <a:avLst/>
          </a:prstGeom>
          <a:noFill/>
          <a:ln/>
        </p:spPr>
        <p:txBody>
          <a:bodyPr wrap="square" lIns="0" tIns="0" rIns="0" bIns="0" rtlCol="0" anchor="ctr"/>
          <a:lstStyle/>
          <a:p>
            <a:pPr algn="ctr" indent="0" marL="0">
              <a:buNone/>
            </a:pPr>
            <a:r>
              <a:rPr lang="en-US" sz="2500" b="1" dirty="0">
                <a:solidFill>
                  <a:srgbClr val="009DDA"/>
                </a:solidFill>
                <a:latin typeface="맑은 고딕" pitchFamily="34" charset="0"/>
                <a:ea typeface="맑은 고딕" pitchFamily="34" charset="-122"/>
                <a:cs typeface="맑은 고딕" pitchFamily="34" charset="-120"/>
              </a:rPr>
              <a:t>93.00%</a:t>
            </a:r>
            <a:endParaRPr lang="en-US" sz="2500" dirty="0"/>
          </a:p>
        </p:txBody>
      </p:sp>
      <p:sp>
        <p:nvSpPr>
          <p:cNvPr id="13" name="Text 9"/>
          <p:cNvSpPr txBox="1"/>
          <p:nvPr/>
        </p:nvSpPr>
        <p:spPr>
          <a:xfrm>
            <a:off x="4301642" y="5303520"/>
            <a:ext cx="3588410" cy="365760"/>
          </a:xfrm>
          <a:prstGeom prst="rect">
            <a:avLst/>
          </a:prstGeom>
          <a:noFill/>
          <a:ln/>
        </p:spPr>
        <p:txBody>
          <a:bodyPr wrap="square" lIns="0" tIns="0" rIns="0" bIns="0" rtlCol="0" anchor="t"/>
          <a:lstStyle/>
          <a:p>
            <a:pPr algn="ctr" indent="0" marL="0">
              <a:buNone/>
            </a:pPr>
            <a:r>
              <a:rPr lang="en-US" sz="1200" dirty="0">
                <a:solidFill>
                  <a:srgbClr val="616161"/>
                </a:solidFill>
                <a:latin typeface="맑은 고딕" pitchFamily="34" charset="0"/>
                <a:ea typeface="맑은 고딕" pitchFamily="34" charset="-122"/>
                <a:cs typeface="맑은 고딕" pitchFamily="34" charset="-120"/>
              </a:rPr>
              <a:t>신고자 Recall</a:t>
            </a:r>
            <a:endParaRPr lang="en-US" sz="1200" dirty="0"/>
          </a:p>
        </p:txBody>
      </p:sp>
      <p:sp>
        <p:nvSpPr>
          <p:cNvPr id="14" name="Text 10"/>
          <p:cNvSpPr txBox="1"/>
          <p:nvPr/>
        </p:nvSpPr>
        <p:spPr>
          <a:xfrm>
            <a:off x="8146085" y="4590288"/>
            <a:ext cx="3588410" cy="685800"/>
          </a:xfrm>
          <a:prstGeom prst="rect">
            <a:avLst/>
          </a:prstGeom>
          <a:noFill/>
          <a:ln/>
        </p:spPr>
        <p:txBody>
          <a:bodyPr wrap="square" lIns="0" tIns="0" rIns="0" bIns="0" rtlCol="0" anchor="ctr"/>
          <a:lstStyle/>
          <a:p>
            <a:pPr algn="ctr" indent="0" marL="0">
              <a:buNone/>
            </a:pPr>
            <a:r>
              <a:rPr lang="en-US" sz="2500" b="1" dirty="0">
                <a:solidFill>
                  <a:srgbClr val="E53935"/>
                </a:solidFill>
                <a:latin typeface="맑은 고딕" pitchFamily="34" charset="0"/>
                <a:ea typeface="맑은 고딕" pitchFamily="34" charset="-122"/>
                <a:cs typeface="맑은 고딕" pitchFamily="34" charset="-120"/>
              </a:rPr>
              <a:t>1,797</a:t>
            </a:r>
            <a:endParaRPr lang="en-US" sz="2500" dirty="0"/>
          </a:p>
        </p:txBody>
      </p:sp>
      <p:sp>
        <p:nvSpPr>
          <p:cNvPr id="15" name="Text 11"/>
          <p:cNvSpPr txBox="1"/>
          <p:nvPr/>
        </p:nvSpPr>
        <p:spPr>
          <a:xfrm>
            <a:off x="8146085" y="5303520"/>
            <a:ext cx="3588410" cy="365760"/>
          </a:xfrm>
          <a:prstGeom prst="rect">
            <a:avLst/>
          </a:prstGeom>
          <a:noFill/>
          <a:ln/>
        </p:spPr>
        <p:txBody>
          <a:bodyPr wrap="square" lIns="0" tIns="0" rIns="0" bIns="0" rtlCol="0" anchor="t"/>
          <a:lstStyle/>
          <a:p>
            <a:pPr algn="ctr" indent="0" marL="0">
              <a:buNone/>
            </a:pPr>
            <a:r>
              <a:rPr lang="en-US" sz="1200" dirty="0">
                <a:solidFill>
                  <a:srgbClr val="616161"/>
                </a:solidFill>
                <a:latin typeface="맑은 고딕" pitchFamily="34" charset="0"/>
                <a:ea typeface="맑은 고딕" pitchFamily="34" charset="-122"/>
                <a:cs typeface="맑은 고딕" pitchFamily="34" charset="-120"/>
              </a:rPr>
              <a:t>높은 확신 오답(HCE)</a:t>
            </a:r>
            <a:endParaRPr lang="en-US" sz="1200" dirty="0"/>
          </a:p>
        </p:txBody>
      </p:sp>
      <p:sp>
        <p:nvSpPr>
          <p:cNvPr id="16" name="Text 12"/>
          <p:cNvSpPr txBox="1"/>
          <p:nvPr/>
        </p:nvSpPr>
        <p:spPr>
          <a:xfrm>
            <a:off x="566928" y="5797296"/>
            <a:ext cx="11057839" cy="502920"/>
          </a:xfrm>
          <a:prstGeom prst="rect">
            <a:avLst/>
          </a:prstGeom>
          <a:noFill/>
          <a:ln/>
        </p:spPr>
        <p:txBody>
          <a:bodyPr wrap="square" lIns="0" tIns="0" rIns="0" bIns="0" rtlCol="0" anchor="t"/>
          <a:lstStyle/>
          <a:p>
            <a:pPr algn="ctr" indent="0" marL="0">
              <a:buNone/>
            </a:pPr>
            <a:r>
              <a:rPr lang="en-US" sz="1020" dirty="0">
                <a:solidFill>
                  <a:srgbClr val="616161"/>
                </a:solidFill>
                <a:latin typeface="맑은 고딕" pitchFamily="34" charset="0"/>
                <a:ea typeface="맑은 고딕" pitchFamily="34" charset="-122"/>
                <a:cs typeface="맑은 고딕" pitchFamily="34" charset="-120"/>
              </a:rPr>
              <a:t>같은 내부 검증에서 네 앙상블 후보를 비교해 점수가 낙관적일 수 있습니다. 짧은 119대원 발화 정확도는 76.71%, 같은 길이의 겹침 발화는 67.90%였습니다. Stage 14에서 Official Validation은 사용하지 않았고, Stage 15 튜닝도 하지 않았습니다.</a:t>
            </a:r>
            <a:endParaRPr lang="en-US" sz="1020" dirty="0"/>
          </a:p>
        </p:txBody>
      </p:sp>
      <p:sp>
        <p:nvSpPr>
          <p:cNvPr id="17" name="Text 13"/>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§4.14 (후보 비교·취약 구간·선택 경계)</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27</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고정 후보의 Official Validation 결과</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Stage 14에서 정한 E_TRG를 추가 튜닝 없이 전체 Training으로 다시 학습해 88.49%를 기록했습니다</a:t>
            </a:r>
            <a:endParaRPr lang="en-US" sz="1500" dirty="0"/>
          </a:p>
        </p:txBody>
      </p:sp>
      <p:sp>
        <p:nvSpPr>
          <p:cNvPr id="9" name="Shape 6"/>
          <p:cNvSpPr/>
          <p:nvPr/>
        </p:nvSpPr>
        <p:spPr>
          <a:xfrm>
            <a:off x="457200" y="2240280"/>
            <a:ext cx="11277295" cy="3977640"/>
          </a:xfrm>
          <a:prstGeom prst="roundRect">
            <a:avLst>
              <a:gd name="adj" fmla="val 2299"/>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Text 7"/>
          <p:cNvSpPr txBox="1"/>
          <p:nvPr/>
        </p:nvSpPr>
        <p:spPr>
          <a:xfrm>
            <a:off x="594360" y="2542032"/>
            <a:ext cx="2331720" cy="685800"/>
          </a:xfrm>
          <a:prstGeom prst="rect">
            <a:avLst/>
          </a:prstGeom>
          <a:noFill/>
          <a:ln/>
        </p:spPr>
        <p:txBody>
          <a:bodyPr wrap="square" lIns="0" tIns="0" rIns="0" bIns="0" rtlCol="0" anchor="ctr"/>
          <a:lstStyle/>
          <a:p>
            <a:pPr algn="ctr" indent="0" marL="0">
              <a:buNone/>
            </a:pPr>
            <a:r>
              <a:rPr lang="en-US" sz="3600" b="1" dirty="0">
                <a:solidFill>
                  <a:srgbClr val="2F4E91"/>
                </a:solidFill>
                <a:latin typeface="맑은 고딕" pitchFamily="34" charset="0"/>
                <a:ea typeface="맑은 고딕" pitchFamily="34" charset="-122"/>
                <a:cs typeface="맑은 고딕" pitchFamily="34" charset="-120"/>
              </a:rPr>
              <a:t>88.49%</a:t>
            </a:r>
            <a:endParaRPr lang="en-US" sz="3600" dirty="0"/>
          </a:p>
        </p:txBody>
      </p:sp>
      <p:sp>
        <p:nvSpPr>
          <p:cNvPr id="11" name="Text 8"/>
          <p:cNvSpPr txBox="1"/>
          <p:nvPr/>
        </p:nvSpPr>
        <p:spPr>
          <a:xfrm>
            <a:off x="594360" y="3255264"/>
            <a:ext cx="2331720" cy="365760"/>
          </a:xfrm>
          <a:prstGeom prst="rect">
            <a:avLst/>
          </a:prstGeom>
          <a:noFill/>
          <a:ln/>
        </p:spPr>
        <p:txBody>
          <a:bodyPr wrap="square" lIns="0" tIns="0" rIns="0" bIns="0" rtlCol="0" anchor="t"/>
          <a:lstStyle/>
          <a:p>
            <a:pPr algn="ctr" indent="0" marL="0">
              <a:buNone/>
            </a:pPr>
            <a:r>
              <a:rPr lang="en-US" sz="1200" dirty="0">
                <a:solidFill>
                  <a:srgbClr val="616161"/>
                </a:solidFill>
                <a:latin typeface="맑은 고딕" pitchFamily="34" charset="0"/>
                <a:ea typeface="맑은 고딕" pitchFamily="34" charset="-122"/>
                <a:cs typeface="맑은 고딕" pitchFamily="34" charset="-120"/>
              </a:rPr>
              <a:t>Accuracy · Official Validation</a:t>
            </a:r>
            <a:endParaRPr lang="en-US" sz="1200" dirty="0"/>
          </a:p>
        </p:txBody>
      </p:sp>
      <p:sp>
        <p:nvSpPr>
          <p:cNvPr id="12" name="Text 9"/>
          <p:cNvSpPr txBox="1"/>
          <p:nvPr/>
        </p:nvSpPr>
        <p:spPr>
          <a:xfrm>
            <a:off x="640080" y="3694176"/>
            <a:ext cx="2240280" cy="1920240"/>
          </a:xfrm>
          <a:prstGeom prst="rect">
            <a:avLst/>
          </a:prstGeom>
          <a:noFill/>
          <a:ln/>
        </p:spPr>
        <p:txBody>
          <a:bodyPr wrap="square" lIns="0" tIns="0" rIns="0" bIns="0" rtlCol="0" anchor="ctr"/>
          <a:lstStyle/>
          <a:p>
            <a:pPr algn="ctr" indent="0" marL="0">
              <a:buNone/>
            </a:pPr>
            <a:r>
              <a:rPr lang="en-US" sz="1200" dirty="0">
                <a:solidFill>
                  <a:srgbClr val="212121"/>
                </a:solidFill>
                <a:latin typeface="맑은 고딕" pitchFamily="34" charset="0"/>
                <a:ea typeface="맑은 고딕" pitchFamily="34" charset="-122"/>
                <a:cs typeface="맑은 고딕" pitchFamily="34" charset="-120"/>
              </a:rPr>
              <a:t>111,947개 발화 · 3,640통화</a:t>
            </a:r>
            <a:endParaRPr lang="en-US" sz="1200" dirty="0"/>
          </a:p>
          <a:p>
            <a:pPr algn="ctr" indent="0" marL="0">
              <a:buNone/>
            </a:pPr>
            <a:r>
              <a:rPr lang="en-US" sz="1200" dirty="0">
                <a:solidFill>
                  <a:srgbClr val="212121"/>
                </a:solidFill>
                <a:latin typeface="맑은 고딕" pitchFamily="34" charset="0"/>
                <a:ea typeface="맑은 고딕" pitchFamily="34" charset="-122"/>
                <a:cs typeface="맑은 고딕" pitchFamily="34" charset="-120"/>
              </a:rPr>
              <a:t>오분류 12,883개 (11.51%)</a:t>
            </a:r>
            <a:endParaRPr lang="en-US" sz="1200" dirty="0"/>
          </a:p>
          <a:p>
            <a:pPr algn="ctr" indent="0" marL="0">
              <a:buNone/>
            </a:pPr>
            <a:endParaRPr lang="en-US" sz="1200" dirty="0"/>
          </a:p>
          <a:p>
            <a:pPr algn="ctr" indent="0" marL="0">
              <a:buNone/>
            </a:pPr>
            <a:r>
              <a:rPr lang="en-US" sz="1200" dirty="0">
                <a:solidFill>
                  <a:srgbClr val="212121"/>
                </a:solidFill>
                <a:latin typeface="맑은 고딕" pitchFamily="34" charset="0"/>
                <a:ea typeface="맑은 고딕" pitchFamily="34" charset="-122"/>
                <a:cs typeface="맑은 고딕" pitchFamily="34" charset="-120"/>
              </a:rPr>
              <a:t>119대원 Recall 84.18%</a:t>
            </a:r>
            <a:endParaRPr lang="en-US" sz="1200" dirty="0"/>
          </a:p>
          <a:p>
            <a:pPr algn="ctr" indent="0" marL="0">
              <a:buNone/>
            </a:pPr>
            <a:r>
              <a:rPr lang="en-US" sz="1200" dirty="0">
                <a:solidFill>
                  <a:srgbClr val="212121"/>
                </a:solidFill>
                <a:latin typeface="맑은 고딕" pitchFamily="34" charset="0"/>
                <a:ea typeface="맑은 고딕" pitchFamily="34" charset="-122"/>
                <a:cs typeface="맑은 고딕" pitchFamily="34" charset="-120"/>
              </a:rPr>
              <a:t>신고자 Recall 92.49%</a:t>
            </a:r>
            <a:endParaRPr lang="en-US" sz="1200" dirty="0"/>
          </a:p>
          <a:p>
            <a:pPr algn="ctr" indent="0" marL="0">
              <a:buNone/>
            </a:pPr>
            <a:r>
              <a:rPr lang="en-US" sz="1200" dirty="0">
                <a:solidFill>
                  <a:srgbClr val="212121"/>
                </a:solidFill>
                <a:latin typeface="맑은 고딕" pitchFamily="34" charset="0"/>
                <a:ea typeface="맑은 고딕" pitchFamily="34" charset="-122"/>
                <a:cs typeface="맑은 고딕" pitchFamily="34" charset="-120"/>
              </a:rPr>
              <a:t>화자 Recall 차이 8.31%p</a:t>
            </a:r>
            <a:endParaRPr lang="en-US" sz="1200" dirty="0"/>
          </a:p>
        </p:txBody>
      </p:sp>
      <p:graphicFrame>
        <p:nvGraphicFramePr>
          <p:cNvPr id="13" name="Chart 0" descr=""/>
          <p:cNvGraphicFramePr/>
          <p:nvPr/>
        </p:nvGraphicFramePr>
        <p:xfrm>
          <a:off x="3063240" y="2395728"/>
          <a:ext cx="4160520" cy="306324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7360920" y="2432304"/>
            <a:ext cx="3749040" cy="274320"/>
          </a:xfrm>
          <a:prstGeom prst="rect">
            <a:avLst/>
          </a:prstGeom>
          <a:noFill/>
          <a:ln/>
        </p:spPr>
        <p:txBody>
          <a:bodyPr wrap="square" lIns="0" tIns="0" rIns="0" bIns="0" rtlCol="0" anchor="t"/>
          <a:lstStyle/>
          <a:p>
            <a:pPr algn="ctr" indent="0" marL="0">
              <a:buNone/>
            </a:pPr>
            <a:r>
              <a:rPr lang="en-US" sz="1200" dirty="0">
                <a:solidFill>
                  <a:srgbClr val="616161"/>
                </a:solidFill>
                <a:latin typeface="맑은 고딕" pitchFamily="34" charset="0"/>
                <a:ea typeface="맑은 고딕" pitchFamily="34" charset="-122"/>
                <a:cs typeface="맑은 고딕" pitchFamily="34" charset="-120"/>
              </a:rPr>
              <a:t>E_TRG 혼동행렬 (행=실제, 열=예측)</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296912" y="2816352"/>
          <a:ext cx="4251960" cy="1700784"/>
        </p:xfrm>
        <a:graphic>
          <a:graphicData uri="http://schemas.openxmlformats.org/drawingml/2006/table">
            <a:tbl>
              <a:tblPr/>
              <a:tblGrid>
                <a:gridCol w="1234440"/>
                <a:gridCol w="1508760"/>
                <a:gridCol w="1508760"/>
              </a:tblGrid>
              <a:tr h="566928">
                <a:tc>
                  <a:txBody>
                    <a:bodyPr/>
                    <a:lstStyle/>
                    <a:p>
                      <a:pPr algn="ctr" indent="0" marL="0">
                        <a:buNone/>
                      </a:pPr>
                      <a:endParaRPr lang="en-US" sz="11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예측 0</a:t>
                      </a:r>
                      <a:endParaRPr lang="en-US" sz="1100" dirty="0">
                        <a:latin typeface="맑은 고딕" charset="0"/>
                        <a:ea typeface="맑은 고딕" charset="0"/>
                        <a:cs typeface="맑은 고딕" charset="0"/>
                      </a:endParaRPr>
                    </a:p>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119대원</a:t>
                      </a:r>
                      <a:endParaRPr lang="en-US" sz="11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예측 1</a:t>
                      </a:r>
                      <a:endParaRPr lang="en-US" sz="1100" dirty="0">
                        <a:latin typeface="맑은 고딕" charset="0"/>
                        <a:ea typeface="맑은 고딕" charset="0"/>
                        <a:cs typeface="맑은 고딕" charset="0"/>
                      </a:endParaRPr>
                    </a:p>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신고자</a:t>
                      </a:r>
                      <a:endParaRPr lang="en-US" sz="11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566928">
                <a:tc>
                  <a:txBody>
                    <a:bodyPr/>
                    <a:lstStyle/>
                    <a:p>
                      <a:pPr algn="ctr" indent="0" marL="0">
                        <a:buNone/>
                      </a:pPr>
                      <a:r>
                        <a:rPr lang="en-US" sz="1100" dirty="0">
                          <a:solidFill>
                            <a:srgbClr val="212121"/>
                          </a:solidFill>
                          <a:latin typeface="맑은 고딕" pitchFamily="34" charset="0"/>
                          <a:ea typeface="맑은 고딕" pitchFamily="34" charset="-122"/>
                          <a:cs typeface="맑은 고딕" pitchFamily="34" charset="-120"/>
                        </a:rPr>
                        <a:t>실제 0</a:t>
                      </a:r>
                      <a:endParaRPr lang="en-US" sz="1100" dirty="0">
                        <a:latin typeface="맑은 고딕" charset="0"/>
                        <a:ea typeface="맑은 고딕" charset="0"/>
                        <a:cs typeface="맑은 고딕" charset="0"/>
                      </a:endParaRPr>
                    </a:p>
                    <a:p>
                      <a:pPr algn="ctr" indent="0" marL="0">
                        <a:buNone/>
                      </a:pPr>
                      <a:r>
                        <a:rPr lang="en-US" sz="1100" dirty="0">
                          <a:solidFill>
                            <a:srgbClr val="212121"/>
                          </a:solidFill>
                          <a:latin typeface="맑은 고딕" pitchFamily="34" charset="0"/>
                          <a:ea typeface="맑은 고딕" pitchFamily="34" charset="-122"/>
                          <a:cs typeface="맑은 고딕" pitchFamily="34" charset="-120"/>
                        </a:rPr>
                        <a:t>119대원</a:t>
                      </a:r>
                      <a:endParaRPr lang="en-US" sz="11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1100" b="1" dirty="0">
                          <a:solidFill>
                            <a:srgbClr val="2F4E91"/>
                          </a:solidFill>
                          <a:latin typeface="맑은 고딕" pitchFamily="34" charset="0"/>
                          <a:ea typeface="맑은 고딕" pitchFamily="34" charset="-122"/>
                          <a:cs typeface="맑은 고딕" pitchFamily="34" charset="-120"/>
                        </a:rPr>
                        <a:t>45,326</a:t>
                      </a:r>
                      <a:endParaRPr lang="en-US" sz="11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1100" dirty="0">
                          <a:solidFill>
                            <a:srgbClr val="212121"/>
                          </a:solidFill>
                          <a:latin typeface="맑은 고딕" pitchFamily="34" charset="0"/>
                          <a:ea typeface="맑은 고딕" pitchFamily="34" charset="-122"/>
                          <a:cs typeface="맑은 고딕" pitchFamily="34" charset="-120"/>
                        </a:rPr>
                        <a:t>8,519</a:t>
                      </a:r>
                      <a:endParaRPr lang="en-US" sz="11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566928">
                <a:tc>
                  <a:txBody>
                    <a:bodyPr/>
                    <a:lstStyle/>
                    <a:p>
                      <a:pPr algn="ctr" indent="0" marL="0">
                        <a:buNone/>
                      </a:pPr>
                      <a:r>
                        <a:rPr lang="en-US" sz="1100" dirty="0">
                          <a:solidFill>
                            <a:srgbClr val="212121"/>
                          </a:solidFill>
                          <a:latin typeface="맑은 고딕" pitchFamily="34" charset="0"/>
                          <a:ea typeface="맑은 고딕" pitchFamily="34" charset="-122"/>
                          <a:cs typeface="맑은 고딕" pitchFamily="34" charset="-120"/>
                        </a:rPr>
                        <a:t>실제 1</a:t>
                      </a:r>
                      <a:endParaRPr lang="en-US" sz="1100" dirty="0">
                        <a:latin typeface="맑은 고딕" charset="0"/>
                        <a:ea typeface="맑은 고딕" charset="0"/>
                        <a:cs typeface="맑은 고딕" charset="0"/>
                      </a:endParaRPr>
                    </a:p>
                    <a:p>
                      <a:pPr algn="ctr" indent="0" marL="0">
                        <a:buNone/>
                      </a:pPr>
                      <a:r>
                        <a:rPr lang="en-US" sz="1100" dirty="0">
                          <a:solidFill>
                            <a:srgbClr val="212121"/>
                          </a:solidFill>
                          <a:latin typeface="맑은 고딕" pitchFamily="34" charset="0"/>
                          <a:ea typeface="맑은 고딕" pitchFamily="34" charset="-122"/>
                          <a:cs typeface="맑은 고딕" pitchFamily="34" charset="-120"/>
                        </a:rPr>
                        <a:t>신고자</a:t>
                      </a:r>
                      <a:endParaRPr lang="en-US" sz="11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1100" dirty="0">
                          <a:solidFill>
                            <a:srgbClr val="212121"/>
                          </a:solidFill>
                          <a:latin typeface="맑은 고딕" pitchFamily="34" charset="0"/>
                          <a:ea typeface="맑은 고딕" pitchFamily="34" charset="-122"/>
                          <a:cs typeface="맑은 고딕" pitchFamily="34" charset="-120"/>
                        </a:rPr>
                        <a:t>4,364</a:t>
                      </a:r>
                      <a:endParaRPr lang="en-US" sz="11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1100" b="1" dirty="0">
                          <a:solidFill>
                            <a:srgbClr val="2F4E91"/>
                          </a:solidFill>
                          <a:latin typeface="맑은 고딕" pitchFamily="34" charset="0"/>
                          <a:ea typeface="맑은 고딕" pitchFamily="34" charset="-122"/>
                          <a:cs typeface="맑은 고딕" pitchFamily="34" charset="-120"/>
                        </a:rPr>
                        <a:t>53,738</a:t>
                      </a:r>
                      <a:endParaRPr lang="en-US" sz="110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6" name="Text 11"/>
          <p:cNvSpPr txBox="1"/>
          <p:nvPr/>
        </p:nvSpPr>
        <p:spPr>
          <a:xfrm>
            <a:off x="7360920" y="4983480"/>
            <a:ext cx="3703320" cy="594360"/>
          </a:xfrm>
          <a:prstGeom prst="rect">
            <a:avLst/>
          </a:prstGeom>
          <a:noFill/>
          <a:ln/>
        </p:spPr>
        <p:txBody>
          <a:bodyPr wrap="square" lIns="0" tIns="0" rIns="0" bIns="0" rtlCol="0" anchor="ctr"/>
          <a:lstStyle/>
          <a:p>
            <a:pPr algn="ctr" indent="0" marL="0">
              <a:buNone/>
            </a:pPr>
            <a:r>
              <a:rPr lang="en-US" sz="1050" dirty="0">
                <a:solidFill>
                  <a:srgbClr val="616161"/>
                </a:solidFill>
                <a:latin typeface="맑은 고딕" pitchFamily="34" charset="0"/>
                <a:ea typeface="맑은 고딕" pitchFamily="34" charset="-122"/>
                <a:cs typeface="맑은 고딕" pitchFamily="34" charset="-120"/>
              </a:rPr>
              <a:t>고정: 149D · 세 모델 확률 1/3씩 평균 · threshold 0.5 · 학습/Scaler/체크포인트 선택에 Validation 미사용</a:t>
            </a:r>
            <a:endParaRPr lang="en-US" sz="1050" dirty="0"/>
          </a:p>
        </p:txBody>
      </p:sp>
      <p:sp>
        <p:nvSpPr>
          <p:cNvPr id="17" name="Text 12"/>
          <p:cNvSpPr txBox="1"/>
          <p:nvPr/>
        </p:nvSpPr>
        <p:spPr>
          <a:xfrm>
            <a:off x="603504" y="5696712"/>
            <a:ext cx="10984687" cy="457200"/>
          </a:xfrm>
          <a:prstGeom prst="rect">
            <a:avLst/>
          </a:prstGeom>
          <a:noFill/>
          <a:ln/>
        </p:spPr>
        <p:txBody>
          <a:bodyPr wrap="square" lIns="0" tIns="0" rIns="0" bIns="0" rtlCol="0" anchor="t"/>
          <a:lstStyle/>
          <a:p>
            <a:pPr algn="ctr" indent="0" marL="0">
              <a:buNone/>
            </a:pPr>
            <a:r>
              <a:rPr lang="en-US" sz="920" dirty="0">
                <a:solidFill>
                  <a:srgbClr val="616161"/>
                </a:solidFill>
                <a:latin typeface="맑은 고딕" pitchFamily="34" charset="0"/>
                <a:ea typeface="맑은 고딕" pitchFamily="34" charset="-122"/>
                <a:cs typeface="맑은 고딕" pitchFamily="34" charset="-120"/>
              </a:rPr>
              <a:t>해석 경계: Stage 15 자체는 고정 후보 평가지만, 과거 E-series 특징 선택에도 Official Validation을 사용해 독립 1회 holdout은 아닙니다.</a:t>
            </a:r>
            <a:endParaRPr lang="en-US" sz="920" dirty="0"/>
          </a:p>
          <a:p>
            <a:pPr algn="ctr" indent="0" marL="0">
              <a:buNone/>
            </a:pPr>
            <a:r>
              <a:rPr lang="en-US" sz="920" dirty="0">
                <a:solidFill>
                  <a:srgbClr val="616161"/>
                </a:solidFill>
                <a:latin typeface="맑은 고딕" pitchFamily="34" charset="0"/>
                <a:ea typeface="맑은 고딕" pitchFamily="34" charset="-122"/>
                <a:cs typeface="맑은 고딕" pitchFamily="34" charset="-120"/>
              </a:rPr>
              <a:t>복구: GANDALF 18≠17 epoch 기록으로 첫 실행 중단; cache와 TabM/ResNet checkpoint를 재사용하고 GANDALF만 재학습했습니다.</a:t>
            </a:r>
            <a:endParaRPr lang="en-US" sz="920" dirty="0"/>
          </a:p>
        </p:txBody>
      </p:sp>
      <p:sp>
        <p:nvSpPr>
          <p:cNvPr id="18" name="Text 13"/>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Stage 15 · run audit FINAL_VERIFIED · 고정 threshold 0.5</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28</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2 — 남아 있는 오분류와 취약 구간</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119대원·짧은 발화·겹침 구간의 오류가 더 많고, 낮은 확신 구간은 오분류율이 44.94%입니다</a:t>
            </a:r>
            <a:endParaRPr lang="en-US" sz="1500" dirty="0"/>
          </a:p>
        </p:txBody>
      </p:sp>
      <p:sp>
        <p:nvSpPr>
          <p:cNvPr id="9" name="Shape 6"/>
          <p:cNvSpPr/>
          <p:nvPr/>
        </p:nvSpPr>
        <p:spPr>
          <a:xfrm>
            <a:off x="457200" y="2240280"/>
            <a:ext cx="5501488" cy="3977640"/>
          </a:xfrm>
          <a:prstGeom prst="roundRect">
            <a:avLst>
              <a:gd name="adj" fmla="val 2299"/>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Text 7"/>
          <p:cNvSpPr txBox="1"/>
          <p:nvPr/>
        </p:nvSpPr>
        <p:spPr>
          <a:xfrm>
            <a:off x="640080" y="2359152"/>
            <a:ext cx="5135728" cy="320040"/>
          </a:xfrm>
          <a:prstGeom prst="rect">
            <a:avLst/>
          </a:prstGeom>
          <a:noFill/>
          <a:ln/>
        </p:spPr>
        <p:txBody>
          <a:bodyPr wrap="square" lIns="0" tIns="0" rIns="0" bIns="0" rtlCol="0" anchor="t"/>
          <a:lstStyle/>
          <a:p>
            <a:pPr indent="0" marL="0">
              <a:buNone/>
            </a:pPr>
            <a:r>
              <a:rPr lang="en-US" sz="1350" b="1" dirty="0">
                <a:solidFill>
                  <a:srgbClr val="2F4E91"/>
                </a:solidFill>
                <a:latin typeface="맑은 고딕" pitchFamily="34" charset="0"/>
                <a:ea typeface="맑은 고딕" pitchFamily="34" charset="-122"/>
                <a:cs typeface="맑은 고딕" pitchFamily="34" charset="-120"/>
              </a:rPr>
              <a:t>■ 저장된 예측에서 확인된 취약 구간</a:t>
            </a:r>
            <a:endParaRPr lang="en-US" sz="13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94360" y="2770632"/>
          <a:ext cx="5303520" cy="2752344"/>
        </p:xfrm>
        <a:graphic>
          <a:graphicData uri="http://schemas.openxmlformats.org/drawingml/2006/table">
            <a:tbl>
              <a:tblPr/>
              <a:tblGrid>
                <a:gridCol w="2331720"/>
                <a:gridCol w="1143000"/>
                <a:gridCol w="914400"/>
                <a:gridCol w="914400"/>
              </a:tblGrid>
              <a:tr h="393192">
                <a:tc>
                  <a:txBody>
                    <a:bodyPr/>
                    <a:lstStyle/>
                    <a:p>
                      <a:pPr algn="ctr" indent="0" marL="0">
                        <a:buNone/>
                      </a:pPr>
                      <a:r>
                        <a:rPr lang="en-US" sz="940" b="1" dirty="0">
                          <a:solidFill>
                            <a:srgbClr val="FFFFFF"/>
                          </a:solidFill>
                          <a:latin typeface="맑은 고딕" pitchFamily="34" charset="0"/>
                          <a:ea typeface="맑은 고딕" pitchFamily="34" charset="-122"/>
                          <a:cs typeface="맑은 고딕" pitchFamily="34" charset="-120"/>
                        </a:rPr>
                        <a:t>구간</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940" b="1" dirty="0">
                          <a:solidFill>
                            <a:srgbClr val="FFFFFF"/>
                          </a:solidFill>
                          <a:latin typeface="맑은 고딕" pitchFamily="34" charset="0"/>
                          <a:ea typeface="맑은 고딕" pitchFamily="34" charset="-122"/>
                          <a:cs typeface="맑은 고딕" pitchFamily="34" charset="-120"/>
                        </a:rPr>
                        <a:t>표본 수</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940" b="1" dirty="0">
                          <a:solidFill>
                            <a:srgbClr val="FFFFFF"/>
                          </a:solidFill>
                          <a:latin typeface="맑은 고딕" pitchFamily="34" charset="0"/>
                          <a:ea typeface="맑은 고딕" pitchFamily="34" charset="-122"/>
                          <a:cs typeface="맑은 고딕" pitchFamily="34" charset="-120"/>
                        </a:rPr>
                        <a:t>오류</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940" b="1" dirty="0">
                          <a:solidFill>
                            <a:srgbClr val="FFFFFF"/>
                          </a:solidFill>
                          <a:latin typeface="맑은 고딕" pitchFamily="34" charset="0"/>
                          <a:ea typeface="맑은 고딕" pitchFamily="34" charset="-122"/>
                          <a:cs typeface="맑은 고딕" pitchFamily="34" charset="-120"/>
                        </a:rPr>
                        <a:t>오류율</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F4E91"/>
                    </a:solidFill>
                  </a:tcPr>
                </a:tc>
              </a:tr>
              <a:tr h="393192">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전체</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111,947</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12,883</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11.51%</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393192">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발화 0.5–1초</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27,392</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4,299</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15.69%</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393192">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Overlap 포함</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48,863</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7,457</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15.26%</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393192">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확신도 0.50–0.60</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12,253</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5,507</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44.94%</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393192">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확신도 ≥0.90 (HCE)</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75,016</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1,301</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1.73%</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393192">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실제 119대원 × 0.5–1초 × overlap</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5,003</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1,550</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940" dirty="0">
                          <a:solidFill>
                            <a:srgbClr val="212121"/>
                          </a:solidFill>
                          <a:latin typeface="맑은 고딕" pitchFamily="34" charset="0"/>
                          <a:ea typeface="맑은 고딕" pitchFamily="34" charset="-122"/>
                          <a:cs typeface="맑은 고딕" pitchFamily="34" charset="-120"/>
                        </a:rPr>
                        <a:t>31.0%</a:t>
                      </a:r>
                      <a:endParaRPr lang="en-US" sz="940" dirty="0">
                        <a:latin typeface="맑은 고딕" charset="0"/>
                        <a:ea typeface="맑은 고딕" charset="0"/>
                        <a:cs typeface="맑은 고딕" charset="0"/>
                      </a:endParaRPr>
                    </a:p>
                  </a:txBody>
                  <a:tcPr marL="73152" marR="73152" marT="73152" marB="7315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12" name="Text 8"/>
          <p:cNvSpPr txBox="1"/>
          <p:nvPr/>
        </p:nvSpPr>
        <p:spPr>
          <a:xfrm>
            <a:off x="640080" y="5623560"/>
            <a:ext cx="5135728" cy="457200"/>
          </a:xfrm>
          <a:prstGeom prst="rect">
            <a:avLst/>
          </a:prstGeom>
          <a:noFill/>
          <a:ln/>
        </p:spPr>
        <p:txBody>
          <a:bodyPr wrap="square" lIns="0" tIns="0" rIns="0" bIns="0" rtlCol="0" anchor="ctr"/>
          <a:lstStyle/>
          <a:p>
            <a:pPr algn="ctr" indent="0" marL="0">
              <a:buNone/>
            </a:pPr>
            <a:r>
              <a:rPr lang="en-US" sz="980" dirty="0">
                <a:solidFill>
                  <a:srgbClr val="616161"/>
                </a:solidFill>
                <a:latin typeface="맑은 고딕" pitchFamily="34" charset="0"/>
                <a:ea typeface="맑은 고딕" pitchFamily="34" charset="-122"/>
                <a:cs typeface="맑은 고딕" pitchFamily="34" charset="-120"/>
              </a:rPr>
              <a:t>마지막 행은 3조건 중 실제 화자 0까지 지정한 교차 결과(정확도 69.02%)입니다. 0.5–1초×overlap×낮은 확신의 동시 교차 성능은 저장 집계가 없어 미확정입니다.</a:t>
            </a:r>
            <a:endParaRPr lang="en-US" sz="980" dirty="0"/>
          </a:p>
        </p:txBody>
      </p:sp>
      <p:sp>
        <p:nvSpPr>
          <p:cNvPr id="13" name="Shape 9"/>
          <p:cNvSpPr/>
          <p:nvPr/>
        </p:nvSpPr>
        <p:spPr>
          <a:xfrm>
            <a:off x="6233008" y="2240280"/>
            <a:ext cx="5501488" cy="3977640"/>
          </a:xfrm>
          <a:prstGeom prst="roundRect">
            <a:avLst>
              <a:gd name="adj" fmla="val 2299"/>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4" name="Text 10"/>
          <p:cNvSpPr txBox="1"/>
          <p:nvPr/>
        </p:nvSpPr>
        <p:spPr>
          <a:xfrm>
            <a:off x="6415888" y="2359152"/>
            <a:ext cx="5135728" cy="320040"/>
          </a:xfrm>
          <a:prstGeom prst="rect">
            <a:avLst/>
          </a:prstGeom>
          <a:noFill/>
          <a:ln/>
        </p:spPr>
        <p:txBody>
          <a:bodyPr wrap="square" lIns="0" tIns="0" rIns="0" bIns="0" rtlCol="0" anchor="t"/>
          <a:lstStyle/>
          <a:p>
            <a:pPr indent="0" marL="0">
              <a:buNone/>
            </a:pPr>
            <a:r>
              <a:rPr lang="en-US" sz="1350" b="1" dirty="0">
                <a:solidFill>
                  <a:srgbClr val="2F4E91"/>
                </a:solidFill>
                <a:latin typeface="맑은 고딕" pitchFamily="34" charset="0"/>
                <a:ea typeface="맑은 고딕" pitchFamily="34" charset="-122"/>
                <a:cs typeface="맑은 고딕" pitchFamily="34" charset="-120"/>
              </a:rPr>
              <a:t>■ 오류에서 확인한 점과 남은 한계</a:t>
            </a:r>
            <a:endParaRPr lang="en-US" sz="1350" dirty="0"/>
          </a:p>
        </p:txBody>
      </p:sp>
      <p:sp>
        <p:nvSpPr>
          <p:cNvPr id="15" name="Text 11"/>
          <p:cNvSpPr txBox="1"/>
          <p:nvPr/>
        </p:nvSpPr>
        <p:spPr>
          <a:xfrm>
            <a:off x="6461608" y="2761488"/>
            <a:ext cx="5044288" cy="3200400"/>
          </a:xfrm>
          <a:prstGeom prst="rect">
            <a:avLst/>
          </a:prstGeom>
          <a:noFill/>
          <a:ln/>
        </p:spPr>
        <p:txBody>
          <a:bodyPr wrap="square" lIns="0" tIns="0" rIns="0" bIns="0" rtlCol="0" anchor="ctr"/>
          <a:lstStyle/>
          <a:p>
            <a:pPr indent="0" marL="0">
              <a:spcAft>
                <a:spcPts val="600"/>
              </a:spcAft>
              <a:buNone/>
            </a:pPr>
            <a:r>
              <a:rPr lang="en-US" sz="1100" b="1" dirty="0">
                <a:solidFill>
                  <a:srgbClr val="E53935"/>
                </a:solidFill>
                <a:latin typeface="맑은 고딕" pitchFamily="34" charset="0"/>
                <a:ea typeface="맑은 고딕" pitchFamily="34" charset="-122"/>
                <a:cs typeface="맑은 고딕" pitchFamily="34" charset="-120"/>
              </a:rPr>
              <a:t>119대원 분류가 상대적으로 약함  </a:t>
            </a:r>
            <a:endParaRPr lang="en-US" sz="1100" dirty="0"/>
          </a:p>
          <a:p>
            <a:pPr indent="0" marL="0">
              <a:spcAft>
                <a:spcPts val="600"/>
              </a:spcAft>
              <a:buNone/>
            </a:pPr>
            <a:r>
              <a:rPr lang="en-US" sz="1100" dirty="0">
                <a:solidFill>
                  <a:srgbClr val="212121"/>
                </a:solidFill>
                <a:latin typeface="맑은 고딕" pitchFamily="34" charset="0"/>
                <a:ea typeface="맑은 고딕" pitchFamily="34" charset="-122"/>
                <a:cs typeface="맑은 고딕" pitchFamily="34" charset="-120"/>
              </a:rPr>
              <a:t>Recall 84.18%로 신고자 92.49%보다 8.31%p 낮습니다. 119대원을 신고자로 잘못 분류한 FP는 8,519건입니다.</a:t>
            </a:r>
            <a:endParaRPr lang="en-US" sz="1100" dirty="0"/>
          </a:p>
          <a:p>
            <a:pPr indent="0" marL="0">
              <a:spcAft>
                <a:spcPts val="600"/>
              </a:spcAft>
              <a:buNone/>
            </a:pPr>
            <a:r>
              <a:rPr lang="en-US" sz="1100" b="1" dirty="0">
                <a:solidFill>
                  <a:srgbClr val="E53935"/>
                </a:solidFill>
                <a:latin typeface="맑은 고딕" pitchFamily="34" charset="0"/>
                <a:ea typeface="맑은 고딕" pitchFamily="34" charset="-122"/>
                <a:cs typeface="맑은 고딕" pitchFamily="34" charset="-120"/>
              </a:rPr>
              <a:t>짧고 겹치는 발화에서 오류가 큼  </a:t>
            </a:r>
            <a:endParaRPr lang="en-US" sz="1100" dirty="0"/>
          </a:p>
          <a:p>
            <a:pPr indent="0" marL="0">
              <a:spcAft>
                <a:spcPts val="600"/>
              </a:spcAft>
              <a:buNone/>
            </a:pPr>
            <a:r>
              <a:rPr lang="en-US" sz="1100" dirty="0">
                <a:solidFill>
                  <a:srgbClr val="212121"/>
                </a:solidFill>
                <a:latin typeface="맑은 고딕" pitchFamily="34" charset="0"/>
                <a:ea typeface="맑은 고딕" pitchFamily="34" charset="-122"/>
                <a:cs typeface="맑은 고딕" pitchFamily="34" charset="-120"/>
              </a:rPr>
              <a:t>0.5–1초와 overlap의 각 집계에서 오류율은 각각 15.69%, 15.26%입니다. 동시 조건의 저확신 성능은 추정하지 않습니다.</a:t>
            </a:r>
            <a:endParaRPr lang="en-US" sz="1100" dirty="0"/>
          </a:p>
          <a:p>
            <a:pPr indent="0" marL="0">
              <a:spcAft>
                <a:spcPts val="600"/>
              </a:spcAft>
              <a:buNone/>
            </a:pPr>
            <a:r>
              <a:rPr lang="en-US" sz="1100" b="1" dirty="0">
                <a:solidFill>
                  <a:srgbClr val="E53935"/>
                </a:solidFill>
                <a:latin typeface="맑은 고딕" pitchFamily="34" charset="0"/>
                <a:ea typeface="맑은 고딕" pitchFamily="34" charset="-122"/>
                <a:cs typeface="맑은 고딕" pitchFamily="34" charset="-120"/>
              </a:rPr>
              <a:t>낮은 확신에서 판정이 불안정함  </a:t>
            </a:r>
            <a:endParaRPr lang="en-US" sz="1100" dirty="0"/>
          </a:p>
          <a:p>
            <a:pPr indent="0" marL="0">
              <a:spcAft>
                <a:spcPts val="600"/>
              </a:spcAft>
              <a:buNone/>
            </a:pPr>
            <a:r>
              <a:rPr lang="en-US" sz="1100" dirty="0">
                <a:solidFill>
                  <a:srgbClr val="212121"/>
                </a:solidFill>
                <a:latin typeface="맑은 고딕" pitchFamily="34" charset="0"/>
                <a:ea typeface="맑은 고딕" pitchFamily="34" charset="-122"/>
                <a:cs typeface="맑은 고딕" pitchFamily="34" charset="-120"/>
              </a:rPr>
              <a:t>확신도 0.50–0.60의 정확도는 55.06%입니다. 오류 원인 자체는 집계 결과만으로 확정할 수 없습니다.</a:t>
            </a:r>
            <a:endParaRPr lang="en-US" sz="1100" dirty="0"/>
          </a:p>
        </p:txBody>
      </p:sp>
      <p:sp>
        <p:nvSpPr>
          <p:cNvPr id="16" name="Text 12"/>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docs/mission2_experiment_log.md Stage 15 후속 오류 분석 · 음성 청취/원인 판정 없이 저장 예측만 분석</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29</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3  환자 증상 인식 — 문제 정의와 접근</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TF-IDF 기준선부터 RoBERTa 문맥 모델을 검증하고, 최종 3-seed + TF-IDF 앙상블 채택</a:t>
            </a:r>
            <a:endParaRPr lang="en-US" sz="1500" dirty="0"/>
          </a:p>
        </p:txBody>
      </p:sp>
      <p:sp>
        <p:nvSpPr>
          <p:cNvPr id="9" name="Shape 6"/>
          <p:cNvSpPr/>
          <p:nvPr/>
        </p:nvSpPr>
        <p:spPr>
          <a:xfrm>
            <a:off x="457200" y="2240280"/>
            <a:ext cx="3749040" cy="3977640"/>
          </a:xfrm>
          <a:prstGeom prst="roundRect">
            <a:avLst>
              <a:gd name="adj" fmla="val 2439"/>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Text 7"/>
          <p:cNvSpPr txBox="1"/>
          <p:nvPr/>
        </p:nvSpPr>
        <p:spPr>
          <a:xfrm>
            <a:off x="685800" y="2377440"/>
            <a:ext cx="3291840" cy="329184"/>
          </a:xfrm>
          <a:prstGeom prst="rect">
            <a:avLst/>
          </a:prstGeom>
          <a:noFill/>
          <a:ln/>
        </p:spPr>
        <p:txBody>
          <a:bodyPr wrap="square" lIns="0" tIns="0" rIns="0" bIns="0" rtlCol="0" anchor="t"/>
          <a:lstStyle/>
          <a:p>
            <a:pPr indent="0" marL="0">
              <a:buNone/>
            </a:pPr>
            <a:r>
              <a:rPr lang="en-US" sz="1800" b="1" dirty="0">
                <a:solidFill>
                  <a:srgbClr val="2F4E91"/>
                </a:solidFill>
                <a:latin typeface="맑은 고딕" pitchFamily="34" charset="0"/>
                <a:ea typeface="맑은 고딕" pitchFamily="34" charset="-122"/>
                <a:cs typeface="맑은 고딕" pitchFamily="34" charset="-120"/>
              </a:rPr>
              <a:t>■ 문제 정의</a:t>
            </a:r>
            <a:endParaRPr lang="en-US" sz="1800" dirty="0"/>
          </a:p>
        </p:txBody>
      </p:sp>
      <p:sp>
        <p:nvSpPr>
          <p:cNvPr id="11" name="Shape 8"/>
          <p:cNvSpPr/>
          <p:nvPr/>
        </p:nvSpPr>
        <p:spPr>
          <a:xfrm>
            <a:off x="685800" y="2788920"/>
            <a:ext cx="868680" cy="329184"/>
          </a:xfrm>
          <a:prstGeom prst="roundRect">
            <a:avLst>
              <a:gd name="adj" fmla="val 22222"/>
            </a:avLst>
          </a:prstGeom>
          <a:solidFill>
            <a:srgbClr val="2F4E91"/>
          </a:solidFill>
          <a:ln w="12700">
            <a:solidFill>
              <a:srgbClr val="2F4E91"/>
            </a:solidFill>
            <a:prstDash val="solid"/>
          </a:ln>
        </p:spPr>
      </p:sp>
      <p:sp>
        <p:nvSpPr>
          <p:cNvPr id="12" name="Text 9"/>
          <p:cNvSpPr txBox="1"/>
          <p:nvPr/>
        </p:nvSpPr>
        <p:spPr>
          <a:xfrm>
            <a:off x="685800" y="2788920"/>
            <a:ext cx="8686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입력</a:t>
            </a:r>
            <a:endParaRPr lang="en-US" sz="1200" dirty="0"/>
          </a:p>
        </p:txBody>
      </p:sp>
      <p:sp>
        <p:nvSpPr>
          <p:cNvPr id="13" name="Text 10"/>
          <p:cNvSpPr txBox="1"/>
          <p:nvPr/>
        </p:nvSpPr>
        <p:spPr>
          <a:xfrm>
            <a:off x="1691640" y="2752344"/>
            <a:ext cx="2331720" cy="502920"/>
          </a:xfrm>
          <a:prstGeom prst="rect">
            <a:avLst/>
          </a:prstGeom>
          <a:noFill/>
          <a:ln/>
        </p:spPr>
        <p:txBody>
          <a:bodyPr wrap="square" lIns="0" tIns="0" rIns="0" bIns="0" rtlCol="0" anchor="t"/>
          <a:lstStyle/>
          <a:p>
            <a:pPr indent="0" marL="0">
              <a:buNone/>
            </a:pPr>
            <a:r>
              <a:rPr lang="en-US" sz="1150" dirty="0">
                <a:solidFill>
                  <a:srgbClr val="212121"/>
                </a:solidFill>
                <a:latin typeface="맑은 고딕" pitchFamily="34" charset="0"/>
                <a:ea typeface="맑은 고딕" pitchFamily="34" charset="-122"/>
                <a:cs typeface="맑은 고딕" pitchFamily="34" charset="-120"/>
              </a:rPr>
              <a:t>119 통화 전사문</a:t>
            </a:r>
            <a:endParaRPr lang="en-US" sz="1150" dirty="0"/>
          </a:p>
          <a:p>
            <a:pPr indent="0" marL="0">
              <a:buNone/>
            </a:pPr>
            <a:r>
              <a:rPr lang="en-US" sz="1150" dirty="0">
                <a:solidFill>
                  <a:srgbClr val="212121"/>
                </a:solidFill>
                <a:latin typeface="맑은 고딕" pitchFamily="34" charset="0"/>
                <a:ea typeface="맑은 고딕" pitchFamily="34" charset="-122"/>
                <a:cs typeface="맑은 고딕" pitchFamily="34" charset="-120"/>
              </a:rPr>
              <a:t>(utterances[].text만)</a:t>
            </a:r>
            <a:endParaRPr lang="en-US" sz="1150" dirty="0"/>
          </a:p>
        </p:txBody>
      </p:sp>
      <p:sp>
        <p:nvSpPr>
          <p:cNvPr id="14" name="Shape 11"/>
          <p:cNvSpPr/>
          <p:nvPr/>
        </p:nvSpPr>
        <p:spPr>
          <a:xfrm>
            <a:off x="685800" y="3355848"/>
            <a:ext cx="868680" cy="329184"/>
          </a:xfrm>
          <a:prstGeom prst="roundRect">
            <a:avLst>
              <a:gd name="adj" fmla="val 22222"/>
            </a:avLst>
          </a:prstGeom>
          <a:solidFill>
            <a:srgbClr val="2F4E91"/>
          </a:solidFill>
          <a:ln w="12700">
            <a:solidFill>
              <a:srgbClr val="2F4E91"/>
            </a:solidFill>
            <a:prstDash val="solid"/>
          </a:ln>
        </p:spPr>
      </p:sp>
      <p:sp>
        <p:nvSpPr>
          <p:cNvPr id="15" name="Text 12"/>
          <p:cNvSpPr txBox="1"/>
          <p:nvPr/>
        </p:nvSpPr>
        <p:spPr>
          <a:xfrm>
            <a:off x="685800" y="3355848"/>
            <a:ext cx="8686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출력</a:t>
            </a:r>
            <a:endParaRPr lang="en-US" sz="1200" dirty="0"/>
          </a:p>
        </p:txBody>
      </p:sp>
      <p:sp>
        <p:nvSpPr>
          <p:cNvPr id="16" name="Text 13"/>
          <p:cNvSpPr txBox="1"/>
          <p:nvPr/>
        </p:nvSpPr>
        <p:spPr>
          <a:xfrm>
            <a:off x="1691640" y="3319272"/>
            <a:ext cx="2331720" cy="502920"/>
          </a:xfrm>
          <a:prstGeom prst="rect">
            <a:avLst/>
          </a:prstGeom>
          <a:noFill/>
          <a:ln/>
        </p:spPr>
        <p:txBody>
          <a:bodyPr wrap="square" lIns="0" tIns="0" rIns="0" bIns="0" rtlCol="0" anchor="t"/>
          <a:lstStyle/>
          <a:p>
            <a:pPr indent="0" marL="0">
              <a:buNone/>
            </a:pPr>
            <a:r>
              <a:rPr lang="en-US" sz="1150" dirty="0">
                <a:solidFill>
                  <a:srgbClr val="212121"/>
                </a:solidFill>
                <a:latin typeface="맑은 고딕" pitchFamily="34" charset="0"/>
                <a:ea typeface="맑은 고딕" pitchFamily="34" charset="-122"/>
                <a:cs typeface="맑은 고딕" pitchFamily="34" charset="-120"/>
              </a:rPr>
              <a:t>증상 9종 중 0~9개</a:t>
            </a:r>
            <a:endParaRPr lang="en-US" sz="1150" dirty="0"/>
          </a:p>
          <a:p>
            <a:pPr indent="0" marL="0">
              <a:buNone/>
            </a:pPr>
            <a:r>
              <a:rPr lang="en-US" sz="1150" dirty="0">
                <a:solidFill>
                  <a:srgbClr val="212121"/>
                </a:solidFill>
                <a:latin typeface="맑은 고딕" pitchFamily="34" charset="0"/>
                <a:ea typeface="맑은 고딕" pitchFamily="34" charset="-122"/>
                <a:cs typeface="맑은 고딕" pitchFamily="34" charset="-120"/>
              </a:rPr>
              <a:t>(다중 레이블)</a:t>
            </a:r>
            <a:endParaRPr lang="en-US" sz="1150" dirty="0"/>
          </a:p>
        </p:txBody>
      </p:sp>
      <p:sp>
        <p:nvSpPr>
          <p:cNvPr id="17" name="Shape 14"/>
          <p:cNvSpPr/>
          <p:nvPr/>
        </p:nvSpPr>
        <p:spPr>
          <a:xfrm>
            <a:off x="685800" y="3922776"/>
            <a:ext cx="868680" cy="329184"/>
          </a:xfrm>
          <a:prstGeom prst="roundRect">
            <a:avLst>
              <a:gd name="adj" fmla="val 22222"/>
            </a:avLst>
          </a:prstGeom>
          <a:solidFill>
            <a:srgbClr val="2F4E91"/>
          </a:solidFill>
          <a:ln w="12700">
            <a:solidFill>
              <a:srgbClr val="2F4E91"/>
            </a:solidFill>
            <a:prstDash val="solid"/>
          </a:ln>
        </p:spPr>
      </p:sp>
      <p:sp>
        <p:nvSpPr>
          <p:cNvPr id="18" name="Text 15"/>
          <p:cNvSpPr txBox="1"/>
          <p:nvPr/>
        </p:nvSpPr>
        <p:spPr>
          <a:xfrm>
            <a:off x="685800" y="3922776"/>
            <a:ext cx="8686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평가</a:t>
            </a:r>
            <a:endParaRPr lang="en-US" sz="1200" dirty="0"/>
          </a:p>
        </p:txBody>
      </p:sp>
      <p:sp>
        <p:nvSpPr>
          <p:cNvPr id="19" name="Text 16"/>
          <p:cNvSpPr txBox="1"/>
          <p:nvPr/>
        </p:nvSpPr>
        <p:spPr>
          <a:xfrm>
            <a:off x="1691640" y="3886200"/>
            <a:ext cx="2331720" cy="502920"/>
          </a:xfrm>
          <a:prstGeom prst="rect">
            <a:avLst/>
          </a:prstGeom>
          <a:noFill/>
          <a:ln/>
        </p:spPr>
        <p:txBody>
          <a:bodyPr wrap="square" lIns="0" tIns="0" rIns="0" bIns="0" rtlCol="0" anchor="t"/>
          <a:lstStyle/>
          <a:p>
            <a:pPr indent="0" marL="0">
              <a:buNone/>
            </a:pPr>
            <a:r>
              <a:rPr lang="en-US" sz="1150" dirty="0">
                <a:solidFill>
                  <a:srgbClr val="212121"/>
                </a:solidFill>
                <a:latin typeface="맑은 고딕" pitchFamily="34" charset="0"/>
                <a:ea typeface="맑은 고딕" pitchFamily="34" charset="-122"/>
                <a:cs typeface="맑은 고딕" pitchFamily="34" charset="-120"/>
              </a:rPr>
              <a:t>Macro F1</a:t>
            </a:r>
            <a:endParaRPr lang="en-US" sz="1150" dirty="0"/>
          </a:p>
          <a:p>
            <a:pPr indent="0" marL="0">
              <a:buNone/>
            </a:pPr>
            <a:r>
              <a:rPr lang="en-US" sz="1150" dirty="0">
                <a:solidFill>
                  <a:srgbClr val="212121"/>
                </a:solidFill>
                <a:latin typeface="맑은 고딕" pitchFamily="34" charset="0"/>
                <a:ea typeface="맑은 고딕" pitchFamily="34" charset="-122"/>
                <a:cs typeface="맑은 고딕" pitchFamily="34" charset="-120"/>
              </a:rPr>
              <a:t>(증상별 F1 평균)</a:t>
            </a:r>
            <a:endParaRPr lang="en-US" sz="1150" dirty="0"/>
          </a:p>
        </p:txBody>
      </p:sp>
      <p:pic>
        <p:nvPicPr>
          <p:cNvPr id="20" name="Image 1" descr="figures/canva/sym_0.png">    </p:cNvPr>
          <p:cNvPicPr>
            <a:picLocks noChangeAspect="1"/>
          </p:cNvPicPr>
          <p:nvPr/>
        </p:nvPicPr>
        <p:blipFill>
          <a:blip r:embed="rId2"/>
          <a:stretch>
            <a:fillRect/>
          </a:stretch>
        </p:blipFill>
        <p:spPr>
          <a:xfrm>
            <a:off x="777240" y="4526280"/>
            <a:ext cx="475488" cy="475488"/>
          </a:xfrm>
          <a:prstGeom prst="rect">
            <a:avLst/>
          </a:prstGeom>
        </p:spPr>
      </p:pic>
      <p:sp>
        <p:nvSpPr>
          <p:cNvPr id="21" name="Text 17"/>
          <p:cNvSpPr txBox="1"/>
          <p:nvPr/>
        </p:nvSpPr>
        <p:spPr>
          <a:xfrm>
            <a:off x="685800" y="5038344"/>
            <a:ext cx="658368" cy="201168"/>
          </a:xfrm>
          <a:prstGeom prst="rect">
            <a:avLst/>
          </a:prstGeom>
          <a:noFill/>
          <a:ln/>
        </p:spPr>
        <p:txBody>
          <a:bodyPr wrap="square" lIns="0" tIns="0" rIns="0" bIns="0" rtlCol="0" anchor="t"/>
          <a:lstStyle/>
          <a:p>
            <a:pPr algn="ctr" indent="0" marL="0">
              <a:buNone/>
            </a:pPr>
            <a:r>
              <a:rPr lang="en-US" sz="950" dirty="0">
                <a:solidFill>
                  <a:srgbClr val="616161"/>
                </a:solidFill>
                <a:latin typeface="맑은 고딕" pitchFamily="34" charset="0"/>
                <a:ea typeface="맑은 고딕" pitchFamily="34" charset="-122"/>
                <a:cs typeface="맑은 고딕" pitchFamily="34" charset="-120"/>
              </a:rPr>
              <a:t>고열</a:t>
            </a:r>
            <a:endParaRPr lang="en-US" sz="950" dirty="0"/>
          </a:p>
        </p:txBody>
      </p:sp>
      <p:pic>
        <p:nvPicPr>
          <p:cNvPr id="22" name="Image 2" descr="figures/canva/sym_1.png">    </p:cNvPr>
          <p:cNvPicPr>
            <a:picLocks noChangeAspect="1"/>
          </p:cNvPicPr>
          <p:nvPr/>
        </p:nvPicPr>
        <p:blipFill>
          <a:blip r:embed="rId3"/>
          <a:stretch>
            <a:fillRect/>
          </a:stretch>
        </p:blipFill>
        <p:spPr>
          <a:xfrm>
            <a:off x="1435608" y="4526280"/>
            <a:ext cx="475488" cy="475488"/>
          </a:xfrm>
          <a:prstGeom prst="rect">
            <a:avLst/>
          </a:prstGeom>
        </p:spPr>
      </p:pic>
      <p:sp>
        <p:nvSpPr>
          <p:cNvPr id="23" name="Text 18"/>
          <p:cNvSpPr txBox="1"/>
          <p:nvPr/>
        </p:nvSpPr>
        <p:spPr>
          <a:xfrm>
            <a:off x="1344168" y="5038344"/>
            <a:ext cx="658368" cy="201168"/>
          </a:xfrm>
          <a:prstGeom prst="rect">
            <a:avLst/>
          </a:prstGeom>
          <a:noFill/>
          <a:ln/>
        </p:spPr>
        <p:txBody>
          <a:bodyPr wrap="square" lIns="0" tIns="0" rIns="0" bIns="0" rtlCol="0" anchor="t"/>
          <a:lstStyle/>
          <a:p>
            <a:pPr algn="ctr" indent="0" marL="0">
              <a:buNone/>
            </a:pPr>
            <a:r>
              <a:rPr lang="en-US" sz="950" dirty="0">
                <a:solidFill>
                  <a:srgbClr val="616161"/>
                </a:solidFill>
                <a:latin typeface="맑은 고딕" pitchFamily="34" charset="0"/>
                <a:ea typeface="맑은 고딕" pitchFamily="34" charset="-122"/>
                <a:cs typeface="맑은 고딕" pitchFamily="34" charset="-120"/>
              </a:rPr>
              <a:t>구토</a:t>
            </a:r>
            <a:endParaRPr lang="en-US" sz="950" dirty="0"/>
          </a:p>
        </p:txBody>
      </p:sp>
      <p:pic>
        <p:nvPicPr>
          <p:cNvPr id="24" name="Image 3" descr="figures/canva/sym_2.png">    </p:cNvPr>
          <p:cNvPicPr>
            <a:picLocks noChangeAspect="1"/>
          </p:cNvPicPr>
          <p:nvPr/>
        </p:nvPicPr>
        <p:blipFill>
          <a:blip r:embed="rId4"/>
          <a:stretch>
            <a:fillRect/>
          </a:stretch>
        </p:blipFill>
        <p:spPr>
          <a:xfrm>
            <a:off x="2093976" y="4526280"/>
            <a:ext cx="475488" cy="475488"/>
          </a:xfrm>
          <a:prstGeom prst="rect">
            <a:avLst/>
          </a:prstGeom>
        </p:spPr>
      </p:pic>
      <p:sp>
        <p:nvSpPr>
          <p:cNvPr id="25" name="Text 19"/>
          <p:cNvSpPr txBox="1"/>
          <p:nvPr/>
        </p:nvSpPr>
        <p:spPr>
          <a:xfrm>
            <a:off x="2002536" y="5038344"/>
            <a:ext cx="658368" cy="201168"/>
          </a:xfrm>
          <a:prstGeom prst="rect">
            <a:avLst/>
          </a:prstGeom>
          <a:noFill/>
          <a:ln/>
        </p:spPr>
        <p:txBody>
          <a:bodyPr wrap="square" lIns="0" tIns="0" rIns="0" bIns="0" rtlCol="0" anchor="t"/>
          <a:lstStyle/>
          <a:p>
            <a:pPr algn="ctr" indent="0" marL="0">
              <a:buNone/>
            </a:pPr>
            <a:r>
              <a:rPr lang="en-US" sz="950" dirty="0">
                <a:solidFill>
                  <a:srgbClr val="616161"/>
                </a:solidFill>
                <a:latin typeface="맑은 고딕" pitchFamily="34" charset="0"/>
                <a:ea typeface="맑은 고딕" pitchFamily="34" charset="-122"/>
                <a:cs typeface="맑은 고딕" pitchFamily="34" charset="-120"/>
              </a:rPr>
              <a:t>두통</a:t>
            </a:r>
            <a:endParaRPr lang="en-US" sz="950" dirty="0"/>
          </a:p>
        </p:txBody>
      </p:sp>
      <p:pic>
        <p:nvPicPr>
          <p:cNvPr id="26" name="Image 4" descr="figures/canva/sym_3.png">    </p:cNvPr>
          <p:cNvPicPr>
            <a:picLocks noChangeAspect="1"/>
          </p:cNvPicPr>
          <p:nvPr/>
        </p:nvPicPr>
        <p:blipFill>
          <a:blip r:embed="rId5"/>
          <a:stretch>
            <a:fillRect/>
          </a:stretch>
        </p:blipFill>
        <p:spPr>
          <a:xfrm>
            <a:off x="2752344" y="4526280"/>
            <a:ext cx="475488" cy="475488"/>
          </a:xfrm>
          <a:prstGeom prst="rect">
            <a:avLst/>
          </a:prstGeom>
        </p:spPr>
      </p:pic>
      <p:sp>
        <p:nvSpPr>
          <p:cNvPr id="27" name="Text 20"/>
          <p:cNvSpPr txBox="1"/>
          <p:nvPr/>
        </p:nvSpPr>
        <p:spPr>
          <a:xfrm>
            <a:off x="2660904" y="5038344"/>
            <a:ext cx="658368" cy="201168"/>
          </a:xfrm>
          <a:prstGeom prst="rect">
            <a:avLst/>
          </a:prstGeom>
          <a:noFill/>
          <a:ln/>
        </p:spPr>
        <p:txBody>
          <a:bodyPr wrap="square" lIns="0" tIns="0" rIns="0" bIns="0" rtlCol="0" anchor="t"/>
          <a:lstStyle/>
          <a:p>
            <a:pPr algn="ctr" indent="0" marL="0">
              <a:buNone/>
            </a:pPr>
            <a:r>
              <a:rPr lang="en-US" sz="950" dirty="0">
                <a:solidFill>
                  <a:srgbClr val="616161"/>
                </a:solidFill>
                <a:latin typeface="맑은 고딕" pitchFamily="34" charset="0"/>
                <a:ea typeface="맑은 고딕" pitchFamily="34" charset="-122"/>
                <a:cs typeface="맑은 고딕" pitchFamily="34" charset="-120"/>
              </a:rPr>
              <a:t>복통</a:t>
            </a:r>
            <a:endParaRPr lang="en-US" sz="950" dirty="0"/>
          </a:p>
        </p:txBody>
      </p:sp>
      <p:pic>
        <p:nvPicPr>
          <p:cNvPr id="28" name="Image 5" descr="figures/canva/sym_4.png">    </p:cNvPr>
          <p:cNvPicPr>
            <a:picLocks noChangeAspect="1"/>
          </p:cNvPicPr>
          <p:nvPr/>
        </p:nvPicPr>
        <p:blipFill>
          <a:blip r:embed="rId6"/>
          <a:stretch>
            <a:fillRect/>
          </a:stretch>
        </p:blipFill>
        <p:spPr>
          <a:xfrm>
            <a:off x="3410712" y="4526280"/>
            <a:ext cx="475488" cy="475488"/>
          </a:xfrm>
          <a:prstGeom prst="rect">
            <a:avLst/>
          </a:prstGeom>
        </p:spPr>
      </p:pic>
      <p:sp>
        <p:nvSpPr>
          <p:cNvPr id="29" name="Text 21"/>
          <p:cNvSpPr txBox="1"/>
          <p:nvPr/>
        </p:nvSpPr>
        <p:spPr>
          <a:xfrm>
            <a:off x="3319272" y="5038344"/>
            <a:ext cx="658368" cy="201168"/>
          </a:xfrm>
          <a:prstGeom prst="rect">
            <a:avLst/>
          </a:prstGeom>
          <a:noFill/>
          <a:ln/>
        </p:spPr>
        <p:txBody>
          <a:bodyPr wrap="square" lIns="0" tIns="0" rIns="0" bIns="0" rtlCol="0" anchor="t"/>
          <a:lstStyle/>
          <a:p>
            <a:pPr algn="ctr" indent="0" marL="0">
              <a:buNone/>
            </a:pPr>
            <a:r>
              <a:rPr lang="en-US" sz="950" dirty="0">
                <a:solidFill>
                  <a:srgbClr val="616161"/>
                </a:solidFill>
                <a:latin typeface="맑은 고딕" pitchFamily="34" charset="0"/>
                <a:ea typeface="맑은 고딕" pitchFamily="34" charset="-122"/>
                <a:cs typeface="맑은 고딕" pitchFamily="34" charset="-120"/>
              </a:rPr>
              <a:t>어지러움</a:t>
            </a:r>
            <a:endParaRPr lang="en-US" sz="950" dirty="0"/>
          </a:p>
        </p:txBody>
      </p:sp>
      <p:pic>
        <p:nvPicPr>
          <p:cNvPr id="30" name="Image 6" descr="figures/canva/sym_5.png">    </p:cNvPr>
          <p:cNvPicPr>
            <a:picLocks noChangeAspect="1"/>
          </p:cNvPicPr>
          <p:nvPr/>
        </p:nvPicPr>
        <p:blipFill>
          <a:blip r:embed="rId7"/>
          <a:stretch>
            <a:fillRect/>
          </a:stretch>
        </p:blipFill>
        <p:spPr>
          <a:xfrm>
            <a:off x="1106424" y="5394960"/>
            <a:ext cx="475488" cy="475488"/>
          </a:xfrm>
          <a:prstGeom prst="rect">
            <a:avLst/>
          </a:prstGeom>
        </p:spPr>
      </p:pic>
      <p:sp>
        <p:nvSpPr>
          <p:cNvPr id="31" name="Text 22"/>
          <p:cNvSpPr txBox="1"/>
          <p:nvPr/>
        </p:nvSpPr>
        <p:spPr>
          <a:xfrm>
            <a:off x="1014984" y="5907024"/>
            <a:ext cx="658368" cy="201168"/>
          </a:xfrm>
          <a:prstGeom prst="rect">
            <a:avLst/>
          </a:prstGeom>
          <a:noFill/>
          <a:ln/>
        </p:spPr>
        <p:txBody>
          <a:bodyPr wrap="square" lIns="0" tIns="0" rIns="0" bIns="0" rtlCol="0" anchor="t"/>
          <a:lstStyle/>
          <a:p>
            <a:pPr algn="ctr" indent="0" marL="0">
              <a:buNone/>
            </a:pPr>
            <a:r>
              <a:rPr lang="en-US" sz="950" dirty="0">
                <a:solidFill>
                  <a:srgbClr val="616161"/>
                </a:solidFill>
                <a:latin typeface="맑은 고딕" pitchFamily="34" charset="0"/>
                <a:ea typeface="맑은 고딕" pitchFamily="34" charset="-122"/>
                <a:cs typeface="맑은 고딕" pitchFamily="34" charset="-120"/>
              </a:rPr>
              <a:t>열상</a:t>
            </a:r>
            <a:endParaRPr lang="en-US" sz="950" dirty="0"/>
          </a:p>
        </p:txBody>
      </p:sp>
      <p:pic>
        <p:nvPicPr>
          <p:cNvPr id="32" name="Image 7" descr="figures/canva/sym_6.png">    </p:cNvPr>
          <p:cNvPicPr>
            <a:picLocks noChangeAspect="1"/>
          </p:cNvPicPr>
          <p:nvPr/>
        </p:nvPicPr>
        <p:blipFill>
          <a:blip r:embed="rId8"/>
          <a:stretch>
            <a:fillRect/>
          </a:stretch>
        </p:blipFill>
        <p:spPr>
          <a:xfrm>
            <a:off x="1764792" y="5394960"/>
            <a:ext cx="475488" cy="475488"/>
          </a:xfrm>
          <a:prstGeom prst="rect">
            <a:avLst/>
          </a:prstGeom>
        </p:spPr>
      </p:pic>
      <p:sp>
        <p:nvSpPr>
          <p:cNvPr id="33" name="Text 23"/>
          <p:cNvSpPr txBox="1"/>
          <p:nvPr/>
        </p:nvSpPr>
        <p:spPr>
          <a:xfrm>
            <a:off x="1673352" y="5907024"/>
            <a:ext cx="658368" cy="201168"/>
          </a:xfrm>
          <a:prstGeom prst="rect">
            <a:avLst/>
          </a:prstGeom>
          <a:noFill/>
          <a:ln/>
        </p:spPr>
        <p:txBody>
          <a:bodyPr wrap="square" lIns="0" tIns="0" rIns="0" bIns="0" rtlCol="0" anchor="t"/>
          <a:lstStyle/>
          <a:p>
            <a:pPr algn="ctr" indent="0" marL="0">
              <a:buNone/>
            </a:pPr>
            <a:r>
              <a:rPr lang="en-US" sz="950" dirty="0">
                <a:solidFill>
                  <a:srgbClr val="616161"/>
                </a:solidFill>
                <a:latin typeface="맑은 고딕" pitchFamily="34" charset="0"/>
                <a:ea typeface="맑은 고딕" pitchFamily="34" charset="-122"/>
                <a:cs typeface="맑은 고딕" pitchFamily="34" charset="-120"/>
              </a:rPr>
              <a:t>오심</a:t>
            </a:r>
            <a:endParaRPr lang="en-US" sz="950" dirty="0"/>
          </a:p>
        </p:txBody>
      </p:sp>
      <p:pic>
        <p:nvPicPr>
          <p:cNvPr id="34" name="Image 8" descr="figures/canva/sym_7.png">    </p:cNvPr>
          <p:cNvPicPr>
            <a:picLocks noChangeAspect="1"/>
          </p:cNvPicPr>
          <p:nvPr/>
        </p:nvPicPr>
        <p:blipFill>
          <a:blip r:embed="rId9"/>
          <a:stretch>
            <a:fillRect/>
          </a:stretch>
        </p:blipFill>
        <p:spPr>
          <a:xfrm>
            <a:off x="2423160" y="5394960"/>
            <a:ext cx="475488" cy="475488"/>
          </a:xfrm>
          <a:prstGeom prst="rect">
            <a:avLst/>
          </a:prstGeom>
        </p:spPr>
      </p:pic>
      <p:sp>
        <p:nvSpPr>
          <p:cNvPr id="35" name="Text 24"/>
          <p:cNvSpPr txBox="1"/>
          <p:nvPr/>
        </p:nvSpPr>
        <p:spPr>
          <a:xfrm>
            <a:off x="2331720" y="5907024"/>
            <a:ext cx="658368" cy="201168"/>
          </a:xfrm>
          <a:prstGeom prst="rect">
            <a:avLst/>
          </a:prstGeom>
          <a:noFill/>
          <a:ln/>
        </p:spPr>
        <p:txBody>
          <a:bodyPr wrap="square" lIns="0" tIns="0" rIns="0" bIns="0" rtlCol="0" anchor="t"/>
          <a:lstStyle/>
          <a:p>
            <a:pPr algn="ctr" indent="0" marL="0">
              <a:buNone/>
            </a:pPr>
            <a:r>
              <a:rPr lang="en-US" sz="950" dirty="0">
                <a:solidFill>
                  <a:srgbClr val="616161"/>
                </a:solidFill>
                <a:latin typeface="맑은 고딕" pitchFamily="34" charset="0"/>
                <a:ea typeface="맑은 고딕" pitchFamily="34" charset="-122"/>
                <a:cs typeface="맑은 고딕" pitchFamily="34" charset="-120"/>
              </a:rPr>
              <a:t>전신쇠약</a:t>
            </a:r>
            <a:endParaRPr lang="en-US" sz="950" dirty="0"/>
          </a:p>
        </p:txBody>
      </p:sp>
      <p:pic>
        <p:nvPicPr>
          <p:cNvPr id="36" name="Image 9" descr="figures/canva/sym_8.png">    </p:cNvPr>
          <p:cNvPicPr>
            <a:picLocks noChangeAspect="1"/>
          </p:cNvPicPr>
          <p:nvPr/>
        </p:nvPicPr>
        <p:blipFill>
          <a:blip r:embed="rId10"/>
          <a:stretch>
            <a:fillRect/>
          </a:stretch>
        </p:blipFill>
        <p:spPr>
          <a:xfrm>
            <a:off x="3081528" y="5394960"/>
            <a:ext cx="475488" cy="475488"/>
          </a:xfrm>
          <a:prstGeom prst="rect">
            <a:avLst/>
          </a:prstGeom>
        </p:spPr>
      </p:pic>
      <p:sp>
        <p:nvSpPr>
          <p:cNvPr id="37" name="Text 25"/>
          <p:cNvSpPr txBox="1"/>
          <p:nvPr/>
        </p:nvSpPr>
        <p:spPr>
          <a:xfrm>
            <a:off x="2990088" y="5907024"/>
            <a:ext cx="658368" cy="201168"/>
          </a:xfrm>
          <a:prstGeom prst="rect">
            <a:avLst/>
          </a:prstGeom>
          <a:noFill/>
          <a:ln/>
        </p:spPr>
        <p:txBody>
          <a:bodyPr wrap="square" lIns="0" tIns="0" rIns="0" bIns="0" rtlCol="0" anchor="t"/>
          <a:lstStyle/>
          <a:p>
            <a:pPr algn="ctr" indent="0" marL="0">
              <a:buNone/>
            </a:pPr>
            <a:r>
              <a:rPr lang="en-US" sz="950" dirty="0">
                <a:solidFill>
                  <a:srgbClr val="616161"/>
                </a:solidFill>
                <a:latin typeface="맑은 고딕" pitchFamily="34" charset="0"/>
                <a:ea typeface="맑은 고딕" pitchFamily="34" charset="-122"/>
                <a:cs typeface="맑은 고딕" pitchFamily="34" charset="-120"/>
              </a:rPr>
              <a:t>호흡곤란</a:t>
            </a:r>
            <a:endParaRPr lang="en-US" sz="950" dirty="0"/>
          </a:p>
        </p:txBody>
      </p:sp>
      <p:sp>
        <p:nvSpPr>
          <p:cNvPr id="38" name="Text 26"/>
          <p:cNvSpPr txBox="1"/>
          <p:nvPr/>
        </p:nvSpPr>
        <p:spPr>
          <a:xfrm>
            <a:off x="4572000" y="2240280"/>
            <a:ext cx="7162495" cy="365760"/>
          </a:xfrm>
          <a:prstGeom prst="rect">
            <a:avLst/>
          </a:prstGeom>
          <a:noFill/>
          <a:ln/>
        </p:spPr>
        <p:txBody>
          <a:bodyPr wrap="square" lIns="0" tIns="0" rIns="0" bIns="0" rtlCol="0" anchor="t"/>
          <a:lstStyle/>
          <a:p>
            <a:pPr indent="0" marL="0">
              <a:buNone/>
            </a:pPr>
            <a:r>
              <a:rPr lang="en-US" sz="1800" b="1" dirty="0">
                <a:solidFill>
                  <a:srgbClr val="212121"/>
                </a:solidFill>
                <a:latin typeface="맑은 고딕" pitchFamily="34" charset="0"/>
                <a:ea typeface="맑은 고딕" pitchFamily="34" charset="-122"/>
                <a:cs typeface="맑은 고딕" pitchFamily="34" charset="-120"/>
              </a:rPr>
              <a:t>■ 모델 구성</a:t>
            </a:r>
            <a:endParaRPr lang="en-US" sz="1800" dirty="0"/>
          </a:p>
        </p:txBody>
      </p:sp>
      <p:sp>
        <p:nvSpPr>
          <p:cNvPr id="39" name="Shape 27"/>
          <p:cNvSpPr/>
          <p:nvPr/>
        </p:nvSpPr>
        <p:spPr>
          <a:xfrm>
            <a:off x="4572000" y="2697480"/>
            <a:ext cx="1417320" cy="1600200"/>
          </a:xfrm>
          <a:prstGeom prst="roundRect">
            <a:avLst>
              <a:gd name="adj" fmla="val 5161"/>
            </a:avLst>
          </a:prstGeom>
          <a:solidFill>
            <a:srgbClr val="EAF3FA"/>
          </a:solidFill>
          <a:ln w="12700">
            <a:solidFill>
              <a:srgbClr val="009DDA"/>
            </a:solidFill>
            <a:prstDash val="solid"/>
          </a:ln>
        </p:spPr>
      </p:sp>
      <p:sp>
        <p:nvSpPr>
          <p:cNvPr id="40" name="Text 28"/>
          <p:cNvSpPr txBox="1"/>
          <p:nvPr/>
        </p:nvSpPr>
        <p:spPr>
          <a:xfrm>
            <a:off x="4626864" y="2697480"/>
            <a:ext cx="1307592" cy="1600200"/>
          </a:xfrm>
          <a:prstGeom prst="rect">
            <a:avLst/>
          </a:prstGeom>
          <a:noFill/>
          <a:ln/>
        </p:spPr>
        <p:txBody>
          <a:bodyPr wrap="square" lIns="0" tIns="0" rIns="0" bIns="0" rtlCol="0" anchor="ctr"/>
          <a:lstStyle/>
          <a:p>
            <a:pPr algn="ctr" indent="0" marL="0">
              <a:buNone/>
            </a:pPr>
            <a:r>
              <a:rPr lang="en-US" sz="1250" b="1" dirty="0">
                <a:solidFill>
                  <a:srgbClr val="2F4E91"/>
                </a:solidFill>
                <a:latin typeface="맑은 고딕" pitchFamily="34" charset="0"/>
                <a:ea typeface="맑은 고딕" pitchFamily="34" charset="-122"/>
                <a:cs typeface="맑은 고딕" pitchFamily="34" charset="-120"/>
              </a:rPr>
              <a:t>입력 정제</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발화 text만</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원본 순서 유지</a:t>
            </a:r>
            <a:endParaRPr lang="en-US" sz="1400" dirty="0"/>
          </a:p>
        </p:txBody>
      </p:sp>
      <p:sp>
        <p:nvSpPr>
          <p:cNvPr id="41" name="Shape 29"/>
          <p:cNvSpPr/>
          <p:nvPr/>
        </p:nvSpPr>
        <p:spPr>
          <a:xfrm>
            <a:off x="6918808" y="2697480"/>
            <a:ext cx="2286000" cy="731520"/>
          </a:xfrm>
          <a:prstGeom prst="roundRect">
            <a:avLst>
              <a:gd name="adj" fmla="val 10000"/>
            </a:avLst>
          </a:prstGeom>
          <a:solidFill>
            <a:srgbClr val="EAF3FA"/>
          </a:solidFill>
          <a:ln w="12700">
            <a:solidFill>
              <a:srgbClr val="009DDA"/>
            </a:solidFill>
            <a:prstDash val="solid"/>
          </a:ln>
        </p:spPr>
      </p:sp>
      <p:sp>
        <p:nvSpPr>
          <p:cNvPr id="42" name="Text 30"/>
          <p:cNvSpPr txBox="1"/>
          <p:nvPr/>
        </p:nvSpPr>
        <p:spPr>
          <a:xfrm>
            <a:off x="6973672" y="2697480"/>
            <a:ext cx="2176272" cy="731520"/>
          </a:xfrm>
          <a:prstGeom prst="rect">
            <a:avLst/>
          </a:prstGeom>
          <a:noFill/>
          <a:ln/>
        </p:spPr>
        <p:txBody>
          <a:bodyPr wrap="square" lIns="0" tIns="0" rIns="0" bIns="0" rtlCol="0" anchor="ctr"/>
          <a:lstStyle/>
          <a:p>
            <a:pPr algn="ctr" indent="0" marL="0">
              <a:buNone/>
            </a:pPr>
            <a:r>
              <a:rPr lang="en-US" sz="1250" b="1" dirty="0">
                <a:solidFill>
                  <a:srgbClr val="2F4E91"/>
                </a:solidFill>
                <a:latin typeface="맑은 고딕" pitchFamily="34" charset="0"/>
                <a:ea typeface="맑은 고딕" pitchFamily="34" charset="-122"/>
                <a:cs typeface="맑은 고딕" pitchFamily="34" charset="-120"/>
              </a:rPr>
              <a:t>RoBERTa-large</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seed 42·43·44 평균</a:t>
            </a:r>
            <a:endParaRPr lang="en-US" sz="1400" dirty="0"/>
          </a:p>
        </p:txBody>
      </p:sp>
      <p:sp>
        <p:nvSpPr>
          <p:cNvPr id="43" name="Shape 31"/>
          <p:cNvSpPr/>
          <p:nvPr/>
        </p:nvSpPr>
        <p:spPr>
          <a:xfrm flipV="1">
            <a:off x="5989320" y="3063240"/>
            <a:ext cx="929488" cy="434340"/>
          </a:xfrm>
          <a:prstGeom prst="line">
            <a:avLst/>
          </a:prstGeom>
          <a:noFill/>
          <a:ln w="19050">
            <a:solidFill>
              <a:srgbClr val="009DDA"/>
            </a:solidFill>
            <a:prstDash val="solid"/>
            <a:tailEnd type="triangle"/>
          </a:ln>
        </p:spPr>
      </p:sp>
      <p:sp>
        <p:nvSpPr>
          <p:cNvPr id="44" name="Shape 32"/>
          <p:cNvSpPr/>
          <p:nvPr/>
        </p:nvSpPr>
        <p:spPr>
          <a:xfrm>
            <a:off x="9204808" y="3063240"/>
            <a:ext cx="929488" cy="434340"/>
          </a:xfrm>
          <a:prstGeom prst="line">
            <a:avLst/>
          </a:prstGeom>
          <a:noFill/>
          <a:ln w="19050">
            <a:solidFill>
              <a:srgbClr val="009DDA"/>
            </a:solidFill>
            <a:prstDash val="solid"/>
            <a:tailEnd type="triangle"/>
          </a:ln>
        </p:spPr>
      </p:sp>
      <p:sp>
        <p:nvSpPr>
          <p:cNvPr id="45" name="Text 33"/>
          <p:cNvSpPr txBox="1"/>
          <p:nvPr/>
        </p:nvSpPr>
        <p:spPr>
          <a:xfrm>
            <a:off x="9241384" y="2752344"/>
            <a:ext cx="856336" cy="237744"/>
          </a:xfrm>
          <a:prstGeom prst="rect">
            <a:avLst/>
          </a:prstGeom>
          <a:noFill/>
          <a:ln/>
        </p:spPr>
        <p:txBody>
          <a:bodyPr wrap="square" lIns="0" tIns="0" rIns="0" bIns="0" rtlCol="0" anchor="t"/>
          <a:lstStyle/>
          <a:p>
            <a:pPr algn="l" indent="0" marL="0">
              <a:buNone/>
            </a:pPr>
            <a:r>
              <a:rPr lang="en-US" sz="1100" b="1" dirty="0">
                <a:solidFill>
                  <a:srgbClr val="2F4E91"/>
                </a:solidFill>
                <a:latin typeface="맑은 고딕" pitchFamily="34" charset="0"/>
                <a:ea typeface="맑은 고딕" pitchFamily="34" charset="-122"/>
                <a:cs typeface="맑은 고딕" pitchFamily="34" charset="-120"/>
              </a:rPr>
              <a:t>× 0.55</a:t>
            </a:r>
            <a:endParaRPr lang="en-US" sz="1100" dirty="0"/>
          </a:p>
        </p:txBody>
      </p:sp>
      <p:sp>
        <p:nvSpPr>
          <p:cNvPr id="46" name="Shape 34"/>
          <p:cNvSpPr/>
          <p:nvPr/>
        </p:nvSpPr>
        <p:spPr>
          <a:xfrm>
            <a:off x="6918808" y="3566160"/>
            <a:ext cx="2286000" cy="731520"/>
          </a:xfrm>
          <a:prstGeom prst="roundRect">
            <a:avLst>
              <a:gd name="adj" fmla="val 10000"/>
            </a:avLst>
          </a:prstGeom>
          <a:solidFill>
            <a:srgbClr val="EAF3FA"/>
          </a:solidFill>
          <a:ln w="12700">
            <a:solidFill>
              <a:srgbClr val="009DDA"/>
            </a:solidFill>
            <a:prstDash val="solid"/>
          </a:ln>
        </p:spPr>
      </p:sp>
      <p:sp>
        <p:nvSpPr>
          <p:cNvPr id="47" name="Text 35"/>
          <p:cNvSpPr txBox="1"/>
          <p:nvPr/>
        </p:nvSpPr>
        <p:spPr>
          <a:xfrm>
            <a:off x="6973672" y="3566160"/>
            <a:ext cx="2176272" cy="731520"/>
          </a:xfrm>
          <a:prstGeom prst="rect">
            <a:avLst/>
          </a:prstGeom>
          <a:noFill/>
          <a:ln/>
        </p:spPr>
        <p:txBody>
          <a:bodyPr wrap="square" lIns="0" tIns="0" rIns="0" bIns="0" rtlCol="0" anchor="ctr"/>
          <a:lstStyle/>
          <a:p>
            <a:pPr algn="ctr" indent="0" marL="0">
              <a:buNone/>
            </a:pPr>
            <a:r>
              <a:rPr lang="en-US" sz="1250" b="1" dirty="0">
                <a:solidFill>
                  <a:srgbClr val="2F4E91"/>
                </a:solidFill>
                <a:latin typeface="맑은 고딕" pitchFamily="34" charset="0"/>
                <a:ea typeface="맑은 고딕" pitchFamily="34" charset="-122"/>
                <a:cs typeface="맑은 고딕" pitchFamily="34" charset="-120"/>
              </a:rPr>
              <a:t>TF-IDF + 로지스틱 회귀</a:t>
            </a:r>
            <a:endParaRPr lang="en-US" sz="1400" dirty="0"/>
          </a:p>
          <a:p>
            <a:pPr algn="ctr" indent="0" marL="0">
              <a:buNone/>
            </a:pPr>
            <a:r>
              <a:rPr lang="en-US" sz="1050" dirty="0">
                <a:solidFill>
                  <a:srgbClr val="212121"/>
                </a:solidFill>
                <a:latin typeface="맑은 고딕" pitchFamily="34" charset="0"/>
                <a:ea typeface="맑은 고딕" pitchFamily="34" charset="-122"/>
                <a:cs typeface="맑은 고딕" pitchFamily="34" charset="-120"/>
              </a:rPr>
              <a:t>초기 기준선</a:t>
            </a:r>
            <a:endParaRPr lang="en-US" sz="1400" dirty="0"/>
          </a:p>
        </p:txBody>
      </p:sp>
      <p:sp>
        <p:nvSpPr>
          <p:cNvPr id="48" name="Shape 36"/>
          <p:cNvSpPr/>
          <p:nvPr/>
        </p:nvSpPr>
        <p:spPr>
          <a:xfrm>
            <a:off x="5989320" y="3497580"/>
            <a:ext cx="929488" cy="434340"/>
          </a:xfrm>
          <a:prstGeom prst="line">
            <a:avLst/>
          </a:prstGeom>
          <a:noFill/>
          <a:ln w="19050">
            <a:solidFill>
              <a:srgbClr val="009DDA"/>
            </a:solidFill>
            <a:prstDash val="solid"/>
            <a:tailEnd type="triangle"/>
          </a:ln>
        </p:spPr>
      </p:sp>
      <p:sp>
        <p:nvSpPr>
          <p:cNvPr id="49" name="Shape 37"/>
          <p:cNvSpPr/>
          <p:nvPr/>
        </p:nvSpPr>
        <p:spPr>
          <a:xfrm flipV="1">
            <a:off x="9204808" y="3497580"/>
            <a:ext cx="929488" cy="434340"/>
          </a:xfrm>
          <a:prstGeom prst="line">
            <a:avLst/>
          </a:prstGeom>
          <a:noFill/>
          <a:ln w="19050">
            <a:solidFill>
              <a:srgbClr val="009DDA"/>
            </a:solidFill>
            <a:prstDash val="solid"/>
            <a:tailEnd type="triangle"/>
          </a:ln>
        </p:spPr>
      </p:sp>
      <p:sp>
        <p:nvSpPr>
          <p:cNvPr id="50" name="Text 38"/>
          <p:cNvSpPr txBox="1"/>
          <p:nvPr/>
        </p:nvSpPr>
        <p:spPr>
          <a:xfrm>
            <a:off x="9241384" y="4005072"/>
            <a:ext cx="856336" cy="237744"/>
          </a:xfrm>
          <a:prstGeom prst="rect">
            <a:avLst/>
          </a:prstGeom>
          <a:noFill/>
          <a:ln/>
        </p:spPr>
        <p:txBody>
          <a:bodyPr wrap="square" lIns="0" tIns="0" rIns="0" bIns="0" rtlCol="0" anchor="t"/>
          <a:lstStyle/>
          <a:p>
            <a:pPr algn="l" indent="0" marL="0">
              <a:buNone/>
            </a:pPr>
            <a:r>
              <a:rPr lang="en-US" sz="1100" b="1" dirty="0">
                <a:solidFill>
                  <a:srgbClr val="2F4E91"/>
                </a:solidFill>
                <a:latin typeface="맑은 고딕" pitchFamily="34" charset="0"/>
                <a:ea typeface="맑은 고딕" pitchFamily="34" charset="-122"/>
                <a:cs typeface="맑은 고딕" pitchFamily="34" charset="-120"/>
              </a:rPr>
              <a:t>× 0.45</a:t>
            </a:r>
            <a:endParaRPr lang="en-US" sz="1100" dirty="0"/>
          </a:p>
        </p:txBody>
      </p:sp>
      <p:sp>
        <p:nvSpPr>
          <p:cNvPr id="51" name="Shape 39"/>
          <p:cNvSpPr/>
          <p:nvPr/>
        </p:nvSpPr>
        <p:spPr>
          <a:xfrm>
            <a:off x="10134295" y="2697480"/>
            <a:ext cx="1600200" cy="1600200"/>
          </a:xfrm>
          <a:prstGeom prst="roundRect">
            <a:avLst>
              <a:gd name="adj" fmla="val 4571"/>
            </a:avLst>
          </a:prstGeom>
          <a:solidFill>
            <a:srgbClr val="2F4E91"/>
          </a:solidFill>
          <a:ln w="12700">
            <a:solidFill>
              <a:srgbClr val="2F4E91"/>
            </a:solidFill>
            <a:prstDash val="solid"/>
          </a:ln>
        </p:spPr>
      </p:sp>
      <p:sp>
        <p:nvSpPr>
          <p:cNvPr id="52" name="Text 40"/>
          <p:cNvSpPr txBox="1"/>
          <p:nvPr/>
        </p:nvSpPr>
        <p:spPr>
          <a:xfrm>
            <a:off x="10189159" y="2697480"/>
            <a:ext cx="1490472" cy="1600200"/>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가중 평균</a:t>
            </a:r>
            <a:endParaRPr lang="en-US" sz="1400" dirty="0"/>
          </a:p>
          <a:p>
            <a:pPr algn="ctr" indent="0" marL="0">
              <a:buNone/>
            </a:pPr>
            <a:r>
              <a:rPr lang="en-US" sz="1050" dirty="0">
                <a:solidFill>
                  <a:srgbClr val="FFFFFF"/>
                </a:solidFill>
                <a:latin typeface="맑은 고딕" pitchFamily="34" charset="0"/>
                <a:ea typeface="맑은 고딕" pitchFamily="34" charset="-122"/>
                <a:cs typeface="맑은 고딕" pitchFamily="34" charset="-120"/>
              </a:rPr>
              <a:t>증상별 ≥ 0.5</a:t>
            </a:r>
            <a:endParaRPr lang="en-US" sz="1400" dirty="0"/>
          </a:p>
          <a:p>
            <a:pPr algn="ctr" indent="0" marL="0">
              <a:buNone/>
            </a:pPr>
            <a:r>
              <a:rPr lang="en-US" sz="1050" dirty="0">
                <a:solidFill>
                  <a:srgbClr val="FFFFFF"/>
                </a:solidFill>
                <a:latin typeface="맑은 고딕" pitchFamily="34" charset="0"/>
                <a:ea typeface="맑은 고딕" pitchFamily="34" charset="-122"/>
                <a:cs typeface="맑은 고딕" pitchFamily="34" charset="-120"/>
              </a:rPr>
              <a:t>판정</a:t>
            </a:r>
            <a:endParaRPr lang="en-US" sz="1400" dirty="0"/>
          </a:p>
        </p:txBody>
      </p:sp>
      <p:sp>
        <p:nvSpPr>
          <p:cNvPr id="53" name="Text 41"/>
          <p:cNvSpPr txBox="1"/>
          <p:nvPr/>
        </p:nvSpPr>
        <p:spPr>
          <a:xfrm>
            <a:off x="4572000" y="4526280"/>
            <a:ext cx="7162495" cy="365760"/>
          </a:xfrm>
          <a:prstGeom prst="rect">
            <a:avLst/>
          </a:prstGeom>
          <a:noFill/>
          <a:ln/>
        </p:spPr>
        <p:txBody>
          <a:bodyPr wrap="square" lIns="0" tIns="0" rIns="0" bIns="0" rtlCol="0" anchor="t"/>
          <a:lstStyle/>
          <a:p>
            <a:pPr indent="0" marL="0">
              <a:buNone/>
            </a:pPr>
            <a:r>
              <a:rPr lang="en-US" sz="1800" b="1" dirty="0">
                <a:solidFill>
                  <a:srgbClr val="212121"/>
                </a:solidFill>
                <a:latin typeface="맑은 고딕" pitchFamily="34" charset="0"/>
                <a:ea typeface="맑은 고딕" pitchFamily="34" charset="-122"/>
                <a:cs typeface="맑은 고딕" pitchFamily="34" charset="-120"/>
              </a:rPr>
              <a:t>■ 왜 이 방법인가</a:t>
            </a:r>
            <a:endParaRPr lang="en-US" sz="1800" dirty="0"/>
          </a:p>
        </p:txBody>
      </p:sp>
      <p:sp>
        <p:nvSpPr>
          <p:cNvPr id="54" name="Text 42"/>
          <p:cNvSpPr txBox="1"/>
          <p:nvPr/>
        </p:nvSpPr>
        <p:spPr>
          <a:xfrm>
            <a:off x="4572000" y="4937760"/>
            <a:ext cx="7162495" cy="1280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12121"/>
                </a:solidFill>
                <a:latin typeface="맑은 고딕" pitchFamily="34" charset="0"/>
                <a:ea typeface="맑은 고딕" pitchFamily="34" charset="-122"/>
                <a:cs typeface="맑은 고딕" pitchFamily="34" charset="-120"/>
              </a:rPr>
              <a:t>오류 단서: 키워드 탐색에서 전사에 직접 근거가 드러나지 않는 양성 라벨을 발견</a:t>
            </a:r>
            <a:endParaRPr lang="en-US" sz="1300" dirty="0"/>
          </a:p>
          <a:p>
            <a:pPr marL="342900" indent="-342900">
              <a:spcAft>
                <a:spcPts val="800"/>
              </a:spcAft>
              <a:buSzPct val="100000"/>
              <a:buChar char="•"/>
            </a:pPr>
            <a:r>
              <a:rPr lang="en-US" sz="1300" dirty="0">
                <a:solidFill>
                  <a:srgbClr val="212121"/>
                </a:solidFill>
                <a:latin typeface="맑은 고딕" pitchFamily="34" charset="0"/>
                <a:ea typeface="맑은 고딕" pitchFamily="34" charset="-122"/>
                <a:cs typeface="맑은 고딕" pitchFamily="34" charset="-120"/>
              </a:rPr>
              <a:t>모델 비교: 키워드 표현과 문맥 표현이 다른 오류를 낼 가능성을 확인</a:t>
            </a:r>
            <a:endParaRPr lang="en-US" sz="1300" dirty="0"/>
          </a:p>
          <a:p>
            <a:pPr marL="342900" indent="-342900">
              <a:spcAft>
                <a:spcPts val="800"/>
              </a:spcAft>
              <a:buSzPct val="100000"/>
              <a:buChar char="•"/>
            </a:pPr>
            <a:r>
              <a:rPr lang="en-US" sz="1300" dirty="0">
                <a:solidFill>
                  <a:srgbClr val="212121"/>
                </a:solidFill>
                <a:latin typeface="맑은 고딕" pitchFamily="34" charset="0"/>
                <a:ea typeface="맑은 고딕" pitchFamily="34" charset="-122"/>
                <a:cs typeface="맑은 고딕" pitchFamily="34" charset="-120"/>
              </a:rPr>
              <a:t>검증 원칙: 결합 비율은 Training 내부에서 확정하고, 공식 Val은 채점만 수행</a:t>
            </a:r>
            <a:endParaRPr lang="en-US" sz="1300" dirty="0"/>
          </a:p>
        </p:txBody>
      </p:sp>
      <p:sp>
        <p:nvSpPr>
          <p:cNvPr id="55" name="Text 43"/>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submission/mission3/README.md, docs/decisions.md M3-FINAL-002</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30</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3  환자 증상 인식 — 최종 결과</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최종 3-seed RoBERTa + TF-IDF 앙상블: 공식 Validation Macro F1 0.6534</a:t>
            </a:r>
            <a:endParaRPr lang="en-US" sz="1500" dirty="0"/>
          </a:p>
        </p:txBody>
      </p:sp>
      <p:sp>
        <p:nvSpPr>
          <p:cNvPr id="9" name="Shape 6"/>
          <p:cNvSpPr/>
          <p:nvPr/>
        </p:nvSpPr>
        <p:spPr>
          <a:xfrm>
            <a:off x="457200" y="2240280"/>
            <a:ext cx="6675120" cy="3977640"/>
          </a:xfrm>
          <a:prstGeom prst="roundRect">
            <a:avLst>
              <a:gd name="adj" fmla="val 2299"/>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Text 7"/>
          <p:cNvSpPr txBox="1"/>
          <p:nvPr/>
        </p:nvSpPr>
        <p:spPr>
          <a:xfrm>
            <a:off x="640080" y="2423160"/>
            <a:ext cx="2377440" cy="685800"/>
          </a:xfrm>
          <a:prstGeom prst="rect">
            <a:avLst/>
          </a:prstGeom>
          <a:noFill/>
          <a:ln/>
        </p:spPr>
        <p:txBody>
          <a:bodyPr wrap="square" lIns="0" tIns="0" rIns="0" bIns="0" rtlCol="0" anchor="ctr"/>
          <a:lstStyle/>
          <a:p>
            <a:pPr algn="ctr" indent="0" marL="0">
              <a:buNone/>
            </a:pPr>
            <a:r>
              <a:rPr lang="en-US" sz="3800" b="1" dirty="0">
                <a:solidFill>
                  <a:srgbClr val="2F4E91"/>
                </a:solidFill>
                <a:latin typeface="맑은 고딕" pitchFamily="34" charset="0"/>
                <a:ea typeface="맑은 고딕" pitchFamily="34" charset="-122"/>
                <a:cs typeface="맑은 고딕" pitchFamily="34" charset="-120"/>
              </a:rPr>
              <a:t>0.6534</a:t>
            </a:r>
            <a:endParaRPr lang="en-US" sz="3800" dirty="0"/>
          </a:p>
        </p:txBody>
      </p:sp>
      <p:sp>
        <p:nvSpPr>
          <p:cNvPr id="11" name="Text 8"/>
          <p:cNvSpPr txBox="1"/>
          <p:nvPr/>
        </p:nvSpPr>
        <p:spPr>
          <a:xfrm>
            <a:off x="640080" y="3136392"/>
            <a:ext cx="2377440" cy="457200"/>
          </a:xfrm>
          <a:prstGeom prst="rect">
            <a:avLst/>
          </a:prstGeom>
          <a:noFill/>
          <a:ln/>
        </p:spPr>
        <p:txBody>
          <a:bodyPr wrap="square" lIns="0" tIns="0" rIns="0" bIns="0" rtlCol="0" anchor="t"/>
          <a:lstStyle/>
          <a:p>
            <a:pPr algn="ctr" indent="0" marL="0">
              <a:buNone/>
            </a:pPr>
            <a:r>
              <a:rPr lang="en-US" sz="1150" dirty="0">
                <a:solidFill>
                  <a:srgbClr val="616161"/>
                </a:solidFill>
                <a:latin typeface="맑은 고딕" pitchFamily="34" charset="0"/>
                <a:ea typeface="맑은 고딕" pitchFamily="34" charset="-122"/>
                <a:cs typeface="맑은 고딕" pitchFamily="34" charset="-120"/>
              </a:rPr>
              <a:t>Macro F1 · 공식 Val 3,640건</a:t>
            </a:r>
            <a:endParaRPr lang="en-US" sz="1150" dirty="0"/>
          </a:p>
        </p:txBody>
      </p:sp>
      <p:sp>
        <p:nvSpPr>
          <p:cNvPr id="12" name="Shape 9"/>
          <p:cNvSpPr/>
          <p:nvPr/>
        </p:nvSpPr>
        <p:spPr>
          <a:xfrm>
            <a:off x="640080" y="3913632"/>
            <a:ext cx="2377440" cy="2103120"/>
          </a:xfrm>
          <a:prstGeom prst="roundRect">
            <a:avLst>
              <a:gd name="adj" fmla="val 4348"/>
            </a:avLst>
          </a:prstGeom>
          <a:solidFill>
            <a:srgbClr val="EAF3FA"/>
          </a:solidFill>
          <a:ln w="12700">
            <a:solidFill>
              <a:srgbClr val="EAF3FA"/>
            </a:solidFill>
            <a:prstDash val="solid"/>
          </a:ln>
        </p:spPr>
      </p:sp>
      <p:sp>
        <p:nvSpPr>
          <p:cNvPr id="13" name="Text 10"/>
          <p:cNvSpPr txBox="1"/>
          <p:nvPr/>
        </p:nvSpPr>
        <p:spPr>
          <a:xfrm>
            <a:off x="777240" y="3913632"/>
            <a:ext cx="365760" cy="2103120"/>
          </a:xfrm>
          <a:prstGeom prst="rect">
            <a:avLst/>
          </a:prstGeom>
          <a:noFill/>
          <a:ln/>
        </p:spPr>
        <p:txBody>
          <a:bodyPr wrap="square" lIns="0" tIns="0" rIns="0" bIns="0" rtlCol="0" anchor="ctr"/>
          <a:lstStyle/>
          <a:p>
            <a:pPr indent="0" marL="0">
              <a:buNone/>
            </a:pPr>
            <a:r>
              <a:rPr lang="en-US" sz="1800" dirty="0">
                <a:solidFill>
                  <a:srgbClr val="212121"/>
                </a:solidFill>
                <a:latin typeface="맑은 고딕" pitchFamily="34" charset="0"/>
                <a:ea typeface="맑은 고딕" pitchFamily="34" charset="-122"/>
                <a:cs typeface="맑은 고딕" pitchFamily="34" charset="-120"/>
              </a:rPr>
              <a:t>💡</a:t>
            </a:r>
            <a:endParaRPr lang="en-US" sz="1800" dirty="0"/>
          </a:p>
        </p:txBody>
      </p:sp>
      <p:sp>
        <p:nvSpPr>
          <p:cNvPr id="14" name="Text 11"/>
          <p:cNvSpPr txBox="1"/>
          <p:nvPr/>
        </p:nvSpPr>
        <p:spPr>
          <a:xfrm>
            <a:off x="1188720" y="3913632"/>
            <a:ext cx="1691640" cy="2103120"/>
          </a:xfrm>
          <a:prstGeom prst="rect">
            <a:avLst/>
          </a:prstGeom>
          <a:noFill/>
          <a:ln/>
        </p:spPr>
        <p:txBody>
          <a:bodyPr wrap="square" lIns="0" tIns="0" rIns="0" bIns="0" rtlCol="0" anchor="ctr"/>
          <a:lstStyle/>
          <a:p>
            <a:pPr indent="0" marL="0">
              <a:buNone/>
            </a:pPr>
            <a:r>
              <a:rPr lang="en-US" sz="1300" b="1" dirty="0">
                <a:solidFill>
                  <a:srgbClr val="2F4E91"/>
                </a:solidFill>
                <a:latin typeface="맑은 고딕" pitchFamily="34" charset="0"/>
                <a:ea typeface="맑은 고딕" pitchFamily="34" charset="-122"/>
                <a:cs typeface="맑은 고딕" pitchFamily="34" charset="-120"/>
              </a:rPr>
              <a:t>Micro F1  0.6690</a:t>
            </a:r>
            <a:endParaRPr lang="en-US" sz="1300" dirty="0"/>
          </a:p>
          <a:p>
            <a:pPr indent="0" marL="0">
              <a:buNone/>
            </a:pPr>
            <a:r>
              <a:rPr lang="en-US" sz="1300" dirty="0">
                <a:solidFill>
                  <a:srgbClr val="212121"/>
                </a:solidFill>
                <a:latin typeface="맑은 고딕" pitchFamily="34" charset="0"/>
                <a:ea typeface="맑은 고딕" pitchFamily="34" charset="-122"/>
                <a:cs typeface="맑은 고딕" pitchFamily="34" charset="-120"/>
              </a:rPr>
              <a:t>빈 예측 149건</a:t>
            </a:r>
            <a:endParaRPr lang="en-US" sz="1300" dirty="0"/>
          </a:p>
          <a:p>
            <a:pPr indent="0" marL="0">
              <a:buNone/>
            </a:pPr>
            <a:r>
              <a:rPr lang="en-US" sz="1050" dirty="0">
                <a:solidFill>
                  <a:srgbClr val="212121"/>
                </a:solidFill>
                <a:latin typeface="맑은 고딕" pitchFamily="34" charset="0"/>
                <a:ea typeface="맑은 고딕" pitchFamily="34" charset="-122"/>
                <a:cs typeface="맑은 고딕" pitchFamily="34" charset="-120"/>
              </a:rPr>
              <a:t>앙상블 가중치</a:t>
            </a:r>
            <a:endParaRPr lang="en-US" sz="1300" dirty="0"/>
          </a:p>
          <a:p>
            <a:pPr indent="0" marL="0">
              <a:buNone/>
            </a:pPr>
            <a:r>
              <a:rPr lang="en-US" sz="1050" dirty="0">
                <a:solidFill>
                  <a:srgbClr val="212121"/>
                </a:solidFill>
                <a:latin typeface="맑은 고딕" pitchFamily="34" charset="0"/>
                <a:ea typeface="맑은 고딕" pitchFamily="34" charset="-122"/>
                <a:cs typeface="맑은 고딕" pitchFamily="34" charset="-120"/>
              </a:rPr>
              <a:t>RoBERTa 평균 0.55</a:t>
            </a:r>
            <a:endParaRPr lang="en-US" sz="1300" dirty="0"/>
          </a:p>
          <a:p>
            <a:pPr indent="0" marL="0">
              <a:buNone/>
            </a:pPr>
            <a:r>
              <a:rPr lang="en-US" sz="1050" dirty="0">
                <a:solidFill>
                  <a:srgbClr val="212121"/>
                </a:solidFill>
                <a:latin typeface="맑은 고딕" pitchFamily="34" charset="0"/>
                <a:ea typeface="맑은 고딕" pitchFamily="34" charset="-122"/>
                <a:cs typeface="맑은 고딕" pitchFamily="34" charset="-120"/>
              </a:rPr>
              <a:t>+ TF-IDF 0.45</a:t>
            </a:r>
            <a:endParaRPr lang="en-US" sz="1300" dirty="0"/>
          </a:p>
        </p:txBody>
      </p:sp>
      <p:graphicFrame>
        <p:nvGraphicFramePr>
          <p:cNvPr id="15" name="Chart 0" descr=""/>
          <p:cNvGraphicFramePr/>
          <p:nvPr/>
        </p:nvGraphicFramePr>
        <p:xfrm>
          <a:off x="3154680" y="2377440"/>
          <a:ext cx="3840480" cy="3749040"/>
        </p:xfrm>
        <a:graphic xmlns:a="http://schemas.openxmlformats.org/drawingml/2006/main">
          <a:graphicData uri="http://schemas.openxmlformats.org/drawingml/2006/chart">
            <c:chart xmlns:c="http://schemas.openxmlformats.org/drawingml/2006/chart" r:id="rId2"/>
          </a:graphicData>
        </a:graphic>
      </p:graphicFrame>
      <p:sp>
        <p:nvSpPr>
          <p:cNvPr id="16" name="Shape 12"/>
          <p:cNvSpPr/>
          <p:nvPr/>
        </p:nvSpPr>
        <p:spPr>
          <a:xfrm>
            <a:off x="7406640" y="2240280"/>
            <a:ext cx="4327855" cy="2514600"/>
          </a:xfrm>
          <a:prstGeom prst="roundRect">
            <a:avLst>
              <a:gd name="adj" fmla="val 3636"/>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7" name="Text 13"/>
          <p:cNvSpPr txBox="1"/>
          <p:nvPr/>
        </p:nvSpPr>
        <p:spPr>
          <a:xfrm>
            <a:off x="7589520" y="2340864"/>
            <a:ext cx="3962095" cy="329184"/>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 개선 흐름 (모두 공식 Val)</a:t>
            </a:r>
            <a:endParaRPr lang="en-US" sz="1500" dirty="0"/>
          </a:p>
        </p:txBody>
      </p:sp>
      <p:sp>
        <p:nvSpPr>
          <p:cNvPr id="18" name="Shape 14"/>
          <p:cNvSpPr/>
          <p:nvPr/>
        </p:nvSpPr>
        <p:spPr>
          <a:xfrm>
            <a:off x="7635240" y="2743200"/>
            <a:ext cx="3870655" cy="384048"/>
          </a:xfrm>
          <a:prstGeom prst="roundRect">
            <a:avLst>
              <a:gd name="adj" fmla="val 19048"/>
            </a:avLst>
          </a:prstGeom>
          <a:solidFill>
            <a:srgbClr val="EAF3FA"/>
          </a:solidFill>
          <a:ln w="12700">
            <a:solidFill>
              <a:srgbClr val="EAF3FA"/>
            </a:solidFill>
            <a:prstDash val="solid"/>
          </a:ln>
        </p:spPr>
      </p:sp>
      <p:sp>
        <p:nvSpPr>
          <p:cNvPr id="19" name="Text 15"/>
          <p:cNvSpPr txBox="1"/>
          <p:nvPr/>
        </p:nvSpPr>
        <p:spPr>
          <a:xfrm>
            <a:off x="7772400" y="2743200"/>
            <a:ext cx="2590495" cy="384048"/>
          </a:xfrm>
          <a:prstGeom prst="rect">
            <a:avLst/>
          </a:prstGeom>
          <a:noFill/>
          <a:ln/>
        </p:spPr>
        <p:txBody>
          <a:bodyPr wrap="square" lIns="0" tIns="0" rIns="0" bIns="0" rtlCol="0" anchor="ct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TF-IDF</a:t>
            </a:r>
            <a:endParaRPr lang="en-US" sz="1300" dirty="0"/>
          </a:p>
        </p:txBody>
      </p:sp>
      <p:sp>
        <p:nvSpPr>
          <p:cNvPr id="20" name="Text 16"/>
          <p:cNvSpPr txBox="1"/>
          <p:nvPr/>
        </p:nvSpPr>
        <p:spPr>
          <a:xfrm>
            <a:off x="10271455" y="2743200"/>
            <a:ext cx="1097280" cy="384048"/>
          </a:xfrm>
          <a:prstGeom prst="rect">
            <a:avLst/>
          </a:prstGeom>
          <a:noFill/>
          <a:ln/>
        </p:spPr>
        <p:txBody>
          <a:bodyPr wrap="square" lIns="0" tIns="0" rIns="0" bIns="0" rtlCol="0" anchor="ctr"/>
          <a:lstStyle/>
          <a:p>
            <a:pPr algn="r" indent="0" marL="0">
              <a:buNone/>
            </a:pPr>
            <a:r>
              <a:rPr lang="en-US" sz="1300" b="1" dirty="0">
                <a:solidFill>
                  <a:srgbClr val="2F4E91"/>
                </a:solidFill>
                <a:latin typeface="맑은 고딕" pitchFamily="34" charset="0"/>
                <a:ea typeface="맑은 고딕" pitchFamily="34" charset="-122"/>
                <a:cs typeface="맑은 고딕" pitchFamily="34" charset="-120"/>
              </a:rPr>
              <a:t>0.5689</a:t>
            </a:r>
            <a:endParaRPr lang="en-US" sz="1300" dirty="0"/>
          </a:p>
        </p:txBody>
      </p:sp>
      <p:sp>
        <p:nvSpPr>
          <p:cNvPr id="21" name="Shape 17"/>
          <p:cNvSpPr/>
          <p:nvPr/>
        </p:nvSpPr>
        <p:spPr>
          <a:xfrm>
            <a:off x="7635240" y="3218688"/>
            <a:ext cx="3870655" cy="384048"/>
          </a:xfrm>
          <a:prstGeom prst="roundRect">
            <a:avLst>
              <a:gd name="adj" fmla="val 19048"/>
            </a:avLst>
          </a:prstGeom>
          <a:solidFill>
            <a:srgbClr val="EAF3FA"/>
          </a:solidFill>
          <a:ln w="12700">
            <a:solidFill>
              <a:srgbClr val="EAF3FA"/>
            </a:solidFill>
            <a:prstDash val="solid"/>
          </a:ln>
        </p:spPr>
      </p:sp>
      <p:sp>
        <p:nvSpPr>
          <p:cNvPr id="22" name="Text 18"/>
          <p:cNvSpPr txBox="1"/>
          <p:nvPr/>
        </p:nvSpPr>
        <p:spPr>
          <a:xfrm>
            <a:off x="7772400" y="3218688"/>
            <a:ext cx="2590495" cy="384048"/>
          </a:xfrm>
          <a:prstGeom prst="rect">
            <a:avLst/>
          </a:prstGeom>
          <a:noFill/>
          <a:ln/>
        </p:spPr>
        <p:txBody>
          <a:bodyPr wrap="square" lIns="0" tIns="0" rIns="0" bIns="0" rtlCol="0" anchor="ct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KcBERT</a:t>
            </a:r>
            <a:endParaRPr lang="en-US" sz="1300" dirty="0"/>
          </a:p>
        </p:txBody>
      </p:sp>
      <p:sp>
        <p:nvSpPr>
          <p:cNvPr id="23" name="Text 19"/>
          <p:cNvSpPr txBox="1"/>
          <p:nvPr/>
        </p:nvSpPr>
        <p:spPr>
          <a:xfrm>
            <a:off x="10271455" y="3218688"/>
            <a:ext cx="1097280" cy="384048"/>
          </a:xfrm>
          <a:prstGeom prst="rect">
            <a:avLst/>
          </a:prstGeom>
          <a:noFill/>
          <a:ln/>
        </p:spPr>
        <p:txBody>
          <a:bodyPr wrap="square" lIns="0" tIns="0" rIns="0" bIns="0" rtlCol="0" anchor="ctr"/>
          <a:lstStyle/>
          <a:p>
            <a:pPr algn="r" indent="0" marL="0">
              <a:buNone/>
            </a:pPr>
            <a:r>
              <a:rPr lang="en-US" sz="1300" b="1" dirty="0">
                <a:solidFill>
                  <a:srgbClr val="2F4E91"/>
                </a:solidFill>
                <a:latin typeface="맑은 고딕" pitchFamily="34" charset="0"/>
                <a:ea typeface="맑은 고딕" pitchFamily="34" charset="-122"/>
                <a:cs typeface="맑은 고딕" pitchFamily="34" charset="-120"/>
              </a:rPr>
              <a:t>0.6246</a:t>
            </a:r>
            <a:endParaRPr lang="en-US" sz="1300" dirty="0"/>
          </a:p>
        </p:txBody>
      </p:sp>
      <p:sp>
        <p:nvSpPr>
          <p:cNvPr id="24" name="Shape 20"/>
          <p:cNvSpPr/>
          <p:nvPr/>
        </p:nvSpPr>
        <p:spPr>
          <a:xfrm>
            <a:off x="7635240" y="3694176"/>
            <a:ext cx="3870655" cy="384048"/>
          </a:xfrm>
          <a:prstGeom prst="roundRect">
            <a:avLst>
              <a:gd name="adj" fmla="val 19048"/>
            </a:avLst>
          </a:prstGeom>
          <a:solidFill>
            <a:srgbClr val="EAF3FA"/>
          </a:solidFill>
          <a:ln w="12700">
            <a:solidFill>
              <a:srgbClr val="EAF3FA"/>
            </a:solidFill>
            <a:prstDash val="solid"/>
          </a:ln>
        </p:spPr>
      </p:sp>
      <p:sp>
        <p:nvSpPr>
          <p:cNvPr id="25" name="Text 21"/>
          <p:cNvSpPr txBox="1"/>
          <p:nvPr/>
        </p:nvSpPr>
        <p:spPr>
          <a:xfrm>
            <a:off x="7772400" y="3694176"/>
            <a:ext cx="2590495" cy="384048"/>
          </a:xfrm>
          <a:prstGeom prst="rect">
            <a:avLst/>
          </a:prstGeom>
          <a:noFill/>
          <a:ln/>
        </p:spPr>
        <p:txBody>
          <a:bodyPr wrap="square" lIns="0" tIns="0" rIns="0" bIns="0" rtlCol="0" anchor="ctr"/>
          <a:lstStyle/>
          <a:p>
            <a:pPr indent="0" marL="0">
              <a:buNone/>
            </a:pPr>
            <a:r>
              <a:rPr lang="en-US" sz="1300" dirty="0">
                <a:solidFill>
                  <a:srgbClr val="212121"/>
                </a:solidFill>
                <a:latin typeface="맑은 고딕" pitchFamily="34" charset="0"/>
                <a:ea typeface="맑은 고딕" pitchFamily="34" charset="-122"/>
                <a:cs typeface="맑은 고딕" pitchFamily="34" charset="-120"/>
              </a:rPr>
              <a:t>RoBERTa-large</a:t>
            </a:r>
            <a:endParaRPr lang="en-US" sz="1300" dirty="0"/>
          </a:p>
        </p:txBody>
      </p:sp>
      <p:sp>
        <p:nvSpPr>
          <p:cNvPr id="26" name="Text 22"/>
          <p:cNvSpPr txBox="1"/>
          <p:nvPr/>
        </p:nvSpPr>
        <p:spPr>
          <a:xfrm>
            <a:off x="10271455" y="3694176"/>
            <a:ext cx="1097280" cy="384048"/>
          </a:xfrm>
          <a:prstGeom prst="rect">
            <a:avLst/>
          </a:prstGeom>
          <a:noFill/>
          <a:ln/>
        </p:spPr>
        <p:txBody>
          <a:bodyPr wrap="square" lIns="0" tIns="0" rIns="0" bIns="0" rtlCol="0" anchor="ctr"/>
          <a:lstStyle/>
          <a:p>
            <a:pPr algn="r" indent="0" marL="0">
              <a:buNone/>
            </a:pPr>
            <a:r>
              <a:rPr lang="en-US" sz="1300" b="1" dirty="0">
                <a:solidFill>
                  <a:srgbClr val="2F4E91"/>
                </a:solidFill>
                <a:latin typeface="맑은 고딕" pitchFamily="34" charset="0"/>
                <a:ea typeface="맑은 고딕" pitchFamily="34" charset="-122"/>
                <a:cs typeface="맑은 고딕" pitchFamily="34" charset="-120"/>
              </a:rPr>
              <a:t>0.6433</a:t>
            </a:r>
            <a:endParaRPr lang="en-US" sz="1300" dirty="0"/>
          </a:p>
        </p:txBody>
      </p:sp>
      <p:sp>
        <p:nvSpPr>
          <p:cNvPr id="27" name="Shape 23"/>
          <p:cNvSpPr/>
          <p:nvPr/>
        </p:nvSpPr>
        <p:spPr>
          <a:xfrm>
            <a:off x="7635240" y="4169664"/>
            <a:ext cx="3870655" cy="384048"/>
          </a:xfrm>
          <a:prstGeom prst="roundRect">
            <a:avLst>
              <a:gd name="adj" fmla="val 19048"/>
            </a:avLst>
          </a:prstGeom>
          <a:solidFill>
            <a:srgbClr val="2F4E91"/>
          </a:solidFill>
          <a:ln w="12700">
            <a:solidFill>
              <a:srgbClr val="2F4E91"/>
            </a:solidFill>
            <a:prstDash val="solid"/>
          </a:ln>
        </p:spPr>
      </p:sp>
      <p:sp>
        <p:nvSpPr>
          <p:cNvPr id="28" name="Text 24"/>
          <p:cNvSpPr txBox="1"/>
          <p:nvPr/>
        </p:nvSpPr>
        <p:spPr>
          <a:xfrm>
            <a:off x="7772400" y="4169664"/>
            <a:ext cx="2590495" cy="384048"/>
          </a:xfrm>
          <a:prstGeom prst="rect">
            <a:avLst/>
          </a:prstGeom>
          <a:noFill/>
          <a:ln/>
        </p:spPr>
        <p:txBody>
          <a:bodyPr wrap="square" lIns="0" tIns="0" rIns="0" bIns="0"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앙상블</a:t>
            </a:r>
            <a:endParaRPr lang="en-US" sz="1300" dirty="0"/>
          </a:p>
        </p:txBody>
      </p:sp>
      <p:sp>
        <p:nvSpPr>
          <p:cNvPr id="29" name="Text 25"/>
          <p:cNvSpPr txBox="1"/>
          <p:nvPr/>
        </p:nvSpPr>
        <p:spPr>
          <a:xfrm>
            <a:off x="10271455" y="4169664"/>
            <a:ext cx="1097280" cy="384048"/>
          </a:xfrm>
          <a:prstGeom prst="rect">
            <a:avLst/>
          </a:prstGeom>
          <a:noFill/>
          <a:ln/>
        </p:spPr>
        <p:txBody>
          <a:bodyPr wrap="square" lIns="0" tIns="0" rIns="0" bIns="0" rtlCol="0" anchor="ctr"/>
          <a:lstStyle/>
          <a:p>
            <a:pPr algn="r" indent="0" marL="0">
              <a:buNone/>
            </a:pPr>
            <a:r>
              <a:rPr lang="en-US" sz="1300" b="1" dirty="0">
                <a:solidFill>
                  <a:srgbClr val="FFFFFF"/>
                </a:solidFill>
                <a:latin typeface="맑은 고딕" pitchFamily="34" charset="0"/>
                <a:ea typeface="맑은 고딕" pitchFamily="34" charset="-122"/>
                <a:cs typeface="맑은 고딕" pitchFamily="34" charset="-120"/>
              </a:rPr>
              <a:t>0.6534</a:t>
            </a:r>
            <a:endParaRPr lang="en-US" sz="1300" dirty="0"/>
          </a:p>
        </p:txBody>
      </p:sp>
      <p:sp>
        <p:nvSpPr>
          <p:cNvPr id="30" name="Shape 26"/>
          <p:cNvSpPr/>
          <p:nvPr/>
        </p:nvSpPr>
        <p:spPr>
          <a:xfrm>
            <a:off x="7406640" y="4892040"/>
            <a:ext cx="4327855" cy="1325880"/>
          </a:xfrm>
          <a:prstGeom prst="roundRect">
            <a:avLst>
              <a:gd name="adj" fmla="val 6897"/>
            </a:avLst>
          </a:prstGeom>
          <a:solidFill>
            <a:srgbClr val="F8F9FA"/>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31" name="Text 27"/>
          <p:cNvSpPr txBox="1"/>
          <p:nvPr/>
        </p:nvSpPr>
        <p:spPr>
          <a:xfrm>
            <a:off x="7589520" y="5001768"/>
            <a:ext cx="3962095" cy="329184"/>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 가장 약한 증상 (빨강)</a:t>
            </a:r>
            <a:endParaRPr lang="en-US" sz="1500" dirty="0"/>
          </a:p>
        </p:txBody>
      </p:sp>
      <p:sp>
        <p:nvSpPr>
          <p:cNvPr id="32" name="Text 28"/>
          <p:cNvSpPr txBox="1"/>
          <p:nvPr/>
        </p:nvSpPr>
        <p:spPr>
          <a:xfrm>
            <a:off x="7589520" y="5413248"/>
            <a:ext cx="3962095" cy="548640"/>
          </a:xfrm>
          <a:prstGeom prst="rect">
            <a:avLst/>
          </a:prstGeom>
          <a:noFill/>
          <a:ln/>
        </p:spPr>
        <p:txBody>
          <a:bodyPr wrap="square" lIns="0" tIns="0" rIns="0" bIns="0" rtlCol="0" anchor="ctr"/>
          <a:lstStyle/>
          <a:p>
            <a:pPr algn="ctr" indent="0" marL="0">
              <a:buNone/>
            </a:pPr>
            <a:r>
              <a:rPr lang="en-US" sz="1500" b="1" dirty="0">
                <a:solidFill>
                  <a:srgbClr val="E53935"/>
                </a:solidFill>
                <a:latin typeface="맑은 고딕" pitchFamily="34" charset="0"/>
                <a:ea typeface="맑은 고딕" pitchFamily="34" charset="-122"/>
                <a:cs typeface="맑은 고딕" pitchFamily="34" charset="-120"/>
              </a:rPr>
              <a:t>오심 0.40 · 두통 0.53 · 전신쇠약 0.59</a:t>
            </a:r>
            <a:endParaRPr lang="en-US" sz="1500" dirty="0"/>
          </a:p>
        </p:txBody>
      </p:sp>
      <p:sp>
        <p:nvSpPr>
          <p:cNvPr id="33" name="Text 29"/>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submission/mission3/README.md, m3_final_train.executed.ipynb. 모델별 점수 차이가 특정 원인만의 효과임을 뜻하지 않음.</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03  미션별 수행</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31</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3  환자 증상 인식 — 모델 선정과 오류 분석</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앙상블이라고 모두 채택하지 않았다 — 내부 개선폭과 사전 기준으로 선택을 구분</a:t>
            </a:r>
            <a:endParaRPr lang="en-US" sz="1500" dirty="0"/>
          </a:p>
        </p:txBody>
      </p:sp>
      <p:graphicFrame>
        <p:nvGraphicFramePr>
          <p:cNvPr id="9" name="Chart 0" descr=""/>
          <p:cNvGraphicFramePr/>
          <p:nvPr/>
        </p:nvGraphicFramePr>
        <p:xfrm>
          <a:off x="457200" y="2103120"/>
          <a:ext cx="11277295" cy="160020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457200" y="3794760"/>
            <a:ext cx="4572000" cy="1188720"/>
          </a:xfrm>
          <a:prstGeom prst="roundRect">
            <a:avLst>
              <a:gd name="adj" fmla="val 7692"/>
            </a:avLst>
          </a:prstGeom>
          <a:solidFill>
            <a:srgbClr val="EAF3FA"/>
          </a:solidFill>
          <a:ln w="12700">
            <a:solidFill>
              <a:srgbClr val="EAF3FA"/>
            </a:solidFill>
            <a:prstDash val="solid"/>
          </a:ln>
        </p:spPr>
      </p:sp>
      <p:sp>
        <p:nvSpPr>
          <p:cNvPr id="11" name="Text 7"/>
          <p:cNvSpPr txBox="1"/>
          <p:nvPr/>
        </p:nvSpPr>
        <p:spPr>
          <a:xfrm>
            <a:off x="594360" y="3794760"/>
            <a:ext cx="365760" cy="1188720"/>
          </a:xfrm>
          <a:prstGeom prst="rect">
            <a:avLst/>
          </a:prstGeom>
          <a:noFill/>
          <a:ln/>
        </p:spPr>
        <p:txBody>
          <a:bodyPr wrap="square" lIns="0" tIns="0" rIns="0" bIns="0" rtlCol="0" anchor="ctr"/>
          <a:lstStyle/>
          <a:p>
            <a:pPr indent="0" marL="0">
              <a:buNone/>
            </a:pPr>
            <a:r>
              <a:rPr lang="en-US" sz="1800" dirty="0">
                <a:solidFill>
                  <a:srgbClr val="212121"/>
                </a:solidFill>
                <a:latin typeface="맑은 고딕" pitchFamily="34" charset="0"/>
                <a:ea typeface="맑은 고딕" pitchFamily="34" charset="-122"/>
                <a:cs typeface="맑은 고딕" pitchFamily="34" charset="-120"/>
              </a:rPr>
              <a:t>💡</a:t>
            </a:r>
            <a:endParaRPr lang="en-US" sz="1800" dirty="0"/>
          </a:p>
        </p:txBody>
      </p:sp>
      <p:sp>
        <p:nvSpPr>
          <p:cNvPr id="12" name="Text 8"/>
          <p:cNvSpPr txBox="1"/>
          <p:nvPr/>
        </p:nvSpPr>
        <p:spPr>
          <a:xfrm>
            <a:off x="1005840" y="3794760"/>
            <a:ext cx="3886200" cy="1188720"/>
          </a:xfrm>
          <a:prstGeom prst="rect">
            <a:avLst/>
          </a:prstGeom>
          <a:noFill/>
          <a:ln/>
        </p:spPr>
        <p:txBody>
          <a:bodyPr wrap="square" lIns="0" tIns="0" rIns="0" bIns="0" rtlCol="0" anchor="ctr"/>
          <a:lstStyle/>
          <a:p>
            <a:pPr indent="0" marL="0">
              <a:buNone/>
            </a:pPr>
            <a:r>
              <a:rPr lang="en-US" sz="1150" b="1" dirty="0">
                <a:solidFill>
                  <a:srgbClr val="2F4E91"/>
                </a:solidFill>
                <a:latin typeface="맑은 고딕" pitchFamily="34" charset="0"/>
                <a:ea typeface="맑은 고딕" pitchFamily="34" charset="-122"/>
                <a:cs typeface="맑은 고딕" pitchFamily="34" charset="-120"/>
              </a:rPr>
              <a:t>REJECT · 과거 결합 기각</a:t>
            </a:r>
            <a:endParaRPr lang="en-US" sz="1150" dirty="0"/>
          </a:p>
          <a:p>
            <a:pPr indent="0" marL="0">
              <a:buNone/>
            </a:pPr>
            <a:r>
              <a:rPr lang="en-US" sz="1150" dirty="0">
                <a:solidFill>
                  <a:srgbClr val="212121"/>
                </a:solidFill>
                <a:latin typeface="맑은 고딕" pitchFamily="34" charset="0"/>
                <a:ea typeface="맑은 고딕" pitchFamily="34" charset="-122"/>
                <a:cs typeface="맑은 고딕" pitchFamily="34" charset="-120"/>
              </a:rPr>
              <a:t>KcBERT + RoBERTa: 동일 내부 분할에서 +0.0028. 사전 채택 기준 +0.01에 미달하고 오류도 많이 겹침.</a:t>
            </a:r>
            <a:endParaRPr lang="en-US" sz="1150" dirty="0"/>
          </a:p>
        </p:txBody>
      </p:sp>
      <p:sp>
        <p:nvSpPr>
          <p:cNvPr id="13" name="Shape 9"/>
          <p:cNvSpPr/>
          <p:nvPr/>
        </p:nvSpPr>
        <p:spPr>
          <a:xfrm>
            <a:off x="457200" y="5074920"/>
            <a:ext cx="4572000" cy="1188720"/>
          </a:xfrm>
          <a:prstGeom prst="roundRect">
            <a:avLst>
              <a:gd name="adj" fmla="val 7692"/>
            </a:avLst>
          </a:prstGeom>
          <a:solidFill>
            <a:srgbClr val="E8F5E9"/>
          </a:solidFill>
          <a:ln w="12700">
            <a:solidFill>
              <a:srgbClr val="E8F5E9"/>
            </a:solidFill>
            <a:prstDash val="solid"/>
          </a:ln>
        </p:spPr>
      </p:sp>
      <p:sp>
        <p:nvSpPr>
          <p:cNvPr id="14" name="Text 10"/>
          <p:cNvSpPr txBox="1"/>
          <p:nvPr/>
        </p:nvSpPr>
        <p:spPr>
          <a:xfrm>
            <a:off x="594360" y="5074920"/>
            <a:ext cx="365760" cy="1188720"/>
          </a:xfrm>
          <a:prstGeom prst="rect">
            <a:avLst/>
          </a:prstGeom>
          <a:noFill/>
          <a:ln/>
        </p:spPr>
        <p:txBody>
          <a:bodyPr wrap="square" lIns="0" tIns="0" rIns="0" bIns="0" rtlCol="0" anchor="ctr"/>
          <a:lstStyle/>
          <a:p>
            <a:pPr indent="0" marL="0">
              <a:buNone/>
            </a:pPr>
            <a:r>
              <a:rPr lang="en-US" sz="1800" dirty="0">
                <a:solidFill>
                  <a:srgbClr val="212121"/>
                </a:solidFill>
                <a:latin typeface="맑은 고딕" pitchFamily="34" charset="0"/>
                <a:ea typeface="맑은 고딕" pitchFamily="34" charset="-122"/>
                <a:cs typeface="맑은 고딕" pitchFamily="34" charset="-120"/>
              </a:rPr>
              <a:t>💡</a:t>
            </a:r>
            <a:endParaRPr lang="en-US" sz="1800" dirty="0"/>
          </a:p>
        </p:txBody>
      </p:sp>
      <p:sp>
        <p:nvSpPr>
          <p:cNvPr id="15" name="Text 11"/>
          <p:cNvSpPr txBox="1"/>
          <p:nvPr/>
        </p:nvSpPr>
        <p:spPr>
          <a:xfrm>
            <a:off x="1005840" y="5074920"/>
            <a:ext cx="3886200" cy="1188720"/>
          </a:xfrm>
          <a:prstGeom prst="rect">
            <a:avLst/>
          </a:prstGeom>
          <a:noFill/>
          <a:ln/>
        </p:spPr>
        <p:txBody>
          <a:bodyPr wrap="square" lIns="0" tIns="0" rIns="0" bIns="0" rtlCol="0" anchor="ctr"/>
          <a:lstStyle/>
          <a:p>
            <a:pPr indent="0" marL="0">
              <a:buNone/>
            </a:pPr>
            <a:r>
              <a:rPr lang="en-US" sz="1150" b="1" dirty="0">
                <a:solidFill>
                  <a:srgbClr val="2F4E91"/>
                </a:solidFill>
                <a:latin typeface="맑은 고딕" pitchFamily="34" charset="0"/>
                <a:ea typeface="맑은 고딕" pitchFamily="34" charset="-122"/>
                <a:cs typeface="맑은 고딕" pitchFamily="34" charset="-120"/>
              </a:rPr>
              <a:t>ADOPT · 최종 가중 결합 채택</a:t>
            </a:r>
            <a:endParaRPr lang="en-US" sz="1150" dirty="0"/>
          </a:p>
          <a:p>
            <a:pPr indent="0" marL="0">
              <a:buNone/>
            </a:pPr>
            <a:r>
              <a:rPr lang="en-US" sz="1150" dirty="0">
                <a:solidFill>
                  <a:srgbClr val="212121"/>
                </a:solidFill>
                <a:latin typeface="맑은 고딕" pitchFamily="34" charset="0"/>
                <a:ea typeface="맑은 고딕" pitchFamily="34" charset="-122"/>
                <a:cs typeface="맑은 고딕" pitchFamily="34" charset="-120"/>
              </a:rPr>
              <a:t>RoBERTa 3-seed 55% + TF-IDF 45%. 결합 비율은 Training 홀드아웃에서 사전 확정, 공식 Val은 채점만 수행.</a:t>
            </a:r>
            <a:endParaRPr lang="en-US" sz="1150" dirty="0"/>
          </a:p>
        </p:txBody>
      </p:sp>
      <p:sp>
        <p:nvSpPr>
          <p:cNvPr id="16" name="Shape 12"/>
          <p:cNvSpPr/>
          <p:nvPr/>
        </p:nvSpPr>
        <p:spPr>
          <a:xfrm>
            <a:off x="5303520" y="3794760"/>
            <a:ext cx="6430975" cy="2468880"/>
          </a:xfrm>
          <a:prstGeom prst="roundRect">
            <a:avLst>
              <a:gd name="adj" fmla="val 3704"/>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7" name="Text 13"/>
          <p:cNvSpPr txBox="1"/>
          <p:nvPr/>
        </p:nvSpPr>
        <p:spPr>
          <a:xfrm>
            <a:off x="5532120" y="3904488"/>
            <a:ext cx="5973775" cy="329184"/>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 오류 분석 — 전사에 직접 표현이 없는 양성 라벨</a:t>
            </a:r>
            <a:endParaRPr lang="en-US" sz="1500" dirty="0"/>
          </a:p>
        </p:txBody>
      </p:sp>
      <p:graphicFrame>
        <p:nvGraphicFramePr>
          <p:cNvPr id="18" name="Chart 1" descr=""/>
          <p:cNvGraphicFramePr/>
          <p:nvPr/>
        </p:nvGraphicFramePr>
        <p:xfrm>
          <a:off x="5394960" y="4251960"/>
          <a:ext cx="2468880" cy="1965960"/>
        </p:xfrm>
        <a:graphic xmlns:a="http://schemas.openxmlformats.org/drawingml/2006/main">
          <a:graphicData uri="http://schemas.openxmlformats.org/drawingml/2006/chart">
            <c:chart xmlns:c="http://schemas.openxmlformats.org/drawingml/2006/chart" r:id="rId3"/>
          </a:graphicData>
        </a:graphic>
      </p:graphicFrame>
      <p:sp>
        <p:nvSpPr>
          <p:cNvPr id="19" name="Text 14"/>
          <p:cNvSpPr txBox="1"/>
          <p:nvPr/>
        </p:nvSpPr>
        <p:spPr>
          <a:xfrm>
            <a:off x="5394960" y="4892040"/>
            <a:ext cx="2468880" cy="457200"/>
          </a:xfrm>
          <a:prstGeom prst="rect">
            <a:avLst/>
          </a:prstGeom>
          <a:noFill/>
          <a:ln/>
        </p:spPr>
        <p:txBody>
          <a:bodyPr wrap="square" lIns="0" tIns="0" rIns="0" bIns="0" rtlCol="0" anchor="ctr"/>
          <a:lstStyle/>
          <a:p>
            <a:pPr algn="ctr" indent="0" marL="0">
              <a:buNone/>
            </a:pPr>
            <a:r>
              <a:rPr lang="en-US" sz="1900" b="1" dirty="0">
                <a:solidFill>
                  <a:srgbClr val="E53935"/>
                </a:solidFill>
                <a:latin typeface="맑은 고딕" pitchFamily="34" charset="0"/>
                <a:ea typeface="맑은 고딕" pitchFamily="34" charset="-122"/>
                <a:cs typeface="맑은 고딕" pitchFamily="34" charset="-120"/>
              </a:rPr>
              <a:t>약 52%</a:t>
            </a:r>
            <a:endParaRPr lang="en-US" sz="1900" dirty="0"/>
          </a:p>
        </p:txBody>
      </p:sp>
      <p:sp>
        <p:nvSpPr>
          <p:cNvPr id="20" name="Text 15"/>
          <p:cNvSpPr txBox="1"/>
          <p:nvPr/>
        </p:nvSpPr>
        <p:spPr>
          <a:xfrm>
            <a:off x="5394960" y="5321808"/>
            <a:ext cx="2468880" cy="457200"/>
          </a:xfrm>
          <a:prstGeom prst="rect">
            <a:avLst/>
          </a:prstGeom>
          <a:noFill/>
          <a:ln/>
        </p:spPr>
        <p:txBody>
          <a:bodyPr wrap="square" lIns="0" tIns="0" rIns="0" bIns="0" rtlCol="0" anchor="t"/>
          <a:lstStyle/>
          <a:p>
            <a:pPr algn="ctr" indent="0" marL="0">
              <a:buNone/>
            </a:pPr>
            <a:r>
              <a:rPr lang="en-US" sz="1050" dirty="0">
                <a:solidFill>
                  <a:srgbClr val="616161"/>
                </a:solidFill>
                <a:latin typeface="맑은 고딕" pitchFamily="34" charset="0"/>
                <a:ea typeface="맑은 고딕" pitchFamily="34" charset="-122"/>
                <a:cs typeface="맑은 고딕" pitchFamily="34" charset="-120"/>
              </a:rPr>
              <a:t>양성 라벨 중</a:t>
            </a:r>
            <a:endParaRPr lang="en-US" sz="1050" dirty="0"/>
          </a:p>
          <a:p>
            <a:pPr algn="ctr" indent="0" marL="0">
              <a:buNone/>
            </a:pPr>
            <a:r>
              <a:rPr lang="en-US" sz="1050" dirty="0">
                <a:solidFill>
                  <a:srgbClr val="616161"/>
                </a:solidFill>
                <a:latin typeface="맑은 고딕" pitchFamily="34" charset="0"/>
                <a:ea typeface="맑은 고딕" pitchFamily="34" charset="-122"/>
                <a:cs typeface="맑은 고딕" pitchFamily="34" charset="-120"/>
              </a:rPr>
              <a:t>표현 없음</a:t>
            </a:r>
            <a:endParaRPr lang="en-US" sz="1050" dirty="0"/>
          </a:p>
        </p:txBody>
      </p:sp>
      <p:sp>
        <p:nvSpPr>
          <p:cNvPr id="21" name="Text 16"/>
          <p:cNvSpPr txBox="1"/>
          <p:nvPr/>
        </p:nvSpPr>
        <p:spPr>
          <a:xfrm>
            <a:off x="8046720" y="4343400"/>
            <a:ext cx="1661008" cy="685800"/>
          </a:xfrm>
          <a:prstGeom prst="rect">
            <a:avLst/>
          </a:prstGeom>
          <a:noFill/>
          <a:ln/>
        </p:spPr>
        <p:txBody>
          <a:bodyPr wrap="square" lIns="0" tIns="0" rIns="0" bIns="0" rtlCol="0" anchor="ctr"/>
          <a:lstStyle/>
          <a:p>
            <a:pPr algn="ctr" indent="0" marL="0">
              <a:buNone/>
            </a:pPr>
            <a:r>
              <a:rPr lang="en-US" sz="3000" b="1" dirty="0">
                <a:solidFill>
                  <a:srgbClr val="E53935"/>
                </a:solidFill>
                <a:latin typeface="맑은 고딕" pitchFamily="34" charset="0"/>
                <a:ea typeface="맑은 고딕" pitchFamily="34" charset="-122"/>
                <a:cs typeface="맑은 고딕" pitchFamily="34" charset="-120"/>
              </a:rPr>
              <a:t>92%</a:t>
            </a:r>
            <a:endParaRPr lang="en-US" sz="3000" dirty="0"/>
          </a:p>
        </p:txBody>
      </p:sp>
      <p:sp>
        <p:nvSpPr>
          <p:cNvPr id="22" name="Text 17"/>
          <p:cNvSpPr txBox="1"/>
          <p:nvPr/>
        </p:nvSpPr>
        <p:spPr>
          <a:xfrm>
            <a:off x="8046720" y="5056632"/>
            <a:ext cx="1661008" cy="365760"/>
          </a:xfrm>
          <a:prstGeom prst="rect">
            <a:avLst/>
          </a:prstGeom>
          <a:noFill/>
          <a:ln/>
        </p:spPr>
        <p:txBody>
          <a:bodyPr wrap="square" lIns="0" tIns="0" rIns="0" bIns="0" rtlCol="0" anchor="t"/>
          <a:lstStyle/>
          <a:p>
            <a:pPr algn="ctr" indent="0" marL="0">
              <a:buNone/>
            </a:pPr>
            <a:endParaRPr lang="en-US" sz="1200" dirty="0"/>
          </a:p>
        </p:txBody>
      </p:sp>
      <p:sp>
        <p:nvSpPr>
          <p:cNvPr id="23" name="Text 18"/>
          <p:cNvSpPr txBox="1"/>
          <p:nvPr/>
        </p:nvSpPr>
        <p:spPr>
          <a:xfrm>
            <a:off x="8046720" y="5029200"/>
            <a:ext cx="1661008" cy="548640"/>
          </a:xfrm>
          <a:prstGeom prst="rect">
            <a:avLst/>
          </a:prstGeom>
          <a:noFill/>
          <a:ln/>
        </p:spPr>
        <p:txBody>
          <a:bodyPr wrap="square" lIns="0" tIns="0" rIns="0" bIns="0" rtlCol="0" anchor="t"/>
          <a:lstStyle/>
          <a:p>
            <a:pPr algn="ctr" indent="0" marL="0">
              <a:buNone/>
            </a:pPr>
            <a:r>
              <a:rPr lang="en-US" sz="1100" dirty="0">
                <a:solidFill>
                  <a:srgbClr val="616161"/>
                </a:solidFill>
                <a:latin typeface="맑은 고딕" pitchFamily="34" charset="0"/>
                <a:ea typeface="맑은 고딕" pitchFamily="34" charset="-122"/>
                <a:cs typeface="맑은 고딕" pitchFamily="34" charset="-120"/>
              </a:rPr>
              <a:t>두 모델이 놓친 양성 중</a:t>
            </a:r>
            <a:endParaRPr lang="en-US" sz="1100" dirty="0"/>
          </a:p>
          <a:p>
            <a:pPr algn="ctr" indent="0" marL="0">
              <a:buNone/>
            </a:pPr>
            <a:r>
              <a:rPr lang="en-US" sz="1100" dirty="0">
                <a:solidFill>
                  <a:srgbClr val="616161"/>
                </a:solidFill>
                <a:latin typeface="맑은 고딕" pitchFamily="34" charset="0"/>
                <a:ea typeface="맑은 고딕" pitchFamily="34" charset="-122"/>
                <a:cs typeface="맑은 고딕" pitchFamily="34" charset="-120"/>
              </a:rPr>
              <a:t>직접 표현 없는 라벨</a:t>
            </a:r>
            <a:endParaRPr lang="en-US" sz="1100" dirty="0"/>
          </a:p>
        </p:txBody>
      </p:sp>
      <p:sp>
        <p:nvSpPr>
          <p:cNvPr id="24" name="Text 19"/>
          <p:cNvSpPr txBox="1"/>
          <p:nvPr/>
        </p:nvSpPr>
        <p:spPr>
          <a:xfrm>
            <a:off x="9799168" y="4343400"/>
            <a:ext cx="1661008" cy="685800"/>
          </a:xfrm>
          <a:prstGeom prst="rect">
            <a:avLst/>
          </a:prstGeom>
          <a:noFill/>
          <a:ln/>
        </p:spPr>
        <p:txBody>
          <a:bodyPr wrap="square" lIns="0" tIns="0" rIns="0" bIns="0" rtlCol="0" anchor="ctr"/>
          <a:lstStyle/>
          <a:p>
            <a:pPr algn="ctr" indent="0" marL="0">
              <a:buNone/>
            </a:pPr>
            <a:r>
              <a:rPr lang="en-US" sz="3000" b="1" dirty="0">
                <a:solidFill>
                  <a:srgbClr val="009DDA"/>
                </a:solidFill>
                <a:latin typeface="맑은 고딕" pitchFamily="34" charset="0"/>
                <a:ea typeface="맑은 고딕" pitchFamily="34" charset="-122"/>
                <a:cs typeface="맑은 고딕" pitchFamily="34" charset="-120"/>
              </a:rPr>
              <a:t>약 90%</a:t>
            </a:r>
            <a:endParaRPr lang="en-US" sz="3000" dirty="0"/>
          </a:p>
        </p:txBody>
      </p:sp>
      <p:sp>
        <p:nvSpPr>
          <p:cNvPr id="25" name="Text 20"/>
          <p:cNvSpPr txBox="1"/>
          <p:nvPr/>
        </p:nvSpPr>
        <p:spPr>
          <a:xfrm>
            <a:off x="9799168" y="5056632"/>
            <a:ext cx="1661008" cy="365760"/>
          </a:xfrm>
          <a:prstGeom prst="rect">
            <a:avLst/>
          </a:prstGeom>
          <a:noFill/>
          <a:ln/>
        </p:spPr>
        <p:txBody>
          <a:bodyPr wrap="square" lIns="0" tIns="0" rIns="0" bIns="0" rtlCol="0" anchor="t"/>
          <a:lstStyle/>
          <a:p>
            <a:pPr algn="ctr" indent="0" marL="0">
              <a:buNone/>
            </a:pPr>
            <a:endParaRPr lang="en-US" sz="1200" dirty="0"/>
          </a:p>
        </p:txBody>
      </p:sp>
      <p:sp>
        <p:nvSpPr>
          <p:cNvPr id="26" name="Text 21"/>
          <p:cNvSpPr txBox="1"/>
          <p:nvPr/>
        </p:nvSpPr>
        <p:spPr>
          <a:xfrm>
            <a:off x="9799168" y="5029200"/>
            <a:ext cx="1661008" cy="548640"/>
          </a:xfrm>
          <a:prstGeom prst="rect">
            <a:avLst/>
          </a:prstGeom>
          <a:noFill/>
          <a:ln/>
        </p:spPr>
        <p:txBody>
          <a:bodyPr wrap="square" lIns="0" tIns="0" rIns="0" bIns="0" rtlCol="0" anchor="t"/>
          <a:lstStyle/>
          <a:p>
            <a:pPr algn="ctr" indent="0" marL="0">
              <a:buNone/>
            </a:pPr>
            <a:r>
              <a:rPr lang="en-US" sz="1100" dirty="0">
                <a:solidFill>
                  <a:srgbClr val="616161"/>
                </a:solidFill>
                <a:latin typeface="맑은 고딕" pitchFamily="34" charset="0"/>
                <a:ea typeface="맑은 고딕" pitchFamily="34" charset="-122"/>
                <a:cs typeface="맑은 고딕" pitchFamily="34" charset="-120"/>
              </a:rPr>
              <a:t>표현 있는 라벨 중</a:t>
            </a:r>
            <a:endParaRPr lang="en-US" sz="1100" dirty="0"/>
          </a:p>
          <a:p>
            <a:pPr algn="ctr" indent="0" marL="0">
              <a:buNone/>
            </a:pPr>
            <a:r>
              <a:rPr lang="en-US" sz="1100" dirty="0">
                <a:solidFill>
                  <a:srgbClr val="616161"/>
                </a:solidFill>
                <a:latin typeface="맑은 고딕" pitchFamily="34" charset="0"/>
                <a:ea typeface="맑은 고딕" pitchFamily="34" charset="-122"/>
                <a:cs typeface="맑은 고딕" pitchFamily="34" charset="-120"/>
              </a:rPr>
              <a:t>맞힌 비율</a:t>
            </a:r>
            <a:endParaRPr lang="en-US" sz="1100" dirty="0"/>
          </a:p>
        </p:txBody>
      </p:sp>
      <p:sp>
        <p:nvSpPr>
          <p:cNvPr id="27" name="Text 22"/>
          <p:cNvSpPr txBox="1"/>
          <p:nvPr/>
        </p:nvSpPr>
        <p:spPr>
          <a:xfrm>
            <a:off x="8046720" y="5669280"/>
            <a:ext cx="3504895" cy="502920"/>
          </a:xfrm>
          <a:prstGeom prst="rect">
            <a:avLst/>
          </a:prstGeom>
          <a:noFill/>
          <a:ln/>
        </p:spPr>
        <p:txBody>
          <a:bodyPr wrap="square" lIns="0" tIns="0" rIns="0" bIns="0" rtlCol="0" anchor="ctr"/>
          <a:lstStyle/>
          <a:p>
            <a:pPr algn="ctr" indent="0" marL="0">
              <a:buNone/>
            </a:pPr>
            <a:r>
              <a:rPr lang="en-US" sz="1050" b="1" dirty="0">
                <a:solidFill>
                  <a:srgbClr val="2F4E91"/>
                </a:solidFill>
                <a:latin typeface="맑은 고딕" pitchFamily="34" charset="0"/>
                <a:ea typeface="맑은 고딕" pitchFamily="34" charset="-122"/>
                <a:cs typeface="맑은 고딕" pitchFamily="34" charset="-120"/>
              </a:rPr>
              <a:t>→ TF-IDF·KcBERT의 오류 양상 차이 확인</a:t>
            </a:r>
            <a:endParaRPr lang="en-US" sz="1050" dirty="0"/>
          </a:p>
          <a:p>
            <a:pPr algn="ctr" indent="0" marL="0">
              <a:buNone/>
            </a:pPr>
            <a:r>
              <a:rPr lang="en-US" sz="1050" b="1" dirty="0">
                <a:solidFill>
                  <a:srgbClr val="2F4E91"/>
                </a:solidFill>
                <a:latin typeface="맑은 고딕" pitchFamily="34" charset="0"/>
                <a:ea typeface="맑은 고딕" pitchFamily="34" charset="-122"/>
                <a:cs typeface="맑은 고딕" pitchFamily="34" charset="-120"/>
              </a:rPr>
              <a:t>(과거 모델 분석·정규식 기준, 오라벨 단정 아님)</a:t>
            </a:r>
            <a:endParaRPr lang="en-US" sz="1050" dirty="0"/>
          </a:p>
        </p:txBody>
      </p:sp>
      <p:sp>
        <p:nvSpPr>
          <p:cNvPr id="28" name="Text 23"/>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근거: docs/decisions.md M3-ENS-001·M3-FINAL-002, docs/experiment_log.md M3-ERR-001. 서로 다른 학습 조건의 공식 Val 점수 차이는 인과 효과가 아님.</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04  종합 및 시사점</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32</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(1) 성능 요약과 교훈</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공식 Validation은 튜닝에 쓰지 않고, 결과를 보기 전에 고정한 기준만 확인했다.</a:t>
            </a:r>
            <a:endParaRPr lang="en-US" sz="1500" dirty="0"/>
          </a:p>
        </p:txBody>
      </p:sp>
      <p:sp>
        <p:nvSpPr>
          <p:cNvPr id="9" name="Shape 6"/>
          <p:cNvSpPr/>
          <p:nvPr/>
        </p:nvSpPr>
        <p:spPr>
          <a:xfrm>
            <a:off x="457200" y="2240280"/>
            <a:ext cx="3576218" cy="2011680"/>
          </a:xfrm>
          <a:prstGeom prst="roundRect">
            <a:avLst>
              <a:gd name="adj" fmla="val 4545"/>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Text 7"/>
          <p:cNvSpPr txBox="1"/>
          <p:nvPr/>
        </p:nvSpPr>
        <p:spPr>
          <a:xfrm>
            <a:off x="685800" y="2331720"/>
            <a:ext cx="3119018" cy="365760"/>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M1 신고자 성별</a:t>
            </a:r>
            <a:endParaRPr lang="en-US" sz="1500" dirty="0"/>
          </a:p>
        </p:txBody>
      </p:sp>
      <p:sp>
        <p:nvSpPr>
          <p:cNvPr id="11" name="Text 8"/>
          <p:cNvSpPr txBox="1"/>
          <p:nvPr/>
        </p:nvSpPr>
        <p:spPr>
          <a:xfrm>
            <a:off x="685800" y="2697480"/>
            <a:ext cx="2145731" cy="822960"/>
          </a:xfrm>
          <a:prstGeom prst="rect">
            <a:avLst/>
          </a:prstGeom>
          <a:noFill/>
          <a:ln/>
        </p:spPr>
        <p:txBody>
          <a:bodyPr wrap="square" lIns="0" tIns="0" rIns="0" bIns="0" rtlCol="0" anchor="ctr"/>
          <a:lstStyle/>
          <a:p>
            <a:pPr indent="0" marL="0">
              <a:buNone/>
            </a:pPr>
            <a:r>
              <a:rPr lang="en-US" sz="3800" b="1" dirty="0">
                <a:solidFill>
                  <a:srgbClr val="2F4E91"/>
                </a:solidFill>
                <a:latin typeface="맑은 고딕" pitchFamily="34" charset="0"/>
                <a:ea typeface="맑은 고딕" pitchFamily="34" charset="-122"/>
                <a:cs typeface="맑은 고딕" pitchFamily="34" charset="-120"/>
              </a:rPr>
              <a:t>98.10%</a:t>
            </a:r>
            <a:endParaRPr lang="en-US" sz="3800" dirty="0"/>
          </a:p>
        </p:txBody>
      </p:sp>
      <p:sp>
        <p:nvSpPr>
          <p:cNvPr id="12" name="Shape 9"/>
          <p:cNvSpPr/>
          <p:nvPr/>
        </p:nvSpPr>
        <p:spPr>
          <a:xfrm>
            <a:off x="2616098" y="2880360"/>
            <a:ext cx="1188720" cy="457200"/>
          </a:xfrm>
          <a:prstGeom prst="roundRect">
            <a:avLst>
              <a:gd name="adj" fmla="val 20000"/>
            </a:avLst>
          </a:prstGeom>
          <a:solidFill>
            <a:srgbClr val="E8F5E9"/>
          </a:solidFill>
          <a:ln w="12700">
            <a:solidFill>
              <a:srgbClr val="8BC34A"/>
            </a:solidFill>
            <a:prstDash val="solid"/>
          </a:ln>
        </p:spPr>
      </p:sp>
      <p:sp>
        <p:nvSpPr>
          <p:cNvPr id="13" name="Text 10"/>
          <p:cNvSpPr txBox="1"/>
          <p:nvPr/>
        </p:nvSpPr>
        <p:spPr>
          <a:xfrm>
            <a:off x="2616098" y="2880360"/>
            <a:ext cx="1188720" cy="457200"/>
          </a:xfrm>
          <a:prstGeom prst="rect">
            <a:avLst/>
          </a:prstGeom>
          <a:noFill/>
          <a:ln/>
        </p:spPr>
        <p:txBody>
          <a:bodyPr wrap="square" lIns="0" tIns="0" rIns="0" bIns="0" rtlCol="0" anchor="ctr"/>
          <a:lstStyle/>
          <a:p>
            <a:pPr algn="ctr" indent="0" marL="0">
              <a:buNone/>
            </a:pPr>
            <a:r>
              <a:rPr lang="en-US" sz="1300" b="1" dirty="0">
                <a:solidFill>
                  <a:srgbClr val="2E7D32"/>
                </a:solidFill>
                <a:latin typeface="맑은 고딕" pitchFamily="34" charset="0"/>
                <a:ea typeface="맑은 고딕" pitchFamily="34" charset="-122"/>
                <a:cs typeface="맑은 고딕" pitchFamily="34" charset="-120"/>
              </a:rPr>
              <a:t>▲ +2.99%p</a:t>
            </a:r>
            <a:endParaRPr lang="en-US" sz="1300" dirty="0"/>
          </a:p>
        </p:txBody>
      </p:sp>
      <p:sp>
        <p:nvSpPr>
          <p:cNvPr id="14" name="Text 11"/>
          <p:cNvSpPr txBox="1"/>
          <p:nvPr/>
        </p:nvSpPr>
        <p:spPr>
          <a:xfrm>
            <a:off x="685800" y="3611880"/>
            <a:ext cx="3119018" cy="274320"/>
          </a:xfrm>
          <a:prstGeom prst="rect">
            <a:avLst/>
          </a:prstGeom>
          <a:noFill/>
          <a:ln/>
        </p:spPr>
        <p:txBody>
          <a:bodyPr wrap="square" lIns="0" tIns="0" rIns="0" bIns="0" rtlCol="0" anchor="t"/>
          <a:lstStyle/>
          <a:p>
            <a:pPr indent="0" marL="0">
              <a:buNone/>
            </a:pPr>
            <a:r>
              <a:rPr lang="en-US" sz="1150" dirty="0">
                <a:solidFill>
                  <a:srgbClr val="616161"/>
                </a:solidFill>
                <a:latin typeface="맑은 고딕" pitchFamily="34" charset="0"/>
                <a:ea typeface="맑은 고딕" pitchFamily="34" charset="-122"/>
                <a:cs typeface="맑은 고딕" pitchFamily="34" charset="-120"/>
              </a:rPr>
              <a:t>음향 특징 + x-vector + LR</a:t>
            </a:r>
            <a:endParaRPr lang="en-US" sz="1150" dirty="0"/>
          </a:p>
        </p:txBody>
      </p:sp>
      <p:sp>
        <p:nvSpPr>
          <p:cNvPr id="15" name="Text 12"/>
          <p:cNvSpPr txBox="1"/>
          <p:nvPr/>
        </p:nvSpPr>
        <p:spPr>
          <a:xfrm>
            <a:off x="685800" y="3886200"/>
            <a:ext cx="3119018" cy="274320"/>
          </a:xfrm>
          <a:prstGeom prst="rect">
            <a:avLst/>
          </a:prstGeom>
          <a:noFill/>
          <a:ln/>
        </p:spPr>
        <p:txBody>
          <a:bodyPr wrap="square" lIns="0" tIns="0" rIns="0" bIns="0" rtlCol="0" anchor="t"/>
          <a:lstStyle/>
          <a:p>
            <a:pPr indent="0" marL="0">
              <a:buNone/>
            </a:pPr>
            <a:r>
              <a:rPr lang="en-US" sz="1050" dirty="0">
                <a:solidFill>
                  <a:srgbClr val="616161"/>
                </a:solidFill>
                <a:latin typeface="맑은 고딕" pitchFamily="34" charset="0"/>
                <a:ea typeface="맑은 고딕" pitchFamily="34" charset="-122"/>
                <a:cs typeface="맑은 고딕" pitchFamily="34" charset="-120"/>
              </a:rPr>
              <a:t>Accuracy · 공식 Val</a:t>
            </a:r>
            <a:endParaRPr lang="en-US" sz="1050" dirty="0"/>
          </a:p>
        </p:txBody>
      </p:sp>
      <p:sp>
        <p:nvSpPr>
          <p:cNvPr id="16" name="Shape 13"/>
          <p:cNvSpPr/>
          <p:nvPr/>
        </p:nvSpPr>
        <p:spPr>
          <a:xfrm>
            <a:off x="4307738" y="2240280"/>
            <a:ext cx="3576218" cy="2011680"/>
          </a:xfrm>
          <a:prstGeom prst="roundRect">
            <a:avLst>
              <a:gd name="adj" fmla="val 4545"/>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7" name="Text 14"/>
          <p:cNvSpPr txBox="1"/>
          <p:nvPr/>
        </p:nvSpPr>
        <p:spPr>
          <a:xfrm>
            <a:off x="4536338" y="2331720"/>
            <a:ext cx="3119018" cy="365760"/>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M2 신고자/대원</a:t>
            </a:r>
            <a:endParaRPr lang="en-US" sz="1500" dirty="0"/>
          </a:p>
        </p:txBody>
      </p:sp>
      <p:sp>
        <p:nvSpPr>
          <p:cNvPr id="18" name="Text 15"/>
          <p:cNvSpPr txBox="1"/>
          <p:nvPr/>
        </p:nvSpPr>
        <p:spPr>
          <a:xfrm>
            <a:off x="4536338" y="2697480"/>
            <a:ext cx="2145731" cy="822960"/>
          </a:xfrm>
          <a:prstGeom prst="rect">
            <a:avLst/>
          </a:prstGeom>
          <a:noFill/>
          <a:ln/>
        </p:spPr>
        <p:txBody>
          <a:bodyPr wrap="square" lIns="0" tIns="0" rIns="0" bIns="0" rtlCol="0" anchor="ctr"/>
          <a:lstStyle/>
          <a:p>
            <a:pPr indent="0" marL="0">
              <a:buNone/>
            </a:pPr>
            <a:r>
              <a:rPr lang="en-US" sz="3800" b="1" dirty="0">
                <a:solidFill>
                  <a:srgbClr val="2F4E91"/>
                </a:solidFill>
                <a:latin typeface="맑은 고딕" pitchFamily="34" charset="0"/>
                <a:ea typeface="맑은 고딕" pitchFamily="34" charset="-122"/>
                <a:cs typeface="맑은 고딕" pitchFamily="34" charset="-120"/>
              </a:rPr>
              <a:t>91.49%</a:t>
            </a:r>
            <a:endParaRPr lang="en-US" sz="3800" dirty="0"/>
          </a:p>
        </p:txBody>
      </p:sp>
      <p:sp>
        <p:nvSpPr>
          <p:cNvPr id="19" name="Shape 16"/>
          <p:cNvSpPr/>
          <p:nvPr/>
        </p:nvSpPr>
        <p:spPr>
          <a:xfrm>
            <a:off x="6466637" y="2880360"/>
            <a:ext cx="1188720" cy="457200"/>
          </a:xfrm>
          <a:prstGeom prst="roundRect">
            <a:avLst>
              <a:gd name="adj" fmla="val 20000"/>
            </a:avLst>
          </a:prstGeom>
          <a:solidFill>
            <a:srgbClr val="E8F5E9"/>
          </a:solidFill>
          <a:ln w="12700">
            <a:solidFill>
              <a:srgbClr val="8BC34A"/>
            </a:solidFill>
            <a:prstDash val="solid"/>
          </a:ln>
        </p:spPr>
      </p:sp>
      <p:sp>
        <p:nvSpPr>
          <p:cNvPr id="20" name="Text 17"/>
          <p:cNvSpPr txBox="1"/>
          <p:nvPr/>
        </p:nvSpPr>
        <p:spPr>
          <a:xfrm>
            <a:off x="6466637" y="2880360"/>
            <a:ext cx="1188720" cy="457200"/>
          </a:xfrm>
          <a:prstGeom prst="rect">
            <a:avLst/>
          </a:prstGeom>
          <a:noFill/>
          <a:ln/>
        </p:spPr>
        <p:txBody>
          <a:bodyPr wrap="square" lIns="0" tIns="0" rIns="0" bIns="0" rtlCol="0" anchor="ctr"/>
          <a:lstStyle/>
          <a:p>
            <a:pPr algn="ctr" indent="0" marL="0">
              <a:buNone/>
            </a:pPr>
            <a:r>
              <a:rPr lang="en-US" sz="1300" b="1" dirty="0">
                <a:solidFill>
                  <a:srgbClr val="2E7D32"/>
                </a:solidFill>
                <a:latin typeface="맑은 고딕" pitchFamily="34" charset="0"/>
                <a:ea typeface="맑은 고딕" pitchFamily="34" charset="-122"/>
                <a:cs typeface="맑은 고딕" pitchFamily="34" charset="-120"/>
              </a:rPr>
              <a:t>▲ +5.05%p</a:t>
            </a:r>
            <a:endParaRPr lang="en-US" sz="1300" dirty="0"/>
          </a:p>
        </p:txBody>
      </p:sp>
      <p:sp>
        <p:nvSpPr>
          <p:cNvPr id="21" name="Text 18"/>
          <p:cNvSpPr txBox="1"/>
          <p:nvPr/>
        </p:nvSpPr>
        <p:spPr>
          <a:xfrm>
            <a:off x="4536338" y="3611880"/>
            <a:ext cx="3119018" cy="274320"/>
          </a:xfrm>
          <a:prstGeom prst="rect">
            <a:avLst/>
          </a:prstGeom>
          <a:noFill/>
          <a:ln/>
        </p:spPr>
        <p:txBody>
          <a:bodyPr wrap="square" lIns="0" tIns="0" rIns="0" bIns="0" rtlCol="0" anchor="t"/>
          <a:lstStyle/>
          <a:p>
            <a:pPr indent="0" marL="0">
              <a:buNone/>
            </a:pPr>
            <a:r>
              <a:rPr lang="en-US" sz="1150" dirty="0">
                <a:solidFill>
                  <a:srgbClr val="616161"/>
                </a:solidFill>
                <a:latin typeface="맑은 고딕" pitchFamily="34" charset="0"/>
                <a:ea typeface="맑은 고딕" pitchFamily="34" charset="-122"/>
                <a:cs typeface="맑은 고딕" pitchFamily="34" charset="-120"/>
              </a:rPr>
              <a:t>log-mel + CNN × 3</a:t>
            </a:r>
            <a:endParaRPr lang="en-US" sz="1150" dirty="0"/>
          </a:p>
        </p:txBody>
      </p:sp>
      <p:sp>
        <p:nvSpPr>
          <p:cNvPr id="22" name="Text 19"/>
          <p:cNvSpPr txBox="1"/>
          <p:nvPr/>
        </p:nvSpPr>
        <p:spPr>
          <a:xfrm>
            <a:off x="4536338" y="3886200"/>
            <a:ext cx="3119018" cy="274320"/>
          </a:xfrm>
          <a:prstGeom prst="rect">
            <a:avLst/>
          </a:prstGeom>
          <a:noFill/>
          <a:ln/>
        </p:spPr>
        <p:txBody>
          <a:bodyPr wrap="square" lIns="0" tIns="0" rIns="0" bIns="0" rtlCol="0" anchor="t"/>
          <a:lstStyle/>
          <a:p>
            <a:pPr indent="0" marL="0">
              <a:buNone/>
            </a:pPr>
            <a:r>
              <a:rPr lang="en-US" sz="1050" dirty="0">
                <a:solidFill>
                  <a:srgbClr val="616161"/>
                </a:solidFill>
                <a:latin typeface="맑은 고딕" pitchFamily="34" charset="0"/>
                <a:ea typeface="맑은 고딕" pitchFamily="34" charset="-122"/>
                <a:cs typeface="맑은 고딕" pitchFamily="34" charset="-120"/>
              </a:rPr>
              <a:t>Accuracy · 공식 Val</a:t>
            </a:r>
            <a:endParaRPr lang="en-US" sz="1050" dirty="0"/>
          </a:p>
        </p:txBody>
      </p:sp>
      <p:sp>
        <p:nvSpPr>
          <p:cNvPr id="23" name="Shape 20"/>
          <p:cNvSpPr/>
          <p:nvPr/>
        </p:nvSpPr>
        <p:spPr>
          <a:xfrm>
            <a:off x="8158277" y="2240280"/>
            <a:ext cx="3576218" cy="2011680"/>
          </a:xfrm>
          <a:prstGeom prst="roundRect">
            <a:avLst>
              <a:gd name="adj" fmla="val 4545"/>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24" name="Text 21"/>
          <p:cNvSpPr txBox="1"/>
          <p:nvPr/>
        </p:nvSpPr>
        <p:spPr>
          <a:xfrm>
            <a:off x="8386877" y="2331720"/>
            <a:ext cx="3119018" cy="365760"/>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M3 증상 9종</a:t>
            </a:r>
            <a:endParaRPr lang="en-US" sz="1500" dirty="0"/>
          </a:p>
        </p:txBody>
      </p:sp>
      <p:sp>
        <p:nvSpPr>
          <p:cNvPr id="25" name="Text 22"/>
          <p:cNvSpPr txBox="1"/>
          <p:nvPr/>
        </p:nvSpPr>
        <p:spPr>
          <a:xfrm>
            <a:off x="8386877" y="2697480"/>
            <a:ext cx="2145731" cy="822960"/>
          </a:xfrm>
          <a:prstGeom prst="rect">
            <a:avLst/>
          </a:prstGeom>
          <a:noFill/>
          <a:ln/>
        </p:spPr>
        <p:txBody>
          <a:bodyPr wrap="square" lIns="0" tIns="0" rIns="0" bIns="0" rtlCol="0" anchor="ctr"/>
          <a:lstStyle/>
          <a:p>
            <a:pPr indent="0" marL="0">
              <a:buNone/>
            </a:pPr>
            <a:r>
              <a:rPr lang="en-US" sz="3800" b="1" dirty="0">
                <a:solidFill>
                  <a:srgbClr val="2F4E91"/>
                </a:solidFill>
                <a:latin typeface="맑은 고딕" pitchFamily="34" charset="0"/>
                <a:ea typeface="맑은 고딕" pitchFamily="34" charset="-122"/>
                <a:cs typeface="맑은 고딕" pitchFamily="34" charset="-120"/>
              </a:rPr>
              <a:t>0.6534</a:t>
            </a:r>
            <a:endParaRPr lang="en-US" sz="3800" dirty="0"/>
          </a:p>
        </p:txBody>
      </p:sp>
      <p:sp>
        <p:nvSpPr>
          <p:cNvPr id="26" name="Shape 23"/>
          <p:cNvSpPr/>
          <p:nvPr/>
        </p:nvSpPr>
        <p:spPr>
          <a:xfrm>
            <a:off x="10317175" y="2880360"/>
            <a:ext cx="1188720" cy="457200"/>
          </a:xfrm>
          <a:prstGeom prst="roundRect">
            <a:avLst>
              <a:gd name="adj" fmla="val 20000"/>
            </a:avLst>
          </a:prstGeom>
          <a:solidFill>
            <a:srgbClr val="E8F5E9"/>
          </a:solidFill>
          <a:ln w="12700">
            <a:solidFill>
              <a:srgbClr val="8BC34A"/>
            </a:solidFill>
            <a:prstDash val="solid"/>
          </a:ln>
        </p:spPr>
      </p:sp>
      <p:sp>
        <p:nvSpPr>
          <p:cNvPr id="27" name="Text 24"/>
          <p:cNvSpPr txBox="1"/>
          <p:nvPr/>
        </p:nvSpPr>
        <p:spPr>
          <a:xfrm>
            <a:off x="10317175" y="2880360"/>
            <a:ext cx="1188720" cy="457200"/>
          </a:xfrm>
          <a:prstGeom prst="rect">
            <a:avLst/>
          </a:prstGeom>
          <a:noFill/>
          <a:ln/>
        </p:spPr>
        <p:txBody>
          <a:bodyPr wrap="square" lIns="0" tIns="0" rIns="0" bIns="0" rtlCol="0" anchor="ctr"/>
          <a:lstStyle/>
          <a:p>
            <a:pPr algn="ctr" indent="0" marL="0">
              <a:buNone/>
            </a:pPr>
            <a:r>
              <a:rPr lang="en-US" sz="1300" b="1" dirty="0">
                <a:solidFill>
                  <a:srgbClr val="2E7D32"/>
                </a:solidFill>
                <a:latin typeface="맑은 고딕" pitchFamily="34" charset="0"/>
                <a:ea typeface="맑은 고딕" pitchFamily="34" charset="-122"/>
                <a:cs typeface="맑은 고딕" pitchFamily="34" charset="-120"/>
              </a:rPr>
              <a:t>▲ +0.0845</a:t>
            </a:r>
            <a:endParaRPr lang="en-US" sz="1300" dirty="0"/>
          </a:p>
        </p:txBody>
      </p:sp>
      <p:sp>
        <p:nvSpPr>
          <p:cNvPr id="28" name="Text 25"/>
          <p:cNvSpPr txBox="1"/>
          <p:nvPr/>
        </p:nvSpPr>
        <p:spPr>
          <a:xfrm>
            <a:off x="8386877" y="3611880"/>
            <a:ext cx="3119018" cy="274320"/>
          </a:xfrm>
          <a:prstGeom prst="rect">
            <a:avLst/>
          </a:prstGeom>
          <a:noFill/>
          <a:ln/>
        </p:spPr>
        <p:txBody>
          <a:bodyPr wrap="square" lIns="0" tIns="0" rIns="0" bIns="0" rtlCol="0" anchor="t"/>
          <a:lstStyle/>
          <a:p>
            <a:pPr indent="0" marL="0">
              <a:buNone/>
            </a:pPr>
            <a:r>
              <a:rPr lang="en-US" sz="1150" dirty="0">
                <a:solidFill>
                  <a:srgbClr val="616161"/>
                </a:solidFill>
                <a:latin typeface="맑은 고딕" pitchFamily="34" charset="0"/>
                <a:ea typeface="맑은 고딕" pitchFamily="34" charset="-122"/>
                <a:cs typeface="맑은 고딕" pitchFamily="34" charset="-120"/>
              </a:rPr>
              <a:t>RoBERTa-large × 3 + TF-IDF</a:t>
            </a:r>
            <a:endParaRPr lang="en-US" sz="1150" dirty="0"/>
          </a:p>
        </p:txBody>
      </p:sp>
      <p:sp>
        <p:nvSpPr>
          <p:cNvPr id="29" name="Text 26"/>
          <p:cNvSpPr txBox="1"/>
          <p:nvPr/>
        </p:nvSpPr>
        <p:spPr>
          <a:xfrm>
            <a:off x="8386877" y="3886200"/>
            <a:ext cx="3119018" cy="274320"/>
          </a:xfrm>
          <a:prstGeom prst="rect">
            <a:avLst/>
          </a:prstGeom>
          <a:noFill/>
          <a:ln/>
        </p:spPr>
        <p:txBody>
          <a:bodyPr wrap="square" lIns="0" tIns="0" rIns="0" bIns="0" rtlCol="0" anchor="t"/>
          <a:lstStyle/>
          <a:p>
            <a:pPr indent="0" marL="0">
              <a:buNone/>
            </a:pPr>
            <a:r>
              <a:rPr lang="en-US" sz="1050" dirty="0">
                <a:solidFill>
                  <a:srgbClr val="616161"/>
                </a:solidFill>
                <a:latin typeface="맑은 고딕" pitchFamily="34" charset="0"/>
                <a:ea typeface="맑은 고딕" pitchFamily="34" charset="-122"/>
                <a:cs typeface="맑은 고딕" pitchFamily="34" charset="-120"/>
              </a:rPr>
              <a:t>Macro F1 · 공식 Val</a:t>
            </a:r>
            <a:endParaRPr lang="en-US" sz="1050" dirty="0"/>
          </a:p>
        </p:txBody>
      </p:sp>
      <p:sp>
        <p:nvSpPr>
          <p:cNvPr id="30" name="Text 27"/>
          <p:cNvSpPr txBox="1"/>
          <p:nvPr/>
        </p:nvSpPr>
        <p:spPr>
          <a:xfrm>
            <a:off x="457200" y="4297680"/>
            <a:ext cx="11277295" cy="228600"/>
          </a:xfrm>
          <a:prstGeom prst="rect">
            <a:avLst/>
          </a:prstGeom>
          <a:noFill/>
          <a:ln/>
        </p:spPr>
        <p:txBody>
          <a:bodyPr wrap="square" lIns="0" tIns="0" rIns="0" bIns="0" rtlCol="0" anchor="t"/>
          <a:lstStyle/>
          <a:p>
            <a:pPr algn="r" indent="0" marL="0">
              <a:buNone/>
            </a:pPr>
            <a:r>
              <a:rPr lang="en-US" sz="1100" dirty="0">
                <a:solidFill>
                  <a:srgbClr val="616161"/>
                </a:solidFill>
                <a:latin typeface="맑은 고딕" pitchFamily="34" charset="0"/>
                <a:ea typeface="맑은 고딕" pitchFamily="34" charset="-122"/>
                <a:cs typeface="맑은 고딕" pitchFamily="34" charset="-120"/>
              </a:rPr>
              <a:t>baseline: M1 95.11%, M2 86.44%, M3 0.5689</a:t>
            </a:r>
            <a:endParaRPr lang="en-US" sz="1100" dirty="0"/>
          </a:p>
        </p:txBody>
      </p:sp>
      <p:sp>
        <p:nvSpPr>
          <p:cNvPr id="31" name="Shape 28"/>
          <p:cNvSpPr/>
          <p:nvPr/>
        </p:nvSpPr>
        <p:spPr>
          <a:xfrm>
            <a:off x="457200" y="4526280"/>
            <a:ext cx="3576218" cy="1737360"/>
          </a:xfrm>
          <a:prstGeom prst="roundRect">
            <a:avLst>
              <a:gd name="adj" fmla="val 5263"/>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32" name="Shape 29"/>
          <p:cNvSpPr/>
          <p:nvPr/>
        </p:nvSpPr>
        <p:spPr>
          <a:xfrm>
            <a:off x="685800" y="4681728"/>
            <a:ext cx="457200" cy="457200"/>
          </a:xfrm>
          <a:prstGeom prst="ellipse">
            <a:avLst/>
          </a:prstGeom>
          <a:solidFill>
            <a:srgbClr val="2F4E91"/>
          </a:solidFill>
          <a:ln w="12700">
            <a:solidFill>
              <a:srgbClr val="2F4E91"/>
            </a:solidFill>
            <a:prstDash val="solid"/>
          </a:ln>
        </p:spPr>
      </p:sp>
      <p:sp>
        <p:nvSpPr>
          <p:cNvPr id="33" name="Text 30"/>
          <p:cNvSpPr txBox="1"/>
          <p:nvPr/>
        </p:nvSpPr>
        <p:spPr>
          <a:xfrm>
            <a:off x="685800" y="46817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34" name="Text 31"/>
          <p:cNvSpPr txBox="1"/>
          <p:nvPr/>
        </p:nvSpPr>
        <p:spPr>
          <a:xfrm>
            <a:off x="1280160" y="4636008"/>
            <a:ext cx="2616098" cy="548640"/>
          </a:xfrm>
          <a:prstGeom prst="rect">
            <a:avLst/>
          </a:prstGeom>
          <a:noFill/>
          <a:ln/>
        </p:spPr>
        <p:txBody>
          <a:bodyPr wrap="square" lIns="0" tIns="0" rIns="0" bIns="0" rtlCol="0" anchor="ctr"/>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기준은 결과를 보기 전에</a:t>
            </a:r>
            <a:endParaRPr lang="en-US" sz="1500" dirty="0"/>
          </a:p>
          <a:p>
            <a:pPr indent="0" marL="0">
              <a:buNone/>
            </a:pPr>
            <a:r>
              <a:rPr lang="en-US" sz="1500" b="1" dirty="0">
                <a:solidFill>
                  <a:srgbClr val="2F4E91"/>
                </a:solidFill>
                <a:latin typeface="맑은 고딕" pitchFamily="34" charset="0"/>
                <a:ea typeface="맑은 고딕" pitchFamily="34" charset="-122"/>
                <a:cs typeface="맑은 고딕" pitchFamily="34" charset="-120"/>
              </a:rPr>
              <a:t>고정한다</a:t>
            </a:r>
            <a:endParaRPr lang="en-US" sz="1500" dirty="0"/>
          </a:p>
        </p:txBody>
      </p:sp>
      <p:sp>
        <p:nvSpPr>
          <p:cNvPr id="35" name="Text 32"/>
          <p:cNvSpPr txBox="1"/>
          <p:nvPr/>
        </p:nvSpPr>
        <p:spPr>
          <a:xfrm>
            <a:off x="685800" y="5303520"/>
            <a:ext cx="3119018" cy="868680"/>
          </a:xfrm>
          <a:prstGeom prst="rect">
            <a:avLst/>
          </a:prstGeom>
          <a:noFill/>
          <a:ln/>
        </p:spPr>
        <p:txBody>
          <a:bodyPr wrap="square" lIns="0" tIns="0" rIns="0" bIns="0" rtlCol="0" anchor="t"/>
          <a:lstStyle/>
          <a:p>
            <a:pPr indent="0" marL="0">
              <a:buNone/>
            </a:pPr>
            <a:r>
              <a:rPr lang="en-US" sz="1200" dirty="0">
                <a:solidFill>
                  <a:srgbClr val="212121"/>
                </a:solidFill>
                <a:latin typeface="맑은 고딕" pitchFamily="34" charset="0"/>
                <a:ea typeface="맑은 고딕" pitchFamily="34" charset="-122"/>
                <a:cs typeface="맑은 고딕" pitchFamily="34" charset="-120"/>
              </a:rPr>
              <a:t>결과를 본 뒤 기준을 낮추면 Validation에 과적합된다</a:t>
            </a:r>
            <a:endParaRPr lang="en-US" sz="1200" dirty="0"/>
          </a:p>
        </p:txBody>
      </p:sp>
      <p:sp>
        <p:nvSpPr>
          <p:cNvPr id="36" name="Shape 33"/>
          <p:cNvSpPr/>
          <p:nvPr/>
        </p:nvSpPr>
        <p:spPr>
          <a:xfrm>
            <a:off x="4307738" y="4526280"/>
            <a:ext cx="3576218" cy="1737360"/>
          </a:xfrm>
          <a:prstGeom prst="roundRect">
            <a:avLst>
              <a:gd name="adj" fmla="val 5263"/>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37" name="Shape 34"/>
          <p:cNvSpPr/>
          <p:nvPr/>
        </p:nvSpPr>
        <p:spPr>
          <a:xfrm>
            <a:off x="4536338" y="4681728"/>
            <a:ext cx="457200" cy="457200"/>
          </a:xfrm>
          <a:prstGeom prst="ellipse">
            <a:avLst/>
          </a:prstGeom>
          <a:solidFill>
            <a:srgbClr val="2F4E91"/>
          </a:solidFill>
          <a:ln w="12700">
            <a:solidFill>
              <a:srgbClr val="2F4E91"/>
            </a:solidFill>
            <a:prstDash val="solid"/>
          </a:ln>
        </p:spPr>
      </p:sp>
      <p:sp>
        <p:nvSpPr>
          <p:cNvPr id="38" name="Text 35"/>
          <p:cNvSpPr txBox="1"/>
          <p:nvPr/>
        </p:nvSpPr>
        <p:spPr>
          <a:xfrm>
            <a:off x="4536338" y="46817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9" name="Text 36"/>
          <p:cNvSpPr txBox="1"/>
          <p:nvPr/>
        </p:nvSpPr>
        <p:spPr>
          <a:xfrm>
            <a:off x="5130698" y="4636008"/>
            <a:ext cx="2616098" cy="548640"/>
          </a:xfrm>
          <a:prstGeom prst="rect">
            <a:avLst/>
          </a:prstGeom>
          <a:noFill/>
          <a:ln/>
        </p:spPr>
        <p:txBody>
          <a:bodyPr wrap="square" lIns="0" tIns="0" rIns="0" bIns="0" rtlCol="0" anchor="ctr"/>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기각도 기록한다</a:t>
            </a:r>
            <a:endParaRPr lang="en-US" sz="1500" dirty="0"/>
          </a:p>
        </p:txBody>
      </p:sp>
      <p:sp>
        <p:nvSpPr>
          <p:cNvPr id="40" name="Text 37"/>
          <p:cNvSpPr txBox="1"/>
          <p:nvPr/>
        </p:nvSpPr>
        <p:spPr>
          <a:xfrm>
            <a:off x="4536338" y="5303520"/>
            <a:ext cx="3119018" cy="868680"/>
          </a:xfrm>
          <a:prstGeom prst="rect">
            <a:avLst/>
          </a:prstGeom>
          <a:noFill/>
          <a:ln/>
        </p:spPr>
        <p:txBody>
          <a:bodyPr wrap="square" lIns="0" tIns="0" rIns="0" bIns="0" rtlCol="0" anchor="t"/>
          <a:lstStyle/>
          <a:p>
            <a:pPr indent="0" marL="0">
              <a:buNone/>
            </a:pPr>
            <a:r>
              <a:rPr lang="en-US" sz="1200" dirty="0">
                <a:solidFill>
                  <a:srgbClr val="212121"/>
                </a:solidFill>
                <a:latin typeface="맑은 고딕" pitchFamily="34" charset="0"/>
                <a:ea typeface="맑은 고딕" pitchFamily="34" charset="-122"/>
                <a:cs typeface="맑은 고딕" pitchFamily="34" charset="-120"/>
              </a:rPr>
              <a:t>효과 없던 실험과 그 이유를 decisions.md에 남겨 같은 시도를 반복하지 않음</a:t>
            </a:r>
            <a:endParaRPr lang="en-US" sz="1200" dirty="0"/>
          </a:p>
        </p:txBody>
      </p:sp>
      <p:sp>
        <p:nvSpPr>
          <p:cNvPr id="41" name="Shape 38"/>
          <p:cNvSpPr/>
          <p:nvPr/>
        </p:nvSpPr>
        <p:spPr>
          <a:xfrm>
            <a:off x="8158277" y="4526280"/>
            <a:ext cx="3576218" cy="1737360"/>
          </a:xfrm>
          <a:prstGeom prst="roundRect">
            <a:avLst>
              <a:gd name="adj" fmla="val 5263"/>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42" name="Shape 39"/>
          <p:cNvSpPr/>
          <p:nvPr/>
        </p:nvSpPr>
        <p:spPr>
          <a:xfrm>
            <a:off x="8386877" y="4681728"/>
            <a:ext cx="457200" cy="457200"/>
          </a:xfrm>
          <a:prstGeom prst="ellipse">
            <a:avLst/>
          </a:prstGeom>
          <a:solidFill>
            <a:srgbClr val="2F4E91"/>
          </a:solidFill>
          <a:ln w="12700">
            <a:solidFill>
              <a:srgbClr val="2F4E91"/>
            </a:solidFill>
            <a:prstDash val="solid"/>
          </a:ln>
        </p:spPr>
      </p:sp>
      <p:sp>
        <p:nvSpPr>
          <p:cNvPr id="43" name="Text 40"/>
          <p:cNvSpPr txBox="1"/>
          <p:nvPr/>
        </p:nvSpPr>
        <p:spPr>
          <a:xfrm>
            <a:off x="8386877" y="46817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44" name="Text 41"/>
          <p:cNvSpPr txBox="1"/>
          <p:nvPr/>
        </p:nvSpPr>
        <p:spPr>
          <a:xfrm>
            <a:off x="8981237" y="4636008"/>
            <a:ext cx="2616098" cy="548640"/>
          </a:xfrm>
          <a:prstGeom prst="rect">
            <a:avLst/>
          </a:prstGeom>
          <a:noFill/>
          <a:ln/>
        </p:spPr>
        <p:txBody>
          <a:bodyPr wrap="square" lIns="0" tIns="0" rIns="0" bIns="0" rtlCol="0" anchor="ctr"/>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규칙은 설계 단계에서 지킨다</a:t>
            </a:r>
            <a:endParaRPr lang="en-US" sz="1500" dirty="0"/>
          </a:p>
        </p:txBody>
      </p:sp>
      <p:sp>
        <p:nvSpPr>
          <p:cNvPr id="45" name="Text 42"/>
          <p:cNvSpPr txBox="1"/>
          <p:nvPr/>
        </p:nvSpPr>
        <p:spPr>
          <a:xfrm>
            <a:off x="8386877" y="5303520"/>
            <a:ext cx="3119018" cy="868680"/>
          </a:xfrm>
          <a:prstGeom prst="rect">
            <a:avLst/>
          </a:prstGeom>
          <a:noFill/>
          <a:ln/>
        </p:spPr>
        <p:txBody>
          <a:bodyPr wrap="square" lIns="0" tIns="0" rIns="0" bIns="0" rtlCol="0" anchor="t"/>
          <a:lstStyle/>
          <a:p>
            <a:pPr indent="0" marL="0">
              <a:buNone/>
            </a:pPr>
            <a:r>
              <a:rPr lang="en-US" sz="1200" dirty="0">
                <a:solidFill>
                  <a:srgbClr val="212121"/>
                </a:solidFill>
                <a:latin typeface="맑은 고딕" pitchFamily="34" charset="0"/>
                <a:ea typeface="맑은 고딕" pitchFamily="34" charset="-122"/>
                <a:cs typeface="맑은 고딕" pitchFamily="34" charset="-120"/>
              </a:rPr>
              <a:t>규칙 위반 소지가 있는 특징은 성능이 좋아도 제거 (M2 통화 단위 정보)</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04  종합 및 시사점</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33</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(2) 사회안전 시사점과 향후 계획</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세 미션을 이으면, 신고 전화가 들어오는 순간부터 출동 판단까지를 돕는 하나의 흐름이 된다.</a:t>
            </a:r>
            <a:endParaRPr lang="en-US" sz="1500" dirty="0"/>
          </a:p>
        </p:txBody>
      </p:sp>
      <p:pic>
        <p:nvPicPr>
          <p:cNvPr id="9" name="Image 1" descr="figures/anim/flow_pipeline.gif">    </p:cNvPr>
          <p:cNvPicPr>
            <a:picLocks noChangeAspect="1"/>
          </p:cNvPicPr>
          <p:nvPr/>
        </p:nvPicPr>
        <p:blipFill>
          <a:blip r:embed="rId2"/>
          <a:stretch>
            <a:fillRect/>
          </a:stretch>
        </p:blipFill>
        <p:spPr>
          <a:xfrm>
            <a:off x="609448" y="2194560"/>
            <a:ext cx="10972800" cy="1325880"/>
          </a:xfrm>
          <a:prstGeom prst="rect">
            <a:avLst/>
          </a:prstGeom>
        </p:spPr>
      </p:pic>
      <p:sp>
        <p:nvSpPr>
          <p:cNvPr id="10" name="Shape 6"/>
          <p:cNvSpPr/>
          <p:nvPr/>
        </p:nvSpPr>
        <p:spPr>
          <a:xfrm>
            <a:off x="457200" y="3611880"/>
            <a:ext cx="4572000" cy="2103120"/>
          </a:xfrm>
          <a:prstGeom prst="roundRect">
            <a:avLst>
              <a:gd name="adj" fmla="val 4348"/>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1" name="Text 7"/>
          <p:cNvSpPr txBox="1"/>
          <p:nvPr/>
        </p:nvSpPr>
        <p:spPr>
          <a:xfrm>
            <a:off x="685800" y="3721608"/>
            <a:ext cx="4114800" cy="329184"/>
          </a:xfrm>
          <a:prstGeom prst="rect">
            <a:avLst/>
          </a:prstGeom>
          <a:noFill/>
          <a:ln/>
        </p:spPr>
        <p:txBody>
          <a:bodyPr wrap="square" lIns="0" tIns="0" rIns="0" bIns="0" rtlCol="0" anchor="t"/>
          <a:lstStyle/>
          <a:p>
            <a:pPr indent="0" marL="0">
              <a:buNone/>
            </a:pPr>
            <a:r>
              <a:rPr lang="en-US" sz="1800" b="1" dirty="0">
                <a:solidFill>
                  <a:srgbClr val="2F4E91"/>
                </a:solidFill>
                <a:latin typeface="맑은 고딕" pitchFamily="34" charset="0"/>
                <a:ea typeface="맑은 고딕" pitchFamily="34" charset="-122"/>
                <a:cs typeface="맑은 고딕" pitchFamily="34" charset="-120"/>
              </a:rPr>
              <a:t>■ 기대효과</a:t>
            </a:r>
            <a:endParaRPr lang="en-US" sz="1800" dirty="0"/>
          </a:p>
        </p:txBody>
      </p:sp>
      <p:sp>
        <p:nvSpPr>
          <p:cNvPr id="12" name="Text 8"/>
          <p:cNvSpPr txBox="1"/>
          <p:nvPr/>
        </p:nvSpPr>
        <p:spPr>
          <a:xfrm>
            <a:off x="685800" y="4206240"/>
            <a:ext cx="4114800" cy="1417320"/>
          </a:xfrm>
          <a:prstGeom prst="rect">
            <a:avLst/>
          </a:prstGeom>
          <a:noFill/>
          <a:ln/>
        </p:spPr>
        <p:txBody>
          <a:bodyPr wrap="square" lIns="0" tIns="0" rIns="0" bIns="0" rtlCol="0" anchor="t"/>
          <a:lstStyle/>
          <a:p>
            <a:pPr indent="0" marL="0">
              <a:spcAft>
                <a:spcPts val="800"/>
              </a:spcAft>
              <a:buNone/>
            </a:pPr>
            <a:r>
              <a:rPr lang="en-US" sz="1400" b="1" dirty="0">
                <a:solidFill>
                  <a:srgbClr val="2F4E91"/>
                </a:solidFill>
                <a:latin typeface="맑은 고딕" pitchFamily="34" charset="0"/>
                <a:ea typeface="맑은 고딕" pitchFamily="34" charset="-122"/>
                <a:cs typeface="맑은 고딕" pitchFamily="34" charset="-120"/>
              </a:rPr>
              <a:t>접수 시간 단축</a:t>
            </a:r>
            <a:pPr indent="0" marL="0">
              <a:spcAft>
                <a:spcPts val="800"/>
              </a:spcAft>
              <a:buNone/>
            </a:pPr>
            <a:r>
              <a:rPr lang="en-US" sz="1400" dirty="0">
                <a:solidFill>
                  <a:srgbClr val="212121"/>
                </a:solidFill>
                <a:latin typeface="맑은 고딕" pitchFamily="34" charset="0"/>
                <a:ea typeface="맑은 고딕" pitchFamily="34" charset="-122"/>
                <a:cs typeface="맑은 고딕" pitchFamily="34" charset="-120"/>
              </a:rPr>
              <a:t> — 수기 기록 부담 감소</a:t>
            </a:r>
            <a:endParaRPr lang="en-US" sz="1400" dirty="0"/>
          </a:p>
          <a:p>
            <a:pPr indent="0" marL="0">
              <a:spcAft>
                <a:spcPts val="800"/>
              </a:spcAft>
              <a:buNone/>
            </a:pPr>
            <a:r>
              <a:rPr lang="en-US" sz="1400" b="1" dirty="0">
                <a:solidFill>
                  <a:srgbClr val="2F4E91"/>
                </a:solidFill>
                <a:latin typeface="맑은 고딕" pitchFamily="34" charset="0"/>
                <a:ea typeface="맑은 고딕" pitchFamily="34" charset="-122"/>
                <a:cs typeface="맑은 고딕" pitchFamily="34" charset="-120"/>
              </a:rPr>
              <a:t>누락 방지</a:t>
            </a:r>
            <a:pPr indent="0" marL="0">
              <a:spcAft>
                <a:spcPts val="800"/>
              </a:spcAft>
              <a:buNone/>
            </a:pPr>
            <a:r>
              <a:rPr lang="en-US" sz="1400" dirty="0">
                <a:solidFill>
                  <a:srgbClr val="212121"/>
                </a:solidFill>
                <a:latin typeface="맑은 고딕" pitchFamily="34" charset="0"/>
                <a:ea typeface="맑은 고딕" pitchFamily="34" charset="-122"/>
                <a:cs typeface="맑은 고딕" pitchFamily="34" charset="-120"/>
              </a:rPr>
              <a:t> — 긴박한 통화 속 증상 언급 표시</a:t>
            </a:r>
            <a:endParaRPr lang="en-US" sz="1400" dirty="0"/>
          </a:p>
          <a:p>
            <a:pPr indent="0" marL="0">
              <a:spcAft>
                <a:spcPts val="800"/>
              </a:spcAft>
              <a:buNone/>
            </a:pPr>
            <a:r>
              <a:rPr lang="en-US" sz="1400" b="1" dirty="0">
                <a:solidFill>
                  <a:srgbClr val="2F4E91"/>
                </a:solidFill>
                <a:latin typeface="맑은 고딕" pitchFamily="34" charset="0"/>
                <a:ea typeface="맑은 고딕" pitchFamily="34" charset="-122"/>
                <a:cs typeface="맑은 고딕" pitchFamily="34" charset="-120"/>
              </a:rPr>
              <a:t>판단 보조</a:t>
            </a:r>
            <a:pPr indent="0" marL="0">
              <a:spcAft>
                <a:spcPts val="800"/>
              </a:spcAft>
              <a:buNone/>
            </a:pPr>
            <a:r>
              <a:rPr lang="en-US" sz="1400" dirty="0">
                <a:solidFill>
                  <a:srgbClr val="212121"/>
                </a:solidFill>
                <a:latin typeface="맑은 고딕" pitchFamily="34" charset="0"/>
                <a:ea typeface="맑은 고딕" pitchFamily="34" charset="-122"/>
                <a:cs typeface="맑은 고딕" pitchFamily="34" charset="-120"/>
              </a:rPr>
              <a:t> — 출동 우선순위 결정 지원</a:t>
            </a:r>
            <a:endParaRPr lang="en-US" sz="1400" dirty="0"/>
          </a:p>
        </p:txBody>
      </p:sp>
      <p:sp>
        <p:nvSpPr>
          <p:cNvPr id="13" name="Shape 9"/>
          <p:cNvSpPr/>
          <p:nvPr/>
        </p:nvSpPr>
        <p:spPr>
          <a:xfrm>
            <a:off x="5394960" y="3611880"/>
            <a:ext cx="6339535" cy="2103120"/>
          </a:xfrm>
          <a:prstGeom prst="roundRect">
            <a:avLst>
              <a:gd name="adj" fmla="val 4348"/>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4" name="Text 10"/>
          <p:cNvSpPr txBox="1"/>
          <p:nvPr/>
        </p:nvSpPr>
        <p:spPr>
          <a:xfrm>
            <a:off x="5623560" y="3721608"/>
            <a:ext cx="5882335" cy="329184"/>
          </a:xfrm>
          <a:prstGeom prst="rect">
            <a:avLst/>
          </a:prstGeom>
          <a:noFill/>
          <a:ln/>
        </p:spPr>
        <p:txBody>
          <a:bodyPr wrap="square" lIns="0" tIns="0" rIns="0" bIns="0" rtlCol="0" anchor="t"/>
          <a:lstStyle/>
          <a:p>
            <a:pPr indent="0" marL="0">
              <a:buNone/>
            </a:pPr>
            <a:r>
              <a:rPr lang="en-US" sz="1800" b="1" dirty="0">
                <a:solidFill>
                  <a:srgbClr val="2F4E91"/>
                </a:solidFill>
                <a:latin typeface="맑은 고딕" pitchFamily="34" charset="0"/>
                <a:ea typeface="맑은 고딕" pitchFamily="34" charset="-122"/>
                <a:cs typeface="맑은 고딕" pitchFamily="34" charset="-120"/>
              </a:rPr>
              <a:t>■ 본선까지 향후 계획</a:t>
            </a:r>
            <a:endParaRPr lang="en-US" sz="1800" dirty="0"/>
          </a:p>
        </p:txBody>
      </p:sp>
      <p:sp>
        <p:nvSpPr>
          <p:cNvPr id="15" name="Text 11"/>
          <p:cNvSpPr txBox="1"/>
          <p:nvPr/>
        </p:nvSpPr>
        <p:spPr>
          <a:xfrm>
            <a:off x="5623560" y="4206240"/>
            <a:ext cx="5882335" cy="1463040"/>
          </a:xfrm>
          <a:prstGeom prst="rect">
            <a:avLst/>
          </a:prstGeom>
          <a:noFill/>
          <a:ln/>
        </p:spPr>
        <p:txBody>
          <a:bodyPr wrap="square" lIns="0" tIns="0" rIns="0" bIns="0" rtlCol="0" anchor="t"/>
          <a:lstStyle/>
          <a:p>
            <a:pPr indent="0" marL="0">
              <a:spcAft>
                <a:spcPts val="600"/>
              </a:spcAft>
              <a:buNone/>
            </a:pPr>
            <a:r>
              <a:rPr lang="en-US" sz="1250" b="1" dirty="0">
                <a:solidFill>
                  <a:srgbClr val="2F4E91"/>
                </a:solidFill>
                <a:latin typeface="맑은 고딕" pitchFamily="34" charset="0"/>
                <a:ea typeface="맑은 고딕" pitchFamily="34" charset="-122"/>
                <a:cs typeface="맑은 고딕" pitchFamily="34" charset="-120"/>
              </a:rPr>
              <a:t>M1  </a:t>
            </a:r>
            <a:pPr indent="0" marL="0">
              <a:spcAft>
                <a:spcPts val="600"/>
              </a:spcAft>
              <a:buNone/>
            </a:pPr>
            <a:r>
              <a:rPr lang="en-US" sz="1250" dirty="0">
                <a:solidFill>
                  <a:srgbClr val="212121"/>
                </a:solidFill>
                <a:latin typeface="맑은 고딕" pitchFamily="34" charset="0"/>
                <a:ea typeface="맑은 고딕" pitchFamily="34" charset="-122"/>
                <a:cs typeface="맑은 고딕" pitchFamily="34" charset="-120"/>
              </a:rPr>
              <a:t>오분류 통화 정성 분석, 피치(F0) 특징 검증</a:t>
            </a:r>
            <a:endParaRPr lang="en-US" sz="1250" dirty="0"/>
          </a:p>
          <a:p>
            <a:pPr indent="0" marL="0">
              <a:spcAft>
                <a:spcPts val="600"/>
              </a:spcAft>
              <a:buNone/>
            </a:pPr>
            <a:r>
              <a:rPr lang="en-US" sz="1250" b="1" dirty="0">
                <a:solidFill>
                  <a:srgbClr val="2F4E91"/>
                </a:solidFill>
                <a:latin typeface="맑은 고딕" pitchFamily="34" charset="0"/>
                <a:ea typeface="맑은 고딕" pitchFamily="34" charset="-122"/>
                <a:cs typeface="맑은 고딕" pitchFamily="34" charset="-120"/>
              </a:rPr>
              <a:t>M2  </a:t>
            </a:r>
            <a:pPr indent="0" marL="0">
              <a:spcAft>
                <a:spcPts val="600"/>
              </a:spcAft>
              <a:buNone/>
            </a:pPr>
            <a:r>
              <a:rPr lang="en-US" sz="1250" dirty="0">
                <a:solidFill>
                  <a:srgbClr val="212121"/>
                </a:solidFill>
                <a:latin typeface="맑은 고딕" pitchFamily="34" charset="0"/>
                <a:ea typeface="맑은 고딕" pitchFamily="34" charset="-122"/>
                <a:cs typeface="맑은 고딕" pitchFamily="34" charset="-120"/>
              </a:rPr>
              <a:t>사전학습 음성 모델(WavLM) 앙상블의 공식 검증, 짧은 응답 발화 보강</a:t>
            </a:r>
            <a:endParaRPr lang="en-US" sz="1250" dirty="0"/>
          </a:p>
          <a:p>
            <a:pPr indent="0" marL="0">
              <a:spcAft>
                <a:spcPts val="600"/>
              </a:spcAft>
              <a:buNone/>
            </a:pPr>
            <a:r>
              <a:rPr lang="en-US" sz="1250" b="1" dirty="0">
                <a:solidFill>
                  <a:srgbClr val="2F4E91"/>
                </a:solidFill>
                <a:latin typeface="맑은 고딕" pitchFamily="34" charset="0"/>
                <a:ea typeface="맑은 고딕" pitchFamily="34" charset="-122"/>
                <a:cs typeface="맑은 고딕" pitchFamily="34" charset="-120"/>
              </a:rPr>
              <a:t>M3  </a:t>
            </a:r>
            <a:pPr indent="0" marL="0">
              <a:spcAft>
                <a:spcPts val="600"/>
              </a:spcAft>
              <a:buNone/>
            </a:pPr>
            <a:r>
              <a:rPr lang="en-US" sz="1250" dirty="0">
                <a:solidFill>
                  <a:srgbClr val="212121"/>
                </a:solidFill>
                <a:latin typeface="맑은 고딕" pitchFamily="34" charset="0"/>
                <a:ea typeface="맑은 고딕" pitchFamily="34" charset="-122"/>
                <a:cs typeface="맑은 고딕" pitchFamily="34" charset="-120"/>
              </a:rPr>
              <a:t>근거 없는 라벨 구간 오류 분석, 오심·두통 개선</a:t>
            </a:r>
            <a:endParaRPr lang="en-US" sz="1250" dirty="0"/>
          </a:p>
          <a:p>
            <a:pPr indent="0" marL="0">
              <a:spcAft>
                <a:spcPts val="600"/>
              </a:spcAft>
              <a:buNone/>
            </a:pPr>
            <a:r>
              <a:rPr lang="en-US" sz="1250" b="1" dirty="0">
                <a:solidFill>
                  <a:srgbClr val="2F4E91"/>
                </a:solidFill>
                <a:latin typeface="맑은 고딕" pitchFamily="34" charset="0"/>
                <a:ea typeface="맑은 고딕" pitchFamily="34" charset="-122"/>
                <a:cs typeface="맑은 고딕" pitchFamily="34" charset="-120"/>
              </a:rPr>
              <a:t>공통  </a:t>
            </a:r>
            <a:pPr indent="0" marL="0">
              <a:spcAft>
                <a:spcPts val="600"/>
              </a:spcAft>
              <a:buNone/>
            </a:pPr>
            <a:r>
              <a:rPr lang="en-US" sz="1250" dirty="0">
                <a:solidFill>
                  <a:srgbClr val="212121"/>
                </a:solidFill>
                <a:latin typeface="맑은 고딕" pitchFamily="34" charset="0"/>
                <a:ea typeface="맑은 고딕" pitchFamily="34" charset="-122"/>
                <a:cs typeface="맑은 고딕" pitchFamily="34" charset="-120"/>
              </a:rPr>
              <a:t>통화 도중 실시간 처리 시나리오 검토</a:t>
            </a:r>
            <a:endParaRPr lang="en-US" sz="1250" dirty="0"/>
          </a:p>
        </p:txBody>
      </p:sp>
      <p:sp>
        <p:nvSpPr>
          <p:cNvPr id="16" name="Shape 12"/>
          <p:cNvSpPr/>
          <p:nvPr/>
        </p:nvSpPr>
        <p:spPr>
          <a:xfrm>
            <a:off x="457200" y="5852160"/>
            <a:ext cx="11277295" cy="457200"/>
          </a:xfrm>
          <a:prstGeom prst="roundRect">
            <a:avLst>
              <a:gd name="adj" fmla="val 20000"/>
            </a:avLst>
          </a:prstGeom>
          <a:solidFill>
            <a:srgbClr val="F8F9FA"/>
          </a:solidFill>
          <a:ln w="12700">
            <a:solidFill>
              <a:srgbClr val="F8F9FA"/>
            </a:solidFill>
            <a:prstDash val="solid"/>
          </a:ln>
        </p:spPr>
      </p:sp>
      <p:sp>
        <p:nvSpPr>
          <p:cNvPr id="17" name="Text 13"/>
          <p:cNvSpPr txBox="1"/>
          <p:nvPr/>
        </p:nvSpPr>
        <p:spPr>
          <a:xfrm>
            <a:off x="594360" y="5852160"/>
            <a:ext cx="365760" cy="457200"/>
          </a:xfrm>
          <a:prstGeom prst="rect">
            <a:avLst/>
          </a:prstGeom>
          <a:noFill/>
          <a:ln/>
        </p:spPr>
        <p:txBody>
          <a:bodyPr wrap="square" lIns="0" tIns="0" rIns="0" bIns="0" rtlCol="0" anchor="ctr"/>
          <a:lstStyle/>
          <a:p>
            <a:pPr indent="0" marL="0">
              <a:buNone/>
            </a:pPr>
            <a:r>
              <a:rPr lang="en-US" sz="1800" dirty="0">
                <a:solidFill>
                  <a:srgbClr val="212121"/>
                </a:solidFill>
                <a:latin typeface="맑은 고딕" pitchFamily="34" charset="0"/>
                <a:ea typeface="맑은 고딕" pitchFamily="34" charset="-122"/>
                <a:cs typeface="맑은 고딕" pitchFamily="34" charset="-120"/>
              </a:rPr>
              <a:t>💡</a:t>
            </a:r>
            <a:endParaRPr lang="en-US" sz="1800" dirty="0"/>
          </a:p>
        </p:txBody>
      </p:sp>
      <p:sp>
        <p:nvSpPr>
          <p:cNvPr id="18" name="Text 14"/>
          <p:cNvSpPr txBox="1"/>
          <p:nvPr/>
        </p:nvSpPr>
        <p:spPr>
          <a:xfrm>
            <a:off x="1005840" y="5852160"/>
            <a:ext cx="10591495" cy="457200"/>
          </a:xfrm>
          <a:prstGeom prst="rect">
            <a:avLst/>
          </a:prstGeom>
          <a:noFill/>
          <a:ln/>
        </p:spPr>
        <p:txBody>
          <a:bodyPr wrap="square" lIns="0" tIns="0" rIns="0" bIns="0" rtlCol="0" anchor="ctr"/>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유의점  </a:t>
            </a:r>
            <a:pPr indent="0" marL="0">
              <a:buNone/>
            </a:pPr>
            <a:r>
              <a:rPr lang="en-US" sz="1250" dirty="0">
                <a:solidFill>
                  <a:srgbClr val="212121"/>
                </a:solidFill>
                <a:latin typeface="맑은 고딕" pitchFamily="34" charset="0"/>
                <a:ea typeface="맑은 고딕" pitchFamily="34" charset="-122"/>
                <a:cs typeface="맑은 고딕" pitchFamily="34" charset="-120"/>
              </a:rPr>
              <a:t>모든 출력은 요원의 판단을 돕는 정보이며, 오분류 가능성을 감안해 사람이 최종 확인한다.</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별첨  Mission 3</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34</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3 데이터 특성과 모델 설계 근거</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데이터의 불균형과 입력 길이를 고려해 학습 손실과 최종 앙상블 방식을 설계했다.</a:t>
            </a:r>
            <a:endParaRPr lang="en-US" sz="1500" dirty="0"/>
          </a:p>
        </p:txBody>
      </p:sp>
      <p:sp>
        <p:nvSpPr>
          <p:cNvPr id="9" name="Shape 6"/>
          <p:cNvSpPr/>
          <p:nvPr/>
        </p:nvSpPr>
        <p:spPr>
          <a:xfrm>
            <a:off x="457200" y="2157984"/>
            <a:ext cx="5486400" cy="2578608"/>
          </a:xfrm>
          <a:prstGeom prst="roundRect">
            <a:avLst>
              <a:gd name="adj" fmla="val 3546"/>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0" name="Shape 7"/>
          <p:cNvSpPr/>
          <p:nvPr/>
        </p:nvSpPr>
        <p:spPr>
          <a:xfrm>
            <a:off x="6172200" y="2157984"/>
            <a:ext cx="5562295" cy="2578608"/>
          </a:xfrm>
          <a:prstGeom prst="roundRect">
            <a:avLst>
              <a:gd name="adj" fmla="val 3546"/>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11" name="Text 8"/>
          <p:cNvSpPr txBox="1"/>
          <p:nvPr/>
        </p:nvSpPr>
        <p:spPr>
          <a:xfrm>
            <a:off x="640080" y="2258568"/>
            <a:ext cx="5120640" cy="329184"/>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 데이터 관찰 → 설계 결정</a:t>
            </a:r>
            <a:endParaRPr lang="en-US" sz="1500" dirty="0"/>
          </a:p>
        </p:txBody>
      </p:sp>
      <p:sp>
        <p:nvSpPr>
          <p:cNvPr id="12" name="Text 9"/>
          <p:cNvSpPr txBox="1"/>
          <p:nvPr/>
        </p:nvSpPr>
        <p:spPr>
          <a:xfrm>
            <a:off x="667512" y="2642616"/>
            <a:ext cx="1051560" cy="228600"/>
          </a:xfrm>
          <a:prstGeom prst="rect">
            <a:avLst/>
          </a:prstGeom>
          <a:noFill/>
          <a:ln/>
        </p:spPr>
        <p:txBody>
          <a:bodyPr wrap="square" lIns="0" tIns="0" rIns="0" bIns="0" rtlCol="0" anchor="t"/>
          <a:lstStyle/>
          <a:p>
            <a:pPr indent="0" marL="0">
              <a:buNone/>
            </a:pPr>
            <a:r>
              <a:rPr lang="en-US" sz="1130" b="1" dirty="0">
                <a:solidFill>
                  <a:srgbClr val="2F4E91"/>
                </a:solidFill>
                <a:latin typeface="맑은 고딕" pitchFamily="34" charset="0"/>
                <a:ea typeface="맑은 고딕" pitchFamily="34" charset="-122"/>
                <a:cs typeface="맑은 고딕" pitchFamily="34" charset="-120"/>
              </a:rPr>
              <a:t>라벨 불균형</a:t>
            </a:r>
            <a:endParaRPr lang="en-US" sz="1130" dirty="0"/>
          </a:p>
        </p:txBody>
      </p:sp>
      <p:sp>
        <p:nvSpPr>
          <p:cNvPr id="13" name="Text 10"/>
          <p:cNvSpPr txBox="1"/>
          <p:nvPr/>
        </p:nvSpPr>
        <p:spPr>
          <a:xfrm>
            <a:off x="1764792" y="2642616"/>
            <a:ext cx="3950208" cy="228600"/>
          </a:xfrm>
          <a:prstGeom prst="rect">
            <a:avLst/>
          </a:prstGeom>
          <a:noFill/>
          <a:ln/>
        </p:spPr>
        <p:txBody>
          <a:bodyPr wrap="square" lIns="0" tIns="0" rIns="0" bIns="0" rtlCol="0" anchor="t"/>
          <a:lstStyle/>
          <a:p>
            <a:pPr indent="0" marL="0">
              <a:buNone/>
            </a:pPr>
            <a:r>
              <a:rPr lang="en-US" sz="1080" dirty="0">
                <a:solidFill>
                  <a:srgbClr val="212121"/>
                </a:solidFill>
                <a:latin typeface="맑은 고딕" pitchFamily="34" charset="0"/>
                <a:ea typeface="맑은 고딕" pitchFamily="34" charset="-122"/>
                <a:cs typeface="맑은 고딕" pitchFamily="34" charset="-120"/>
              </a:rPr>
              <a:t>9개 증상 양성 비율 9.9~23.2%</a:t>
            </a:r>
            <a:endParaRPr lang="en-US" sz="1080" dirty="0"/>
          </a:p>
        </p:txBody>
      </p:sp>
      <p:sp>
        <p:nvSpPr>
          <p:cNvPr id="14" name="Text 11"/>
          <p:cNvSpPr txBox="1"/>
          <p:nvPr/>
        </p:nvSpPr>
        <p:spPr>
          <a:xfrm>
            <a:off x="1764792" y="2907792"/>
            <a:ext cx="3950208" cy="274320"/>
          </a:xfrm>
          <a:prstGeom prst="rect">
            <a:avLst/>
          </a:prstGeom>
          <a:noFill/>
          <a:ln/>
        </p:spPr>
        <p:txBody>
          <a:bodyPr wrap="square" lIns="0" tIns="0" rIns="0" bIns="0" rtlCol="0" anchor="t"/>
          <a:lstStyle/>
          <a:p>
            <a:pPr indent="0" marL="0">
              <a:buNone/>
            </a:pPr>
            <a:r>
              <a:rPr lang="en-US" sz="1060" b="1" dirty="0">
                <a:solidFill>
                  <a:srgbClr val="2F4E91"/>
                </a:solidFill>
                <a:latin typeface="맑은 고딕" pitchFamily="34" charset="0"/>
                <a:ea typeface="맑은 고딕" pitchFamily="34" charset="-122"/>
                <a:cs typeface="맑은 고딕" pitchFamily="34" charset="-120"/>
              </a:rPr>
              <a:t>→ pos_weight BCE + Soft macro-F1</a:t>
            </a:r>
            <a:endParaRPr lang="en-US" sz="1060" dirty="0"/>
          </a:p>
        </p:txBody>
      </p:sp>
      <p:sp>
        <p:nvSpPr>
          <p:cNvPr id="15" name="Shape 12"/>
          <p:cNvSpPr/>
          <p:nvPr/>
        </p:nvSpPr>
        <p:spPr>
          <a:xfrm>
            <a:off x="658368" y="3236976"/>
            <a:ext cx="5084064" cy="0"/>
          </a:xfrm>
          <a:prstGeom prst="line">
            <a:avLst/>
          </a:prstGeom>
          <a:noFill/>
          <a:ln w="7620">
            <a:solidFill>
              <a:srgbClr val="E0E0E0"/>
            </a:solidFill>
            <a:prstDash val="solid"/>
          </a:ln>
        </p:spPr>
      </p:sp>
      <p:sp>
        <p:nvSpPr>
          <p:cNvPr id="16" name="Text 13"/>
          <p:cNvSpPr txBox="1"/>
          <p:nvPr/>
        </p:nvSpPr>
        <p:spPr>
          <a:xfrm>
            <a:off x="667512" y="3310128"/>
            <a:ext cx="1051560" cy="228600"/>
          </a:xfrm>
          <a:prstGeom prst="rect">
            <a:avLst/>
          </a:prstGeom>
          <a:noFill/>
          <a:ln/>
        </p:spPr>
        <p:txBody>
          <a:bodyPr wrap="square" lIns="0" tIns="0" rIns="0" bIns="0" rtlCol="0" anchor="t"/>
          <a:lstStyle/>
          <a:p>
            <a:pPr indent="0" marL="0">
              <a:buNone/>
            </a:pPr>
            <a:r>
              <a:rPr lang="en-US" sz="1130" b="1" dirty="0">
                <a:solidFill>
                  <a:srgbClr val="2F4E91"/>
                </a:solidFill>
                <a:latin typeface="맑은 고딕" pitchFamily="34" charset="0"/>
                <a:ea typeface="맑은 고딕" pitchFamily="34" charset="-122"/>
                <a:cs typeface="맑은 고딕" pitchFamily="34" charset="-120"/>
              </a:rPr>
              <a:t>입력 길이</a:t>
            </a:r>
            <a:endParaRPr lang="en-US" sz="1130" dirty="0"/>
          </a:p>
        </p:txBody>
      </p:sp>
      <p:sp>
        <p:nvSpPr>
          <p:cNvPr id="17" name="Text 14"/>
          <p:cNvSpPr txBox="1"/>
          <p:nvPr/>
        </p:nvSpPr>
        <p:spPr>
          <a:xfrm>
            <a:off x="1764792" y="3310128"/>
            <a:ext cx="3950208" cy="228600"/>
          </a:xfrm>
          <a:prstGeom prst="rect">
            <a:avLst/>
          </a:prstGeom>
          <a:noFill/>
          <a:ln/>
        </p:spPr>
        <p:txBody>
          <a:bodyPr wrap="square" lIns="0" tIns="0" rIns="0" bIns="0" rtlCol="0" anchor="t"/>
          <a:lstStyle/>
          <a:p>
            <a:pPr indent="0" marL="0">
              <a:buNone/>
            </a:pPr>
            <a:r>
              <a:rPr lang="en-US" sz="1080" dirty="0">
                <a:solidFill>
                  <a:srgbClr val="212121"/>
                </a:solidFill>
                <a:latin typeface="맑은 고딕" pitchFamily="34" charset="0"/>
                <a:ea typeface="맑은 고딕" pitchFamily="34" charset="-122"/>
                <a:cs typeface="맑은 고딕" pitchFamily="34" charset="-120"/>
              </a:rPr>
              <a:t>40.7%가 256토큰 초과 · 512토큰 +0.0074</a:t>
            </a:r>
            <a:endParaRPr lang="en-US" sz="1080" dirty="0"/>
          </a:p>
        </p:txBody>
      </p:sp>
      <p:sp>
        <p:nvSpPr>
          <p:cNvPr id="18" name="Text 15"/>
          <p:cNvSpPr txBox="1"/>
          <p:nvPr/>
        </p:nvSpPr>
        <p:spPr>
          <a:xfrm>
            <a:off x="1764792" y="3575304"/>
            <a:ext cx="3950208" cy="274320"/>
          </a:xfrm>
          <a:prstGeom prst="rect">
            <a:avLst/>
          </a:prstGeom>
          <a:noFill/>
          <a:ln/>
        </p:spPr>
        <p:txBody>
          <a:bodyPr wrap="square" lIns="0" tIns="0" rIns="0" bIns="0" rtlCol="0" anchor="t"/>
          <a:lstStyle/>
          <a:p>
            <a:pPr indent="0" marL="0">
              <a:buNone/>
            </a:pPr>
            <a:r>
              <a:rPr lang="en-US" sz="1060" b="1" dirty="0">
                <a:solidFill>
                  <a:srgbClr val="2F4E91"/>
                </a:solidFill>
                <a:latin typeface="맑은 고딕" pitchFamily="34" charset="0"/>
                <a:ea typeface="맑은 고딕" pitchFamily="34" charset="-122"/>
                <a:cs typeface="맑은 고딕" pitchFamily="34" charset="-120"/>
              </a:rPr>
              <a:t>→ 기준 +0.01 미달·약 4배 시간 → 256 유지</a:t>
            </a:r>
            <a:endParaRPr lang="en-US" sz="1060" dirty="0"/>
          </a:p>
        </p:txBody>
      </p:sp>
      <p:sp>
        <p:nvSpPr>
          <p:cNvPr id="19" name="Shape 16"/>
          <p:cNvSpPr/>
          <p:nvPr/>
        </p:nvSpPr>
        <p:spPr>
          <a:xfrm>
            <a:off x="658368" y="3904488"/>
            <a:ext cx="5084064" cy="0"/>
          </a:xfrm>
          <a:prstGeom prst="line">
            <a:avLst/>
          </a:prstGeom>
          <a:noFill/>
          <a:ln w="7620">
            <a:solidFill>
              <a:srgbClr val="E0E0E0"/>
            </a:solidFill>
            <a:prstDash val="solid"/>
          </a:ln>
        </p:spPr>
      </p:sp>
      <p:sp>
        <p:nvSpPr>
          <p:cNvPr id="20" name="Text 17"/>
          <p:cNvSpPr txBox="1"/>
          <p:nvPr/>
        </p:nvSpPr>
        <p:spPr>
          <a:xfrm>
            <a:off x="667512" y="3977640"/>
            <a:ext cx="1051560" cy="228600"/>
          </a:xfrm>
          <a:prstGeom prst="rect">
            <a:avLst/>
          </a:prstGeom>
          <a:noFill/>
          <a:ln/>
        </p:spPr>
        <p:txBody>
          <a:bodyPr wrap="square" lIns="0" tIns="0" rIns="0" bIns="0" rtlCol="0" anchor="t"/>
          <a:lstStyle/>
          <a:p>
            <a:pPr indent="0" marL="0">
              <a:buNone/>
            </a:pPr>
            <a:r>
              <a:rPr lang="en-US" sz="1130" b="1" dirty="0">
                <a:solidFill>
                  <a:srgbClr val="2F4E91"/>
                </a:solidFill>
                <a:latin typeface="맑은 고딕" pitchFamily="34" charset="0"/>
                <a:ea typeface="맑은 고딕" pitchFamily="34" charset="-122"/>
                <a:cs typeface="맑은 고딕" pitchFamily="34" charset="-120"/>
              </a:rPr>
              <a:t>입력 정보</a:t>
            </a:r>
            <a:endParaRPr lang="en-US" sz="1130" dirty="0"/>
          </a:p>
        </p:txBody>
      </p:sp>
      <p:sp>
        <p:nvSpPr>
          <p:cNvPr id="21" name="Text 18"/>
          <p:cNvSpPr txBox="1"/>
          <p:nvPr/>
        </p:nvSpPr>
        <p:spPr>
          <a:xfrm>
            <a:off x="1764792" y="3977640"/>
            <a:ext cx="3950208" cy="228600"/>
          </a:xfrm>
          <a:prstGeom prst="rect">
            <a:avLst/>
          </a:prstGeom>
          <a:noFill/>
          <a:ln/>
        </p:spPr>
        <p:txBody>
          <a:bodyPr wrap="square" lIns="0" tIns="0" rIns="0" bIns="0" rtlCol="0" anchor="t"/>
          <a:lstStyle/>
          <a:p>
            <a:pPr indent="0" marL="0">
              <a:buNone/>
            </a:pPr>
            <a:r>
              <a:rPr lang="en-US" sz="1080" dirty="0">
                <a:solidFill>
                  <a:srgbClr val="212121"/>
                </a:solidFill>
                <a:latin typeface="맑은 고딕" pitchFamily="34" charset="0"/>
                <a:ea typeface="맑은 고딕" pitchFamily="34" charset="-122"/>
                <a:cs typeface="맑은 고딕" pitchFamily="34" charset="-120"/>
              </a:rPr>
              <a:t>전사 text만 원본 시간순 연결</a:t>
            </a:r>
            <a:endParaRPr lang="en-US" sz="1080" dirty="0"/>
          </a:p>
        </p:txBody>
      </p:sp>
      <p:sp>
        <p:nvSpPr>
          <p:cNvPr id="22" name="Text 19"/>
          <p:cNvSpPr txBox="1"/>
          <p:nvPr/>
        </p:nvSpPr>
        <p:spPr>
          <a:xfrm>
            <a:off x="1764792" y="4242816"/>
            <a:ext cx="3950208" cy="274320"/>
          </a:xfrm>
          <a:prstGeom prst="rect">
            <a:avLst/>
          </a:prstGeom>
          <a:noFill/>
          <a:ln/>
        </p:spPr>
        <p:txBody>
          <a:bodyPr wrap="square" lIns="0" tIns="0" rIns="0" bIns="0" rtlCol="0" anchor="t"/>
          <a:lstStyle/>
          <a:p>
            <a:pPr indent="0" marL="0">
              <a:buNone/>
            </a:pPr>
            <a:r>
              <a:rPr lang="en-US" sz="1060" b="1" dirty="0">
                <a:solidFill>
                  <a:srgbClr val="2F4E91"/>
                </a:solidFill>
                <a:latin typeface="맑은 고딕" pitchFamily="34" charset="0"/>
                <a:ea typeface="맑은 고딕" pitchFamily="34" charset="-122"/>
                <a:cs typeface="맑은 고딕" pitchFamily="34" charset="-120"/>
              </a:rPr>
              <a:t>→ 화자 태그·허용되지 않은 라벨 제외</a:t>
            </a:r>
            <a:endParaRPr lang="en-US" sz="1060" dirty="0"/>
          </a:p>
        </p:txBody>
      </p:sp>
      <p:sp>
        <p:nvSpPr>
          <p:cNvPr id="23" name="Text 20"/>
          <p:cNvSpPr txBox="1"/>
          <p:nvPr/>
        </p:nvSpPr>
        <p:spPr>
          <a:xfrm>
            <a:off x="6355080" y="2258568"/>
            <a:ext cx="5196535" cy="329184"/>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 학습 손실 설계</a:t>
            </a:r>
            <a:endParaRPr lang="en-US" sz="1500" dirty="0"/>
          </a:p>
        </p:txBody>
      </p:sp>
      <p:sp>
        <p:nvSpPr>
          <p:cNvPr id="24" name="Text 21"/>
          <p:cNvSpPr txBox="1"/>
          <p:nvPr/>
        </p:nvSpPr>
        <p:spPr>
          <a:xfrm>
            <a:off x="6355080" y="2633472"/>
            <a:ext cx="5196535" cy="210312"/>
          </a:xfrm>
          <a:prstGeom prst="rect">
            <a:avLst/>
          </a:prstGeom>
          <a:noFill/>
          <a:ln/>
        </p:spPr>
        <p:txBody>
          <a:bodyPr wrap="square" lIns="0" tIns="0" rIns="0" bIns="0" rtlCol="0" anchor="t"/>
          <a:lstStyle/>
          <a:p>
            <a:pPr indent="0" marL="0">
              <a:buNone/>
            </a:pPr>
            <a:r>
              <a:rPr lang="en-US" sz="1080" b="1" dirty="0">
                <a:solidFill>
                  <a:srgbClr val="616161"/>
                </a:solidFill>
                <a:latin typeface="맑은 고딕" pitchFamily="34" charset="0"/>
                <a:ea typeface="맑은 고딕" pitchFamily="34" charset="-122"/>
                <a:cs typeface="맑은 고딕" pitchFamily="34" charset="-120"/>
              </a:rPr>
              <a:t>증상별 가중치</a:t>
            </a:r>
            <a:endParaRPr lang="en-US" sz="1080" dirty="0"/>
          </a:p>
        </p:txBody>
      </p:sp>
      <p:sp>
        <p:nvSpPr>
          <p:cNvPr id="25" name="Shape 22"/>
          <p:cNvSpPr/>
          <p:nvPr/>
        </p:nvSpPr>
        <p:spPr>
          <a:xfrm>
            <a:off x="6336792" y="2871216"/>
            <a:ext cx="5233111" cy="411480"/>
          </a:xfrm>
          <a:prstGeom prst="roundRect">
            <a:avLst>
              <a:gd name="adj" fmla="val 13333"/>
            </a:avLst>
          </a:prstGeom>
          <a:solidFill>
            <a:srgbClr val="EAF3FA"/>
          </a:solidFill>
          <a:ln w="7620">
            <a:solidFill>
              <a:srgbClr val="E0E0E0"/>
            </a:solidFill>
            <a:prstDash val="solid"/>
          </a:ln>
        </p:spPr>
      </p:sp>
      <p:sp>
        <p:nvSpPr>
          <p:cNvPr id="26" name="Text 23"/>
          <p:cNvSpPr txBox="1"/>
          <p:nvPr/>
        </p:nvSpPr>
        <p:spPr>
          <a:xfrm>
            <a:off x="6428232" y="2871216"/>
            <a:ext cx="5050231" cy="411480"/>
          </a:xfrm>
          <a:prstGeom prst="rect">
            <a:avLst/>
          </a:prstGeom>
          <a:noFill/>
          <a:ln/>
        </p:spPr>
        <p:txBody>
          <a:bodyPr wrap="square" lIns="0" tIns="0" rIns="0" bIns="0" rtlCol="0" anchor="ctr"/>
          <a:lstStyle/>
          <a:p>
            <a:pPr algn="ctr" indent="0" marL="0">
              <a:buNone/>
            </a:pPr>
            <a:r>
              <a:rPr lang="en-US" sz="1270" b="1" dirty="0">
                <a:solidFill>
                  <a:srgbClr val="2F4E91"/>
                </a:solidFill>
                <a:latin typeface="맑은 고딕" pitchFamily="34" charset="0"/>
                <a:ea typeface="맑은 고딕" pitchFamily="34" charset="-122"/>
                <a:cs typeface="맑은 고딕" pitchFamily="34" charset="-120"/>
              </a:rPr>
              <a:t>wⱼ = clip(0.5 × √((N − Pⱼ) / max(Pⱼ, 1)), 1, 6)</a:t>
            </a:r>
            <a:endParaRPr lang="en-US" sz="1270" dirty="0"/>
          </a:p>
        </p:txBody>
      </p:sp>
      <p:sp>
        <p:nvSpPr>
          <p:cNvPr id="27" name="Text 24"/>
          <p:cNvSpPr txBox="1"/>
          <p:nvPr/>
        </p:nvSpPr>
        <p:spPr>
          <a:xfrm>
            <a:off x="6400800" y="3328416"/>
            <a:ext cx="5105095" cy="210312"/>
          </a:xfrm>
          <a:prstGeom prst="rect">
            <a:avLst/>
          </a:prstGeom>
          <a:noFill/>
          <a:ln/>
        </p:spPr>
        <p:txBody>
          <a:bodyPr wrap="square" lIns="0" tIns="0" rIns="0" bIns="0" rtlCol="0" anchor="t"/>
          <a:lstStyle/>
          <a:p>
            <a:pPr indent="0" marL="0">
              <a:buNone/>
            </a:pPr>
            <a:r>
              <a:rPr lang="en-US" sz="1010" dirty="0">
                <a:solidFill>
                  <a:srgbClr val="616161"/>
                </a:solidFill>
                <a:latin typeface="맑은 고딕" pitchFamily="34" charset="0"/>
                <a:ea typeface="맑은 고딕" pitchFamily="34" charset="-122"/>
                <a:cs typeface="맑은 고딕" pitchFamily="34" charset="-120"/>
              </a:rPr>
              <a:t>N: Training 통화 수 · Pⱼ: 증상 j 양성 통화 수</a:t>
            </a:r>
            <a:endParaRPr lang="en-US" sz="1010" dirty="0"/>
          </a:p>
        </p:txBody>
      </p:sp>
      <p:sp>
        <p:nvSpPr>
          <p:cNvPr id="28" name="Text 25"/>
          <p:cNvSpPr txBox="1"/>
          <p:nvPr/>
        </p:nvSpPr>
        <p:spPr>
          <a:xfrm>
            <a:off x="6400800" y="3566160"/>
            <a:ext cx="5105095" cy="210312"/>
          </a:xfrm>
          <a:prstGeom prst="rect">
            <a:avLst/>
          </a:prstGeom>
          <a:noFill/>
          <a:ln/>
        </p:spPr>
        <p:txBody>
          <a:bodyPr wrap="square" lIns="0" tIns="0" rIns="0" bIns="0" rtlCol="0" anchor="t"/>
          <a:lstStyle/>
          <a:p>
            <a:pPr indent="0" marL="0">
              <a:buNone/>
            </a:pPr>
            <a:r>
              <a:rPr lang="en-US" sz="1010" dirty="0">
                <a:solidFill>
                  <a:srgbClr val="212121"/>
                </a:solidFill>
                <a:latin typeface="맑은 고딕" pitchFamily="34" charset="0"/>
                <a:ea typeface="맑은 고딕" pitchFamily="34" charset="-122"/>
                <a:cs typeface="맑은 고딕" pitchFamily="34" charset="-120"/>
              </a:rPr>
              <a:t>희소 증상의 양성 오류에 더 큰 가중치</a:t>
            </a:r>
            <a:endParaRPr lang="en-US" sz="1010" dirty="0"/>
          </a:p>
        </p:txBody>
      </p:sp>
      <p:sp>
        <p:nvSpPr>
          <p:cNvPr id="29" name="Text 26"/>
          <p:cNvSpPr txBox="1"/>
          <p:nvPr/>
        </p:nvSpPr>
        <p:spPr>
          <a:xfrm>
            <a:off x="6355080" y="3813048"/>
            <a:ext cx="5196535" cy="210312"/>
          </a:xfrm>
          <a:prstGeom prst="rect">
            <a:avLst/>
          </a:prstGeom>
          <a:noFill/>
          <a:ln/>
        </p:spPr>
        <p:txBody>
          <a:bodyPr wrap="square" lIns="0" tIns="0" rIns="0" bIns="0" rtlCol="0" anchor="t"/>
          <a:lstStyle/>
          <a:p>
            <a:pPr indent="0" marL="0">
              <a:buNone/>
            </a:pPr>
            <a:r>
              <a:rPr lang="en-US" sz="1080" b="1" dirty="0">
                <a:solidFill>
                  <a:srgbClr val="616161"/>
                </a:solidFill>
                <a:latin typeface="맑은 고딕" pitchFamily="34" charset="0"/>
                <a:ea typeface="맑은 고딕" pitchFamily="34" charset="-122"/>
                <a:cs typeface="맑은 고딕" pitchFamily="34" charset="-120"/>
              </a:rPr>
              <a:t>최종 학습 손실</a:t>
            </a:r>
            <a:endParaRPr lang="en-US" sz="1080" dirty="0"/>
          </a:p>
        </p:txBody>
      </p:sp>
      <p:sp>
        <p:nvSpPr>
          <p:cNvPr id="30" name="Shape 27"/>
          <p:cNvSpPr/>
          <p:nvPr/>
        </p:nvSpPr>
        <p:spPr>
          <a:xfrm>
            <a:off x="6336792" y="4050792"/>
            <a:ext cx="5233111" cy="384048"/>
          </a:xfrm>
          <a:prstGeom prst="roundRect">
            <a:avLst>
              <a:gd name="adj" fmla="val 14286"/>
            </a:avLst>
          </a:prstGeom>
          <a:solidFill>
            <a:srgbClr val="F8F9FA"/>
          </a:solidFill>
          <a:ln w="7620">
            <a:solidFill>
              <a:srgbClr val="E0E0E0"/>
            </a:solidFill>
            <a:prstDash val="solid"/>
          </a:ln>
        </p:spPr>
      </p:sp>
      <p:sp>
        <p:nvSpPr>
          <p:cNvPr id="31" name="Text 28"/>
          <p:cNvSpPr txBox="1"/>
          <p:nvPr/>
        </p:nvSpPr>
        <p:spPr>
          <a:xfrm>
            <a:off x="6419088" y="4050792"/>
            <a:ext cx="5068519" cy="384048"/>
          </a:xfrm>
          <a:prstGeom prst="rect">
            <a:avLst/>
          </a:prstGeom>
          <a:noFill/>
          <a:ln/>
        </p:spPr>
        <p:txBody>
          <a:bodyPr wrap="square" lIns="0" tIns="0" rIns="0" bIns="0" rtlCol="0" anchor="ctr"/>
          <a:lstStyle/>
          <a:p>
            <a:pPr algn="ctr" indent="0" marL="0">
              <a:buNone/>
            </a:pPr>
            <a:r>
              <a:rPr lang="en-US" sz="1160" b="1" dirty="0">
                <a:solidFill>
                  <a:srgbClr val="2F4E91"/>
                </a:solidFill>
                <a:latin typeface="맑은 고딕" pitchFamily="34" charset="0"/>
                <a:ea typeface="맑은 고딕" pitchFamily="34" charset="-122"/>
                <a:cs typeface="맑은 고딕" pitchFamily="34" charset="-120"/>
              </a:rPr>
              <a:t>L = BCEWithLogits(pos_weight = wⱼ) + 1 − meanⱼ(SoftF1ⱼ)</a:t>
            </a:r>
            <a:endParaRPr lang="en-US" sz="1160" dirty="0"/>
          </a:p>
        </p:txBody>
      </p:sp>
      <p:sp>
        <p:nvSpPr>
          <p:cNvPr id="32" name="Text 29"/>
          <p:cNvSpPr txBox="1"/>
          <p:nvPr/>
        </p:nvSpPr>
        <p:spPr>
          <a:xfrm>
            <a:off x="6355080" y="4480560"/>
            <a:ext cx="5196535" cy="164592"/>
          </a:xfrm>
          <a:prstGeom prst="rect">
            <a:avLst/>
          </a:prstGeom>
          <a:noFill/>
          <a:ln/>
        </p:spPr>
        <p:txBody>
          <a:bodyPr wrap="square" lIns="0" tIns="0" rIns="0" bIns="0" rtlCol="0" anchor="t"/>
          <a:lstStyle/>
          <a:p>
            <a:pPr indent="0" marL="0">
              <a:buNone/>
            </a:pPr>
            <a:r>
              <a:rPr lang="en-US" sz="930" dirty="0">
                <a:solidFill>
                  <a:srgbClr val="616161"/>
                </a:solidFill>
                <a:latin typeface="맑은 고딕" pitchFamily="34" charset="0"/>
                <a:ea typeface="맑은 고딕" pitchFamily="34" charset="-122"/>
                <a:cs typeface="맑은 고딕" pitchFamily="34" charset="-120"/>
              </a:rPr>
              <a:t>실효 batch 16 = micro batch 8 × 2 · Soft-F1은 micro batch별 계산</a:t>
            </a:r>
            <a:endParaRPr lang="en-US" sz="930" dirty="0"/>
          </a:p>
        </p:txBody>
      </p:sp>
      <p:sp>
        <p:nvSpPr>
          <p:cNvPr id="33" name="Shape 30"/>
          <p:cNvSpPr/>
          <p:nvPr/>
        </p:nvSpPr>
        <p:spPr>
          <a:xfrm>
            <a:off x="457200" y="4855464"/>
            <a:ext cx="11277295" cy="1417320"/>
          </a:xfrm>
          <a:prstGeom prst="roundRect">
            <a:avLst>
              <a:gd name="adj" fmla="val 6452"/>
            </a:avLst>
          </a:prstGeom>
          <a:solidFill>
            <a:srgbClr val="FFFFFF"/>
          </a:solidFill>
          <a:ln w="12700">
            <a:solidFill>
              <a:srgbClr val="E0E0E0"/>
            </a:solidFill>
            <a:prstDash val="solid"/>
          </a:ln>
          <a:effectLst>
            <a:outerShdw sx="100000" sy="100000" kx="0" ky="0" algn="bl" rotWithShape="0" blurRad="63500" dist="12700" dir="5400000">
              <a:srgbClr val="000000">
                <a:alpha val="10000"/>
              </a:srgbClr>
            </a:outerShdw>
          </a:effectLst>
        </p:spPr>
      </p:sp>
      <p:sp>
        <p:nvSpPr>
          <p:cNvPr id="34" name="Text 31"/>
          <p:cNvSpPr txBox="1"/>
          <p:nvPr/>
        </p:nvSpPr>
        <p:spPr>
          <a:xfrm>
            <a:off x="649224" y="4928616"/>
            <a:ext cx="10893247" cy="329184"/>
          </a:xfrm>
          <a:prstGeom prst="rect">
            <a:avLst/>
          </a:prstGeom>
          <a:noFill/>
          <a:ln/>
        </p:spPr>
        <p:txBody>
          <a:bodyPr wrap="square" lIns="0" tIns="0" rIns="0" bIns="0" rtlCol="0" anchor="t"/>
          <a:lstStyle/>
          <a:p>
            <a:pPr indent="0" marL="0">
              <a:buNone/>
            </a:pPr>
            <a:r>
              <a:rPr lang="en-US" sz="1500" b="1" dirty="0">
                <a:solidFill>
                  <a:srgbClr val="2F4E91"/>
                </a:solidFill>
                <a:latin typeface="맑은 고딕" pitchFamily="34" charset="0"/>
                <a:ea typeface="맑은 고딕" pitchFamily="34" charset="-122"/>
                <a:cs typeface="맑은 고딕" pitchFamily="34" charset="-120"/>
              </a:rPr>
              <a:t>■ 최종 앙상블과 판정</a:t>
            </a:r>
            <a:endParaRPr lang="en-US" sz="1500" dirty="0"/>
          </a:p>
        </p:txBody>
      </p:sp>
      <p:sp>
        <p:nvSpPr>
          <p:cNvPr id="35" name="Shape 32"/>
          <p:cNvSpPr/>
          <p:nvPr/>
        </p:nvSpPr>
        <p:spPr>
          <a:xfrm>
            <a:off x="640080" y="5257800"/>
            <a:ext cx="3429000" cy="704088"/>
          </a:xfrm>
          <a:prstGeom prst="roundRect">
            <a:avLst>
              <a:gd name="adj" fmla="val 7792"/>
            </a:avLst>
          </a:prstGeom>
          <a:solidFill>
            <a:srgbClr val="FFFFFF"/>
          </a:solidFill>
          <a:ln w="12700">
            <a:solidFill>
              <a:srgbClr val="E0E0E0"/>
            </a:solidFill>
            <a:prstDash val="solid"/>
          </a:ln>
        </p:spPr>
      </p:sp>
      <p:sp>
        <p:nvSpPr>
          <p:cNvPr id="36" name="Text 33"/>
          <p:cNvSpPr txBox="1"/>
          <p:nvPr/>
        </p:nvSpPr>
        <p:spPr>
          <a:xfrm>
            <a:off x="749808" y="5358384"/>
            <a:ext cx="3209544" cy="182880"/>
          </a:xfrm>
          <a:prstGeom prst="rect">
            <a:avLst/>
          </a:prstGeom>
          <a:noFill/>
          <a:ln/>
        </p:spPr>
        <p:txBody>
          <a:bodyPr wrap="square" lIns="0" tIns="0" rIns="0" bIns="0" rtlCol="0" anchor="t"/>
          <a:lstStyle/>
          <a:p>
            <a:pPr algn="ctr" indent="0" marL="0">
              <a:buNone/>
            </a:pPr>
            <a:r>
              <a:rPr lang="en-US" sz="1020" b="1" dirty="0">
                <a:solidFill>
                  <a:srgbClr val="616161"/>
                </a:solidFill>
                <a:latin typeface="맑은 고딕" pitchFamily="34" charset="0"/>
                <a:ea typeface="맑은 고딕" pitchFamily="34" charset="-122"/>
                <a:cs typeface="맑은 고딕" pitchFamily="34" charset="-120"/>
              </a:rPr>
              <a:t>STEP 1 · RoBERTa 3-seed 평균</a:t>
            </a:r>
            <a:endParaRPr lang="en-US" sz="1020" dirty="0"/>
          </a:p>
        </p:txBody>
      </p:sp>
      <p:sp>
        <p:nvSpPr>
          <p:cNvPr id="37" name="Text 34"/>
          <p:cNvSpPr txBox="1"/>
          <p:nvPr/>
        </p:nvSpPr>
        <p:spPr>
          <a:xfrm>
            <a:off x="704088" y="5596128"/>
            <a:ext cx="3300984" cy="265176"/>
          </a:xfrm>
          <a:prstGeom prst="rect">
            <a:avLst/>
          </a:prstGeom>
          <a:noFill/>
          <a:ln/>
        </p:spPr>
        <p:txBody>
          <a:bodyPr wrap="square" lIns="0" tIns="0" rIns="0" bIns="0" rtlCol="0" anchor="t"/>
          <a:lstStyle/>
          <a:p>
            <a:pPr algn="ctr" indent="0" marL="0">
              <a:buNone/>
            </a:pPr>
            <a:r>
              <a:rPr lang="en-US" sz="1400" b="1" dirty="0">
                <a:solidFill>
                  <a:srgbClr val="2F4E91"/>
                </a:solidFill>
                <a:latin typeface="맑은 고딕" pitchFamily="34" charset="0"/>
                <a:ea typeface="맑은 고딕" pitchFamily="34" charset="-122"/>
                <a:cs typeface="맑은 고딕" pitchFamily="34" charset="-120"/>
              </a:rPr>
              <a:t>pR = (p42 + p43 + p44) / 3</a:t>
            </a:r>
            <a:endParaRPr lang="en-US" sz="1400" dirty="0"/>
          </a:p>
        </p:txBody>
      </p:sp>
      <p:sp>
        <p:nvSpPr>
          <p:cNvPr id="38" name="Text 35"/>
          <p:cNvSpPr txBox="1"/>
          <p:nvPr/>
        </p:nvSpPr>
        <p:spPr>
          <a:xfrm>
            <a:off x="4082796" y="5486400"/>
            <a:ext cx="228600" cy="274320"/>
          </a:xfrm>
          <a:prstGeom prst="rect">
            <a:avLst/>
          </a:prstGeom>
          <a:noFill/>
          <a:ln/>
        </p:spPr>
        <p:txBody>
          <a:bodyPr wrap="square" lIns="0" tIns="0" rIns="0" bIns="0" rtlCol="0" anchor="t"/>
          <a:lstStyle/>
          <a:p>
            <a:pPr algn="ctr" indent="0" marL="0">
              <a:buNone/>
            </a:pPr>
            <a:r>
              <a:rPr lang="en-US" sz="1600" b="1" dirty="0">
                <a:solidFill>
                  <a:srgbClr val="009DDA"/>
                </a:solidFill>
                <a:latin typeface="맑은 고딕" pitchFamily="34" charset="0"/>
                <a:ea typeface="맑은 고딕" pitchFamily="34" charset="-122"/>
                <a:cs typeface="맑은 고딕" pitchFamily="34" charset="-120"/>
              </a:rPr>
              <a:t>→</a:t>
            </a:r>
            <a:endParaRPr lang="en-US" sz="1600" dirty="0"/>
          </a:p>
        </p:txBody>
      </p:sp>
      <p:sp>
        <p:nvSpPr>
          <p:cNvPr id="39" name="Shape 36"/>
          <p:cNvSpPr/>
          <p:nvPr/>
        </p:nvSpPr>
        <p:spPr>
          <a:xfrm>
            <a:off x="4389120" y="5257800"/>
            <a:ext cx="3429000" cy="704088"/>
          </a:xfrm>
          <a:prstGeom prst="roundRect">
            <a:avLst>
              <a:gd name="adj" fmla="val 7792"/>
            </a:avLst>
          </a:prstGeom>
          <a:solidFill>
            <a:srgbClr val="EAF3FA"/>
          </a:solidFill>
          <a:ln w="12700">
            <a:solidFill>
              <a:srgbClr val="009DDA"/>
            </a:solidFill>
            <a:prstDash val="solid"/>
          </a:ln>
        </p:spPr>
      </p:sp>
      <p:sp>
        <p:nvSpPr>
          <p:cNvPr id="40" name="Text 37"/>
          <p:cNvSpPr txBox="1"/>
          <p:nvPr/>
        </p:nvSpPr>
        <p:spPr>
          <a:xfrm>
            <a:off x="4498848" y="5358384"/>
            <a:ext cx="3209544" cy="182880"/>
          </a:xfrm>
          <a:prstGeom prst="rect">
            <a:avLst/>
          </a:prstGeom>
          <a:noFill/>
          <a:ln/>
        </p:spPr>
        <p:txBody>
          <a:bodyPr wrap="square" lIns="0" tIns="0" rIns="0" bIns="0" rtlCol="0" anchor="t"/>
          <a:lstStyle/>
          <a:p>
            <a:pPr algn="ctr" indent="0" marL="0">
              <a:buNone/>
            </a:pPr>
            <a:r>
              <a:rPr lang="en-US" sz="1020" b="1" dirty="0">
                <a:solidFill>
                  <a:srgbClr val="616161"/>
                </a:solidFill>
                <a:latin typeface="맑은 고딕" pitchFamily="34" charset="0"/>
                <a:ea typeface="맑은 고딕" pitchFamily="34" charset="-122"/>
                <a:cs typeface="맑은 고딕" pitchFamily="34" charset="-120"/>
              </a:rPr>
              <a:t>STEP 2 · 최종 앙상블 확률</a:t>
            </a:r>
            <a:endParaRPr lang="en-US" sz="1020" dirty="0"/>
          </a:p>
        </p:txBody>
      </p:sp>
      <p:sp>
        <p:nvSpPr>
          <p:cNvPr id="41" name="Text 38"/>
          <p:cNvSpPr txBox="1"/>
          <p:nvPr/>
        </p:nvSpPr>
        <p:spPr>
          <a:xfrm>
            <a:off x="4453128" y="5596128"/>
            <a:ext cx="3300984" cy="265176"/>
          </a:xfrm>
          <a:prstGeom prst="rect">
            <a:avLst/>
          </a:prstGeom>
          <a:noFill/>
          <a:ln/>
        </p:spPr>
        <p:txBody>
          <a:bodyPr wrap="square" lIns="0" tIns="0" rIns="0" bIns="0" rtlCol="0" anchor="t"/>
          <a:lstStyle/>
          <a:p>
            <a:pPr algn="ctr" indent="0" marL="0">
              <a:buNone/>
            </a:pPr>
            <a:r>
              <a:rPr lang="en-US" sz="1360" b="1" dirty="0">
                <a:solidFill>
                  <a:srgbClr val="2F4E91"/>
                </a:solidFill>
                <a:latin typeface="맑은 고딕" pitchFamily="34" charset="0"/>
                <a:ea typeface="맑은 고딕" pitchFamily="34" charset="-122"/>
                <a:cs typeface="맑은 고딕" pitchFamily="34" charset="-120"/>
              </a:rPr>
              <a:t>pfinal = 0.55 × pR + 0.45 × pTF-IDF</a:t>
            </a:r>
            <a:endParaRPr lang="en-US" sz="1360" dirty="0"/>
          </a:p>
        </p:txBody>
      </p:sp>
      <p:sp>
        <p:nvSpPr>
          <p:cNvPr id="42" name="Text 39"/>
          <p:cNvSpPr txBox="1"/>
          <p:nvPr/>
        </p:nvSpPr>
        <p:spPr>
          <a:xfrm>
            <a:off x="7831836" y="5486400"/>
            <a:ext cx="228600" cy="274320"/>
          </a:xfrm>
          <a:prstGeom prst="rect">
            <a:avLst/>
          </a:prstGeom>
          <a:noFill/>
          <a:ln/>
        </p:spPr>
        <p:txBody>
          <a:bodyPr wrap="square" lIns="0" tIns="0" rIns="0" bIns="0" rtlCol="0" anchor="t"/>
          <a:lstStyle/>
          <a:p>
            <a:pPr algn="ctr" indent="0" marL="0">
              <a:buNone/>
            </a:pPr>
            <a:r>
              <a:rPr lang="en-US" sz="1600" b="1" dirty="0">
                <a:solidFill>
                  <a:srgbClr val="009DDA"/>
                </a:solidFill>
                <a:latin typeface="맑은 고딕" pitchFamily="34" charset="0"/>
                <a:ea typeface="맑은 고딕" pitchFamily="34" charset="-122"/>
                <a:cs typeface="맑은 고딕" pitchFamily="34" charset="-120"/>
              </a:rPr>
              <a:t>→</a:t>
            </a:r>
            <a:endParaRPr lang="en-US" sz="1600" dirty="0"/>
          </a:p>
        </p:txBody>
      </p:sp>
      <p:sp>
        <p:nvSpPr>
          <p:cNvPr id="43" name="Shape 40"/>
          <p:cNvSpPr/>
          <p:nvPr/>
        </p:nvSpPr>
        <p:spPr>
          <a:xfrm>
            <a:off x="8138160" y="5257800"/>
            <a:ext cx="3429000" cy="704088"/>
          </a:xfrm>
          <a:prstGeom prst="roundRect">
            <a:avLst>
              <a:gd name="adj" fmla="val 7792"/>
            </a:avLst>
          </a:prstGeom>
          <a:solidFill>
            <a:srgbClr val="FFFFFF"/>
          </a:solidFill>
          <a:ln w="12700">
            <a:solidFill>
              <a:srgbClr val="E0E0E0"/>
            </a:solidFill>
            <a:prstDash val="solid"/>
          </a:ln>
        </p:spPr>
      </p:sp>
      <p:sp>
        <p:nvSpPr>
          <p:cNvPr id="44" name="Text 41"/>
          <p:cNvSpPr txBox="1"/>
          <p:nvPr/>
        </p:nvSpPr>
        <p:spPr>
          <a:xfrm>
            <a:off x="8247888" y="5358384"/>
            <a:ext cx="3209544" cy="182880"/>
          </a:xfrm>
          <a:prstGeom prst="rect">
            <a:avLst/>
          </a:prstGeom>
          <a:noFill/>
          <a:ln/>
        </p:spPr>
        <p:txBody>
          <a:bodyPr wrap="square" lIns="0" tIns="0" rIns="0" bIns="0" rtlCol="0" anchor="t"/>
          <a:lstStyle/>
          <a:p>
            <a:pPr algn="ctr" indent="0" marL="0">
              <a:buNone/>
            </a:pPr>
            <a:r>
              <a:rPr lang="en-US" sz="1020" b="1" dirty="0">
                <a:solidFill>
                  <a:srgbClr val="616161"/>
                </a:solidFill>
                <a:latin typeface="맑은 고딕" pitchFamily="34" charset="0"/>
                <a:ea typeface="맑은 고딕" pitchFamily="34" charset="-122"/>
                <a:cs typeface="맑은 고딕" pitchFamily="34" charset="-120"/>
              </a:rPr>
              <a:t>STEP 3 · 최종 판정</a:t>
            </a:r>
            <a:endParaRPr lang="en-US" sz="1020" dirty="0"/>
          </a:p>
        </p:txBody>
      </p:sp>
      <p:sp>
        <p:nvSpPr>
          <p:cNvPr id="45" name="Text 42"/>
          <p:cNvSpPr txBox="1"/>
          <p:nvPr/>
        </p:nvSpPr>
        <p:spPr>
          <a:xfrm>
            <a:off x="8202168" y="5596128"/>
            <a:ext cx="3300984" cy="265176"/>
          </a:xfrm>
          <a:prstGeom prst="rect">
            <a:avLst/>
          </a:prstGeom>
          <a:noFill/>
          <a:ln/>
        </p:spPr>
        <p:txBody>
          <a:bodyPr wrap="square" lIns="0" tIns="0" rIns="0" bIns="0" rtlCol="0" anchor="t"/>
          <a:lstStyle/>
          <a:p>
            <a:pPr algn="ctr" indent="0" marL="0">
              <a:buNone/>
            </a:pPr>
            <a:r>
              <a:rPr lang="en-US" sz="1400" b="1" dirty="0">
                <a:solidFill>
                  <a:srgbClr val="2F4E91"/>
                </a:solidFill>
                <a:latin typeface="맑은 고딕" pitchFamily="34" charset="0"/>
                <a:ea typeface="맑은 고딕" pitchFamily="34" charset="-122"/>
                <a:cs typeface="맑은 고딕" pitchFamily="34" charset="-120"/>
              </a:rPr>
              <a:t>ŷⱼ = 1 if pfinal,ⱼ ≥ 0.5</a:t>
            </a:r>
            <a:endParaRPr lang="en-US" sz="1400" dirty="0"/>
          </a:p>
        </p:txBody>
      </p:sp>
      <p:sp>
        <p:nvSpPr>
          <p:cNvPr id="46" name="Text 43"/>
          <p:cNvSpPr txBox="1"/>
          <p:nvPr/>
        </p:nvSpPr>
        <p:spPr>
          <a:xfrm>
            <a:off x="640080" y="6016752"/>
            <a:ext cx="10911535" cy="182880"/>
          </a:xfrm>
          <a:prstGeom prst="rect">
            <a:avLst/>
          </a:prstGeom>
          <a:noFill/>
          <a:ln/>
        </p:spPr>
        <p:txBody>
          <a:bodyPr wrap="square" lIns="0" tIns="0" rIns="0" bIns="0" rtlCol="0" anchor="t"/>
          <a:lstStyle/>
          <a:p>
            <a:pPr algn="ctr" indent="0" marL="0">
              <a:buNone/>
            </a:pPr>
            <a:r>
              <a:rPr lang="en-US" sz="1010" b="1" dirty="0">
                <a:solidFill>
                  <a:srgbClr val="2F4E91"/>
                </a:solidFill>
                <a:latin typeface="맑은 고딕" pitchFamily="34" charset="0"/>
                <a:ea typeface="맑은 고딕" pitchFamily="34" charset="-122"/>
                <a:cs typeface="맑은 고딕" pitchFamily="34" charset="-120"/>
              </a:rPr>
              <a:t>모든 증상에 동일한 threshold 0.5 적용 · 증상별 threshold 조정 및 별도 후처리 없음</a:t>
            </a:r>
            <a:endParaRPr lang="en-US" sz="1010" dirty="0"/>
          </a:p>
        </p:txBody>
      </p:sp>
      <p:sp>
        <p:nvSpPr>
          <p:cNvPr id="47" name="Text 44"/>
          <p:cNvSpPr txBox="1"/>
          <p:nvPr/>
        </p:nvSpPr>
        <p:spPr>
          <a:xfrm>
            <a:off x="457200" y="6419088"/>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 입력 길이와 512토큰 실험은 Training 내부 80:20 홀드아웃 기준이며, 공식 Validation은 모델 선택에 사용하지 않음.</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별첨  Mission 3</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35</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M3 입력 길이 확대 실험</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512토큰은 성능이 개선됐지만 사전 채택 기준과 계산비용 조건을 충족하지 못함</a:t>
            </a:r>
            <a:endParaRPr lang="en-US" sz="1500" dirty="0"/>
          </a:p>
        </p:txBody>
      </p:sp>
      <p:graphicFrame>
        <p:nvGraphicFramePr>
          <p:cNvPr id="9" name="Chart 0" descr=""/>
          <p:cNvGraphicFramePr/>
          <p:nvPr/>
        </p:nvGraphicFramePr>
        <p:xfrm>
          <a:off x="457200" y="2240280"/>
          <a:ext cx="6400800" cy="342900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1261872" y="3968496"/>
            <a:ext cx="585216" cy="201168"/>
          </a:xfrm>
          <a:prstGeom prst="rect">
            <a:avLst/>
          </a:prstGeom>
          <a:noFill/>
          <a:ln/>
        </p:spPr>
        <p:txBody>
          <a:bodyPr wrap="square" lIns="0" tIns="0" rIns="0" bIns="0" rtlCol="0" anchor="t"/>
          <a:lstStyle/>
          <a:p>
            <a:pPr algn="ctr" indent="0" marL="0">
              <a:buNone/>
            </a:pPr>
            <a:r>
              <a:rPr lang="en-US" sz="950" b="1" dirty="0">
                <a:solidFill>
                  <a:srgbClr val="2F4E91"/>
                </a:solidFill>
                <a:latin typeface="맑은 고딕" pitchFamily="34" charset="0"/>
                <a:ea typeface="맑은 고딕" pitchFamily="34" charset="-122"/>
                <a:cs typeface="맑은 고딕" pitchFamily="34" charset="-120"/>
              </a:rPr>
              <a:t>0.6439</a:t>
            </a:r>
            <a:endParaRPr lang="en-US" sz="950" dirty="0"/>
          </a:p>
        </p:txBody>
      </p:sp>
      <p:sp>
        <p:nvSpPr>
          <p:cNvPr id="11" name="Text 7"/>
          <p:cNvSpPr txBox="1"/>
          <p:nvPr/>
        </p:nvSpPr>
        <p:spPr>
          <a:xfrm>
            <a:off x="3063240" y="3429000"/>
            <a:ext cx="585216" cy="201168"/>
          </a:xfrm>
          <a:prstGeom prst="rect">
            <a:avLst/>
          </a:prstGeom>
          <a:noFill/>
          <a:ln/>
        </p:spPr>
        <p:txBody>
          <a:bodyPr wrap="square" lIns="0" tIns="0" rIns="0" bIns="0" rtlCol="0" anchor="t"/>
          <a:lstStyle/>
          <a:p>
            <a:pPr algn="ctr" indent="0" marL="0">
              <a:buNone/>
            </a:pPr>
            <a:r>
              <a:rPr lang="en-US" sz="950" b="1" dirty="0">
                <a:solidFill>
                  <a:srgbClr val="2F4E91"/>
                </a:solidFill>
                <a:latin typeface="맑은 고딕" pitchFamily="34" charset="0"/>
                <a:ea typeface="맑은 고딕" pitchFamily="34" charset="-122"/>
                <a:cs typeface="맑은 고딕" pitchFamily="34" charset="-120"/>
              </a:rPr>
              <a:t>0.6504</a:t>
            </a:r>
            <a:endParaRPr lang="en-US" sz="950" dirty="0"/>
          </a:p>
        </p:txBody>
      </p:sp>
      <p:sp>
        <p:nvSpPr>
          <p:cNvPr id="12" name="Text 8"/>
          <p:cNvSpPr txBox="1"/>
          <p:nvPr/>
        </p:nvSpPr>
        <p:spPr>
          <a:xfrm>
            <a:off x="4882896" y="3319272"/>
            <a:ext cx="585216" cy="201168"/>
          </a:xfrm>
          <a:prstGeom prst="rect">
            <a:avLst/>
          </a:prstGeom>
          <a:noFill/>
          <a:ln/>
        </p:spPr>
        <p:txBody>
          <a:bodyPr wrap="square" lIns="0" tIns="0" rIns="0" bIns="0" rtlCol="0" anchor="t"/>
          <a:lstStyle/>
          <a:p>
            <a:pPr algn="ctr" indent="0" marL="0">
              <a:buNone/>
            </a:pPr>
            <a:r>
              <a:rPr lang="en-US" sz="950" b="1" dirty="0">
                <a:solidFill>
                  <a:srgbClr val="2F4E91"/>
                </a:solidFill>
                <a:latin typeface="맑은 고딕" pitchFamily="34" charset="0"/>
                <a:ea typeface="맑은 고딕" pitchFamily="34" charset="-122"/>
                <a:cs typeface="맑은 고딕" pitchFamily="34" charset="-120"/>
              </a:rPr>
              <a:t>0.6515</a:t>
            </a:r>
            <a:endParaRPr lang="en-US" sz="9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086600" y="2267712"/>
          <a:ext cx="5074920" cy="914400"/>
        </p:xfrm>
        <a:graphic>
          <a:graphicData uri="http://schemas.openxmlformats.org/drawingml/2006/table">
            <a:tbl>
              <a:tblPr/>
              <a:tblGrid>
                <a:gridCol w="2743200"/>
                <a:gridCol w="2331720"/>
              </a:tblGrid>
              <a:tr h="292608">
                <a:tc>
                  <a:txBody>
                    <a:bodyPr/>
                    <a:lstStyle/>
                    <a:p>
                      <a:pPr algn="ctr" indent="0" marL="0">
                        <a:buNone/>
                      </a:pPr>
                      <a:r>
                        <a:rPr lang="en-US" sz="930" b="1" dirty="0">
                          <a:solidFill>
                            <a:srgbClr val="FFFFFF"/>
                          </a:solidFill>
                          <a:latin typeface="맑은 고딕" pitchFamily="34" charset="0"/>
                          <a:ea typeface="맑은 고딕" pitchFamily="34" charset="-122"/>
                          <a:cs typeface="맑은 고딕" pitchFamily="34" charset="-120"/>
                        </a:rPr>
                        <a:t>항목</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2F4E91"/>
                    </a:solidFill>
                  </a:tcPr>
                </a:tc>
                <a:tc>
                  <a:txBody>
                    <a:bodyPr/>
                    <a:lstStyle/>
                    <a:p>
                      <a:pPr algn="ctr" indent="0" marL="0">
                        <a:buNone/>
                      </a:pPr>
                      <a:r>
                        <a:rPr lang="en-US" sz="930" b="1" dirty="0">
                          <a:solidFill>
                            <a:srgbClr val="FFFFFF"/>
                          </a:solidFill>
                          <a:latin typeface="맑은 고딕" pitchFamily="34" charset="0"/>
                          <a:ea typeface="맑은 고딕" pitchFamily="34" charset="-122"/>
                          <a:cs typeface="맑은 고딕" pitchFamily="34" charset="-120"/>
                        </a:rPr>
                        <a:t>결과</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2F4E91"/>
                    </a:solidFill>
                  </a:tcPr>
                </a:tc>
              </a:tr>
              <a:tr h="265176">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256토큰 초과 통화</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2,359건 · 40.7%</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r>
              <a:tr h="265176">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512토큰 초과 통화</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2.9%</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r>
              <a:tr h="265176">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256토큰 기준 Macro F1</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0.6441</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r>
              <a:tr h="265176">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512토큰 최종 Macro F1</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0.6515</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r>
              <a:tr h="265176">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개선폭</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+0.0074</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r>
              <a:tr h="265176">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사전 채택 기준</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+0.0100</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r>
              <a:tr h="265176">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학습시간</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77.5분</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r>
              <a:tr h="265176">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계산비용</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약 4배</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r>
              <a:tr h="301752">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결정</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930" dirty="0">
                          <a:solidFill>
                            <a:srgbClr val="212121"/>
                          </a:solidFill>
                          <a:latin typeface="맑은 고딕" pitchFamily="34" charset="0"/>
                          <a:ea typeface="맑은 고딕" pitchFamily="34" charset="-122"/>
                          <a:cs typeface="맑은 고딕" pitchFamily="34" charset="-120"/>
                        </a:rPr>
                        <a:t>512토큰 확대안 기각</a:t>
                      </a:r>
                      <a:endParaRPr lang="en-US" sz="930" dirty="0">
                        <a:latin typeface="맑은 고딕" charset="0"/>
                        <a:ea typeface="맑은 고딕" charset="0"/>
                        <a:cs typeface="맑은 고딕" charset="0"/>
                      </a:endParaRPr>
                    </a:p>
                  </a:txBody>
                  <a:tcPr marL="36576" marR="36576" marT="36576" marB="36576"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FFFFFF"/>
                    </a:solidFill>
                  </a:tcPr>
                </a:tc>
              </a:tr>
            </a:tbl>
          </a:graphicData>
        </a:graphic>
      </p:graphicFrame>
      <p:sp>
        <p:nvSpPr>
          <p:cNvPr id="14" name="Shape 9"/>
          <p:cNvSpPr/>
          <p:nvPr/>
        </p:nvSpPr>
        <p:spPr>
          <a:xfrm>
            <a:off x="7086600" y="5669280"/>
            <a:ext cx="4645152" cy="621792"/>
          </a:xfrm>
          <a:prstGeom prst="roundRect">
            <a:avLst>
              <a:gd name="adj" fmla="val 8824"/>
            </a:avLst>
          </a:prstGeom>
          <a:solidFill>
            <a:srgbClr val="EAF3FA"/>
          </a:solidFill>
          <a:ln w="12700">
            <a:solidFill>
              <a:srgbClr val="009DDA"/>
            </a:solidFill>
            <a:prstDash val="solid"/>
          </a:ln>
        </p:spPr>
      </p:sp>
      <p:sp>
        <p:nvSpPr>
          <p:cNvPr id="15" name="Text 10"/>
          <p:cNvSpPr txBox="1"/>
          <p:nvPr/>
        </p:nvSpPr>
        <p:spPr>
          <a:xfrm>
            <a:off x="7269480" y="5669280"/>
            <a:ext cx="4279392" cy="621792"/>
          </a:xfrm>
          <a:prstGeom prst="rect">
            <a:avLst/>
          </a:prstGeom>
          <a:noFill/>
          <a:ln/>
        </p:spPr>
        <p:txBody>
          <a:bodyPr wrap="square" lIns="0" tIns="0" rIns="0" bIns="0" rtlCol="0" anchor="ctr"/>
          <a:lstStyle/>
          <a:p>
            <a:pPr algn="ctr" indent="0" marL="0">
              <a:buNone/>
            </a:pPr>
            <a:r>
              <a:rPr lang="en-US" sz="1150" b="1" dirty="0">
                <a:solidFill>
                  <a:srgbClr val="2F4E91"/>
                </a:solidFill>
                <a:latin typeface="맑은 고딕" pitchFamily="34" charset="0"/>
                <a:ea typeface="맑은 고딕" pitchFamily="34" charset="-122"/>
                <a:cs typeface="맑은 고딕" pitchFamily="34" charset="-120"/>
              </a:rPr>
              <a:t>성능은 개선됐지만 사전 기준에 미달했고 계산비용이 증가해 앞 256토큰을 유지</a:t>
            </a:r>
            <a:endParaRPr lang="en-US" sz="1150" dirty="0"/>
          </a:p>
        </p:txBody>
      </p:sp>
      <p:sp>
        <p:nvSpPr>
          <p:cNvPr id="16" name="Text 11"/>
          <p:cNvSpPr txBox="1"/>
          <p:nvPr/>
        </p:nvSpPr>
        <p:spPr>
          <a:xfrm>
            <a:off x="457200" y="6400800"/>
            <a:ext cx="11277295" cy="274320"/>
          </a:xfrm>
          <a:prstGeom prst="rect">
            <a:avLst/>
          </a:prstGeom>
          <a:noFill/>
          <a:ln/>
        </p:spPr>
        <p:txBody>
          <a:bodyPr wrap="square" lIns="0" tIns="0" rIns="0" bIns="0" rtlCol="0" anchor="t"/>
          <a:lstStyle/>
          <a:p>
            <a:pPr indent="0" marL="0">
              <a:buNone/>
            </a:pPr>
            <a:r>
              <a:rPr lang="en-US" sz="1000" dirty="0">
                <a:solidFill>
                  <a:srgbClr val="616161"/>
                </a:solidFill>
                <a:latin typeface="맑은 고딕" pitchFamily="34" charset="0"/>
                <a:ea typeface="맑은 고딕" pitchFamily="34" charset="-122"/>
                <a:cs typeface="맑은 고딕" pitchFamily="34" charset="-120"/>
              </a:rPr>
              <a:t>※ Training 내부 80:20 홀드아웃, seed 42 기준. 공식 Validation은 사용하지 않음.</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figures/tpl_header.png">    </p:cNvPr>
          <p:cNvPicPr>
            <a:picLocks noChangeAspect="1"/>
          </p:cNvPicPr>
          <p:nvPr/>
        </p:nvPicPr>
        <p:blipFill>
          <a:blip r:embed="rId1"/>
          <a:srcRect l="0" r="0" t="0" b="0"/>
          <a:stretch/>
        </p:blipFill>
        <p:spPr>
          <a:xfrm>
            <a:off x="0" y="0"/>
            <a:ext cx="12191695" cy="643738"/>
          </a:xfrm>
          <a:prstGeom prst="rect">
            <a:avLst/>
          </a:prstGeom>
        </p:spPr>
      </p:pic>
      <p:sp>
        <p:nvSpPr>
          <p:cNvPr id="3" name="Text 0"/>
          <p:cNvSpPr txBox="1"/>
          <p:nvPr/>
        </p:nvSpPr>
        <p:spPr>
          <a:xfrm>
            <a:off x="457200" y="680314"/>
            <a:ext cx="7315200" cy="237744"/>
          </a:xfrm>
          <a:prstGeom prst="rect">
            <a:avLst/>
          </a:prstGeom>
          <a:noFill/>
          <a:ln/>
        </p:spPr>
        <p:txBody>
          <a:bodyPr wrap="square" lIns="0" tIns="0" rIns="0" bIns="0" rtlCol="0" anchor="t"/>
          <a:lstStyle/>
          <a:p>
            <a:pPr indent="0" marL="0">
              <a:buNone/>
            </a:pPr>
            <a:r>
              <a:rPr lang="en-US" sz="1250" b="1" dirty="0">
                <a:solidFill>
                  <a:srgbClr val="2F4E91"/>
                </a:solidFill>
                <a:latin typeface="맑은 고딕" pitchFamily="34" charset="0"/>
                <a:ea typeface="맑은 고딕" pitchFamily="34" charset="-122"/>
                <a:cs typeface="맑은 고딕" pitchFamily="34" charset="-120"/>
              </a:rPr>
              <a:t>별첨  Mission 3</a:t>
            </a:r>
            <a:endParaRPr lang="en-US" sz="1250" dirty="0"/>
          </a:p>
        </p:txBody>
      </p:sp>
      <p:sp>
        <p:nvSpPr>
          <p:cNvPr id="4" name="Text 1"/>
          <p:cNvSpPr txBox="1"/>
          <p:nvPr/>
        </p:nvSpPr>
        <p:spPr>
          <a:xfrm>
            <a:off x="8991295" y="680314"/>
            <a:ext cx="2743200" cy="237744"/>
          </a:xfrm>
          <a:prstGeom prst="rect">
            <a:avLst/>
          </a:prstGeom>
          <a:noFill/>
          <a:ln/>
        </p:spPr>
        <p:txBody>
          <a:bodyPr wrap="square" lIns="0" tIns="0" rIns="0" bIns="0" rtlCol="0" anchor="t"/>
          <a:lstStyle/>
          <a:p>
            <a:pPr algn="r" indent="0" marL="0">
              <a:buNone/>
            </a:pPr>
            <a:r>
              <a:rPr lang="en-US" sz="1000" dirty="0">
                <a:solidFill>
                  <a:srgbClr val="616161"/>
                </a:solidFill>
                <a:latin typeface="맑은 고딕" pitchFamily="34" charset="0"/>
                <a:ea typeface="맑은 고딕" pitchFamily="34" charset="-122"/>
                <a:cs typeface="맑은 고딕" pitchFamily="34" charset="-120"/>
              </a:rPr>
              <a:t>eigensinn  |  36</a:t>
            </a:r>
            <a:endParaRPr lang="en-US" sz="1000" dirty="0"/>
          </a:p>
        </p:txBody>
      </p:sp>
      <p:sp>
        <p:nvSpPr>
          <p:cNvPr id="5" name="Shape 2"/>
          <p:cNvSpPr/>
          <p:nvPr/>
        </p:nvSpPr>
        <p:spPr>
          <a:xfrm>
            <a:off x="457200" y="936346"/>
            <a:ext cx="11277295" cy="0"/>
          </a:xfrm>
          <a:prstGeom prst="line">
            <a:avLst/>
          </a:prstGeom>
          <a:noFill/>
          <a:ln w="12700">
            <a:solidFill>
              <a:srgbClr val="E0E0E0"/>
            </a:solidFill>
            <a:prstDash val="solid"/>
          </a:ln>
        </p:spPr>
      </p:sp>
      <p:sp>
        <p:nvSpPr>
          <p:cNvPr id="6" name="Text 3"/>
          <p:cNvSpPr txBox="1"/>
          <p:nvPr/>
        </p:nvSpPr>
        <p:spPr>
          <a:xfrm>
            <a:off x="457200" y="982066"/>
            <a:ext cx="10058400" cy="329184"/>
          </a:xfrm>
          <a:prstGeom prst="rect">
            <a:avLst/>
          </a:prstGeom>
          <a:noFill/>
          <a:ln/>
        </p:spPr>
        <p:txBody>
          <a:bodyPr wrap="square" lIns="0" tIns="0" rIns="0" bIns="0" rtlCol="0" anchor="t"/>
          <a:lstStyle/>
          <a:p>
            <a:pPr indent="0" marL="0">
              <a:buNone/>
            </a:pPr>
            <a:r>
              <a:rPr lang="en-US" sz="1900" b="1" dirty="0">
                <a:solidFill>
                  <a:srgbClr val="212121"/>
                </a:solidFill>
                <a:latin typeface="맑은 고딕" pitchFamily="34" charset="0"/>
                <a:ea typeface="맑은 고딕" pitchFamily="34" charset="-122"/>
                <a:cs typeface="맑은 고딕" pitchFamily="34" charset="-120"/>
              </a:rPr>
              <a:t>Mission 3  낮은 성능 3개 라벨의 오류 구조</a:t>
            </a:r>
            <a:endParaRPr lang="en-US" sz="1900" dirty="0"/>
          </a:p>
        </p:txBody>
      </p:sp>
      <p:sp>
        <p:nvSpPr>
          <p:cNvPr id="7" name="Shape 4"/>
          <p:cNvSpPr/>
          <p:nvPr/>
        </p:nvSpPr>
        <p:spPr>
          <a:xfrm>
            <a:off x="457200" y="1463040"/>
            <a:ext cx="11277295" cy="548640"/>
          </a:xfrm>
          <a:prstGeom prst="roundRect">
            <a:avLst>
              <a:gd name="adj" fmla="val 16667"/>
            </a:avLst>
          </a:prstGeom>
          <a:solidFill>
            <a:srgbClr val="EAF3FA"/>
          </a:solidFill>
          <a:ln w="12700">
            <a:solidFill>
              <a:srgbClr val="EAF3FA"/>
            </a:solidFill>
            <a:prstDash val="solid"/>
          </a:ln>
        </p:spPr>
      </p:sp>
      <p:sp>
        <p:nvSpPr>
          <p:cNvPr id="8" name="Text 5"/>
          <p:cNvSpPr txBox="1"/>
          <p:nvPr/>
        </p:nvSpPr>
        <p:spPr>
          <a:xfrm>
            <a:off x="640080" y="1463040"/>
            <a:ext cx="10911535" cy="548640"/>
          </a:xfrm>
          <a:prstGeom prst="rect">
            <a:avLst/>
          </a:prstGeom>
          <a:noFill/>
          <a:ln/>
        </p:spPr>
        <p:txBody>
          <a:bodyPr wrap="square" lIns="0" tIns="0" rIns="0" bIns="0" rtlCol="0" anchor="ctr"/>
          <a:lstStyle/>
          <a:p>
            <a:pPr algn="ctr" indent="0" marL="0">
              <a:buNone/>
            </a:pPr>
            <a:r>
              <a:rPr lang="en-US" sz="1500" b="1" dirty="0">
                <a:solidFill>
                  <a:srgbClr val="2F4E91"/>
                </a:solidFill>
                <a:latin typeface="맑은 고딕" pitchFamily="34" charset="0"/>
                <a:ea typeface="맑은 고딕" pitchFamily="34" charset="-122"/>
                <a:cs typeface="맑은 고딕" pitchFamily="34" charset="-120"/>
              </a:rPr>
              <a:t>직접 표현이 없는 양성이 많았고, 두통과 오심은 표현 유무에 따라 recall 차이가 컸다</a:t>
            </a:r>
            <a:endParaRPr lang="en-US" sz="1500" dirty="0"/>
          </a:p>
        </p:txBody>
      </p:sp>
      <p:graphicFrame>
        <p:nvGraphicFramePr>
          <p:cNvPr id="9" name="Chart 0" descr=""/>
          <p:cNvGraphicFramePr/>
          <p:nvPr/>
        </p:nvGraphicFramePr>
        <p:xfrm>
          <a:off x="457200" y="2249424"/>
          <a:ext cx="5806440" cy="3383280"/>
        </p:xfrm>
        <a:graphic xmlns:a="http://schemas.openxmlformats.org/drawingml/2006/main">
          <a:graphicData uri="http://schemas.openxmlformats.org/drawingml/2006/chart">
            <c:chart xmlns:c="http://schemas.openxmlformats.org/drawingml/2006/chart" r:id="rId2"/>
          </a:graphicData>
        </a:graphic>
      </p:graphicFrame>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473952" y="2304288"/>
          <a:ext cx="5257800" cy="914400"/>
        </p:xfrm>
        <a:graphic>
          <a:graphicData uri="http://schemas.openxmlformats.org/drawingml/2006/table">
            <a:tbl>
              <a:tblPr/>
              <a:tblGrid>
                <a:gridCol w="658368"/>
                <a:gridCol w="1024128"/>
                <a:gridCol w="877824"/>
                <a:gridCol w="1234440"/>
                <a:gridCol w="1463040"/>
              </a:tblGrid>
              <a:tr h="438912">
                <a:tc rowSpan="2">
                  <a:txBody>
                    <a:bodyPr/>
                    <a:lstStyle/>
                    <a:p>
                      <a:pPr algn="ctr" indent="0" marL="0">
                        <a:buNone/>
                      </a:pPr>
                      <a:r>
                        <a:rPr lang="en-US" sz="920" b="1" dirty="0">
                          <a:solidFill>
                            <a:srgbClr val="FFFFFF"/>
                          </a:solidFill>
                          <a:latin typeface="맑은 고딕" pitchFamily="34" charset="0"/>
                          <a:ea typeface="맑은 고딕" pitchFamily="34" charset="-122"/>
                          <a:cs typeface="맑은 고딕" pitchFamily="34" charset="-120"/>
                        </a:rPr>
                        <a:t>증상</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2F4E91"/>
                    </a:solidFill>
                  </a:tcPr>
                </a:tc>
                <a:tc rowSpan="2">
                  <a:txBody>
                    <a:bodyPr/>
                    <a:lstStyle/>
                    <a:p>
                      <a:pPr algn="ctr" indent="0" marL="0">
                        <a:buNone/>
                      </a:pPr>
                      <a:r>
                        <a:rPr lang="en-US" sz="920" b="1" dirty="0">
                          <a:solidFill>
                            <a:srgbClr val="FFFFFF"/>
                          </a:solidFill>
                          <a:latin typeface="맑은 고딕" pitchFamily="34" charset="0"/>
                          <a:ea typeface="맑은 고딕" pitchFamily="34" charset="-122"/>
                          <a:cs typeface="맑은 고딕" pitchFamily="34" charset="-120"/>
                        </a:rPr>
                        <a:t>최종 앙상블</a:t>
                      </a:r>
                      <a:endParaRPr lang="en-US" sz="920" dirty="0">
                        <a:latin typeface="맑은 고딕" charset="0"/>
                        <a:ea typeface="맑은 고딕" charset="0"/>
                        <a:cs typeface="맑은 고딕" charset="0"/>
                      </a:endParaRPr>
                    </a:p>
                    <a:p>
                      <a:pPr algn="ctr" indent="0" marL="0">
                        <a:buNone/>
                      </a:pPr>
                      <a:r>
                        <a:rPr lang="en-US" sz="920" b="1" dirty="0">
                          <a:solidFill>
                            <a:srgbClr val="FFFFFF"/>
                          </a:solidFill>
                          <a:latin typeface="맑은 고딕" pitchFamily="34" charset="0"/>
                          <a:ea typeface="맑은 고딕" pitchFamily="34" charset="-122"/>
                          <a:cs typeface="맑은 고딕" pitchFamily="34" charset="-120"/>
                        </a:rPr>
                        <a:t>공식 Validation F1</a:t>
                      </a:r>
                      <a:endParaRPr lang="en-US" sz="920" dirty="0">
                        <a:latin typeface="맑은 고딕" charset="0"/>
                        <a:ea typeface="맑은 고딕" charset="0"/>
                        <a:cs typeface="맑은 고딕" charset="0"/>
                      </a:endParaRPr>
                    </a:p>
                    <a:p>
                      <a:pPr algn="ctr" indent="0" marL="0">
                        <a:buNone/>
                      </a:pPr>
                      <a:r>
                        <a:rPr lang="en-US" sz="920" b="1" dirty="0">
                          <a:solidFill>
                            <a:srgbClr val="FFFFFF"/>
                          </a:solidFill>
                          <a:latin typeface="맑은 고딕" pitchFamily="34" charset="0"/>
                          <a:ea typeface="맑은 고딕" pitchFamily="34" charset="-122"/>
                          <a:cs typeface="맑은 고딕" pitchFamily="34" charset="-120"/>
                        </a:rPr>
                        <a:t>(3,640건)</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2F4E91"/>
                    </a:solidFill>
                  </a:tcPr>
                </a:tc>
                <a:tc gridSpan="3">
                  <a:txBody>
                    <a:bodyPr/>
                    <a:lstStyle/>
                    <a:p>
                      <a:pPr algn="ctr" indent="0" marL="0">
                        <a:buNone/>
                      </a:pPr>
                      <a:r>
                        <a:rPr lang="en-US" sz="920" b="1" dirty="0">
                          <a:solidFill>
                            <a:srgbClr val="FFFFFF"/>
                          </a:solidFill>
                          <a:latin typeface="맑은 고딕" pitchFamily="34" charset="0"/>
                          <a:ea typeface="맑은 고딕" pitchFamily="34" charset="-122"/>
                          <a:cs typeface="맑은 고딕" pitchFamily="34" charset="-120"/>
                        </a:rPr>
                        <a:t>Training 내부 홀드아웃 오류 진단 (5,792건)</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3F629F"/>
                    </a:solidFill>
                  </a:tcPr>
                </a:tc>
                <a:tc hMerge="1">
                  <a:tcPr/>
                </a:tc>
                <a:tc hMerge="1">
                  <a:tcPr/>
                </a:tc>
              </a:tr>
              <a:tr h="502920">
                <a:tc vMerge="1">
                  <a:tcPr/>
                </a:tc>
                <a:tc vMerge="1">
                  <a:tcPr/>
                </a:tc>
                <a:tc>
                  <a:txBody>
                    <a:bodyPr/>
                    <a:lstStyle/>
                    <a:p>
                      <a:pPr algn="ctr" indent="0" marL="0">
                        <a:buNone/>
                      </a:pPr>
                      <a:r>
                        <a:rPr lang="en-US" sz="920" b="1" dirty="0">
                          <a:solidFill>
                            <a:srgbClr val="FFFFFF"/>
                          </a:solidFill>
                          <a:latin typeface="맑은 고딕" pitchFamily="34" charset="0"/>
                          <a:ea typeface="맑은 고딕" pitchFamily="34" charset="-122"/>
                          <a:cs typeface="맑은 고딕" pitchFamily="34" charset="-120"/>
                        </a:rPr>
                        <a:t>내부 홀드아웃</a:t>
                      </a:r>
                      <a:endParaRPr lang="en-US" sz="920" dirty="0">
                        <a:latin typeface="맑은 고딕" charset="0"/>
                        <a:ea typeface="맑은 고딕" charset="0"/>
                        <a:cs typeface="맑은 고딕" charset="0"/>
                      </a:endParaRPr>
                    </a:p>
                    <a:p>
                      <a:pPr algn="ctr" indent="0" marL="0">
                        <a:buNone/>
                      </a:pPr>
                      <a:r>
                        <a:rPr lang="en-US" sz="920" b="1" dirty="0">
                          <a:solidFill>
                            <a:srgbClr val="FFFFFF"/>
                          </a:solidFill>
                          <a:latin typeface="맑은 고딕" pitchFamily="34" charset="0"/>
                          <a:ea typeface="맑은 고딕" pitchFamily="34" charset="-122"/>
                          <a:cs typeface="맑은 고딕" pitchFamily="34" charset="-120"/>
                        </a:rPr>
                        <a:t>양성 수</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3F629F"/>
                    </a:solidFill>
                  </a:tcPr>
                </a:tc>
                <a:tc>
                  <a:txBody>
                    <a:bodyPr/>
                    <a:lstStyle/>
                    <a:p>
                      <a:pPr algn="ctr" indent="0" marL="0">
                        <a:buNone/>
                      </a:pPr>
                      <a:r>
                        <a:rPr lang="en-US" sz="920" b="1" dirty="0">
                          <a:solidFill>
                            <a:srgbClr val="FFFFFF"/>
                          </a:solidFill>
                          <a:latin typeface="맑은 고딕" pitchFamily="34" charset="0"/>
                          <a:ea typeface="맑은 고딕" pitchFamily="34" charset="-122"/>
                          <a:cs typeface="맑은 고딕" pitchFamily="34" charset="-120"/>
                        </a:rPr>
                        <a:t>직접 표현 없음</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3F629F"/>
                    </a:solidFill>
                  </a:tcPr>
                </a:tc>
                <a:tc>
                  <a:txBody>
                    <a:bodyPr/>
                    <a:lstStyle/>
                    <a:p>
                      <a:pPr algn="ctr" indent="0" marL="0">
                        <a:buNone/>
                      </a:pPr>
                      <a:r>
                        <a:rPr lang="en-US" sz="920" b="1" dirty="0">
                          <a:solidFill>
                            <a:srgbClr val="FFFFFF"/>
                          </a:solidFill>
                          <a:latin typeface="맑은 고딕" pitchFamily="34" charset="0"/>
                          <a:ea typeface="맑은 고딕" pitchFamily="34" charset="-122"/>
                          <a:cs typeface="맑은 고딕" pitchFamily="34" charset="-120"/>
                        </a:rPr>
                        <a:t>내부 TF-IDF</a:t>
                      </a:r>
                      <a:endParaRPr lang="en-US" sz="920" dirty="0">
                        <a:latin typeface="맑은 고딕" charset="0"/>
                        <a:ea typeface="맑은 고딕" charset="0"/>
                        <a:cs typeface="맑은 고딕" charset="0"/>
                      </a:endParaRPr>
                    </a:p>
                    <a:p>
                      <a:pPr algn="ctr" indent="0" marL="0">
                        <a:buNone/>
                      </a:pPr>
                      <a:r>
                        <a:rPr lang="en-US" sz="920" b="1" dirty="0">
                          <a:solidFill>
                            <a:srgbClr val="FFFFFF"/>
                          </a:solidFill>
                          <a:latin typeface="맑은 고딕" pitchFamily="34" charset="0"/>
                          <a:ea typeface="맑은 고딕" pitchFamily="34" charset="-122"/>
                          <a:cs typeface="맑은 고딕" pitchFamily="34" charset="-120"/>
                        </a:rPr>
                        <a:t>TP / FP / FN</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solidFill>
                      <a:srgbClr val="3F629F"/>
                    </a:solidFill>
                  </a:tcPr>
                </a:tc>
              </a:tr>
              <a:tr h="512064">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전신쇠약</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0.5939</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1,062</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804건 · 75.7%</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675 / 846 / 387</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r>
              <a:tr h="512064">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두통</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0.5315</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581</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370건 · 63.7%</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245 / 372 / 336</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r>
              <a:tr h="512064">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오심</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0.4000</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668</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592건 · 88.6%</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c>
                  <a:txBody>
                    <a:bodyPr/>
                    <a:lstStyle/>
                    <a:p>
                      <a:pPr algn="ctr" indent="0" marL="0">
                        <a:buNone/>
                      </a:pPr>
                      <a:r>
                        <a:rPr lang="en-US" sz="920" dirty="0">
                          <a:solidFill>
                            <a:srgbClr val="212121"/>
                          </a:solidFill>
                          <a:latin typeface="맑은 고딕" pitchFamily="34" charset="0"/>
                          <a:ea typeface="맑은 고딕" pitchFamily="34" charset="-122"/>
                          <a:cs typeface="맑은 고딕" pitchFamily="34" charset="-120"/>
                        </a:rPr>
                        <a:t>263 / 754 / 405</a:t>
                      </a:r>
                      <a:endParaRPr lang="en-US" sz="920" dirty="0">
                        <a:latin typeface="맑은 고딕" charset="0"/>
                        <a:ea typeface="맑은 고딕" charset="0"/>
                        <a:cs typeface="맑은 고딕" charset="0"/>
                      </a:endParaRPr>
                    </a:p>
                  </a:txBody>
                  <a:tcPr marL="45720" marR="45720" marT="45720" marB="45720" anchor="ctr">
                    <a:lnL w="8890" cap="flat" cmpd="sng" algn="ctr">
                      <a:solidFill>
                        <a:srgbClr val="E0E0E0"/>
                      </a:solidFill>
                      <a:prstDash val="solid"/>
                      <a:round/>
                      <a:headEnd type="none" w="med" len="med"/>
                      <a:tailEnd type="none" w="med" len="med"/>
                    </a:lnL>
                    <a:lnR w="8890" cap="flat" cmpd="sng" algn="ctr">
                      <a:solidFill>
                        <a:srgbClr val="E0E0E0"/>
                      </a:solidFill>
                      <a:prstDash val="solid"/>
                      <a:round/>
                      <a:headEnd type="none" w="med" len="med"/>
                      <a:tailEnd type="none" w="med" len="med"/>
                    </a:lnR>
                    <a:lnT w="8890" cap="flat" cmpd="sng" algn="ctr">
                      <a:solidFill>
                        <a:srgbClr val="E0E0E0"/>
                      </a:solidFill>
                      <a:prstDash val="solid"/>
                      <a:round/>
                      <a:headEnd type="none" w="med" len="med"/>
                      <a:tailEnd type="none" w="med" len="med"/>
                    </a:lnT>
                    <a:lnB w="8890" cap="flat" cmpd="sng" algn="ctr">
                      <a:solidFill>
                        <a:srgbClr val="E0E0E0"/>
                      </a:solidFill>
                      <a:prstDash val="solid"/>
                      <a:round/>
                      <a:headEnd type="none" w="med" len="med"/>
                      <a:tailEnd type="none" w="med" len="med"/>
                    </a:lnB>
                  </a:tcPr>
                </a:tc>
              </a:tr>
            </a:tbl>
          </a:graphicData>
        </a:graphic>
      </p:graphicFrame>
      <p:sp>
        <p:nvSpPr>
          <p:cNvPr id="11" name="Shape 6"/>
          <p:cNvSpPr/>
          <p:nvPr/>
        </p:nvSpPr>
        <p:spPr>
          <a:xfrm>
            <a:off x="6473952" y="4983480"/>
            <a:ext cx="5257800" cy="658368"/>
          </a:xfrm>
          <a:prstGeom prst="roundRect">
            <a:avLst>
              <a:gd name="adj" fmla="val 8333"/>
            </a:avLst>
          </a:prstGeom>
          <a:solidFill>
            <a:srgbClr val="EAF3FA"/>
          </a:solidFill>
          <a:ln w="12700">
            <a:solidFill>
              <a:srgbClr val="009DDA"/>
            </a:solidFill>
            <a:prstDash val="solid"/>
          </a:ln>
        </p:spPr>
      </p:sp>
      <p:sp>
        <p:nvSpPr>
          <p:cNvPr id="12" name="Text 7"/>
          <p:cNvSpPr txBox="1"/>
          <p:nvPr/>
        </p:nvSpPr>
        <p:spPr>
          <a:xfrm>
            <a:off x="6656832" y="5029200"/>
            <a:ext cx="4892040" cy="320040"/>
          </a:xfrm>
          <a:prstGeom prst="rect">
            <a:avLst/>
          </a:prstGeom>
          <a:noFill/>
          <a:ln/>
        </p:spPr>
        <p:txBody>
          <a:bodyPr wrap="square" lIns="0" tIns="0" rIns="0" bIns="0" rtlCol="0" anchor="ctr"/>
          <a:lstStyle/>
          <a:p>
            <a:pPr algn="ctr" indent="0" marL="0">
              <a:buNone/>
            </a:pPr>
            <a:r>
              <a:rPr lang="en-US" sz="1120" b="1" dirty="0">
                <a:solidFill>
                  <a:srgbClr val="2F4E91"/>
                </a:solidFill>
                <a:latin typeface="맑은 고딕" pitchFamily="34" charset="0"/>
                <a:ea typeface="맑은 고딕" pitchFamily="34" charset="-122"/>
                <a:cs typeface="맑은 고딕" pitchFamily="34" charset="-120"/>
              </a:rPr>
              <a:t>오심은 양성의 88.6%에서 직접 표현을 찾지 못했고, 두통은 표현이 없을 때 recall이 0.195까지 낮아졌다.</a:t>
            </a:r>
            <a:endParaRPr lang="en-US" sz="1120" dirty="0"/>
          </a:p>
        </p:txBody>
      </p:sp>
      <p:sp>
        <p:nvSpPr>
          <p:cNvPr id="13" name="Text 8"/>
          <p:cNvSpPr txBox="1"/>
          <p:nvPr/>
        </p:nvSpPr>
        <p:spPr>
          <a:xfrm>
            <a:off x="6656832" y="5358384"/>
            <a:ext cx="4892040" cy="201168"/>
          </a:xfrm>
          <a:prstGeom prst="rect">
            <a:avLst/>
          </a:prstGeom>
          <a:noFill/>
          <a:ln/>
        </p:spPr>
        <p:txBody>
          <a:bodyPr wrap="square" lIns="0" tIns="0" rIns="0" bIns="0" rtlCol="0" anchor="t"/>
          <a:lstStyle/>
          <a:p>
            <a:pPr algn="ctr" indent="0" marL="0">
              <a:buNone/>
            </a:pPr>
            <a:r>
              <a:rPr lang="en-US" sz="950" dirty="0">
                <a:solidFill>
                  <a:srgbClr val="616161"/>
                </a:solidFill>
                <a:latin typeface="맑은 고딕" pitchFamily="34" charset="0"/>
                <a:ea typeface="맑은 고딕" pitchFamily="34" charset="-122"/>
                <a:cs typeface="맑은 고딕" pitchFamily="34" charset="-120"/>
              </a:rPr>
              <a:t>통화에서 관찰할 수 없는 정보가 성능을 제한했을 가능성</a:t>
            </a:r>
            <a:endParaRPr lang="en-US" sz="950" dirty="0"/>
          </a:p>
        </p:txBody>
      </p:sp>
      <p:sp>
        <p:nvSpPr>
          <p:cNvPr id="14" name="Text 9"/>
          <p:cNvSpPr txBox="1"/>
          <p:nvPr/>
        </p:nvSpPr>
        <p:spPr>
          <a:xfrm>
            <a:off x="457200" y="5797296"/>
            <a:ext cx="11277295" cy="676656"/>
          </a:xfrm>
          <a:prstGeom prst="rect">
            <a:avLst/>
          </a:prstGeom>
          <a:noFill/>
          <a:ln/>
        </p:spPr>
        <p:txBody>
          <a:bodyPr wrap="square" lIns="0" tIns="0" rIns="0" bIns="0" rtlCol="0" anchor="t"/>
          <a:lstStyle/>
          <a:p>
            <a:pPr indent="0" marL="0">
              <a:spcAft>
                <a:spcPts val="150"/>
              </a:spcAft>
              <a:buNone/>
            </a:pPr>
            <a:r>
              <a:rPr lang="en-US" sz="880" dirty="0">
                <a:solidFill>
                  <a:srgbClr val="616161"/>
                </a:solidFill>
                <a:latin typeface="맑은 고딕" pitchFamily="34" charset="0"/>
                <a:ea typeface="맑은 고딕" pitchFamily="34" charset="-122"/>
                <a:cs typeface="맑은 고딕" pitchFamily="34" charset="-120"/>
              </a:rPr>
              <a:t>※ 최종 F1은 최종 RoBERTa 3-seed + TF-IDF 앙상블의 공식 Validation 결과</a:t>
            </a:r>
            <a:endParaRPr lang="en-US" sz="880" dirty="0"/>
          </a:p>
          <a:p>
            <a:pPr indent="0" marL="0">
              <a:spcAft>
                <a:spcPts val="150"/>
              </a:spcAft>
              <a:buNone/>
            </a:pPr>
            <a:r>
              <a:rPr lang="en-US" sz="880" dirty="0">
                <a:solidFill>
                  <a:srgbClr val="616161"/>
                </a:solidFill>
                <a:latin typeface="맑은 고딕" pitchFamily="34" charset="0"/>
                <a:ea typeface="맑은 고딕" pitchFamily="34" charset="-122"/>
                <a:cs typeface="맑은 고딕" pitchFamily="34" charset="-120"/>
              </a:rPr>
              <a:t>※ 오류 진단은 Training 80:20 홀드아웃 5,792건의 TF-IDF 모델 기준</a:t>
            </a:r>
            <a:endParaRPr lang="en-US" sz="880" dirty="0"/>
          </a:p>
          <a:p>
            <a:pPr indent="0" marL="0">
              <a:spcAft>
                <a:spcPts val="150"/>
              </a:spcAft>
              <a:buNone/>
            </a:pPr>
            <a:r>
              <a:rPr lang="en-US" sz="880" dirty="0">
                <a:solidFill>
                  <a:srgbClr val="616161"/>
                </a:solidFill>
                <a:latin typeface="맑은 고딕" pitchFamily="34" charset="0"/>
                <a:ea typeface="맑은 고딕" pitchFamily="34" charset="-122"/>
                <a:cs typeface="맑은 고딕" pitchFamily="34" charset="-120"/>
              </a:rPr>
              <a:t>※ 직접 표현 여부는 증상별 정규식 탐색 결과이며, 구어체 변형을 모두 포착하지 못하므로 표현 비율은 하한값</a:t>
            </a:r>
            <a:endParaRPr lang="en-US" sz="880" dirty="0"/>
          </a:p>
          <a:p>
            <a:pPr indent="0" marL="0">
              <a:spcAft>
                <a:spcPts val="150"/>
              </a:spcAft>
              <a:buNone/>
            </a:pPr>
            <a:r>
              <a:rPr lang="en-US" sz="880" dirty="0">
                <a:solidFill>
                  <a:srgbClr val="616161"/>
                </a:solidFill>
                <a:latin typeface="맑은 고딕" pitchFamily="34" charset="0"/>
                <a:ea typeface="맑은 고딕" pitchFamily="34" charset="-122"/>
                <a:cs typeface="맑은 고딕" pitchFamily="34" charset="-120"/>
              </a:rPr>
              <a:t>※ 직접 표현이 없다는 결과는 오라벨을 의미하지 않음</a:t>
            </a:r>
            <a:endParaRPr lang="en-US" sz="8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figures/tpl_closing.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txBox="1"/>
          <p:nvPr/>
        </p:nvSpPr>
        <p:spPr>
          <a:xfrm>
            <a:off x="457200" y="2011680"/>
            <a:ext cx="11277295" cy="365760"/>
          </a:xfrm>
          <a:prstGeom prst="rect">
            <a:avLst/>
          </a:prstGeom>
          <a:noFill/>
          <a:ln/>
        </p:spPr>
        <p:txBody>
          <a:bodyPr wrap="square" lIns="0" tIns="0" rIns="0" bIns="0" rtlCol="0" anchor="t"/>
          <a:lstStyle/>
          <a:p>
            <a:pPr algn="ctr" indent="0" marL="0">
              <a:buNone/>
            </a:pPr>
            <a:r>
              <a:rPr lang="en-US" sz="1600" b="1" dirty="0">
                <a:solidFill>
                  <a:srgbClr val="2F4E91"/>
                </a:solidFill>
                <a:latin typeface="맑은 고딕" pitchFamily="34" charset="0"/>
                <a:ea typeface="맑은 고딕" pitchFamily="34" charset="-122"/>
                <a:cs typeface="맑은 고딕" pitchFamily="34" charset="-120"/>
              </a:rPr>
              <a:t>팀 eigensinn  |  김장수 · 김광희 · 지연우 · 이수빈 · 조지은</a:t>
            </a:r>
            <a:endParaRPr lang="en-US" sz="1600" dirty="0"/>
          </a:p>
        </p:txBody>
      </p:sp>
      <p:sp>
        <p:nvSpPr>
          <p:cNvPr id="4" name="Text 1"/>
          <p:cNvSpPr txBox="1"/>
          <p:nvPr/>
        </p:nvSpPr>
        <p:spPr>
          <a:xfrm>
            <a:off x="457200" y="2359152"/>
            <a:ext cx="11277295" cy="274320"/>
          </a:xfrm>
          <a:prstGeom prst="rect">
            <a:avLst/>
          </a:prstGeom>
          <a:noFill/>
          <a:ln/>
        </p:spPr>
        <p:txBody>
          <a:bodyPr wrap="square" lIns="0" tIns="0" rIns="0" bIns="0" rtlCol="0" anchor="t"/>
          <a:lstStyle/>
          <a:p>
            <a:pPr algn="ctr" indent="0" marL="0">
              <a:buNone/>
            </a:pPr>
            <a:r>
              <a:rPr lang="en-US" sz="1100" dirty="0">
                <a:solidFill>
                  <a:srgbClr val="616161"/>
                </a:solidFill>
                <a:latin typeface="맑은 고딕" pitchFamily="34" charset="0"/>
                <a:ea typeface="맑은 고딕" pitchFamily="34" charset="-122"/>
                <a:cs typeface="맑은 고딕" pitchFamily="34" charset="-120"/>
              </a:rPr>
              <a:t>코드 · 실험 기록: GitHub eigensinn-dcc2026/prelim  (docs/experiment_log.md, docs/decisions.md)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DCC 2026 대학부 예선 결과 정리 — eigensinn</dc:title>
  <dc:subject>PptxGenJS Presentation</dc:subject>
  <dc:creator>PptxGenJS</dc:creator>
  <cp:lastModifiedBy>PptxGenJS</cp:lastModifiedBy>
  <cp:revision>1</cp:revision>
  <dcterms:created xsi:type="dcterms:W3CDTF">2026-10-13T04:22:41Z</dcterms:created>
  <dcterms:modified xsi:type="dcterms:W3CDTF">2026-10-13T04:22:41Z</dcterms:modified>
</cp:coreProperties>
</file>