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모델별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009DD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LightGBM</c:v>
                  </c:pt>
                  <c:pt idx="1">
                    <c:v>로지스틱 회귀
(채택)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94.92</c:v>
                </c:pt>
                <c:pt idx="1">
                  <c:v>95.11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7"/>
          <c:min val="9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12121"/>
                </a:solidFill>
                <a:latin typeface="맑은 고딕"/>
              </a:defRPr>
            </a:pPr>
            <a:r>
              <a:rPr sz="1200" b="0" i="0" u="none" strike="noStrike">
                <a:solidFill>
                  <a:srgbClr val="212121"/>
                </a:solidFill>
                <a:latin typeface="맑은 고딕"/>
              </a:rPr>
              <a:t>단계별 Accuracy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E0E0E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E0E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9DD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F4E9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Baseline
(내부 분할)</c:v>
                  </c:pt>
                  <c:pt idx="1">
                    <c:v>L1 GBM
(공식 Val)</c:v>
                  </c:pt>
                  <c:pt idx="2">
                    <c:v>L2 CNN
(공식 Val)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83.78</c:v>
                </c:pt>
                <c:pt idx="1">
                  <c:v>86.4</c:v>
                </c:pt>
                <c:pt idx="2">
                  <c:v>90.89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1212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0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1616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템플릿(D+AICC PPT 대학부 템플릿.pptx) 슬라이드1 그대로. 이 장에는 글자를 추가하지 않음 — 프로젝트·팀 정보는 다음 장(2p)에서 제시.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타이틀. 공식 표지 바로 뒤에 배치해 제목·팀명을 보강.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step0 저장소 README의 W2~W6 로드맵 기준. 필요하면 각 주차 대표 산출물(타이타닉 EDA 그래프 등) 캡처를 작게 추가.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PR·브랜치 수는 제출 직전 gh pr list / git branch -r 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통계 수치는 build_manifest.py / 데이터 감사 보고서(reports/) 기준으로 채우기.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EDA 산출 그래프(reports/eda/figures). 세 카드 모두 '발견 → 설계 반영' 한 쌍 — 심사위원은 말없이 읽으므로 그래프 제목만 보고도 결론이 보이게.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src/dcc_data 공통 모듈, scripts/ 진입점 기준. 제출 폴더 구조(미션별 3폴더)를 여기 작게 넣어도 좋음.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서면 심사라 '다른 건 안 해봤나' 질문에 답할 기회가 없음 — 분석 과정 자체를 슬라이드에 그대로 옮김.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제출 상태(2026-10-07 기준): scripts/mission1_inference.py 구현 완료, CSV 스모크 테스트(헤더·행 수·UTF-8)는 아직 미확인 — m1_submission_checklist.md 참고.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'결과'·'상태' 열은 decisions.md 최신 항목으로 계속 갱신. ECAPA 파일럿 결과가 나오면 바로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본선 전까지 KcBERT 등 결과가 나오면 M3-B(19p)의 수치를 갱신하고, 이 장은 '실제로 더 해본 것'으로 내용 교체.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출제문제 12쪽 필수 항목 '사회안전 시사점'이 이 장의 핵심. 미션별 결과 장의 시사점 한 줄과 표현을 맞출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공식 템플릿(슬라이드4) 그대로. 흰 여백(약 2.1~2.9in)에만 팀 정보를 얹음 — 배너 그래픽은 건드리지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090008" y="502920"/>
            <a:ext cx="2011680" cy="36576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90008" y="502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대학부 예선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457200" y="105156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 데이터+AI 크리에이터 캠프  |  결과 정리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22860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전화대화 음성 및 전사 데이터를 이용한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457200" y="283464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응급상황 인식</a:t>
            </a:r>
            <a:endParaRPr lang="en-US" sz="4400" dirty="0"/>
          </a:p>
        </p:txBody>
      </p:sp>
      <p:sp>
        <p:nvSpPr>
          <p:cNvPr id="50" name="Text 48"/>
          <p:cNvSpPr txBox="1"/>
          <p:nvPr/>
        </p:nvSpPr>
        <p:spPr>
          <a:xfrm>
            <a:off x="457200" y="3703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: Mission 1~3 수행 결과 정리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3169768" y="4572000"/>
            <a:ext cx="585216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52" name="Text 50"/>
          <p:cNvSpPr txBox="1"/>
          <p:nvPr/>
        </p:nvSpPr>
        <p:spPr>
          <a:xfrm>
            <a:off x="3169768" y="457200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</a:t>
            </a:r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김장수 · 김광희 · 지연우 · 이수빈 · 조지은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8076895" y="63093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제출일 2026. 10. 14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82661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과정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사전 학습 로드맵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팀 구성과 협업 체계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345104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600" dirty="0"/>
          </a:p>
        </p:txBody>
      </p:sp>
      <p:sp>
        <p:nvSpPr>
          <p:cNvPr id="9" name="Text 6"/>
          <p:cNvSpPr txBox="1"/>
          <p:nvPr/>
        </p:nvSpPr>
        <p:spPr>
          <a:xfrm>
            <a:off x="3436544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분석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3436544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36544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데이터 개요와 대회 규칙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EDA 핵심 발견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공통 파이프라인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33008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6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수행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6324448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Mission 1  신고자 성별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연구 방법·시행착오)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Mission 2  신고자/대원 분류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다른 접근 비교)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Mission 3  환자 증상 인식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(+ 확장 계획)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120911" y="1920240"/>
            <a:ext cx="26135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DCE3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600" dirty="0"/>
          </a:p>
        </p:txBody>
      </p:sp>
      <p:sp>
        <p:nvSpPr>
          <p:cNvPr id="17" name="Text 14"/>
          <p:cNvSpPr txBox="1"/>
          <p:nvPr/>
        </p:nvSpPr>
        <p:spPr>
          <a:xfrm>
            <a:off x="9212351" y="2880360"/>
            <a:ext cx="2522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 및 시사점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9212351" y="3520440"/>
            <a:ext cx="2339264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12351" y="3703320"/>
            <a:ext cx="2522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성능 요약과 교훈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사회안전 시사점과 향후 계획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발대식 전 사전 학습 로드맵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데이터로도  QA → Baseline → 검증 → 통제 실험 → 제출  흐름을 끝까지 돌 수 있도록 대회 전에 미리 연습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606040"/>
            <a:ext cx="1627632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W1  기초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Python·pandas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타이타닉 EDA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(결측치·분포)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135398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38713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38713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8713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38713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W2  Baseline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52429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모델 학습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작성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(Titanic 등)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065331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317065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317065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317065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17065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W3  데이터 QA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454225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CIFAR-10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누락·중복·분포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995264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246998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246998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46998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46998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W4  통제 실험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384158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결함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 하나씩 비교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25196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176931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76931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176931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76931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W5  데이터 정제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314091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이상치 점수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기준값 사전 고정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3조건 비교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9855129" y="310896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106863" y="2331720"/>
            <a:ext cx="1627632" cy="1920240"/>
          </a:xfrm>
          <a:prstGeom prst="roundRect">
            <a:avLst>
              <a:gd name="adj" fmla="val 561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106863" y="2331720"/>
            <a:ext cx="1627632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06863" y="2606040"/>
            <a:ext cx="1627632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106863" y="233172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W6  제출 연습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0244023" y="2898648"/>
            <a:ext cx="13533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패키지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 스크립트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57200" y="4572000"/>
            <a:ext cx="11277295" cy="1188720"/>
          </a:xfrm>
          <a:prstGeom prst="roundRect">
            <a:avLst>
              <a:gd name="adj" fmla="val 7692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94360" y="4572000"/>
            <a:ext cx="365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1005840" y="4572000"/>
            <a:ext cx="105914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예선에 그대로 가져온 습관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점검을 모델보다 먼저  ·  실험마다 ID와 로그 남기기  ·  한 번에 변수 하나만 바꿔 비교  ·  기준값은 결과를 보기 전에 고정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eigensinn-dcc2026/step0 (2026.07.14 ~ 08.23), 팀원별 notebooks/ 및 outputs/ 실습 산출물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준비 과정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팀 구성과 협업 체계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 한 저장소에서 충돌 없이 일하도록  규칙 · 자동 검사 · 기록 체계를 먼저 만들고 미션에 들어감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역할 분담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82880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팀원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준비기 역할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예선 담당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김장수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이미지 모델링·통합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김광희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 품질·매핑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 ·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지연우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검증·오분류 분석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이수빈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시각화·리포팅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 · 오류분석 취합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조지은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정형 모델링·EDA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035040" y="2194560"/>
            <a:ext cx="5699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GitHub 작업 흐름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035040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035040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main에서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브랜치 생성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43509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19874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19874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실험·코드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228343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404708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404708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 작성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(템플릿)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413177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589541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89541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검사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(CI·병합 판정)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0598010" y="2926080"/>
            <a:ext cx="128016" cy="27432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774375" y="2651760"/>
            <a:ext cx="960120" cy="868680"/>
          </a:xfrm>
          <a:prstGeom prst="roundRect">
            <a:avLst>
              <a:gd name="adj" fmla="val 10526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774375" y="2651760"/>
            <a:ext cx="960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팀원 리뷰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 병합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6035040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6172200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docs/experiment_log.md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6172200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했고 결과는?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172200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· 날짜 · 데이터 규모 · 분할 · seed · 결과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021928" y="3749040"/>
            <a:ext cx="271256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9159088" y="3840480"/>
            <a:ext cx="2438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docs/decisions.md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9159088" y="4114800"/>
            <a:ext cx="2438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채택·기각했나?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9159088" y="4434840"/>
            <a:ext cx="243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 · 이유 · 후속 조치 (기각한 실험도 기록)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6035040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32+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6035040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Pull Request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34858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40+</a:t>
            </a:r>
            <a:endParaRPr lang="en-US" sz="3000" dirty="0"/>
          </a:p>
        </p:txBody>
      </p:sp>
      <p:sp>
        <p:nvSpPr>
          <p:cNvPr id="37" name="Text 33"/>
          <p:cNvSpPr txBox="1"/>
          <p:nvPr/>
        </p:nvSpPr>
        <p:spPr>
          <a:xfrm>
            <a:off x="7934858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 브랜치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9834677" y="5074920"/>
            <a:ext cx="1899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M1–M3</a:t>
            </a:r>
            <a:endParaRPr lang="en-US" sz="3000" dirty="0"/>
          </a:p>
        </p:txBody>
      </p:sp>
      <p:sp>
        <p:nvSpPr>
          <p:cNvPr id="39" name="Text 35"/>
          <p:cNvSpPr txBox="1"/>
          <p:nvPr/>
        </p:nvSpPr>
        <p:spPr>
          <a:xfrm>
            <a:off x="9834677" y="5788152"/>
            <a:ext cx="1899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ID 체계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10180015" y="22402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180015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 · 10/01 기준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GitHub eigensinn-dcc2026/prelim — WORKFLOW.md, .github/workflows (pr-ci, pr-verdict), docs/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데이터 개요와 대회 규칙 준수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119 신고접수 음성·전사 데이터 — 규칙 위반 가능성을 설계 단계에서부터 차단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1206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데이터셋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7889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AI-Hub 「위급상황 음성/음향(고도화) — 119 지능형 신고접수 음성 인식 데이터」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8580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음성(WAV)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녹음 원본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108960" y="3429000"/>
            <a:ext cx="2240280" cy="777240"/>
          </a:xfrm>
          <a:prstGeom prst="roundRect">
            <a:avLst>
              <a:gd name="adj" fmla="val 1176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34290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전사·라벨(JSON)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구간·화자·성별·증상 등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29,200</a:t>
            </a:r>
            <a:endParaRPr lang="en-US" sz="2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통화 수 (서울)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24028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〔00,000〕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224028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발화 수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94760" y="44805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〔0,000〕</a:t>
            </a:r>
            <a:endParaRPr lang="en-US" sz="260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5193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 통화 수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943600" y="2240280"/>
            <a:ext cx="57908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172200" y="237744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우리가 지킨 대회 규칙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217920" y="2898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21792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6629400" y="2880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학습에는 서울 Training 데이터만 사용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217920" y="3355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17920" y="3355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629400" y="3337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Validation은 모델 선택·평가에만 사용 (학습 투입 없음)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6217920" y="38130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17920" y="3813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629400" y="37947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지정 입력만 사용 — M2는 발화 조각 하나만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17920" y="42702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42702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6629400" y="42519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라벨에 따라 다른 전처리, 평가 데이터 전용 전처리 없음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6217920" y="47274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17920" y="4727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6629400" y="47091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판정 기준값 0.5 고정 (클래스별 조정 없음)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6217920" y="51846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1792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6629400" y="51663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상용 AI API 미사용, 공개 오픈소스 라이브러리만 사용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6217920" y="5641848"/>
            <a:ext cx="292608" cy="292608"/>
          </a:xfrm>
          <a:prstGeom prst="ellipse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5641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6629400" y="5623560"/>
            <a:ext cx="4830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학습·검증 분할은 통화 단위 — 같은 통화가 양쪽에 섞이지 않게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대학부 예선 출제문제 5·8쪽 조건, 주최측 Q&amp;A 답변(2026.09.15, 기준값 안내 메일)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EDA 핵심 발견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단일 변수로는 못 가른다 — 성별만 균형 잡혀 있고, 길이·증상 빈도는 모델이 함께 보정해야 할 불균형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화자별 발화 길이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40080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2" name="Image 1" descr="figures/speaker_duration_bucke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13232" y="2834640"/>
            <a:ext cx="3064154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0080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신고자가 긴 발화(≥4초)에서 대원보다 비중이 높지만(14.0% vs 7.9%), 짧은 구간은 서로 겹침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길이만으로는 못 가름 → 음향 특징(M2 L1)과 전체 소리 모양(M2 L2)까지 함께 사용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307738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490618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구성 (Mission 1)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490618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17" name="Image 2" descr="figures/gender_distributio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563770" y="2834640"/>
            <a:ext cx="3064154" cy="181965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90618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Training 53.2:46.8, Validation 53.8:46.2 — 분할 간 차이 1%p 이내로 균형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클래스 불균형 보정이 불필요 → 기본 로지스틱 회귀·LightGBM 그대로 사용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158277" y="2240280"/>
            <a:ext cx="3576218" cy="3977640"/>
          </a:xfrm>
          <a:prstGeom prst="roundRect">
            <a:avLst>
              <a:gd name="adj" fmla="val 255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341157" y="2359152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유병률 (Mission 3)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341157" y="2761488"/>
            <a:ext cx="3210458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pic>
        <p:nvPicPr>
          <p:cNvPr id="22" name="Image 3" descr="figures/symptom_prevalence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414309" y="2834640"/>
            <a:ext cx="3064154" cy="181965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41157" y="4846320"/>
            <a:ext cx="321045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복통·어지러움 20%대 vs 두통·오심 10%대 — 최대 2배 이상 차이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반영  </a:t>
            </a:r>
            <a:endParaRPr lang="en-US" sz="11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F1은 희소 증상에 민감 → 증상별 성능을 따로 점검 (19p)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reports/eda/eda_report.md, reports/eda/figures/ (PR #23, 2026.09.21)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데이터 분석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(3) 세 미션 공통 파이프라인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무결성 검증부터 inference.py 1회 실행까지 — 세 미션이 같은 뼈대 위에서 동작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데이터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 음성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전사·라벨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무결성 검증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WAV↔JSON 매칭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manifest 생성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누락·중복 점검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미션별 데이터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음성: 발화 구간 추출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텍스트: 전사 정리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· 평가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평가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제출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 로그 JSON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inference.py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 실행 → CSV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135728" y="434340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72888" y="434340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M1 · M2  —  음향 특징 · 스펙트로그램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135728" y="4846320"/>
            <a:ext cx="4259504" cy="411480"/>
          </a:xfrm>
          <a:prstGeom prst="roundRect">
            <a:avLst>
              <a:gd name="adj" fmla="val 17778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272888" y="4846320"/>
            <a:ext cx="39851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경로 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M3  —  전사 텍스트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457200" y="5440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재현성 장치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457200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7200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42 고정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3322244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322244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분할 (call_id · recordId)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6187288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187288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테스트 (pytest · CI)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9052331" y="5852160"/>
            <a:ext cx="2682164" cy="411480"/>
          </a:xfrm>
          <a:prstGeom prst="roundRect">
            <a:avLst>
              <a:gd name="adj" fmla="val 17778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52331" y="5852160"/>
            <a:ext cx="26821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JSON 로그로 저장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한눈에 보기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 음성 → 52차원 음향 특징 → 로지스틱 회귀 → 공식 Validation Accuracy 95.11%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4028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미션 정의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420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통화에서 신고자의 발화만 듣고, 성별이 남성인지 여성인지 맞힌다.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35808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312724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57200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7200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7200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 추출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잘라내기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836621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06698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06698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06698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606698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743858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음높이·음색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986120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756197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56197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756197" y="3730752"/>
            <a:ext cx="182880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56197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93357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35618" y="3977640"/>
            <a:ext cx="219456" cy="347472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905695" y="3456432"/>
            <a:ext cx="18288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9905695" y="3456432"/>
            <a:ext cx="182880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905695" y="3730752"/>
            <a:ext cx="182880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905695" y="34564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042855" y="40233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남/여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57200" y="4846320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57200" y="49377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핵심 결과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457200" y="5193792"/>
            <a:ext cx="112772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39" name="Text 36"/>
          <p:cNvSpPr txBox="1"/>
          <p:nvPr/>
        </p:nvSpPr>
        <p:spPr>
          <a:xfrm>
            <a:off x="457200" y="585216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Validation, 3,640건)</a:t>
            </a:r>
            <a:endParaRPr 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457200" y="610819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 94.92% 대비 +0.19%p — 더 단순하고 해석 쉬운 로지스틱 회귀 채택 (2026-10-05 고정)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① 음향 특징 구성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목소리를 52차원 숫자로 압축 — 어떤 정보를 담았는지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42316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음향 특징 구성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78892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88720"/>
                <a:gridCol w="3931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 요소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핵심 패턴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RMS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음량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ZCR 평균·표준편차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음높이 변화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Spectral 4종×2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음색의 "밝기"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31520" y="557784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 52차원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duration(발화 길이)는 의도적으로 제외 — 길이로 성별을 "눈치채는" 손쉬운 지름길 학습 방지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reports/mission1/m1_exp_log.json "고정 변수"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② 시행착오: 어떤 모델을 왜 골랐나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LightGBM과 로지스틱 회귀 차이는 0.19%p — 더 복잡한 모델이 꼭 낫지는 않았다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33472"/>
          <a:ext cx="9144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45820"/>
                <a:gridCol w="8458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0080" y="38404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[94.40, 95.82]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452628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과적합 점검: 내부 94.8~95.0% vs 공식 95.1% — 차이 작아 뚜렷한 leakage 징후 없음(증명은 아님)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108960" y="2377440"/>
          <a:ext cx="3840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Shape 10"/>
          <p:cNvSpPr/>
          <p:nvPr/>
        </p:nvSpPr>
        <p:spPr>
          <a:xfrm>
            <a:off x="7406640" y="2240280"/>
            <a:ext cx="432785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7589520" y="2359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로지스틱 회귀를 골랐나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589520" y="2697480"/>
            <a:ext cx="3383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차이 0.19%p (오분류 7건 차이)로 작음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회귀가 더 단순하고 해석하기 쉬움 — 계수로 어떤 특징이 영향 줬는지 바로 확인 가능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recall_F 95.87% / recall_M 94.23% 모두 93~96%대로 균형 — 다수 클래스(F)만 찍는 편향 없음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LightGBM은 폐기가 아니라 향후 feature 확장 실험용 비교 baseline으로 유지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reports/mission1/m1_val_eval.json, m1_val_bootstrap_ci.json, M1_error_analysis_report.md 1·2절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연구 방법 ③ 시행착오: 오류 원인을 찾아본 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길이·발화 수·겹침, 52차원 feature까지 들여다봤지만 뚜렷한 단일 원인은 못 찾음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발화 길이 · 조각 수 · 겹침 비율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7004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178건을 분위(quintile) 5구간으로 나눠 구간별 오류율 비교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1752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097280"/>
                <a:gridCol w="12801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분석 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Q1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Q5 오류율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길이(초)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6.04%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4.40%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(최장)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1.65%p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발화 조각 수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4.12%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5.88%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−1.77%p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(방향 반대)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겹침 비율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5.08%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(최소)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5.49%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(최대)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0.41%p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40080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짧고 발화 수도 적은 조합(n=1,506) 오류율 4.38% — 전체 평균(4.89%)보다 오히려 낮음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 0구간(n=137) 오류율 2.92%는 표본이 작아 참고용 (순위 판단에 쓰지 않음)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233008" y="2240280"/>
            <a:ext cx="5501488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415888" y="2359152"/>
            <a:ext cx="51357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52차원 feature 탐색 (Cohen's d)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415888" y="2670048"/>
            <a:ext cx="51357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계수 절댓값 상위 15개 안에 피치 직결 지표(zcr_mean·spectral_centroid_mean·mfcc_mean_0~3)는 없음</a:t>
            </a:r>
            <a:endParaRPr lang="en-US" sz="10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15888" y="32004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오류 유형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축 (|d|&gt;1)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F→M (n=81)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mfcc_std_19 / 17 / 16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−1.24 ~ −1.10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M→F (n=97)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mfcc_std_17 / 16 / 19 외 2개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+1.34 ~ +1.83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3"/>
          <p:cNvSpPr txBox="1"/>
          <p:nvPr/>
        </p:nvSpPr>
        <p:spPr>
          <a:xfrm>
            <a:off x="6415888" y="4526280"/>
            <a:ext cx="5135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간접 spectral 지표 6개 중 반대 성별 평균에 더 가까운 개수: F 오류 2/6, M 오류 3/6 — 과반에 못 미치거나 절반 수준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33008" y="5166360"/>
            <a:ext cx="5501488" cy="868680"/>
          </a:xfrm>
          <a:prstGeom prst="roundRect">
            <a:avLst>
              <a:gd name="adj" fmla="val 10526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415888" y="5166360"/>
            <a:ext cx="513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사후 탐색(post-hoc) 결과 — </a:t>
            </a:r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52개 feature를 전부 탐색한 뒤 값이 큰 축만 추려 보여준 것이라 다중비교 편향 가능. 오분류 표본도 81·97건으로 작아 "이게 원인이다"라고 확정하지 않음.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M1_error_analysis_report.md 3·4·5절, m1_val_error_analysis.json, m1_val_error_rows.parquet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— 최종 연구 결과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 3,640건 Accuracy 95.11%, 95% CI [94.40, 95.82] — 로지스틱 회귀를 제출 후보로 확정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95.11%</a:t>
            </a:r>
            <a:endParaRPr lang="en-US" sz="4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2278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 (공식 Validation)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95% 신뢰구간 [94.40, 95.82]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recall F 95.87% · recall M 94.23%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5394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53개(가중치 52+절편) · CPU 추론 · Validation 3,640건 일괄 처리</a:t>
            </a:r>
            <a:endParaRPr lang="en-US" sz="9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383280" y="2377440"/>
          <a:ext cx="36576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7498080" y="237744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로지스틱 회귀 혼동행렬 (오분류 178건)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2651760"/>
          <a:ext cx="91440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예측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F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1,878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81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M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97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1,584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reports/mission1/ m1_val_eval.json, m1_val_bootstrap_ci.json, docs/decisions.md 2026-10-05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신고자 성별 분류 — 결론과 다음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관찰(사실)과 해석(판단)을 구분해서 기록 — 추가 검증 전까지는 확정 결론을 내리지 않음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0080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데이터 자체의 어려움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정보가 부족해 남도 못 맞추는 영역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가능한 조건(길이·발화 수·겹침)으로는 오류 패턴이 설명되지 않음 — 분위구간 차이 최대 1.8%p, 방향도 엇갈림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성별이 애매하게 들리는 통화 자체가 일부 있을 가능성(탐색적 추정, 확정 아님)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표본이 작아(81·97건) 어떤 조건에서 특히 어려운지 더 좁히기 어려움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33008" y="2240280"/>
            <a:ext cx="5501488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15888" y="2359152"/>
            <a:ext cx="513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성능의 개선 여지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15888" y="2651760"/>
            <a:ext cx="513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 맞출 여지가 있는 영역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415888" y="2926080"/>
            <a:ext cx="51357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52차원 통계에는 피치(F0, 기본주파수)가 직접 들어있지 않음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Cohen's d 탐색에서 일부 고차 MFCC에 패턴이 보였으나 사후 탐색이라 확정 아님 — F0를 직접 추가하면 개선 여지(후속 가설)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회귀를 짝지어 검정(McNemar)하지 않아 두 모델 차이의 통계적 유의성은 미확인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4663440"/>
            <a:ext cx="365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4663440"/>
            <a:ext cx="4815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성별 자동 인식으로 신고 접수 기록을 자동화 — 상담 인력 배치 참고 정보로 활용 가능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233008" y="4663440"/>
            <a:ext cx="5501488" cy="1645920"/>
          </a:xfrm>
          <a:prstGeom prst="roundRect">
            <a:avLst>
              <a:gd name="adj" fmla="val 5556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15888" y="4773168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향후 계획 (제출 기한 내 미착수)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415888" y="5074920"/>
            <a:ext cx="51357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F0(기본 주파수) 추가 — 상대적 우선순위만 상승, 확정 아님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LightGBM·로지스틱 회귀 짝지어 검정 (McNemar / paired bootstrap)</a:t>
            </a:r>
            <a:endParaRPr lang="en-US" sz="11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오분류 화자 단위 정성 분석 — 소수 화자가 오류를 몰아서 만드는지 확인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15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규칙상 '발화 하나만 보고' 판단해야 함 — 통화 전체 정보 없이 목소리 자체에서 화자를 구분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사람의 한 발화 조각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(startAt~endAt 구간만)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신고자(1) / 119대원(0)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Accuracy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제약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text · 발화 순서 · 다른 발화 정보 사용 불가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통계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LightGBM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음향 특징 확장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GBM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Mel-spectrogram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CNN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신고자/대원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상황실 대원은 전화 헤드셋·일정한 말투, 신고자는 휴대전화·잡음·긴박함 → 음향 차이 존재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특징(L1)으로 한계 확인 후, 소리 모양 전체를 이미지처럼 보는 CNN(L2)으로 확장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통화 단위 정보(같은 통화 다른 발화 비교)는 규칙 위반이라 설계에서 제외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신고자/119대원 분류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83.78% → L2 CNN 90.89% — 모델 구조 변경으로 +7%p 이상 향상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2" name="Chart 0" descr=""/>
          <p:cNvGraphicFramePr/>
          <p:nvPr/>
        </p:nvGraphicFramePr>
        <p:xfrm>
          <a:off x="640080" y="2377440"/>
          <a:ext cx="42062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9377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+7.1%p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937760" y="345643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Baseline 대비 향상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37760" y="411480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기각한 실험  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〔N〕</a:t>
            </a:r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보정, 가중치 조정 등 — decisions.md)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몰린 곳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1초 미만 짧은 발화("네", "여보세요")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규모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3천→9천 통화 +1.1%p, 전체 29,200 통화에서는 정체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 자동 분리 → 신고 내용 분석·기록 자동화의 첫 단계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docs/experiment_log.md, docs/decisions.md, reports/mission2/  ※ Baseline은 내부 분할, L1·L2는 공식 Validation 기준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17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신고자/대원 분류 — 다른 접근과 기각/보류 이유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채택한 CNN 하나로 끝내지 않고 여러 방향을 검증 — 효과 없거나 규칙에 어긋난 조합은 이유와 함께 기록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1277295" cy="333756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91440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572000"/>
                <a:gridCol w="2743200"/>
                <a:gridCol w="173736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시도했나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통화 단위 특징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통화 내 다른 발화와 비교한 통계(상대 길이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규칙 위반 소지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L1 + L2 블렌딩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통계 모델(GBM)과 CNN 예측을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단독 CNN(L2)보다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5393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시드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구조를 다른 seed로 여러 번 학습해 평균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소규모 검증 통과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확장 검토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CNN 다중 모델 앙상블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구조가 다른 CNN 2개 추가 학습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대기〕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보류 (GPU 대기)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사전학습 화자 임베딩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공개 화자 인식 모델 fine-tuning 파일럿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〔결과 반영 예정〕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161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진행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760720"/>
            <a:ext cx="11277295" cy="594360"/>
          </a:xfrm>
          <a:prstGeom prst="roundRect">
            <a:avLst>
              <a:gd name="adj" fmla="val 15385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5760720"/>
            <a:ext cx="365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5760720"/>
            <a:ext cx="105914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표를 넣나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서면 심사라 "더 해본 건 없나"에 답할 기회가 따로 없음 — 시도와 기각 이유를 미리 남겨 둠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(M2-ENS-001 2026-09-28 기각), docs/experiment_log.md, colab_scripts/ 파일럿 스크립트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문제 정의와 접근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단어가 대화에 직접 등장하는 경우가 많음 — 단어 기반 모델로 출발해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3749040" cy="39776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8580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문제 정의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" y="288036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88036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691640" y="286207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신고자·대원 대화 전사 텍스트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 외 라벨 사용 불가)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85800" y="370332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7033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691640" y="368503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 중 0~9개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(다중 레이블)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" y="452628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5262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50799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(증상별 F1의 평균)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85800" y="5349240"/>
            <a:ext cx="868680" cy="329184"/>
          </a:xfrm>
          <a:prstGeom prst="roundRect">
            <a:avLst>
              <a:gd name="adj" fmla="val 22222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534924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5330952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고열·구토·두통·복통·어지러움·열상·오심·전신쇠약·호흡곤란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2240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모델 구성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572000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0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0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전처리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709160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시간순 정렬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 외 증상 제거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89421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35242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435242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435242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35242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텍스트 표현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72402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(단어·2단어 묶음)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8052664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98485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98485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298485" y="2971800"/>
            <a:ext cx="1572768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298485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모델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35645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로지스틱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회귀 (9개)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15906" y="3291840"/>
            <a:ext cx="201168" cy="32004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61727" y="269748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10161727" y="2697480"/>
            <a:ext cx="1572768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61727" y="2971800"/>
            <a:ext cx="1572768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161727" y="269748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10298887" y="3264408"/>
            <a:ext cx="1298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증상별 판정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(기준값 0.5)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4572000" y="4526280"/>
            <a:ext cx="7162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왜 이 방법인가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4572000" y="4937760"/>
            <a:ext cx="71624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이름·표현("머리가 아파요")이 전사에 직접 드러나 단어 기반이 강한 출발점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증상이 많아 Macro F1에 불리 → 증상별 성능을 따로 점검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〔KcBERT 등 문맥 모델 결과 반영 시 갱신〕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19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결과와 시사점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〔최종 모델과 Macro F1 한 문장〕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2240280"/>
            <a:ext cx="667512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0080" y="24231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〔0.000〕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3136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(공식 Validation)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931920"/>
            <a:ext cx="2377440" cy="2103120"/>
          </a:xfrm>
          <a:prstGeom prst="roundRect">
            <a:avLst>
              <a:gd name="adj" fmla="val 4348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31920"/>
            <a:ext cx="365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188720" y="39319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먼저  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개선 수치(0.40→0.45)가 데이터 분할 방식 차이일 수 있어, 통화 중복 검사 후에만 채택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0" y="2423160"/>
            <a:ext cx="3749040" cy="3611880"/>
          </a:xfrm>
          <a:prstGeom prst="roundRect">
            <a:avLst>
              <a:gd name="adj" fmla="val 2532"/>
            </a:avLst>
          </a:prstGeom>
          <a:solidFill>
            <a:srgbClr val="F8F9FA"/>
          </a:solidFill>
          <a:ln w="12700">
            <a:solidFill>
              <a:srgbClr val="BDBDBD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3383280" y="2423160"/>
            <a:ext cx="3383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자리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증상 9종별 F1 가로 막대그래프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(최고/최저 증상 강조)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06640" y="2240280"/>
            <a:ext cx="432785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589520" y="2331720"/>
            <a:ext cx="3962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결과 분석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589520" y="2697480"/>
            <a:ext cx="39620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맞춘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호흡곤란〕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증상  </a:t>
            </a:r>
            <a:pPr indent="0" marL="0">
              <a:spcAft>
                <a:spcPts val="400"/>
              </a:spcAft>
              <a:buNone/>
            </a:pPr>
            <a:r>
              <a:rPr lang="en-US" sz="12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〔희귀 증상 · 표현이 다양한 증상〕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06640" y="3977640"/>
            <a:ext cx="4327855" cy="960120"/>
          </a:xfrm>
          <a:prstGeom prst="roundRect">
            <a:avLst>
              <a:gd name="adj" fmla="val 952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589520" y="4050792"/>
            <a:ext cx="3962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재현 정보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0" y="4343400"/>
            <a:ext cx="3962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파라미터 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학습/추론 환경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〔GPU/CPU〕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추론 배치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〔0〕</a:t>
            </a:r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Validation 추론 시간 </a:t>
            </a:r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〔0.0초/샘플〕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7406640" y="5074920"/>
            <a:ext cx="4327855" cy="11430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543800" y="5074920"/>
            <a:ext cx="365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955280" y="5074920"/>
            <a:ext cx="3642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사회안전 시사점  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증상 자동 태깅 → 출동 우선순위·병원 선정 보조〕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docs/experiment_log.md (M3-EXP-001~), docs/decisions.md 2026-09-20 분할 감사 항목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미션별 수행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20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환자 증상 인식 — 확장 계획과 검증 일정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감사부터 끝낸 뒤 TF-IDF 모델을 확정하고, 남은 기간 동안 문맥 모델로 확장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6032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감사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recordId 중복·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overlap 검사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TF-IDF 확정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Validation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Macro F1 확정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 비교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KcBERT 등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6032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불균형 보정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희귀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보정 (기준값 유지)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301752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86000"/>
            <a:ext cx="19202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8600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6032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86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선정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52928"/>
            <a:ext cx="1645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10/14 이전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모델 확정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452628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94360" y="45262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1005840" y="452628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위치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분할 감사 단계 — 개선 수치(0.40→0.45)가 데이터 분할 차이인지 먼저 확인 중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" y="5577840"/>
            <a:ext cx="11277295" cy="9144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12700">
            <a:solidFill>
              <a:srgbClr val="E8F5E9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💡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005840" y="5577840"/>
            <a:ext cx="105914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본선 전 열어둔 방향  </a:t>
            </a:r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문맥 모델이 TF-IDF보다 뚜렷이 낫지 않으면, 단순하고 설명 가능한 TF-IDF+로지스틱 회귀를 최종안으로 유지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6400800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근거: docs/decisions.md 2026-09-20 분할 감사 항목, docs/experiment_log.md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21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(1) 성능 요약과 교훈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 모두 공식 Validation 기준으로 평가하고, 점수보다 검증의 정직함을 우선함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180015" y="868680"/>
            <a:ext cx="1554480" cy="274320"/>
          </a:xfrm>
          <a:prstGeom prst="roundRect">
            <a:avLst>
              <a:gd name="adj" fmla="val 26667"/>
            </a:avLst>
          </a:prstGeom>
          <a:solidFill>
            <a:srgbClr val="FFCDD2"/>
          </a:solidFill>
          <a:ln w="12700">
            <a:solidFill>
              <a:srgbClr val="FFCDD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180015" y="868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39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잠정 · 10/01 기준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743200"/>
                <a:gridCol w="1371600"/>
                <a:gridCol w="2011680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최종 모델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공식 Validation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E9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 성별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음향 특징 + 로지스틱 회귀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95.11%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1차 확정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신고자/119대원 분류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Mel-spectrogram + CNN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Accuracy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F4E9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90.89%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Mission 3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환자 증상 인식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〔최종 모델〕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Macro F1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9E9E9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〔0.000〕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개선 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57200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85800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280160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점수보다 검증 먼저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85800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통화가 학습·검증에 섞이는 누수를 매번 점검하고, 의심되는 개선은 보류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307738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36338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36338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5130698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기각도 기록한다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4536338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 없던 실험과 그 이유를 decisions.md에 남겨 같은 시도를 반복하지 않음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58277" y="4343400"/>
            <a:ext cx="357621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86877" y="4526280"/>
            <a:ext cx="457200" cy="457200"/>
          </a:xfrm>
          <a:prstGeom prst="ellipse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386877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981237" y="45262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규칙은 설계 단계에서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8386877" y="5120640"/>
            <a:ext cx="31190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위반 소지가 있는 특징은 성능이 좋아도 제거 (M2 통화 단위 정보)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he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4373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68031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종합 및 시사점</a:t>
            </a:r>
            <a:endParaRPr lang="en-US" sz="1250" dirty="0"/>
          </a:p>
        </p:txBody>
      </p:sp>
      <p:sp>
        <p:nvSpPr>
          <p:cNvPr id="4" name="Text 1"/>
          <p:cNvSpPr txBox="1"/>
          <p:nvPr/>
        </p:nvSpPr>
        <p:spPr>
          <a:xfrm>
            <a:off x="8991295" y="68031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eigensinn  |  22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457200" y="936346"/>
            <a:ext cx="11277295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982066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(2) 사회안전 시사점과 향후 계획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457200" y="1463040"/>
            <a:ext cx="11277295" cy="548640"/>
          </a:xfrm>
          <a:prstGeom prst="roundRect">
            <a:avLst>
              <a:gd name="adj" fmla="val 16667"/>
            </a:avLst>
          </a:prstGeom>
          <a:solidFill>
            <a:srgbClr val="EAF3FA"/>
          </a:solidFill>
          <a:ln w="12700">
            <a:solidFill>
              <a:srgbClr val="EAF3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146304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미션을 이으면 — 119 신고 접수 순간부터 출동 판단까지를 돕는 하나의 흐름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514600"/>
            <a:ext cx="1920240" cy="182880"/>
          </a:xfrm>
          <a:prstGeom prst="rect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 접수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119 통화 음성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458936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796464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2796464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96464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96464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933624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발화만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분리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798200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135728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135728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135728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135728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72888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신고자 성별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기록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7137464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74991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474991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74991" y="2514600"/>
            <a:ext cx="1920240" cy="182880"/>
          </a:xfrm>
          <a:prstGeom prst="rect">
            <a:avLst/>
          </a:prstGeom>
          <a:solidFill>
            <a:srgbClr val="2F4E91"/>
          </a:solidFill>
          <a:ln w="12700">
            <a:solidFill>
              <a:srgbClr val="2F4E9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74991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12151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환자 증상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인식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476727" y="2743200"/>
            <a:ext cx="256032" cy="365760"/>
          </a:xfrm>
          <a:prstGeom prst="chevron">
            <a:avLst/>
          </a:prstGeom>
          <a:solidFill>
            <a:srgbClr val="009DDA"/>
          </a:solidFill>
          <a:ln w="12700">
            <a:solidFill>
              <a:srgbClr val="009DD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814255" y="2240280"/>
            <a:ext cx="1920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9814255" y="2240280"/>
            <a:ext cx="1920240" cy="457200"/>
          </a:xfrm>
          <a:prstGeom prst="roundRect">
            <a:avLst>
              <a:gd name="adj" fmla="val 20000"/>
            </a:avLst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814255" y="2514600"/>
            <a:ext cx="1920240" cy="182880"/>
          </a:xfrm>
          <a:prstGeom prst="rect">
            <a:avLst/>
          </a:prstGeom>
          <a:solidFill>
            <a:srgbClr val="8BC34A"/>
          </a:solidFill>
          <a:ln w="12700">
            <a:solidFill>
              <a:srgbClr val="8BC34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14255" y="2240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출동 판단 보조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9951415" y="2807208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· 병원 선정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85800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기대효과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85800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접수 시간 단축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상황실 요원의 수기 기록 부담 감소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누락 방지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긴박한 통화 속 증상 언급을 자동으로 표시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 보조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— 증상 정보로 출동 우선순위 결정 지원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〔추가 시사점〕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6278728" y="3931920"/>
            <a:ext cx="5455768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63500" dist="12700" dir="5400000">
              <a:srgbClr val="000000">
                <a:alpha val="10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07328" y="404164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본선까지 향후 계획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6507328" y="4480560"/>
            <a:ext cx="499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1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〔다음 단계〕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2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여러 CNN 앙상블 · 짧은 발화 보강〕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Mission 3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KcBERT 문맥 모델 적용〕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21212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spcAft>
                <a:spcPts val="600"/>
              </a:spcAft>
              <a:buNone/>
            </a:pPr>
            <a:r>
              <a:rPr lang="en-US" sz="1300" i="1" dirty="0">
                <a:solidFill>
                  <a:srgbClr val="9E9E9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〔예: 실제 상황실 적용 시나리오 검토〕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igures/tpl_clos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0116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4E9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팀 eigensinn  |  김장수 · 김광희 · 지연우 · 이수빈 · 조지은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23591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161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 · 실험 기록: GitHub eigensinn-dcc2026/prelim  (docs/experiment_log.md, docs/decisions.md)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DCC 2026 대학부 예선 결과 정리 — eigensinn</dc:title>
  <dc:subject>PptxGenJS Presentation</dc:subject>
  <dc:creator>PptxGenJS</dc:creator>
  <cp:lastModifiedBy>PptxGenJS</cp:lastModifiedBy>
  <cp:revision>1</cp:revision>
  <dcterms:created xsi:type="dcterms:W3CDTF">2026-10-08T05:10:28Z</dcterms:created>
  <dcterms:modified xsi:type="dcterms:W3CDTF">2026-10-08T05:10:28Z</dcterms:modified>
</cp:coreProperties>
</file>