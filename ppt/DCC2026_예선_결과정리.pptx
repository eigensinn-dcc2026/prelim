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harts/chart8.xml" ContentType="application/vnd.openxmlformats-officedocument.drawingml.chart+xml"/>
  <Override PartName="/ppt/slides/slide23.xml" ContentType="application/vnd.openxmlformats-officedocument.presentationml.slide+xml"/>
  <Override PartName="/ppt/charts/chart9.xml" ContentType="application/vnd.openxmlformats-officedocument.drawingml.chart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Training 통화 기준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겹침이 있는
통화 비율</c:v>
                  </c:pt>
                  <c:pt idx="1">
                    <c:v>통화당 겹침 시간
(중앙값)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98.15</c:v>
                </c:pt>
                <c:pt idx="1">
                  <c:v>3.82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증상별 F1 (최종 앙상블, 공식 Val)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열상</c:v>
                  </c:pt>
                  <c:pt idx="1">
                    <c:v>복통</c:v>
                  </c:pt>
                  <c:pt idx="2">
                    <c:v>고열</c:v>
                  </c:pt>
                  <c:pt idx="3">
                    <c:v>호흡곤란</c:v>
                  </c:pt>
                  <c:pt idx="4">
                    <c:v>어지러움</c:v>
                  </c:pt>
                  <c:pt idx="5">
                    <c:v>구토</c:v>
                  </c:pt>
                  <c:pt idx="6">
                    <c:v>전신쇠약</c:v>
                  </c:pt>
                  <c:pt idx="7">
                    <c:v>두통</c:v>
                  </c:pt>
                  <c:pt idx="8">
                    <c:v>오심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0.8828</c:v>
                </c:pt>
                <c:pt idx="1">
                  <c:v>0.8271</c:v>
                </c:pt>
                <c:pt idx="2">
                  <c:v>0.7001</c:v>
                </c:pt>
                <c:pt idx="3">
                  <c:v>0.6795</c:v>
                </c:pt>
                <c:pt idx="4">
                  <c:v>0.657</c:v>
                </c:pt>
                <c:pt idx="5">
                  <c:v>0.6088</c:v>
                </c:pt>
                <c:pt idx="6">
                  <c:v>0.5939</c:v>
                </c:pt>
                <c:pt idx="7">
                  <c:v>0.5315</c:v>
                </c:pt>
                <c:pt idx="8">
                  <c:v>0.4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50" b="0" i="0" u="none" strike="noStrike">
                <a:solidFill>
                  <a:srgbClr val="212121"/>
                </a:solidFill>
                <a:latin typeface="맑은 고딕"/>
              </a:rPr>
              <a:t>라벨별 양성 비율 (%) · Training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양성 비율 (%)</c:v>
                </c:pt>
              </c:strCache>
            </c:strRef>
          </c:tx>
          <c:spPr>
            <a:solidFill>
              <a:srgbClr val="A9C4E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4E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4E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4E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4E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4E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4E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9C4E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열상</c:v>
                  </c:pt>
                  <c:pt idx="1">
                    <c:v>어지러움</c:v>
                  </c:pt>
                  <c:pt idx="2">
                    <c:v>전신쇠약</c:v>
                  </c:pt>
                  <c:pt idx="3">
                    <c:v>고열</c:v>
                  </c:pt>
                  <c:pt idx="4">
                    <c:v>구토</c:v>
                  </c:pt>
                  <c:pt idx="5">
                    <c:v>호흡곤란</c:v>
                  </c:pt>
                  <c:pt idx="6">
                    <c:v>복통</c:v>
                  </c:pt>
                  <c:pt idx="7">
                    <c:v>오심</c:v>
                  </c:pt>
                  <c:pt idx="8">
                    <c:v>두통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0</c:formatCode>
                <c:ptCount val="9"/>
                <c:pt idx="0">
                  <c:v>23.2</c:v>
                </c:pt>
                <c:pt idx="1">
                  <c:v>21.7</c:v>
                </c:pt>
                <c:pt idx="2">
                  <c:v>18.2</c:v>
                </c:pt>
                <c:pt idx="3">
                  <c:v>17.8</c:v>
                </c:pt>
                <c:pt idx="4">
                  <c:v>15.3</c:v>
                </c:pt>
                <c:pt idx="5">
                  <c:v>13.4</c:v>
                </c:pt>
                <c:pt idx="6">
                  <c:v>11.9</c:v>
                </c:pt>
                <c:pt idx="7">
                  <c:v>11.4</c:v>
                </c:pt>
                <c:pt idx="8">
                  <c:v>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9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· 공식 Val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TF-IDF + LR (기준선)</c:v>
                  </c:pt>
                  <c:pt idx="1">
                    <c:v>KcBERT-005</c:v>
                  </c:pt>
                  <c:pt idx="2">
                    <c:v>RoBERTa-003</c:v>
                  </c:pt>
                  <c:pt idx="3">
                    <c:v>최종 RoBERTa×3 + TF-IDF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0.5689</c:v>
                </c:pt>
                <c:pt idx="1">
                  <c:v>0.6246</c:v>
                </c:pt>
                <c:pt idx="2">
                  <c:v>0.6433</c:v>
                </c:pt>
                <c:pt idx="3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8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양성 라벨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935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0E0E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직접 표현 없음</c:v>
                </c:pt>
                <c:pt idx="1">
                  <c:v>직접 표현 있음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48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50" b="0" i="0" u="none" strike="noStrike">
                <a:solidFill>
                  <a:srgbClr val="212121"/>
                </a:solidFill>
                <a:latin typeface="맑은 고딕"/>
              </a:rPr>
              <a:t>512토큰 모델의 epoch별 내부 홀드아웃 Macro F1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512토큰 모델</c:v>
                </c:pt>
              </c:strCache>
            </c:strRef>
          </c:tx>
          <c:spPr>
            <a:solidFill>
              <a:srgbClr val="2F4E91"/>
            </a:solidFill>
            <a:ln w="27940" cap="flat">
              <a:solidFill>
                <a:srgbClr val="2F4E9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F4E91"/>
              </a:solidFill>
              <a:ln w="9525" cap="flat">
                <a:solidFill>
                  <a:srgbClr val="2F4E9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Epoch 1</c:v>
                  </c:pt>
                  <c:pt idx="1">
                    <c:v>Epoch 2</c:v>
                  </c:pt>
                  <c:pt idx="2">
                    <c:v>Epoch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0.000</c:formatCode>
                <c:ptCount val="3"/>
                <c:pt idx="0">
                  <c:v>0.6439</c:v>
                </c:pt>
                <c:pt idx="1">
                  <c:v>0.6504</c:v>
                </c:pt>
                <c:pt idx="2">
                  <c:v>0.6515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256토큰 기준 성능</c:v>
                </c:pt>
              </c:strCache>
            </c:strRef>
          </c:tx>
          <c:spPr>
            <a:solidFill>
              <a:srgbClr val="9E9E9E"/>
            </a:solidFill>
            <a:ln w="27940" cap="flat">
              <a:solidFill>
                <a:srgbClr val="9E9E9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E9E9E"/>
              </a:solidFill>
              <a:ln w="9525" cap="flat">
                <a:solidFill>
                  <a:srgbClr val="9E9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Epoch 1</c:v>
                  </c:pt>
                  <c:pt idx="1">
                    <c:v>Epoch 2</c:v>
                  </c:pt>
                  <c:pt idx="2">
                    <c:v>Epoch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0.000</c:formatCode>
                <c:ptCount val="3"/>
                <c:pt idx="0">
                  <c:v>0.6441</c:v>
                </c:pt>
                <c:pt idx="1">
                  <c:v>0.6441</c:v>
                </c:pt>
                <c:pt idx="2">
                  <c:v>0.6441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사전 채택 기준</c:v>
                </c:pt>
              </c:strCache>
            </c:strRef>
          </c:tx>
          <c:spPr>
            <a:solidFill>
              <a:srgbClr val="E53935"/>
            </a:solidFill>
            <a:ln w="27940" cap="flat">
              <a:solidFill>
                <a:srgbClr val="E53935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53935"/>
              </a:solidFill>
              <a:ln w="9525" cap="flat">
                <a:solidFill>
                  <a:srgbClr val="E539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Epoch 1</c:v>
                  </c:pt>
                  <c:pt idx="1">
                    <c:v>Epoch 2</c:v>
                  </c:pt>
                  <c:pt idx="2">
                    <c:v>Epoch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0.000</c:formatCode>
                <c:ptCount val="3"/>
                <c:pt idx="0">
                  <c:v>0.6541</c:v>
                </c:pt>
                <c:pt idx="1">
                  <c:v>0.6541</c:v>
                </c:pt>
                <c:pt idx="2">
                  <c:v>0.6541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6"/>
          <c:min val="0.63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16161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  <c:majorUnit val="0.005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50" b="0" i="0" u="none" strike="noStrike">
                <a:solidFill>
                  <a:srgbClr val="212121"/>
                </a:solidFill>
                <a:latin typeface="맑은 고딕"/>
              </a:rPr>
              <a:t>직접 표현 유무별 recall · Training 내부 홀드아웃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직접 표현 있음 recall</c:v>
                </c:pt>
              </c:strCache>
            </c:strRef>
          </c:tx>
          <c:spPr>
            <a:solidFill>
              <a:srgbClr val="2F4E9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전신쇠약</c:v>
                  </c:pt>
                  <c:pt idx="1">
                    <c:v>두통</c:v>
                  </c:pt>
                  <c:pt idx="2">
                    <c:v>오심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0.0</c:formatCode>
                <c:ptCount val="3"/>
                <c:pt idx="0">
                  <c:v>0.907</c:v>
                </c:pt>
                <c:pt idx="1">
                  <c:v>0.82</c:v>
                </c:pt>
                <c:pt idx="2">
                  <c:v>0.684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직접 표현 없음 recall</c:v>
                </c:pt>
              </c:strCache>
            </c:strRef>
          </c:tx>
          <c:spPr>
            <a:solidFill>
              <a:srgbClr val="EF9A9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전신쇠약</c:v>
                  </c:pt>
                  <c:pt idx="1">
                    <c:v>두통</c:v>
                  </c:pt>
                  <c:pt idx="2">
                    <c:v>오심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0.0</c:formatCode>
                <c:ptCount val="3"/>
                <c:pt idx="0">
                  <c:v>0.549</c:v>
                </c:pt>
                <c:pt idx="1">
                  <c:v>0.195</c:v>
                </c:pt>
                <c:pt idx="2">
                  <c:v>0.356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 기준 목차 (데이터·규칙 장 삭제 후 21장).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docs/experiment_log.md M3-ROBERTA-007, submission/mission3/train/train_final.py, submission/mission3/README.md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M3-ENS-001(내부 3-seed 평균 0.6455 vs RoBERTa 0.6427, +0.0028 &lt; 사전 기준 +0.01로 기각)·M3-FINAL-002(최종 RoBERTa×3 + TF-IDF, 사전 가중치 0.55/0.45, 공식 Val 0.6534), submission/mission3/README.md, docs/experiment_log.md M3-ERR-001. 상단 차트는 공식 Val만; REJECT 카드 수치는 Training 내부 80:20 홀드아웃으로 공식 Val과 직접 비교하지 않음. 공식 Val 단일 vs 최종 점수 차이를 통제 실험의 개선으로 해석하지 않음. 오류 분석 '근거 없음'은 키워드 정규식 기준으로 오라벨 단정이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10장 후속 과제,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submission/mission3/train/train_final.py, submission/mission3/train/build_ensemble.py, submission/mission3/mission3_model.py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docs/experiment_log.md M3-ROBERTA-007, docs/decisions.md의 입력 512토큰 기각 결정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최종 라벨별 F1은 기존 16장의 sym 데이터와 docs/experiment_log.md M3-FINAL-002. 표현 비율과 근거별 recall: reports/mission3/error_analysis/m3_error_analysis.json. 오류 분석 설명: reports/mission3/error_analysis/README.md. precision, recall, F1, support: reports/mission3/m3_reeval_tfidf_lr/per_label_metrics.csv. 예측 양성 수와 TP/FP/FN 계산 근거: reports/mission3/p0_rerun/min1_per_label.csv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image" Target="../media/image-12-2.gif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1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90008" y="91440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90008" y="914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745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pic>
        <p:nvPicPr>
          <p:cNvPr id="8" name="Image 1" descr="figures/canva/hero_call_flow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794" y="3703320"/>
            <a:ext cx="4960106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004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1~3 수행 결과 정리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169768" y="5715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3169768" y="5715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pic>
        <p:nvPicPr>
          <p:cNvPr id="5" name="Image 1" descr="figures/icons/sec_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104" y="2011680"/>
            <a:ext cx="640080" cy="640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pic>
        <p:nvPicPr>
          <p:cNvPr id="10" name="Image 2" descr="figures/icons/sec_d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0008" y="201168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2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EDA 핵심 발견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pic>
        <p:nvPicPr>
          <p:cNvPr id="15" name="Image 3" descr="figures/icons/sec_mis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7911" y="2011680"/>
            <a:ext cx="640080" cy="6400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pic>
        <p:nvPicPr>
          <p:cNvPr id="20" name="Image 4" descr="figures/icons/sec_wr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2011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추후 활동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pic>
        <p:nvPicPr>
          <p:cNvPr id="13" name="Image 1" descr="figures/icons/w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953512"/>
            <a:ext cx="585216" cy="5852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pic>
        <p:nvPicPr>
          <p:cNvPr id="20" name="Image 2" descr="figures/icons/w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41" y="2953512"/>
            <a:ext cx="585216" cy="58521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49686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pic>
        <p:nvPicPr>
          <p:cNvPr id="27" name="Image 3" descr="figures/icons/w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273" y="2953512"/>
            <a:ext cx="585216" cy="58521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26793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pic>
        <p:nvPicPr>
          <p:cNvPr id="34" name="Image 4" descr="figures/icons/w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206" y="2953512"/>
            <a:ext cx="585216" cy="58521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356726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감사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pic>
        <p:nvPicPr>
          <p:cNvPr id="41" name="Image 5" descr="figures/icons/w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8139" y="2953512"/>
            <a:ext cx="585216" cy="585216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286659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사전 고정</a:t>
            </a:r>
            <a:endParaRPr lang="en-US" sz="1150" dirty="0"/>
          </a:p>
        </p:txBody>
      </p:sp>
      <p:sp>
        <p:nvSpPr>
          <p:cNvPr id="43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pic>
        <p:nvPicPr>
          <p:cNvPr id="48" name="Image 6" descr="figures/icons/w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2953512"/>
            <a:ext cx="585216" cy="585216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021659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150" dirty="0"/>
          </a:p>
        </p:txBody>
      </p:sp>
      <p:sp>
        <p:nvSpPr>
          <p:cNvPr id="50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52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모델보다 먼저  ·  실험마다 ID·로그  ·  변수는 하나씩  ·  기준은 결과 보기 전에 고정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 ·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figures/icons/m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618" y="230428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3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2798064"/>
            <a:ext cx="3064154" cy="22311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길이·음량 같은 요약 특징으로는 성별이 거의 안 갈림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음색을 담는 화자 임베딩(x-vector)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figures/icons/m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57" y="2304288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90618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490618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graphicFrame>
        <p:nvGraphicFramePr>
          <p:cNvPr id="19" name="Chart 0" descr=""/>
          <p:cNvGraphicFramePr/>
          <p:nvPr/>
        </p:nvGraphicFramePr>
        <p:xfrm>
          <a:off x="4536338" y="2761488"/>
          <a:ext cx="3119018" cy="23042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4490618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통화의 98%에 겹침이 있지만 시간은 중앙값 3.8%. 길이만으로는 구분이 어려움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4" descr="figures/icons/m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2304288"/>
            <a:ext cx="411480" cy="4114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341157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341157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5" name="Image 5" descr="figures/symptom_prevalenc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414309" y="2798064"/>
            <a:ext cx="3064154" cy="223113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341157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하나는 증상이 2개 이상. 증상별 빈도 차이가 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</a:t>
            </a:r>
            <a:endParaRPr lang="en-US" sz="1150" dirty="0"/>
          </a:p>
        </p:txBody>
      </p:sp>
      <p:sp>
        <p:nvSpPr>
          <p:cNvPr id="27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 (M2 겹침: 7.2절 Training),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화자 임베딩 → 로지스틱 회귀.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" y="2697480"/>
            <a:ext cx="12618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346960" y="2697480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01824" y="2697480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52D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 flipV="1">
            <a:off x="182880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7868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346960" y="3538728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01824" y="3538728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 x-vector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20초 창 최대 4개 평균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2880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467868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19684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5170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52D + 512D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564D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22376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7862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705600" y="3474720"/>
            <a:ext cx="518160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9장)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후속 과제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후속 과제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seed로 결과 재현 확인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 검증 (미검증 가설)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보고 신고자/대원을 가린다. log-mel + CNN 3개 평균,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startAt~endAt만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727884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82748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mel · 8 kHz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240280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998568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53432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맞춤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300프레임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발화만 사용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510964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251" y="3246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24115" y="3246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flipV="1">
            <a:off x="6781648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418091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251" y="3627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4115" y="3627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2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781648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418091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269251" y="4008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24115" y="4008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781648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9418091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9905695" y="32461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60559" y="3246120"/>
            <a:ext cx="17190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 0.5 → 신고자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 0.5 → 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57200" y="4480560"/>
            <a:ext cx="6181344" cy="190076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36" name="Image 1" descr="figures/anim/m2_waveform_to_mel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553712"/>
            <a:ext cx="6035040" cy="1754457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858000" y="4480560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995160" y="4480560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차이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8321040" y="4480560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헤드셋·정해진 말투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휴대전화·잡음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858000" y="5150723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6995160" y="5150723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단계적 검증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8321040" y="5150723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→ CNN(L2)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858000" y="5820886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995160" y="5820886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학습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8321040" y="5820886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사전학습·외부 데이터 없음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왼쪽 도식은 합성 신호(실제 통화 아님).  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 → 90.98% →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pic>
        <p:nvPicPr>
          <p:cNvPr id="13" name="Image 1" descr="figures/anim/speakers_separatio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743200"/>
            <a:ext cx="2377440" cy="9773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1440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0469880" y="2743200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구간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9144000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10469880" y="3273552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583680" y="384048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보완할 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445312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453128"/>
            <a:ext cx="3825118" cy="201168"/>
          </a:xfrm>
          <a:prstGeom prst="roundRect">
            <a:avLst>
              <a:gd name="adj" fmla="val 45455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5029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5029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541324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" y="5413248"/>
            <a:ext cx="4192049" cy="201168"/>
          </a:xfrm>
          <a:prstGeom prst="roundRect">
            <a:avLst>
              <a:gd name="adj" fmla="val 45455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원본부터 다시 학습해도 같은 수준(91.49%)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보완할 점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더 낮다.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"네", "여보세요" 같은 짧은 응답은 두 화자가 비슷하게 들리고, 규칙상 통화 맥락을 쓸 수 없다.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7889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7523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3355848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3558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3192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85800" y="3922776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227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3886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150" dirty="0"/>
          </a:p>
        </p:txBody>
      </p:sp>
      <p:pic>
        <p:nvPicPr>
          <p:cNvPr id="20" name="Image 1" descr="figures/canva/sym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26280"/>
            <a:ext cx="475488" cy="47548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85800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</a:t>
            </a:r>
            <a:endParaRPr lang="en-US" sz="950" dirty="0"/>
          </a:p>
        </p:txBody>
      </p:sp>
      <p:pic>
        <p:nvPicPr>
          <p:cNvPr id="22" name="Image 2" descr="figures/canva/sym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4526280"/>
            <a:ext cx="475488" cy="47548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344168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구토</a:t>
            </a:r>
            <a:endParaRPr lang="en-US" sz="950" dirty="0"/>
          </a:p>
        </p:txBody>
      </p:sp>
      <p:pic>
        <p:nvPicPr>
          <p:cNvPr id="24" name="Image 3" descr="figures/canva/sym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3976" y="4526280"/>
            <a:ext cx="475488" cy="47548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002536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두통</a:t>
            </a:r>
            <a:endParaRPr lang="en-US" sz="950" dirty="0"/>
          </a:p>
        </p:txBody>
      </p:sp>
      <p:pic>
        <p:nvPicPr>
          <p:cNvPr id="26" name="Image 4" descr="figures/canva/sym_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2344" y="4526280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660904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</a:t>
            </a:r>
            <a:endParaRPr lang="en-US" sz="950" dirty="0"/>
          </a:p>
        </p:txBody>
      </p:sp>
      <p:pic>
        <p:nvPicPr>
          <p:cNvPr id="28" name="Image 5" descr="figures/canva/sym_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4526280"/>
            <a:ext cx="475488" cy="47548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3319272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어지러움</a:t>
            </a:r>
            <a:endParaRPr lang="en-US" sz="950" dirty="0"/>
          </a:p>
        </p:txBody>
      </p:sp>
      <p:pic>
        <p:nvPicPr>
          <p:cNvPr id="30" name="Image 6" descr="figures/canva/sym_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" y="5394960"/>
            <a:ext cx="475488" cy="47548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4984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열상</a:t>
            </a:r>
            <a:endParaRPr lang="en-US" sz="950" dirty="0"/>
          </a:p>
        </p:txBody>
      </p:sp>
      <p:pic>
        <p:nvPicPr>
          <p:cNvPr id="32" name="Image 7" descr="figures/canva/sym_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5394960"/>
            <a:ext cx="475488" cy="47548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673352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</a:t>
            </a:r>
            <a:endParaRPr lang="en-US" sz="950" dirty="0"/>
          </a:p>
        </p:txBody>
      </p:sp>
      <p:pic>
        <p:nvPicPr>
          <p:cNvPr id="34" name="Image 8" descr="figures/canva/sym_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5394960"/>
            <a:ext cx="475488" cy="47548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331720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전신쇠약</a:t>
            </a:r>
            <a:endParaRPr lang="en-US" sz="950" dirty="0"/>
          </a:p>
        </p:txBody>
      </p:sp>
      <p:pic>
        <p:nvPicPr>
          <p:cNvPr id="36" name="Image 9" descr="figures/canva/sym_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81528" y="5394960"/>
            <a:ext cx="475488" cy="47548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990088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호흡곤란</a:t>
            </a:r>
            <a:endParaRPr lang="en-US" sz="950" dirty="0"/>
          </a:p>
        </p:txBody>
      </p:sp>
      <p:sp>
        <p:nvSpPr>
          <p:cNvPr id="38" name="Text 26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39" name="Shape 27"/>
          <p:cNvSpPr/>
          <p:nvPr/>
        </p:nvSpPr>
        <p:spPr>
          <a:xfrm>
            <a:off x="4572000" y="2697480"/>
            <a:ext cx="1417320" cy="160020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4626864" y="2697480"/>
            <a:ext cx="1307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6918808" y="26974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6973672" y="2697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 평균</a:t>
            </a:r>
            <a:endParaRPr lang="en-US" sz="1400" dirty="0"/>
          </a:p>
        </p:txBody>
      </p:sp>
      <p:sp>
        <p:nvSpPr>
          <p:cNvPr id="43" name="Shape 31"/>
          <p:cNvSpPr/>
          <p:nvPr/>
        </p:nvSpPr>
        <p:spPr>
          <a:xfrm flipV="1">
            <a:off x="5989320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9204808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5" name="Text 33"/>
          <p:cNvSpPr txBox="1"/>
          <p:nvPr/>
        </p:nvSpPr>
        <p:spPr>
          <a:xfrm>
            <a:off x="9241384" y="2752344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0.55</a:t>
            </a:r>
            <a:endParaRPr lang="en-US" sz="1100" dirty="0"/>
          </a:p>
        </p:txBody>
      </p:sp>
      <p:sp>
        <p:nvSpPr>
          <p:cNvPr id="46" name="Shape 34"/>
          <p:cNvSpPr/>
          <p:nvPr/>
        </p:nvSpPr>
        <p:spPr>
          <a:xfrm>
            <a:off x="6918808" y="35661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7" name="Text 35"/>
          <p:cNvSpPr txBox="1"/>
          <p:nvPr/>
        </p:nvSpPr>
        <p:spPr>
          <a:xfrm>
            <a:off x="6973672" y="356616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48" name="Shape 36"/>
          <p:cNvSpPr/>
          <p:nvPr/>
        </p:nvSpPr>
        <p:spPr>
          <a:xfrm>
            <a:off x="5989320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9" name="Shape 37"/>
          <p:cNvSpPr/>
          <p:nvPr/>
        </p:nvSpPr>
        <p:spPr>
          <a:xfrm flipV="1">
            <a:off x="9204808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50" name="Text 38"/>
          <p:cNvSpPr txBox="1"/>
          <p:nvPr/>
        </p:nvSpPr>
        <p:spPr>
          <a:xfrm>
            <a:off x="9241384" y="4005072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0.45</a:t>
            </a:r>
            <a:endParaRPr lang="en-US" sz="1100" dirty="0"/>
          </a:p>
        </p:txBody>
      </p:sp>
      <p:sp>
        <p:nvSpPr>
          <p:cNvPr id="51" name="Shape 39"/>
          <p:cNvSpPr/>
          <p:nvPr/>
        </p:nvSpPr>
        <p:spPr>
          <a:xfrm>
            <a:off x="10134295" y="2697480"/>
            <a:ext cx="1600200" cy="1600200"/>
          </a:xfrm>
          <a:prstGeom prst="roundRect">
            <a:avLst>
              <a:gd name="adj" fmla="val 4571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10189159" y="2697480"/>
            <a:ext cx="1490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 0.5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54" name="Text 42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55" name="Text 4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0.6534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377440"/>
          <a:ext cx="3840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증상 (빨강)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0.40 · 두통 0.53 · 전신쇠약 0.59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데이터 관찰과 설계 결정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불균형과 입력 길이 실험을 학습 설계에 반영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139696"/>
            <a:ext cx="268216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5240">
            <a:solidFill>
              <a:srgbClr val="009D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2194560"/>
            <a:ext cx="2682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505456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통화 수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22244" y="2139696"/>
            <a:ext cx="268216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5240">
            <a:solidFill>
              <a:srgbClr val="009D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22244" y="2194560"/>
            <a:ext cx="2682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3,640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3367964" y="2505456"/>
            <a:ext cx="25907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67964" y="2679192"/>
            <a:ext cx="259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전용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6187288" y="2139696"/>
            <a:ext cx="268216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5240">
            <a:solidFill>
              <a:srgbClr val="009D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87288" y="2194560"/>
            <a:ext cx="2682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233008" y="2505456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 증상 라벨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52331" y="2139696"/>
            <a:ext cx="2682164" cy="713232"/>
          </a:xfrm>
          <a:prstGeom prst="roundRect">
            <a:avLst>
              <a:gd name="adj" fmla="val 10256"/>
            </a:avLst>
          </a:prstGeom>
          <a:solidFill>
            <a:srgbClr val="2F4E91"/>
          </a:solidFill>
          <a:ln w="15240">
            <a:solidFill>
              <a:srgbClr val="2F4E9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52331" y="2194560"/>
            <a:ext cx="2682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1.43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098051" y="2505456"/>
            <a:ext cx="25907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통화당 평균 증상 수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098051" y="2679192"/>
            <a:ext cx="259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</a:t>
            </a:r>
            <a:endParaRPr lang="en-US" sz="78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457200" y="3035808"/>
          <a:ext cx="539496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6126480" y="3035808"/>
            <a:ext cx="5608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관찰과 설계 결정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126480" y="3456432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0160">
            <a:solidFill>
              <a:srgbClr val="E0E0E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236208" y="3502152"/>
            <a:ext cx="19293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비율이 9.9~23.2%로 불균형</a:t>
            </a:r>
            <a:endParaRPr lang="en-US" sz="1040" dirty="0"/>
          </a:p>
        </p:txBody>
      </p:sp>
      <p:sp>
        <p:nvSpPr>
          <p:cNvPr id="27" name="Shape 23"/>
          <p:cNvSpPr/>
          <p:nvPr/>
        </p:nvSpPr>
        <p:spPr>
          <a:xfrm>
            <a:off x="8348472" y="3813048"/>
            <a:ext cx="292608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8714232" y="3456432"/>
            <a:ext cx="3020263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823960" y="3502152"/>
            <a:ext cx="2800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pos_weight BCE</a:t>
            </a:r>
            <a:endParaRPr lang="en-US" sz="1060" dirty="0"/>
          </a:p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soft macro-F1</a:t>
            </a:r>
            <a:endParaRPr lang="en-US" sz="1060" dirty="0"/>
          </a:p>
        </p:txBody>
      </p:sp>
      <p:sp>
        <p:nvSpPr>
          <p:cNvPr id="30" name="Text 26"/>
          <p:cNvSpPr txBox="1"/>
          <p:nvPr/>
        </p:nvSpPr>
        <p:spPr>
          <a:xfrm>
            <a:off x="8823960" y="3877056"/>
            <a:ext cx="2800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pos_weight = clip(0.5 × √(음성/양성), 1, 6)</a:t>
            </a:r>
            <a:endParaRPr lang="en-US" sz="830" dirty="0"/>
          </a:p>
        </p:txBody>
      </p:sp>
      <p:sp>
        <p:nvSpPr>
          <p:cNvPr id="31" name="Shape 27"/>
          <p:cNvSpPr/>
          <p:nvPr/>
        </p:nvSpPr>
        <p:spPr>
          <a:xfrm>
            <a:off x="6126480" y="4334256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0160">
            <a:solidFill>
              <a:srgbClr val="E0E0E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236208" y="4379976"/>
            <a:ext cx="19293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홀드아웃의 40.7%가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256토큰 초과</a:t>
            </a:r>
            <a:endParaRPr lang="en-US" sz="1040" dirty="0"/>
          </a:p>
        </p:txBody>
      </p:sp>
      <p:sp>
        <p:nvSpPr>
          <p:cNvPr id="33" name="Shape 29"/>
          <p:cNvSpPr/>
          <p:nvPr/>
        </p:nvSpPr>
        <p:spPr>
          <a:xfrm>
            <a:off x="8348472" y="4690872"/>
            <a:ext cx="292608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8714232" y="4334256"/>
            <a:ext cx="3020263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823960" y="4379976"/>
            <a:ext cx="2800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512토큰 확대안 기각</a:t>
            </a:r>
            <a:endParaRPr lang="en-US" sz="1060" dirty="0"/>
          </a:p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256토큰 유지</a:t>
            </a:r>
            <a:endParaRPr lang="en-US" sz="1060" dirty="0"/>
          </a:p>
        </p:txBody>
      </p:sp>
      <p:sp>
        <p:nvSpPr>
          <p:cNvPr id="36" name="Text 32"/>
          <p:cNvSpPr txBox="1"/>
          <p:nvPr/>
        </p:nvSpPr>
        <p:spPr>
          <a:xfrm>
            <a:off x="8823960" y="4754880"/>
            <a:ext cx="2800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+0.0074로 채택 기준 +0.01 미달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학습시간 약 4배 증가</a:t>
            </a:r>
            <a:endParaRPr lang="en-US" sz="830" dirty="0"/>
          </a:p>
        </p:txBody>
      </p:sp>
      <p:sp>
        <p:nvSpPr>
          <p:cNvPr id="37" name="Shape 33"/>
          <p:cNvSpPr/>
          <p:nvPr/>
        </p:nvSpPr>
        <p:spPr>
          <a:xfrm>
            <a:off x="6126480" y="5212080"/>
            <a:ext cx="2148840" cy="713232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0160">
            <a:solidFill>
              <a:srgbClr val="E0E0E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236208" y="5257800"/>
            <a:ext cx="19293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라벨 외 정보는 입력 불가</a:t>
            </a:r>
            <a:endParaRPr lang="en-US" sz="1040" dirty="0"/>
          </a:p>
        </p:txBody>
      </p:sp>
      <p:sp>
        <p:nvSpPr>
          <p:cNvPr id="39" name="Shape 35"/>
          <p:cNvSpPr/>
          <p:nvPr/>
        </p:nvSpPr>
        <p:spPr>
          <a:xfrm>
            <a:off x="8348472" y="5568696"/>
            <a:ext cx="292608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8714232" y="5212080"/>
            <a:ext cx="3020263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823960" y="5257800"/>
            <a:ext cx="280080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text만 시간순으로 연결,</a:t>
            </a:r>
            <a:endParaRPr lang="en-US" sz="1060" dirty="0"/>
          </a:p>
          <a:p>
            <a:pPr indent="0" marL="0">
              <a:buNone/>
            </a:pPr>
            <a:r>
              <a:rPr lang="en-US" sz="106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 태그 없음</a:t>
            </a:r>
            <a:endParaRPr lang="en-US" sz="106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Training 29,200건 기준. 입력 길이 비율과 512토큰 실험은 Training 내부 80:20 홀드아웃 기준이며, 공식 Validation은 모델 선택에 사용하지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앙상블이라고 모두 채택하지 않았다 — 내부 개선폭과 사전 기준으로 선택을 구분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03120"/>
          <a:ext cx="1127729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REJECT · 과거 결합 기각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+ RoBERTa: 동일 내부 분할에서 +0.0028. 사전 채택 기준 +0.01에 미달하고 오류도 많이 겹침.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ADOPT · 최종 가중 결합 채택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55% + TF-IDF 45%. 결합 비율은 Training 홀드아웃에서 사전 확정, 공식 Val은 채점만 수행.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전사에 직접 표현이 없는 양성 라벨</a:t>
            </a:r>
            <a:endParaRPr lang="en-US" sz="15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5394960" y="4251960"/>
          <a:ext cx="24688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539496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52%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5394960" y="53218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라벨 중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8046720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92%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놓친 양성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표현 없는 라벨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9799168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9799168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9799168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있는 라벨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맞힌 비율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5669280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모델의 오류가 달라 앙상블로 보완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(키워드 정규식 기준 탐색, 오라벨 단정 아님)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M3-ENS-001·M3-FINAL-002, docs/experiment_log.md M3-ERR-001. 서로 다른 학습 조건의 공식 Val 점수 차이는 인과 효과가 아님.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튜닝에 쓰지 않고, 결과를 보기 전에 고정한 기준만 확인했다.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신고자 성별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3800" dirty="0"/>
          </a:p>
        </p:txBody>
      </p:sp>
      <p:sp>
        <p:nvSpPr>
          <p:cNvPr id="12" name="Shape 9"/>
          <p:cNvSpPr/>
          <p:nvPr/>
        </p:nvSpPr>
        <p:spPr>
          <a:xfrm>
            <a:off x="2616098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16098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+2.99%p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x-vector + LR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07738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536338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신고자/대원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36338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9" name="Shape 16"/>
          <p:cNvSpPr/>
          <p:nvPr/>
        </p:nvSpPr>
        <p:spPr>
          <a:xfrm>
            <a:off x="6466637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66637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+5.05%p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36338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+ CNN × 3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536338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158277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86877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 9종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386877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26" name="Shape 23"/>
          <p:cNvSpPr/>
          <p:nvPr/>
        </p:nvSpPr>
        <p:spPr>
          <a:xfrm>
            <a:off x="10317175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17175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+0.0845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86877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 × 3 + TF-IDF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386877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2976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pic>
        <p:nvPicPr>
          <p:cNvPr id="9" name="Image 1" descr="figures/anim/flow_pipelin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2194560"/>
            <a:ext cx="10972800" cy="1325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유의점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별첨  Mission 3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학습 손실과 앙상블 판정식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 증상은 학습 손실에서 보정하고, 최종 확률은 고정 가중치로 결합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67712"/>
            <a:ext cx="562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RoBERTa 학습 손실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5176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가중치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2907792"/>
            <a:ext cx="5623560" cy="530352"/>
          </a:xfrm>
          <a:prstGeom prst="roundRect">
            <a:avLst>
              <a:gd name="adj" fmla="val 1034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2907792"/>
            <a:ext cx="5349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wⱼ = clip(0.5 × √((N − Pⱼ) / max(Pⱼ, 1)), 1, 6)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511296"/>
            <a:ext cx="5440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N: 전체 Training 통화 수    Pⱼ: 증상 j의 양성 통화 수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 증상의 양성 오류에 더 큰 가중치 적용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133088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Soft macro-F1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4416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pᵢⱼ = sigmoid(zᵢⱼ)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434340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SoftF1ⱼ =  2Σᵢ(pᵢⱼyᵢⱼ)  /  [Σᵢpᵢⱼ + Σᵢyᵢⱼ + 10⁻⁸]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5010912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손실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57200" y="5285232"/>
            <a:ext cx="5623560" cy="621792"/>
          </a:xfrm>
          <a:prstGeom prst="roundRect">
            <a:avLst>
              <a:gd name="adj" fmla="val 8824"/>
            </a:avLst>
          </a:prstGeom>
          <a:solidFill>
            <a:srgbClr val="F8F9FA"/>
          </a:solidFill>
          <a:ln w="1016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4360" y="5285232"/>
            <a:ext cx="5349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 = BCEWithLogits(pos_weight = wⱼ) + 1 − meanⱼ(SoftF1ⱼ)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5989320"/>
            <a:ext cx="5623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실효 batch 16 = micro batch 8 × 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soft-F1은 micro batch별로 계산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36208" y="2267712"/>
            <a:ext cx="0" cy="4041648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73952" y="2267712"/>
            <a:ext cx="52605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최종 앙상블과 판정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6473952" y="2761488"/>
            <a:ext cx="526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seed 평균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73952" y="3017520"/>
            <a:ext cx="5260543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017520"/>
            <a:ext cx="504108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= (p42 + p43 + p44) / 3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473952" y="3675888"/>
            <a:ext cx="526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확률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473952" y="3931920"/>
            <a:ext cx="5260543" cy="530352"/>
          </a:xfrm>
          <a:prstGeom prst="roundRect">
            <a:avLst>
              <a:gd name="adj" fmla="val 10345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3931920"/>
            <a:ext cx="504108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pfinal = 0.55 × pR + 0.45 × pTF-IDF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473952" y="4590288"/>
            <a:ext cx="526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473952" y="4846320"/>
            <a:ext cx="5260543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0" y="4846320"/>
            <a:ext cx="504108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ŷⱼ = 1   if   pfinal,ⱼ ≥ 0.5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473952" y="5632704"/>
            <a:ext cx="5260543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638544" y="5632704"/>
            <a:ext cx="49313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증상에 동일한 0.5 기준 적용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threshold 조정과 별도 후처리 없음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별첨  Mission 3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입력 길이 확대 실험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512토큰은 성능이 개선됐지만 사전 채택 기준과 계산비용 조건을 충족하지 못함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240280"/>
          <a:ext cx="64008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1261872" y="3968496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0.6439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3063240" y="3429000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0.6504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882896" y="331927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0.6515</a:t>
            </a:r>
            <a:endParaRPr lang="en-US" sz="9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256토큰 초과 통화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2,359건 · 40.7%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512토큰 초과 통화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2.9%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256토큰 기준 Macro F1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0.6441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512토큰 최종 Macro F1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0.6515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개선폭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+0.0074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채택 기준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+0.0100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학습시간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77.5분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계산비용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4배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512토큰 확대안 기각</a:t>
                      </a:r>
                      <a:endParaRPr lang="en-US" sz="93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6576" marR="36576" marT="36576" marB="36576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7086600" y="5669280"/>
            <a:ext cx="4645152" cy="621792"/>
          </a:xfrm>
          <a:prstGeom prst="roundRect">
            <a:avLst>
              <a:gd name="adj" fmla="val 8824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269480" y="5669280"/>
            <a:ext cx="42793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성능은 개선됐지만 사전 기준에 미달했고 계산비용이 증가해 앞 256토큰을 유지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Training 내부 80:20 홀드아웃, seed 42 기준. 공식 Validation은 사용하지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별첨  Mission 3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낮은 성능 3개 라벨의 오류 구조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표현이 없는 양성이 많았고, 두통과 오심은 표현 유무에 따라 recall 차이가 컸다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249424"/>
          <a:ext cx="5806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3952" y="2304288"/>
          <a:ext cx="525780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024128"/>
                <a:gridCol w="877824"/>
                <a:gridCol w="1234440"/>
                <a:gridCol w="1463040"/>
              </a:tblGrid>
              <a:tr h="438912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앙상블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 F1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(3,640건)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Training 내부 홀드아웃 오류 진단 (5,792건)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29F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50292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내부 홀드아웃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 수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2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표현 없음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2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내부 TF-IDF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TP / FP / FN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29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전신쇠약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0.5939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1,062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804건 · 75.7%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675 / 846 / 387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두통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0.5315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581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370건 · 63.7%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245 / 372 / 336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오심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0.4000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668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592건 · 88.6%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2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263 / 754 / 405</a:t>
                      </a:r>
                      <a:endParaRPr lang="en-US" sz="92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73952" y="4983480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656832" y="50292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오심은 양성의 88.6%에서 직접 표현을 찾지 못했고, 두통은 표현이 없을 때 recall이 0.195까지 낮아졌다.</a:t>
            </a:r>
            <a:endParaRPr lang="en-US" sz="1120" dirty="0"/>
          </a:p>
        </p:txBody>
      </p:sp>
      <p:sp>
        <p:nvSpPr>
          <p:cNvPr id="13" name="Text 8"/>
          <p:cNvSpPr txBox="1"/>
          <p:nvPr/>
        </p:nvSpPr>
        <p:spPr>
          <a:xfrm>
            <a:off x="6656832" y="5358384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통화에서 관찰할 수 없는 정보가 성능을 제한했을 가능성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5797296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8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최종 F1은 최종 RoBERTa 3-seed + TF-IDF 앙상블의 공식 Validation 결과</a:t>
            </a:r>
            <a:endParaRPr lang="en-US" sz="88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8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오류 진단은 Training 80:20 홀드아웃 5,792건의 TF-IDF 모델 기준</a:t>
            </a:r>
            <a:endParaRPr lang="en-US" sz="88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8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직접 표현 여부는 증상별 정규식 탐색 결과이며, 구어체 변형을 모두 포착하지 못하므로 표현 비율은 하한값</a:t>
            </a:r>
            <a:endParaRPr lang="en-US" sz="88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88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직접 표현이 없다는 결과는 오라벨을 의미하지 않음</a:t>
            </a:r>
            <a:endParaRPr lang="en-US" sz="8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2026-10-13T01:52:03Z</dcterms:created>
  <dcterms:modified xsi:type="dcterms:W3CDTF">2026-10-13T01:52:03Z</dcterms:modified>
</cp:coreProperties>
</file>