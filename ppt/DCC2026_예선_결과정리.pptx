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Training 통화 기준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겹침이 있는
통화 비율</c:v>
                  </c:pt>
                  <c:pt idx="1">
                    <c:v>통화당 겹침 시간
(중앙값)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98.15</c:v>
                </c:pt>
                <c:pt idx="1">
                  <c:v>3.82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증상별 F1 (최종 앙상블, 공식 Val)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열상</c:v>
                  </c:pt>
                  <c:pt idx="1">
                    <c:v>복통</c:v>
                  </c:pt>
                  <c:pt idx="2">
                    <c:v>고열</c:v>
                  </c:pt>
                  <c:pt idx="3">
                    <c:v>호흡곤란</c:v>
                  </c:pt>
                  <c:pt idx="4">
                    <c:v>어지러움</c:v>
                  </c:pt>
                  <c:pt idx="5">
                    <c:v>구토</c:v>
                  </c:pt>
                  <c:pt idx="6">
                    <c:v>전신쇠약</c:v>
                  </c:pt>
                  <c:pt idx="7">
                    <c:v>두통</c:v>
                  </c:pt>
                  <c:pt idx="8">
                    <c:v>오심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0.8828</c:v>
                </c:pt>
                <c:pt idx="1">
                  <c:v>0.8271</c:v>
                </c:pt>
                <c:pt idx="2">
                  <c:v>0.7001</c:v>
                </c:pt>
                <c:pt idx="3">
                  <c:v>0.6795</c:v>
                </c:pt>
                <c:pt idx="4">
                  <c:v>0.657</c:v>
                </c:pt>
                <c:pt idx="5">
                  <c:v>0.6088</c:v>
                </c:pt>
                <c:pt idx="6">
                  <c:v>0.5939</c:v>
                </c:pt>
                <c:pt idx="7">
                  <c:v>0.5315</c:v>
                </c:pt>
                <c:pt idx="8">
                  <c:v>0.4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TF-IDF + LR (기준선)</c:v>
                  </c:pt>
                  <c:pt idx="1">
                    <c:v>KcBERT-005</c:v>
                  </c:pt>
                  <c:pt idx="2">
                    <c:v>RoBERTa-003</c:v>
                  </c:pt>
                  <c:pt idx="3">
                    <c:v>과거 3종 앙상블 (기각)</c:v>
                  </c:pt>
                  <c:pt idx="4">
                    <c:v>최종 RoBERTa×3 + TF-IDF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0.5689</c:v>
                </c:pt>
                <c:pt idx="1">
                  <c:v>0.6246</c:v>
                </c:pt>
                <c:pt idx="2">
                  <c:v>0.6433</c:v>
                </c:pt>
                <c:pt idx="3">
                  <c:v>0.651</c:v>
                </c:pt>
                <c:pt idx="4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8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양성 라벨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935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0E0E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직접 표현 없음</c:v>
                </c:pt>
                <c:pt idx="1">
                  <c:v>직접 표현 있음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48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 기준 목차 (데이터·규칙 장 삭제 후 20장).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(M3-FINAL-002, 2026-10-11), submission/mission3/README.md, docs/experiment_log.md M3-ENS-001(과거 결합 기각)·M3-ERR-001(양성 라벨 약 52% 근거 없음, 오심 89%·전신쇠약 76%, 두 모델 모두 놓친 양성의 92%가 근거 없는 라벨, 근거 있는 라벨 약 90% 적중), reports/mission3/error_analysis/README.md. '근거 없음'은 키워드 정규식 기준이다. 직접 표기되지 않는 증상도 있을 수 있어 라벨 오류라고 단정하면 안 된다(이수빈 님 PR #200 문구).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10장 후속 과제,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image" Target="../media/image-1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1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90008" y="91440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90008" y="914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745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pic>
        <p:nvPicPr>
          <p:cNvPr id="8" name="Image 1" descr="figures/canva/hero_call_flow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794" y="3703320"/>
            <a:ext cx="4960106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004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1~3 수행 결과 정리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169768" y="5715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3169768" y="5715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pic>
        <p:nvPicPr>
          <p:cNvPr id="5" name="Image 1" descr="figures/icons/sec_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104" y="2011680"/>
            <a:ext cx="640080" cy="640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pic>
        <p:nvPicPr>
          <p:cNvPr id="10" name="Image 2" descr="figures/icons/sec_d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0008" y="201168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2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EDA 핵심 발견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pic>
        <p:nvPicPr>
          <p:cNvPr id="15" name="Image 3" descr="figures/icons/sec_mis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7911" y="2011680"/>
            <a:ext cx="640080" cy="6400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pic>
        <p:nvPicPr>
          <p:cNvPr id="20" name="Image 4" descr="figures/icons/sec_wr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2011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pic>
        <p:nvPicPr>
          <p:cNvPr id="13" name="Image 1" descr="figures/icons/w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953512"/>
            <a:ext cx="585216" cy="5852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pic>
        <p:nvPicPr>
          <p:cNvPr id="20" name="Image 2" descr="figures/icons/w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41" y="2953512"/>
            <a:ext cx="585216" cy="58521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49686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pic>
        <p:nvPicPr>
          <p:cNvPr id="27" name="Image 3" descr="figures/icons/w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273" y="2953512"/>
            <a:ext cx="585216" cy="58521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26793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pic>
        <p:nvPicPr>
          <p:cNvPr id="34" name="Image 4" descr="figures/icons/w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206" y="2953512"/>
            <a:ext cx="585216" cy="58521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356726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감사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pic>
        <p:nvPicPr>
          <p:cNvPr id="41" name="Image 5" descr="figures/icons/w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8139" y="2953512"/>
            <a:ext cx="585216" cy="585216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286659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사전 고정</a:t>
            </a:r>
            <a:endParaRPr lang="en-US" sz="1150" dirty="0"/>
          </a:p>
        </p:txBody>
      </p:sp>
      <p:sp>
        <p:nvSpPr>
          <p:cNvPr id="43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pic>
        <p:nvPicPr>
          <p:cNvPr id="48" name="Image 6" descr="figures/icons/w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2953512"/>
            <a:ext cx="585216" cy="585216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021659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150" dirty="0"/>
          </a:p>
        </p:txBody>
      </p:sp>
      <p:sp>
        <p:nvSpPr>
          <p:cNvPr id="50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52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모델보다 먼저  ·  실험마다 ID·로그  ·  변수는 하나씩  ·  기준은 결과 보기 전에 고정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 ·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figures/icons/m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618" y="230428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3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2798064"/>
            <a:ext cx="3064154" cy="22311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길이·음량 같은 요약 특징으로는 성별이 거의 안 갈림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음색을 담는 화자 임베딩(x-vector)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figures/icons/m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57" y="2304288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90618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490618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graphicFrame>
        <p:nvGraphicFramePr>
          <p:cNvPr id="19" name="Chart 0" descr=""/>
          <p:cNvGraphicFramePr/>
          <p:nvPr/>
        </p:nvGraphicFramePr>
        <p:xfrm>
          <a:off x="4536338" y="2761488"/>
          <a:ext cx="3119018" cy="23042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4490618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통화의 98%에 겹침이 있지만 시간은 중앙값 3.8%. 길이만으로는 구분이 어려움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4" descr="figures/icons/m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2304288"/>
            <a:ext cx="411480" cy="4114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341157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341157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5" name="Image 5" descr="figures/symptom_prevalenc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414309" y="2798064"/>
            <a:ext cx="3064154" cy="223113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341157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하나는 증상이 2개 이상. 증상별 빈도 차이가 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</a:t>
            </a:r>
            <a:endParaRPr lang="en-US" sz="1150" dirty="0"/>
          </a:p>
        </p:txBody>
      </p:sp>
      <p:sp>
        <p:nvSpPr>
          <p:cNvPr id="27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 (M2 겹침: 7.2절 Training),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화자 임베딩 → 로지스틱 회귀.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" y="2697480"/>
            <a:ext cx="12618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346960" y="2697480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01824" y="2697480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52D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 flipV="1">
            <a:off x="182880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7868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346960" y="3538728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01824" y="3538728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 x-vector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20초 창 최대 4개 평균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2880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467868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19684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5170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52D + 512D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564D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22376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7862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705600" y="3474720"/>
            <a:ext cx="518160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9장)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후속 과제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후속 과제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seed로 결과 재현 확인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 검증 (미검증 가설)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보고 신고자/대원을 가린다. log-mel + CNN 3개 평균,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startAt~endAt만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727884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82748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mel · 8 kHz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240280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998568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53432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맞춤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300프레임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발화만 사용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510964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251" y="3246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24115" y="3246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flipV="1">
            <a:off x="6781648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418091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251" y="3627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4115" y="3627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2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781648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418091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269251" y="4008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24115" y="4008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781648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9418091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9905695" y="32461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60559" y="3246120"/>
            <a:ext cx="17190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 0.5 → 신고자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 0.5 → 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57200" y="4480560"/>
            <a:ext cx="6181344" cy="190076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36" name="Image 1" descr="figures/m2_synthetic_wave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553712"/>
            <a:ext cx="6035040" cy="1754457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858000" y="4480560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995160" y="4480560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차이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8321040" y="4480560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헤드셋·정해진 말투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휴대전화·잡음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858000" y="5150723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6995160" y="5150723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단계적 검증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8321040" y="5150723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→ CNN(L2)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858000" y="5820886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995160" y="5820886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학습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8321040" y="5820886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사전학습·외부 데이터 없음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왼쪽 도식은 합성 신호(실제 통화 아님).  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 → 90.98% →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pic>
        <p:nvPicPr>
          <p:cNvPr id="13" name="Image 1" descr="figures/canva/speakers_overlap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743200"/>
            <a:ext cx="2377440" cy="9794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1440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0469880" y="2743200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구간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9144000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10469880" y="3273552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583680" y="384048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보완할 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445312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453128"/>
            <a:ext cx="3825118" cy="201168"/>
          </a:xfrm>
          <a:prstGeom prst="roundRect">
            <a:avLst>
              <a:gd name="adj" fmla="val 45455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5029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5029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541324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" y="5413248"/>
            <a:ext cx="4192049" cy="201168"/>
          </a:xfrm>
          <a:prstGeom prst="roundRect">
            <a:avLst>
              <a:gd name="adj" fmla="val 45455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원본부터 다시 학습해도 같은 수준(91.49%)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보완할 점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더 낮다.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"네", "여보세요" 같은 짧은 응답은 두 화자가 비슷하게 들리고, 규칙상 통화 맥락을 쓸 수 없다.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7889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7523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3355848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3558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3192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85800" y="3922776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227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3886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150" dirty="0"/>
          </a:p>
        </p:txBody>
      </p:sp>
      <p:pic>
        <p:nvPicPr>
          <p:cNvPr id="20" name="Image 1" descr="figures/canva/sym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26280"/>
            <a:ext cx="475488" cy="47548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85800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</a:t>
            </a:r>
            <a:endParaRPr lang="en-US" sz="950" dirty="0"/>
          </a:p>
        </p:txBody>
      </p:sp>
      <p:pic>
        <p:nvPicPr>
          <p:cNvPr id="22" name="Image 2" descr="figures/canva/sym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4526280"/>
            <a:ext cx="475488" cy="47548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344168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구토</a:t>
            </a:r>
            <a:endParaRPr lang="en-US" sz="950" dirty="0"/>
          </a:p>
        </p:txBody>
      </p:sp>
      <p:pic>
        <p:nvPicPr>
          <p:cNvPr id="24" name="Image 3" descr="figures/canva/sym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3976" y="4526280"/>
            <a:ext cx="475488" cy="47548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002536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두통</a:t>
            </a:r>
            <a:endParaRPr lang="en-US" sz="950" dirty="0"/>
          </a:p>
        </p:txBody>
      </p:sp>
      <p:pic>
        <p:nvPicPr>
          <p:cNvPr id="26" name="Image 4" descr="figures/canva/sym_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2344" y="4526280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660904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</a:t>
            </a:r>
            <a:endParaRPr lang="en-US" sz="950" dirty="0"/>
          </a:p>
        </p:txBody>
      </p:sp>
      <p:pic>
        <p:nvPicPr>
          <p:cNvPr id="28" name="Image 5" descr="figures/canva/sym_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4526280"/>
            <a:ext cx="475488" cy="47548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3319272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어지러움</a:t>
            </a:r>
            <a:endParaRPr lang="en-US" sz="950" dirty="0"/>
          </a:p>
        </p:txBody>
      </p:sp>
      <p:pic>
        <p:nvPicPr>
          <p:cNvPr id="30" name="Image 6" descr="figures/canva/sym_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" y="5394960"/>
            <a:ext cx="475488" cy="47548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4984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열상</a:t>
            </a:r>
            <a:endParaRPr lang="en-US" sz="950" dirty="0"/>
          </a:p>
        </p:txBody>
      </p:sp>
      <p:pic>
        <p:nvPicPr>
          <p:cNvPr id="32" name="Image 7" descr="figures/canva/sym_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5394960"/>
            <a:ext cx="475488" cy="47548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673352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</a:t>
            </a:r>
            <a:endParaRPr lang="en-US" sz="950" dirty="0"/>
          </a:p>
        </p:txBody>
      </p:sp>
      <p:pic>
        <p:nvPicPr>
          <p:cNvPr id="34" name="Image 8" descr="figures/canva/sym_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5394960"/>
            <a:ext cx="475488" cy="47548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331720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전신쇠약</a:t>
            </a:r>
            <a:endParaRPr lang="en-US" sz="950" dirty="0"/>
          </a:p>
        </p:txBody>
      </p:sp>
      <p:pic>
        <p:nvPicPr>
          <p:cNvPr id="36" name="Image 9" descr="figures/canva/sym_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81528" y="5394960"/>
            <a:ext cx="475488" cy="47548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990088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호흡곤란</a:t>
            </a:r>
            <a:endParaRPr lang="en-US" sz="950" dirty="0"/>
          </a:p>
        </p:txBody>
      </p:sp>
      <p:sp>
        <p:nvSpPr>
          <p:cNvPr id="38" name="Text 26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39" name="Shape 27"/>
          <p:cNvSpPr/>
          <p:nvPr/>
        </p:nvSpPr>
        <p:spPr>
          <a:xfrm>
            <a:off x="4572000" y="2697480"/>
            <a:ext cx="1417320" cy="160020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4626864" y="2697480"/>
            <a:ext cx="1307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6918808" y="26974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6973672" y="2697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 평균</a:t>
            </a:r>
            <a:endParaRPr lang="en-US" sz="1400" dirty="0"/>
          </a:p>
        </p:txBody>
      </p:sp>
      <p:sp>
        <p:nvSpPr>
          <p:cNvPr id="43" name="Shape 31"/>
          <p:cNvSpPr/>
          <p:nvPr/>
        </p:nvSpPr>
        <p:spPr>
          <a:xfrm flipV="1">
            <a:off x="5989320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9204808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5" name="Text 33"/>
          <p:cNvSpPr txBox="1"/>
          <p:nvPr/>
        </p:nvSpPr>
        <p:spPr>
          <a:xfrm>
            <a:off x="9241384" y="2752344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0.55</a:t>
            </a:r>
            <a:endParaRPr lang="en-US" sz="1100" dirty="0"/>
          </a:p>
        </p:txBody>
      </p:sp>
      <p:sp>
        <p:nvSpPr>
          <p:cNvPr id="46" name="Shape 34"/>
          <p:cNvSpPr/>
          <p:nvPr/>
        </p:nvSpPr>
        <p:spPr>
          <a:xfrm>
            <a:off x="6918808" y="35661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7" name="Text 35"/>
          <p:cNvSpPr txBox="1"/>
          <p:nvPr/>
        </p:nvSpPr>
        <p:spPr>
          <a:xfrm>
            <a:off x="6973672" y="356616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48" name="Shape 36"/>
          <p:cNvSpPr/>
          <p:nvPr/>
        </p:nvSpPr>
        <p:spPr>
          <a:xfrm>
            <a:off x="5989320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9" name="Shape 37"/>
          <p:cNvSpPr/>
          <p:nvPr/>
        </p:nvSpPr>
        <p:spPr>
          <a:xfrm flipV="1">
            <a:off x="9204808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50" name="Text 38"/>
          <p:cNvSpPr txBox="1"/>
          <p:nvPr/>
        </p:nvSpPr>
        <p:spPr>
          <a:xfrm>
            <a:off x="9241384" y="4005072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0.45</a:t>
            </a:r>
            <a:endParaRPr lang="en-US" sz="1100" dirty="0"/>
          </a:p>
        </p:txBody>
      </p:sp>
      <p:sp>
        <p:nvSpPr>
          <p:cNvPr id="51" name="Shape 39"/>
          <p:cNvSpPr/>
          <p:nvPr/>
        </p:nvSpPr>
        <p:spPr>
          <a:xfrm>
            <a:off x="10134295" y="2697480"/>
            <a:ext cx="1600200" cy="1600200"/>
          </a:xfrm>
          <a:prstGeom prst="roundRect">
            <a:avLst>
              <a:gd name="adj" fmla="val 4571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10189159" y="2697480"/>
            <a:ext cx="1490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 0.5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54" name="Text 42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55" name="Text 4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0.6534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377440"/>
          <a:ext cx="3840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증상 (빨강)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0.40 · 두통 0.53 · 전신쇠약 0.59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앙상블 기각과 최종 앙상블 채택은 서로 다른 실험 — 검증 조건을 구분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03120"/>
          <a:ext cx="1127729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선정 근거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45%, 임계값 0.5 고정. 결합 비율은 Training 내부 홀드아웃에서 확정.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주의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 → 0.6534는 학습 데이터량·모델 구성이 모두 달라 통제 실험의 개선 폭으로 해석하지 않음.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전사에 직접 표현이 없는 양성 라벨</a:t>
            </a:r>
            <a:endParaRPr lang="en-US" sz="15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5394960" y="4251960"/>
          <a:ext cx="24688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539496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52%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5394960" y="53218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라벨 중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8046720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92%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놓친 양성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표현 없는 라벨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9799168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9799168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9799168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있는 라벨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맞힌 비율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5669280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모델의 오류가 달라 앙상블로 보완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(키워드 정규식 기준 탐색, 오라벨 단정 아님)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M3-FINAL-002, docs/experiment_log.md M3-ERR-001. 키워드 정규식 기준의 탐색적 결과이며 오라벨로 단정하지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튜닝에 쓰지 않고, 결과를 보기 전에 고정한 기준만 확인했다.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신고자 성별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3800" dirty="0"/>
          </a:p>
        </p:txBody>
      </p:sp>
      <p:sp>
        <p:nvSpPr>
          <p:cNvPr id="12" name="Shape 9"/>
          <p:cNvSpPr/>
          <p:nvPr/>
        </p:nvSpPr>
        <p:spPr>
          <a:xfrm>
            <a:off x="2616098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16098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+2.99%p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x-vector + LR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07738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536338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신고자/대원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36338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9" name="Shape 16"/>
          <p:cNvSpPr/>
          <p:nvPr/>
        </p:nvSpPr>
        <p:spPr>
          <a:xfrm>
            <a:off x="6466637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66637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+5.05%p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36338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+ CNN × 3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536338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158277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86877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 9종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386877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26" name="Shape 23"/>
          <p:cNvSpPr/>
          <p:nvPr/>
        </p:nvSpPr>
        <p:spPr>
          <a:xfrm>
            <a:off x="10317175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17175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+0.0845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86877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 × 3 + TF-IDF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386877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2976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pic>
        <p:nvPicPr>
          <p:cNvPr id="9" name="Image 1" descr="figures/icons/flow_c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170" y="219456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297180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전화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246120"/>
            <a:ext cx="20725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입력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2584643" y="2395728"/>
            <a:ext cx="256032" cy="329184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pic>
        <p:nvPicPr>
          <p:cNvPr id="13" name="Image 2" descr="figures/icons/flow_m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629" y="2194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4099" y="297180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804099" y="3246120"/>
            <a:ext cx="20725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분리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840102" y="2395728"/>
            <a:ext cx="256032" cy="329184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pic>
        <p:nvPicPr>
          <p:cNvPr id="17" name="Image 3" descr="figures/icons/flow_m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088" y="2194560"/>
            <a:ext cx="731520" cy="7315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59558" y="297180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059558" y="3246120"/>
            <a:ext cx="20725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095561" y="2395728"/>
            <a:ext cx="256032" cy="329184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pic>
        <p:nvPicPr>
          <p:cNvPr id="21" name="Image 4" descr="figures/icons/flow_m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547" y="2194560"/>
            <a:ext cx="731520" cy="7315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315017" y="297180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7315017" y="3246120"/>
            <a:ext cx="20725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태깅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9351020" y="2395728"/>
            <a:ext cx="256032" cy="329184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pic>
        <p:nvPicPr>
          <p:cNvPr id="25" name="Image 5" descr="figures/icons/flow_sc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006" y="2194560"/>
            <a:ext cx="731520" cy="7315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570476" y="297180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8E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화면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9570476" y="3246120"/>
            <a:ext cx="20725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150" dirty="0"/>
          </a:p>
        </p:txBody>
      </p:sp>
      <p:sp>
        <p:nvSpPr>
          <p:cNvPr id="28" name="Shape 20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9" name="Text 21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30" name="Text 22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34" name="Shape 26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유의점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2026-10-12T18:23:31Z</dcterms:created>
  <dcterms:modified xsi:type="dcterms:W3CDTF">2026-10-12T18:23:31Z</dcterms:modified>
</cp:coreProperties>
</file>