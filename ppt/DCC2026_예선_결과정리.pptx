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charts/chart7.xml" ContentType="application/vnd.openxmlformats-officedocument.drawingml.chart+xml"/>
  <Override PartName="/ppt/slides/slide22.xml" ContentType="application/vnd.openxmlformats-officedocument.presentationml.slide+xml"/>
  <Override PartName="/ppt/charts/chart8.xml" ContentType="application/vnd.openxmlformats-officedocument.drawingml.chart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Training 통화 기준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겹침이 있는
통화 비율</c:v>
                  </c:pt>
                  <c:pt idx="1">
                    <c:v>통화당 겹침 시간
(중앙값)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98.15</c:v>
                </c:pt>
                <c:pt idx="1">
                  <c:v>3.82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① 음향 특징 52개
+ LR (baseline)</c:v>
                  </c:pt>
                  <c:pt idx="1">
                    <c:v>② + x-vector
(앞 20초)</c:v>
                  </c:pt>
                  <c:pt idx="2">
                    <c:v>③ + 여러 구간
평균 x-vector</c:v>
                  </c:pt>
                  <c:pt idx="3">
                    <c:v>④ ③을 전체 데이터로
재학습 (제출)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95.11</c:v>
                </c:pt>
                <c:pt idx="1">
                  <c:v>97.47</c:v>
                </c:pt>
                <c:pt idx="2">
                  <c:v>98.13</c:v>
                </c:pt>
                <c:pt idx="3">
                  <c:v>98.1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L1 LightGBM</c:v>
                  </c:pt>
                  <c:pt idx="1">
                    <c:v>L2 CNN 단일</c:v>
                  </c:pt>
                  <c:pt idx="2">
                    <c:v>L2 CNN
3-seed 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90.98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증상별 F1 (최종 앙상블, 공식 Val)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열상</c:v>
                  </c:pt>
                  <c:pt idx="1">
                    <c:v>복통</c:v>
                  </c:pt>
                  <c:pt idx="2">
                    <c:v>고열</c:v>
                  </c:pt>
                  <c:pt idx="3">
                    <c:v>호흡곤란</c:v>
                  </c:pt>
                  <c:pt idx="4">
                    <c:v>어지러움</c:v>
                  </c:pt>
                  <c:pt idx="5">
                    <c:v>구토</c:v>
                  </c:pt>
                  <c:pt idx="6">
                    <c:v>전신쇠약</c:v>
                  </c:pt>
                  <c:pt idx="7">
                    <c:v>두통</c:v>
                  </c:pt>
                  <c:pt idx="8">
                    <c:v>오심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0.8828</c:v>
                </c:pt>
                <c:pt idx="1">
                  <c:v>0.8271</c:v>
                </c:pt>
                <c:pt idx="2">
                  <c:v>0.7001</c:v>
                </c:pt>
                <c:pt idx="3">
                  <c:v>0.6795</c:v>
                </c:pt>
                <c:pt idx="4">
                  <c:v>0.657</c:v>
                </c:pt>
                <c:pt idx="5">
                  <c:v>0.6088</c:v>
                </c:pt>
                <c:pt idx="6">
                  <c:v>0.5939</c:v>
                </c:pt>
                <c:pt idx="7">
                  <c:v>0.5315</c:v>
                </c:pt>
                <c:pt idx="8">
                  <c:v>0.4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· 공식 Val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TF-IDF + LR (기준선)</c:v>
                  </c:pt>
                  <c:pt idx="1">
                    <c:v>KcBERT-005</c:v>
                  </c:pt>
                  <c:pt idx="2">
                    <c:v>RoBERTa-003</c:v>
                  </c:pt>
                  <c:pt idx="3">
                    <c:v>최종 RoBERTa×3 + TF-IDF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0.5689</c:v>
                </c:pt>
                <c:pt idx="1">
                  <c:v>0.6246</c:v>
                </c:pt>
                <c:pt idx="2">
                  <c:v>0.6433</c:v>
                </c:pt>
                <c:pt idx="3">
                  <c:v>0.6534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양성 라벨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935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0E0E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직접 표현 없음</c:v>
                </c:pt>
                <c:pt idx="1">
                  <c:v>직접 표현 있음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48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50" b="0" i="0" u="none" strike="noStrike">
                <a:solidFill>
                  <a:srgbClr val="212121"/>
                </a:solidFill>
                <a:latin typeface="맑은 고딕"/>
              </a:rPr>
              <a:t>512토큰 모델의 epoch별 내부 홀드아웃 Macro F1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512토큰 모델</c:v>
                </c:pt>
              </c:strCache>
            </c:strRef>
          </c:tx>
          <c:spPr>
            <a:solidFill>
              <a:srgbClr val="2F4E91"/>
            </a:solidFill>
            <a:ln w="27940" cap="flat">
              <a:solidFill>
                <a:srgbClr val="2F4E9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F4E91"/>
              </a:solidFill>
              <a:ln w="9525" cap="flat">
                <a:solidFill>
                  <a:srgbClr val="2F4E9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Epoch 1</c:v>
                  </c:pt>
                  <c:pt idx="1">
                    <c:v>Epoch 2</c:v>
                  </c:pt>
                  <c:pt idx="2">
                    <c:v>Epoch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0.000</c:formatCode>
                <c:ptCount val="3"/>
                <c:pt idx="0">
                  <c:v>0.6439</c:v>
                </c:pt>
                <c:pt idx="1">
                  <c:v>0.6504</c:v>
                </c:pt>
                <c:pt idx="2">
                  <c:v>0.6515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256토큰 기준 성능</c:v>
                </c:pt>
              </c:strCache>
            </c:strRef>
          </c:tx>
          <c:spPr>
            <a:solidFill>
              <a:srgbClr val="9E9E9E"/>
            </a:solidFill>
            <a:ln w="27940" cap="flat">
              <a:solidFill>
                <a:srgbClr val="9E9E9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E9E9E"/>
              </a:solidFill>
              <a:ln w="9525" cap="flat">
                <a:solidFill>
                  <a:srgbClr val="9E9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Epoch 1</c:v>
                  </c:pt>
                  <c:pt idx="1">
                    <c:v>Epoch 2</c:v>
                  </c:pt>
                  <c:pt idx="2">
                    <c:v>Epoch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0.000</c:formatCode>
                <c:ptCount val="3"/>
                <c:pt idx="0">
                  <c:v>0.6441</c:v>
                </c:pt>
                <c:pt idx="1">
                  <c:v>0.6441</c:v>
                </c:pt>
                <c:pt idx="2">
                  <c:v>0.6441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사전 채택 기준</c:v>
                </c:pt>
              </c:strCache>
            </c:strRef>
          </c:tx>
          <c:spPr>
            <a:solidFill>
              <a:srgbClr val="E53935"/>
            </a:solidFill>
            <a:ln w="27940" cap="flat">
              <a:solidFill>
                <a:srgbClr val="E53935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53935"/>
              </a:solidFill>
              <a:ln w="9525" cap="flat">
                <a:solidFill>
                  <a:srgbClr val="E539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Epoch 1</c:v>
                  </c:pt>
                  <c:pt idx="1">
                    <c:v>Epoch 2</c:v>
                  </c:pt>
                  <c:pt idx="2">
                    <c:v>Epoch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0.000</c:formatCode>
                <c:ptCount val="3"/>
                <c:pt idx="0">
                  <c:v>0.6541</c:v>
                </c:pt>
                <c:pt idx="1">
                  <c:v>0.6541</c:v>
                </c:pt>
                <c:pt idx="2">
                  <c:v>0.6541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6"/>
          <c:min val="0.63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16161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  <c:majorUnit val="0.005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50" b="0" i="0" u="none" strike="noStrike">
                <a:solidFill>
                  <a:srgbClr val="212121"/>
                </a:solidFill>
                <a:latin typeface="맑은 고딕"/>
              </a:rPr>
              <a:t>직접 표현 유무별 recall · Training 내부 홀드아웃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직접 표현 있음 recall</c:v>
                </c:pt>
              </c:strCache>
            </c:strRef>
          </c:tx>
          <c:spPr>
            <a:solidFill>
              <a:srgbClr val="2F4E9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전신쇠약</c:v>
                  </c:pt>
                  <c:pt idx="1">
                    <c:v>두통</c:v>
                  </c:pt>
                  <c:pt idx="2">
                    <c:v>오심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0.0</c:formatCode>
                <c:ptCount val="3"/>
                <c:pt idx="0">
                  <c:v>0.907</c:v>
                </c:pt>
                <c:pt idx="1">
                  <c:v>0.82</c:v>
                </c:pt>
                <c:pt idx="2">
                  <c:v>0.684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직접 표현 없음 recall</c:v>
                </c:pt>
              </c:strCache>
            </c:strRef>
          </c:tx>
          <c:spPr>
            <a:solidFill>
              <a:srgbClr val="EF9A9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전신쇠약</c:v>
                  </c:pt>
                  <c:pt idx="1">
                    <c:v>두통</c:v>
                  </c:pt>
                  <c:pt idx="2">
                    <c:v>오심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0.0</c:formatCode>
                <c:ptCount val="3"/>
                <c:pt idx="0">
                  <c:v>0.549</c:v>
                </c:pt>
                <c:pt idx="1">
                  <c:v>0.195</c:v>
                </c:pt>
                <c:pt idx="2">
                  <c:v>0.356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원고 v2 구성 기준 목차 (Mission 3 별첨 통합 후 총 23장).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GitHub eigensinn-dcc2026/step0 README의 W1~W6 로드맵, 팀원별 notebooks/·outputs/.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README.md 역할표, WORKFLOW.md(브랜치·PR 흐름), .github/workflows/(pr-ci, pr-verdict), docs/experiment_log.md, 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reports/eda/figures/(gender_distribution, speaker_duration_buckets, symptom_prevalence), docs/experiment_log.md COM-EDA-001.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submission/mission1/README.md(구성·상태), docs/experiment_log.md M1-XVEC-002-OFFVAL(다중 구간 평균 x-vector), M1-REFIT-OFFVAL-001(전체 재학습 제출 모델 98.10%).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① 95.11% 기존 52D LR(M1-XVEC-001-OFFVAL 비교값, docs/decisions.md 2026-10-05) / ② 97.47% M1-XVEC-001-OFFVAL / ③ 98.13% M1-XVEC-002-OFFVAL(사전 고정 기준 97.77% 충족) / ④ 98.10% M1-REFIT-OFFVAL-001. 주의 박스: M1-XVEC-002(2차) 내부 +0.34%p로 기준 +0.4%p 미달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LightGBM vs LR — docs/decisions.md 2026-10-05 / RBF-SVM — M1-HEAD-001 / ECAPA — M1-ECAPA-001(3차)·M1-ECAPA-002 / 확률 평균 — M1-FUSE-001, M1-FUSE-001-OFFVAL(98.30%, 사전 고정 기준 98.434% 미달, McNemar p=0.345).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 — 공식 Validation 3,640건 98.10%, 여성 recall 98.26%, 남성 recall 97.92%. docs/experiment_log.md M1-REFIT-OFFVAL-001(단일 seed).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submission/mission2/README.md, docs/experiment_log.md M2-RERUN-001·M2-ENS-003·M2-RETRAIN-001. 제약은 출제문제·주최측 Q&amp;A(2026.09.15), 추론 방식은 submission/mission2/README.md '추론' 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L1 86.44%(M2-RETRAIN-001, 제공 라벨 재학습 L1) / CNN 단일 90.98%(M2-ENS-003 ts1) / 3-seed 앙상블 91.49%(M2-RERUN-001, submission/mission2/README.md). 겹침 구간: M2-COMPARE-002 — 겹침 L1 81.83%→L2 88.88%(+7.05%p), 안 겹침 90.01%→92.44%(+2.43%p), L2 단일 모델 기준. 패딩: M2-PAD-001(발화별 300프레임 채우기), M2-VAL-005, M2-PAD-002.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통화 단위 특징 M2-EXP-008 / 제공 라벨 재학습 M2-RETRAIN-001 / 확률 평균 M2-ENS-001 / 더 큰 CNN M2-CNN-008, 패딩 제외 풀링 M2-CNN-009, 길이 입력 M2-CNN-004·006, Mixup M2-MIX-001 / WavLM 고정 임베딩 M2-SSL-001, 기본 미세조정 M2-SSL-002 / WavLM 미세조정(3초 창·겹침 증강) M2-SSL-003. 모두 docs/experiment_log.md·docs/decisions.md.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 '결과와 계산 효율성' 표(91.49%, 대원 recall 87.15%, 신고자 recall 95.51%). 재현성: M2-RERUN-001(원본부터 재학습 91.49%) vs M2-ENS-003(이전 앙상블 91.55%).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'모델' 절, docs/decisions.md M3-FINAL-002. 파이프라인·'왜' 문구는 이수빈 님 PR #200(subin/ppt-m3-storytelling-20261013)에서 가져옴.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결과 표(seed 42·43·44 0.6479/0.6441/0.6445, 앙상블 0.6534, Micro 0.6690, 빈 예측 149). 개선 흐름: M3-OFFVAL-001(TF-IDF 0.5689, KcBERT 0.6246), M3-OFFVAL-002(RoBERTa-large 0.6433), M3-FINAL-002(앙상블 0.6534). 증상별 약점: M3-FINAL-002(오심·두통·전신쇠약 F1이 가장 낮음).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docs/decisions.md M3-ENS-001(내부 3-seed 평균 0.6455 vs RoBERTa 0.6427, +0.0028 &lt; 사전 기준 +0.01로 기각)·M3-FINAL-002(최종 RoBERTa×3 + TF-IDF, 사전 가중치 0.55/0.45, 공식 Val 0.6534), submission/mission3/README.md, docs/experiment_log.md M3-ERR-001. 상단 차트는 공식 Val만; REJECT 카드 수치는 Training 내부 80:20 홀드아웃으로 공식 Val과 직접 비교하지 않음. 공식 Val 단일 vs 최종 점수 차이를 통제 실험의 개선으로 해석하지 않음. 오류 분석 '근거 없음'은 키워드 정규식 기준으로 오라벨 단정이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submission/mission1/README.md(98.10%), submission/mission2/README.md, docs/experiment_log.md M2-RERUN-001·M2-ENS-003·M2-RETRAIN-001, submission/mission3/README.md(0.6534). baseline: M1 95.11%(52D LR, docs/decisions.md 2026-10-05), M2 86.44%(L1 LightGBM, M2-RETRAIN-001), M3 0.5689(TF-IDF, M3-OFFVAL-001).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시사점'은 이 장 한 곳에만 둔다(미션별 장에는 넣지 않음). 향후 계획 근거: M1 — 10장 후속 과제, M2 — docs/experiment_log.md M2-SSL-003, M3 — M3-ERR-001·M3-FINAL-002.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p17 + p21 통합. 데이터: Training 29,200통화, 평가 전용 Validation 3,640통화, 9개 증상, Training 통화당 평균 증상 수 1.43. 라벨별 양성 비율(Training): 열상 23.2, 어지러움 21.7, 전신쇠약 18.2, 고열 17.8, 구토 15.3, 호흡곤란 13.4, 복통 11.9, 오심 11.4, 두통 9.9(%). 입력 길이와 512토큰 실험은 Training 내부 80:20 홀드아웃: 40.7% 256토큰 초과, Macro F1 +0.0074, 사전 기준 +0.01 미달, 학습시간 약 4배. 전사 utterances[].text만 원본 순서로 연결하며 화자 태그와 허용되지 않은 라벨은 사용하지 않음. Soft macro-F1 상세: pᵢⱼ = sigmoid(zᵢⱼ), SoftF1ⱼ = 2Σᵢ(pᵢⱼyᵢⱼ) / [Σᵢpᵢⱼ + Σᵢyᵢⱼ + 10⁻⁸]. 가중치 wⱼ = clip(0.5 × √((N − Pⱼ) / max(Pⱼ,1)),1,6). 실효 batch 16 = micro 8 × 2, soft-F1 micro batch별 계산. 최종 RoBERTa seeds 42·43·44 확률 평균 0.55와 TF-IDF 확률 0.45를 결합, 모든 증상 threshold 0.5 적용(별도 후처리 없음). 근거: reports/eda/eda_report.md; docs/experiment_log.md M3-ROBERTA-007; submission/mission3/README.md; submission/mission3/train/train_final.py; submission/mission3/train/build_ensemble.py; submission/mission3/mission3_model.py.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docs/experiment_log.md M3-ROBERTA-007, docs/decisions.md의 입력 512토큰 기각 결정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최종 라벨별 F1은 기존 16장의 sym 데이터와 docs/experiment_log.md M3-FINAL-002. 표현 비율과 근거별 recall: reports/mission3/error_analysis/m3_error_analysis.json. 오류 분석 설명: reports/mission3/error_analysis/README.md. precision, recall, F1, support: reports/mission3/m3_reeval_tfidf_lr/per_label_metrics.csv. 예측 양성 수와 TP/FP/FN 계산 근거: reports/mission3/p0_rerun/min1_per_label.csv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image" Target="../media/image-12-2.gif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1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90008" y="91440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90008" y="914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745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pic>
        <p:nvPicPr>
          <p:cNvPr id="8" name="Image 1" descr="figures/canva/hero_call_flow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794" y="3703320"/>
            <a:ext cx="4960106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2004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1~3 수행 결과 정리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169768" y="5715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3169768" y="5715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pic>
        <p:nvPicPr>
          <p:cNvPr id="5" name="Image 1" descr="figures/icons/sec_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104" y="2011680"/>
            <a:ext cx="640080" cy="640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pic>
        <p:nvPicPr>
          <p:cNvPr id="10" name="Image 2" descr="figures/icons/sec_d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0008" y="201168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2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EDA 핵심 발견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pic>
        <p:nvPicPr>
          <p:cNvPr id="15" name="Image 3" descr="figures/icons/sec_mis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7911" y="2011680"/>
            <a:ext cx="640080" cy="6400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pic>
        <p:nvPicPr>
          <p:cNvPr id="20" name="Image 4" descr="figures/icons/sec_wr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5815" y="2011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추후 활동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pic>
        <p:nvPicPr>
          <p:cNvPr id="13" name="Image 1" descr="figures/icons/w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953512"/>
            <a:ext cx="585216" cy="5852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126254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pic>
        <p:nvPicPr>
          <p:cNvPr id="20" name="Image 2" descr="figures/icons/w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41" y="2953512"/>
            <a:ext cx="585216" cy="58521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49686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056187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pic>
        <p:nvPicPr>
          <p:cNvPr id="27" name="Image 3" descr="figures/icons/w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273" y="2953512"/>
            <a:ext cx="585216" cy="58521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26793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986120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pic>
        <p:nvPicPr>
          <p:cNvPr id="34" name="Image 4" descr="figures/icons/w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206" y="2953512"/>
            <a:ext cx="585216" cy="58521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356726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감사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7916052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pic>
        <p:nvPicPr>
          <p:cNvPr id="41" name="Image 5" descr="figures/icons/w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8139" y="2953512"/>
            <a:ext cx="585216" cy="585216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286659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사전 고정</a:t>
            </a:r>
            <a:endParaRPr lang="en-US" sz="1150" dirty="0"/>
          </a:p>
        </p:txBody>
      </p:sp>
      <p:sp>
        <p:nvSpPr>
          <p:cNvPr id="43" name="Shape 35"/>
          <p:cNvSpPr/>
          <p:nvPr/>
        </p:nvSpPr>
        <p:spPr>
          <a:xfrm>
            <a:off x="9845985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pic>
        <p:nvPicPr>
          <p:cNvPr id="48" name="Image 6" descr="figures/icons/w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2953512"/>
            <a:ext cx="585216" cy="585216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1021659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150" dirty="0"/>
          </a:p>
        </p:txBody>
      </p:sp>
      <p:sp>
        <p:nvSpPr>
          <p:cNvPr id="50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52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모델보다 먼저  ·  실험마다 ID·로그  ·  변수는 하나씩  ·  기준은 결과 보기 전에 고정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규칙·자동 검사·기록 체계를 먼저 만들고 미션에 들어갔다.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 ·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24028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3192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기록 체계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17920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217920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기록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217920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9021928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9204808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204808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기록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204808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 기각도 기록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README.md(역할),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"쉬운 단서 하나"로는 풀리지 않는다. 이 발견이 미션별 모델 선택의 출발점이다.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figures/icons/m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618" y="230428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성별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3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2798064"/>
            <a:ext cx="3064154" cy="22311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비율은 균형. 길이·음량 같은 요약 특징으로는 성별이 거의 안 갈림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음색을 담는 화자 임베딩(x-vector)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07738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figures/icons/m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57" y="2304288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90618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화자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490618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graphicFrame>
        <p:nvGraphicFramePr>
          <p:cNvPr id="19" name="Chart 0" descr=""/>
          <p:cNvGraphicFramePr/>
          <p:nvPr/>
        </p:nvGraphicFramePr>
        <p:xfrm>
          <a:off x="4536338" y="2761488"/>
          <a:ext cx="3119018" cy="23042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Text 13"/>
          <p:cNvSpPr txBox="1"/>
          <p:nvPr/>
        </p:nvSpPr>
        <p:spPr>
          <a:xfrm>
            <a:off x="4490618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통화의 98%에 겹침이 있지만 시간은 중앙값 3.8%. 길이만으로는 구분이 어려움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모양 전체를 보는 CNN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8158277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4" descr="figures/icons/m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2304288"/>
            <a:ext cx="411480" cy="4114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341157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341157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5" name="Image 5" descr="figures/symptom_prevalenc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414309" y="2798064"/>
            <a:ext cx="3064154" cy="223113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341157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통화 중 하나는 증상이 2개 이상. 증상별 빈도 차이가 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9개를 각각 0/1로 푸는 다중 레이블</a:t>
            </a:r>
            <a:endParaRPr lang="en-US" sz="1150" dirty="0"/>
          </a:p>
        </p:txBody>
      </p:sp>
      <p:sp>
        <p:nvSpPr>
          <p:cNvPr id="27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 (M2 겹침: 7.2절 Training), reports/eda/figures/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문제와 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화자 임베딩 → 로지스틱 회귀. 공식 Validation Accuracy 98.10%.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성별(F/M)   ·   지표 Accuracy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" y="2697480"/>
            <a:ext cx="12618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346960" y="2697480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01824" y="2697480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52D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 flipV="1">
            <a:off x="182880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7868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346960" y="3538728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01824" y="3538728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WavLM x-vector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20초 창 최대 4개 평균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2880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467868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19684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5170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52D + 512D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564D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22376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7862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/ 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705600" y="3474720"/>
            <a:ext cx="518160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457200" y="4434840"/>
            <a:ext cx="8275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846320"/>
            <a:ext cx="8275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EDA에서 요약 통계가 성별을 못 가름 → 음색을 담는 사전학습 화자 임베딩 추가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분류기는 단순한 로지스틱 회귀로 충분했다 (더 복잡한 분류기는 이득이 기준에 못 미침 → 9장)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학습 데이터 전체로 재학습했다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006840" y="2240280"/>
            <a:ext cx="2727655" cy="3977640"/>
          </a:xfrm>
          <a:prstGeom prst="roundRect">
            <a:avLst>
              <a:gd name="adj" fmla="val 3352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006840" y="3291840"/>
            <a:ext cx="2727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42519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 → 98.10%. 개선의 대부분은 화자 임베딩(x-vector)에서 나왔다.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64008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06640" y="2240280"/>
            <a:ext cx="4327855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589520" y="235000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해석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2724912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단독보다 x-vector 단독이 훨씬 높았다 → 개선의 대부분이 x-vector.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통화는 앞부분만 쓰면 나머지를 버리게 되어, 여러 구간을 평균했다.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406640" y="4434840"/>
            <a:ext cx="4327855" cy="1783080"/>
          </a:xfrm>
          <a:prstGeom prst="roundRect">
            <a:avLst>
              <a:gd name="adj" fmla="val 5128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89520" y="4434840"/>
            <a:ext cx="3962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구간 평균은 내부 홀드아웃에서는 사전 기준에 못 미쳐 일단 기각했고, 이후 공식 Validation에서 별도로 고정한 기준을 넘어 제출 후보가 됐다. 두 판정과 이유를 모두 기록했다.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M1-XVEC-001-OFFVAL, M1-XVEC-002(2차), M1-XVEC-002-OFFVAL,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올라도 미리 정한 기준을 못 넘으면 채택하지 않았다.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67939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LightGBM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LR 채택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차이가 작고 더 단순·해석 쉬움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RBF-SVM 분류기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미달, 추론이 훨씬 느림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ECAPA 임베딩 추가·교체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x-vector LR + ECAPA LR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 98.30%로 소폭 높았지만 미리 정한 기준 미달, 차이가 우연과 구분되지 않음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25780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525780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5257800"/>
            <a:ext cx="10591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Val에서 더 높았던 모델을 왜 버렸나?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통화 차이는 우연과 구분되지 않는다. 결과를 본 뒤 기준을 낮추면 Validation에 과적합된다.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2026-10-05, docs/experiment_log.md M1-HEAD-001, M1-ECAPA-002, M1-FUSE-001-OFFVAL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최종 결과와 후속 과제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98.10%. 남녀 recall이 고르다.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98.26%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97.92%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95728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후속 과제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971800"/>
            <a:ext cx="54251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seed로 결과 재현 확인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통화의 화자 단위 정성 분석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피치(F0) 특징 검증 (미검증 가설)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 상태(2026-10-12),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문제·제약·최종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하나만 보고 신고자/대원을 가린다. log-mel + CNN 3개 평균, 공식 Validation 91.49%.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발화 조각 → 신고자(1) / 대원(0)   ·   지표 Accuracy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제약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0" y="2240280"/>
            <a:ext cx="286481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869680" y="2240280"/>
            <a:ext cx="2864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공식 Validation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startAt~endAt만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727884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82748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mel · 8 kHz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240280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998568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53432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맞춤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300프레임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발화만 사용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510964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251" y="3246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24115" y="3246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1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flipV="1">
            <a:off x="6781648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418091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251" y="3627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4115" y="3627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2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781648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418091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269251" y="4008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24115" y="4008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781648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9418091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9905695" y="32461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60559" y="3246120"/>
            <a:ext cx="17190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 0.5 → 신고자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 0.5 → 대원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57200" y="4480560"/>
            <a:ext cx="6181344" cy="190076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36" name="Image 1" descr="figures/anim/m2_waveform_to_mel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553712"/>
            <a:ext cx="6035040" cy="1754457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6858000" y="4480560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995160" y="4480560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차이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8321040" y="4480560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헤드셋·정해진 말투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휴대전화·잡음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6858000" y="5150723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6995160" y="5150723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단계적 검증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8321040" y="5150723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→ CNN(L2)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858000" y="5820886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995160" y="5820886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학습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8321040" y="5820886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사전학습·외부 데이터 없음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왼쪽 도식은 합성 신호(실제 통화 아님).  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86.44% → 90.98% → 91.49%. CNN의 이득은 목소리가 겹친 구간에 몰려 있었다.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5394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400800" y="2240280"/>
            <a:ext cx="5333695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83680" y="2340864"/>
            <a:ext cx="4967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CNN의 이득이 몰린 곳</a:t>
            </a:r>
            <a:endParaRPr lang="en-US" sz="1500" dirty="0"/>
          </a:p>
        </p:txBody>
      </p:sp>
      <p:pic>
        <p:nvPicPr>
          <p:cNvPr id="13" name="Image 1" descr="figures/anim/speakers_separatio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743200"/>
            <a:ext cx="2377440" cy="9773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14400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+7%p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0469880" y="2743200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구간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9144000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+2%p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10469880" y="3273552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않은 구간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583680" y="384048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대비 CNN 단일 모델의 개선 폭 (공식 Validation)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0" y="4343400"/>
            <a:ext cx="5333695" cy="1874520"/>
          </a:xfrm>
          <a:prstGeom prst="roundRect">
            <a:avLst>
              <a:gd name="adj" fmla="val 4878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537960" y="4343400"/>
            <a:ext cx="365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949440" y="4343400"/>
            <a:ext cx="464789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방식(한 발화씩 추론)으로 바꾸자 정확도가 떨어졌다. 원인은 학습 때의 배치 패딩과 추론 방식 차이였고, 모든 발화를 자기 자신만으로 같은 길이까지 채우도록 맞춰 회복했다.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M2-RETRAIN-001, M2-ENS-003, M2-RERUN-001, M2-COMPARE-002, M2-PAD-001·002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다른 접근과 기각·보류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하나로 끝내지 않고 여러 방향을 검증했다. 효과가 없거나 규칙에 어긋난 것은 이유와 함께 기록했다.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  <a:gridCol w="432511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통화의 다른 발화와 비교하는 특징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제거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(주최 측 답변)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text로 고친 라벨로 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라벨로 재학습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점수는 거의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모델과 CNN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CNN보다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CNN / 패딩 제외 풀링 / 길이 입력 / Mixup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기준 미달 또는 재현 안 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고정 임베딩 · 기본 미세조정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없음, 추론 비용 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미세조정 (3초 창·겹침 증강)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평가 진행 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비교는 Training 내부 통화 단위 홀드아웃 기준 (공식 Val 아님).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최종 결과와 보완할 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91.49%. 원본 데이터부터 다시 학습해도 같은 수준이 재현됐다.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4069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87.15%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445312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453128"/>
            <a:ext cx="3825118" cy="201168"/>
          </a:xfrm>
          <a:prstGeom prst="roundRect">
            <a:avLst>
              <a:gd name="adj" fmla="val 45455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5029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recall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5029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95.51%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22960" y="541324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" y="5413248"/>
            <a:ext cx="4192049" cy="201168"/>
          </a:xfrm>
          <a:prstGeom prst="roundRect">
            <a:avLst>
              <a:gd name="adj" fmla="val 45455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2240280"/>
            <a:ext cx="588233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080760" y="23774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2788920"/>
            <a:ext cx="5425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원본부터 다시 학습해도 같은 수준(91.49%)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852160" y="3840480"/>
            <a:ext cx="5882335" cy="2377440"/>
          </a:xfrm>
          <a:prstGeom prst="roundRect">
            <a:avLst>
              <a:gd name="adj" fmla="val 384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080760" y="39776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보완할 점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80760" y="4389120"/>
            <a:ext cx="5425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recall이 더 낮다.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"네", "여보세요" 같은 짧은 응답은 두 화자가 비슷하게 들리고, 규칙상 통화 맥락을 쓸 수 없다.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7889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7523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3355848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3558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3192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85800" y="3922776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227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38862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150" dirty="0"/>
          </a:p>
        </p:txBody>
      </p:sp>
      <p:pic>
        <p:nvPicPr>
          <p:cNvPr id="20" name="Image 1" descr="figures/canva/sym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526280"/>
            <a:ext cx="475488" cy="47548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85800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</a:t>
            </a:r>
            <a:endParaRPr lang="en-US" sz="950" dirty="0"/>
          </a:p>
        </p:txBody>
      </p:sp>
      <p:pic>
        <p:nvPicPr>
          <p:cNvPr id="22" name="Image 2" descr="figures/canva/sym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4526280"/>
            <a:ext cx="475488" cy="47548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344168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구토</a:t>
            </a:r>
            <a:endParaRPr lang="en-US" sz="950" dirty="0"/>
          </a:p>
        </p:txBody>
      </p:sp>
      <p:pic>
        <p:nvPicPr>
          <p:cNvPr id="24" name="Image 3" descr="figures/canva/sym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3976" y="4526280"/>
            <a:ext cx="475488" cy="47548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002536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두통</a:t>
            </a:r>
            <a:endParaRPr lang="en-US" sz="950" dirty="0"/>
          </a:p>
        </p:txBody>
      </p:sp>
      <p:pic>
        <p:nvPicPr>
          <p:cNvPr id="26" name="Image 4" descr="figures/canva/sym_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2344" y="4526280"/>
            <a:ext cx="475488" cy="47548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660904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</a:t>
            </a:r>
            <a:endParaRPr lang="en-US" sz="950" dirty="0"/>
          </a:p>
        </p:txBody>
      </p:sp>
      <p:pic>
        <p:nvPicPr>
          <p:cNvPr id="28" name="Image 5" descr="figures/canva/sym_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4526280"/>
            <a:ext cx="475488" cy="47548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3319272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어지러움</a:t>
            </a:r>
            <a:endParaRPr lang="en-US" sz="950" dirty="0"/>
          </a:p>
        </p:txBody>
      </p:sp>
      <p:pic>
        <p:nvPicPr>
          <p:cNvPr id="30" name="Image 6" descr="figures/canva/sym_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4" y="5394960"/>
            <a:ext cx="475488" cy="47548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4984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열상</a:t>
            </a:r>
            <a:endParaRPr lang="en-US" sz="950" dirty="0"/>
          </a:p>
        </p:txBody>
      </p:sp>
      <p:pic>
        <p:nvPicPr>
          <p:cNvPr id="32" name="Image 7" descr="figures/canva/sym_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5394960"/>
            <a:ext cx="475488" cy="47548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673352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</a:t>
            </a:r>
            <a:endParaRPr lang="en-US" sz="950" dirty="0"/>
          </a:p>
        </p:txBody>
      </p:sp>
      <p:pic>
        <p:nvPicPr>
          <p:cNvPr id="34" name="Image 8" descr="figures/canva/sym_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5394960"/>
            <a:ext cx="475488" cy="47548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2331720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전신쇠약</a:t>
            </a:r>
            <a:endParaRPr lang="en-US" sz="950" dirty="0"/>
          </a:p>
        </p:txBody>
      </p:sp>
      <p:pic>
        <p:nvPicPr>
          <p:cNvPr id="36" name="Image 9" descr="figures/canva/sym_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81528" y="5394960"/>
            <a:ext cx="475488" cy="47548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2990088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호흡곤란</a:t>
            </a:r>
            <a:endParaRPr lang="en-US" sz="950" dirty="0"/>
          </a:p>
        </p:txBody>
      </p:sp>
      <p:sp>
        <p:nvSpPr>
          <p:cNvPr id="38" name="Text 26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39" name="Shape 27"/>
          <p:cNvSpPr/>
          <p:nvPr/>
        </p:nvSpPr>
        <p:spPr>
          <a:xfrm>
            <a:off x="4572000" y="2697480"/>
            <a:ext cx="1417320" cy="160020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4626864" y="2697480"/>
            <a:ext cx="1307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6918808" y="269748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6973672" y="2697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42·43·44 평균</a:t>
            </a:r>
            <a:endParaRPr lang="en-US" sz="1400" dirty="0"/>
          </a:p>
        </p:txBody>
      </p:sp>
      <p:sp>
        <p:nvSpPr>
          <p:cNvPr id="43" name="Shape 31"/>
          <p:cNvSpPr/>
          <p:nvPr/>
        </p:nvSpPr>
        <p:spPr>
          <a:xfrm flipV="1">
            <a:off x="5989320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9204808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5" name="Text 33"/>
          <p:cNvSpPr txBox="1"/>
          <p:nvPr/>
        </p:nvSpPr>
        <p:spPr>
          <a:xfrm>
            <a:off x="9241384" y="2752344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0.55</a:t>
            </a:r>
            <a:endParaRPr lang="en-US" sz="1100" dirty="0"/>
          </a:p>
        </p:txBody>
      </p:sp>
      <p:sp>
        <p:nvSpPr>
          <p:cNvPr id="46" name="Shape 34"/>
          <p:cNvSpPr/>
          <p:nvPr/>
        </p:nvSpPr>
        <p:spPr>
          <a:xfrm>
            <a:off x="6918808" y="35661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7" name="Text 35"/>
          <p:cNvSpPr txBox="1"/>
          <p:nvPr/>
        </p:nvSpPr>
        <p:spPr>
          <a:xfrm>
            <a:off x="6973672" y="356616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48" name="Shape 36"/>
          <p:cNvSpPr/>
          <p:nvPr/>
        </p:nvSpPr>
        <p:spPr>
          <a:xfrm>
            <a:off x="5989320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9" name="Shape 37"/>
          <p:cNvSpPr/>
          <p:nvPr/>
        </p:nvSpPr>
        <p:spPr>
          <a:xfrm flipV="1">
            <a:off x="9204808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50" name="Text 38"/>
          <p:cNvSpPr txBox="1"/>
          <p:nvPr/>
        </p:nvSpPr>
        <p:spPr>
          <a:xfrm>
            <a:off x="9241384" y="4005072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0.45</a:t>
            </a:r>
            <a:endParaRPr lang="en-US" sz="1100" dirty="0"/>
          </a:p>
        </p:txBody>
      </p:sp>
      <p:sp>
        <p:nvSpPr>
          <p:cNvPr id="51" name="Shape 39"/>
          <p:cNvSpPr/>
          <p:nvPr/>
        </p:nvSpPr>
        <p:spPr>
          <a:xfrm>
            <a:off x="10134295" y="2697480"/>
            <a:ext cx="1600200" cy="1600200"/>
          </a:xfrm>
          <a:prstGeom prst="roundRect">
            <a:avLst>
              <a:gd name="adj" fmla="val 4571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10189159" y="2697480"/>
            <a:ext cx="1490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≥ 0.5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54" name="Text 42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  <p:sp>
        <p:nvSpPr>
          <p:cNvPr id="55" name="Text 4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docs/decisions.md M3-FINAL-002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최종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0.6534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377440"/>
          <a:ext cx="3840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개선 흐름 (모두 공식 Val)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635240" y="2743200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743200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271455" y="2743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35240" y="3218688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321868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0271455" y="3218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635240" y="3694176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0" y="369417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10271455" y="36941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635240" y="4169664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416966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271455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406640" y="4892040"/>
            <a:ext cx="4327855" cy="1325880"/>
          </a:xfrm>
          <a:prstGeom prst="roundRect">
            <a:avLst>
              <a:gd name="adj" fmla="val 689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89520" y="500176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가장 약한 증상 (빨강)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5413248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0.40 · 두통 0.53 · 전신쇠약 0.59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모델 선정과 오류 분석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앙상블이라고 모두 채택하지 않았다 — 내부 개선폭과 사전 기준으로 선택을 구분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03120"/>
          <a:ext cx="1127729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476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37947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37947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REJECT · 과거 결합 기각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+ RoBERTa: 동일 내부 분할에서 +0.0028. 사전 채택 기준 +0.01에 미달하고 오류도 많이 겹침.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507492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507492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05840" y="50749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ADOPT · 최종 가중 결합 채택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55% + TF-IDF 45%. 결합 비율은 Training 홀드아웃에서 사전 확정, 공식 Val은 채점만 수행.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03520" y="3794760"/>
            <a:ext cx="643097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532120" y="3904488"/>
            <a:ext cx="5973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 — 전사에 직접 표현이 없는 양성 라벨</a:t>
            </a:r>
            <a:endParaRPr lang="en-US" sz="15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5394960" y="4251960"/>
          <a:ext cx="24688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539496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52%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5394960" y="53218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 라벨 중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8046720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92%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모델이 놓친 양성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표현 없는 라벨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9799168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9799168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9799168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있는 라벨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맞힌 비율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5669280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TF-IDF·KcBERT의 오류 양상 차이 확인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(과거 모델 분석·정규식 기준, 오라벨 단정 아님)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M3-ENS-001·M3-FINAL-002, docs/experiment_log.md M3-ERR-001. 서로 다른 학습 조건의 공식 Val 점수 차이는 인과 효과가 아님.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Validation은 튜닝에 쓰지 않고, 결과를 보기 전에 고정한 기준만 확인했다.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신고자 성별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3800" dirty="0"/>
          </a:p>
        </p:txBody>
      </p:sp>
      <p:sp>
        <p:nvSpPr>
          <p:cNvPr id="12" name="Shape 9"/>
          <p:cNvSpPr/>
          <p:nvPr/>
        </p:nvSpPr>
        <p:spPr>
          <a:xfrm>
            <a:off x="2616098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16098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+2.99%p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x-vector + LR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07738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536338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신고자/대원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36338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3800" dirty="0"/>
          </a:p>
        </p:txBody>
      </p:sp>
      <p:sp>
        <p:nvSpPr>
          <p:cNvPr id="19" name="Shape 16"/>
          <p:cNvSpPr/>
          <p:nvPr/>
        </p:nvSpPr>
        <p:spPr>
          <a:xfrm>
            <a:off x="6466637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66637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+5.05%p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36338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 + CNN × 3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536338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158277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86877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 9종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386877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26" name="Shape 23"/>
          <p:cNvSpPr/>
          <p:nvPr/>
        </p:nvSpPr>
        <p:spPr>
          <a:xfrm>
            <a:off x="10317175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17175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+0.0845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86877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 × 3 + TF-IDF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8386877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2976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baseline: M1 95.11%, M2 86.44%, M3 0.5689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기준은 결과를 보기 전에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고정한다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본 뒤 기준을 낮추면 Validation에 과적합된다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307738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536338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36338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130698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4536338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158277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386877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86877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8981237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 지킨다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386877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이으면, 신고 전화가 들어오는 순간부터 출동 판단까지를 돕는 하나의 흐름이 된다.</a:t>
            </a:r>
            <a:endParaRPr lang="en-US" sz="1500" dirty="0"/>
          </a:p>
        </p:txBody>
      </p:sp>
      <p:pic>
        <p:nvPicPr>
          <p:cNvPr id="9" name="Image 1" descr="figures/anim/flow_pipelin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2194560"/>
            <a:ext cx="10972800" cy="13258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36118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85800" y="37216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42062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수기 기록 부담 감소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 표시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출동 우선순위 결정 지원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394960" y="3611880"/>
            <a:ext cx="6339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623560" y="3721608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623560" y="420624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 정성 분석, 피치(F0) 특징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음성 모델(WavLM) 앙상블의 공식 검증, 짧은 응답 발화 보강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라벨 구간 오류 분석, 오심·두통 개선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도중 실시간 처리 시나리오 검토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57200" y="58521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5852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58521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유의점  </a:t>
            </a:r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출력은 요원의 판단을 돕는 정보이며, 오분류 가능성을 감안해 사람이 최종 확인한다.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별첨  Mission 3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데이터 특성과 모델 설계 근거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데이터의 불균형과 입력 길이를 고려해 학습 손실과 최종 앙상블 방식을 설계했다.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157984"/>
            <a:ext cx="5486400" cy="2578608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172200" y="2157984"/>
            <a:ext cx="5562295" cy="2578608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0080" y="22585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관찰 → 설계 결정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67512" y="264261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3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불균형</a:t>
            </a:r>
            <a:endParaRPr lang="en-US" sz="1130" dirty="0"/>
          </a:p>
        </p:txBody>
      </p:sp>
      <p:sp>
        <p:nvSpPr>
          <p:cNvPr id="13" name="Text 10"/>
          <p:cNvSpPr txBox="1"/>
          <p:nvPr/>
        </p:nvSpPr>
        <p:spPr>
          <a:xfrm>
            <a:off x="1764792" y="2642616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증상 양성 비율 9.9~23.2%</a:t>
            </a:r>
            <a:endParaRPr lang="en-US" sz="1080" dirty="0"/>
          </a:p>
        </p:txBody>
      </p:sp>
      <p:sp>
        <p:nvSpPr>
          <p:cNvPr id="14" name="Text 11"/>
          <p:cNvSpPr txBox="1"/>
          <p:nvPr/>
        </p:nvSpPr>
        <p:spPr>
          <a:xfrm>
            <a:off x="1764792" y="2907792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pos_weight BCE + Soft macro-F1</a:t>
            </a:r>
            <a:endParaRPr lang="en-US" sz="1060" dirty="0"/>
          </a:p>
        </p:txBody>
      </p:sp>
      <p:sp>
        <p:nvSpPr>
          <p:cNvPr id="15" name="Shape 12"/>
          <p:cNvSpPr/>
          <p:nvPr/>
        </p:nvSpPr>
        <p:spPr>
          <a:xfrm>
            <a:off x="658368" y="3236976"/>
            <a:ext cx="5084064" cy="0"/>
          </a:xfrm>
          <a:prstGeom prst="line">
            <a:avLst/>
          </a:prstGeom>
          <a:noFill/>
          <a:ln w="7620">
            <a:solidFill>
              <a:srgbClr val="E0E0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7512" y="3310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3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길이</a:t>
            </a:r>
            <a:endParaRPr lang="en-US" sz="1130" dirty="0"/>
          </a:p>
        </p:txBody>
      </p:sp>
      <p:sp>
        <p:nvSpPr>
          <p:cNvPr id="17" name="Text 14"/>
          <p:cNvSpPr txBox="1"/>
          <p:nvPr/>
        </p:nvSpPr>
        <p:spPr>
          <a:xfrm>
            <a:off x="1764792" y="3310128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40.7%가 256토큰 초과 · 512토큰 +0.0074</a:t>
            </a:r>
            <a:endParaRPr lang="en-US" sz="1080" dirty="0"/>
          </a:p>
        </p:txBody>
      </p:sp>
      <p:sp>
        <p:nvSpPr>
          <p:cNvPr id="18" name="Text 15"/>
          <p:cNvSpPr txBox="1"/>
          <p:nvPr/>
        </p:nvSpPr>
        <p:spPr>
          <a:xfrm>
            <a:off x="1764792" y="3575304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기준 +0.01 미달·약 4배 시간 → 256 유지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658368" y="3904488"/>
            <a:ext cx="5084064" cy="0"/>
          </a:xfrm>
          <a:prstGeom prst="line">
            <a:avLst/>
          </a:prstGeom>
          <a:noFill/>
          <a:ln w="7620">
            <a:solidFill>
              <a:srgbClr val="E0E0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7512" y="39776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3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정보</a:t>
            </a:r>
            <a:endParaRPr lang="en-US" sz="1130" dirty="0"/>
          </a:p>
        </p:txBody>
      </p:sp>
      <p:sp>
        <p:nvSpPr>
          <p:cNvPr id="21" name="Text 18"/>
          <p:cNvSpPr txBox="1"/>
          <p:nvPr/>
        </p:nvSpPr>
        <p:spPr>
          <a:xfrm>
            <a:off x="1764792" y="3977640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text만 원본 시간순 연결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764792" y="4242816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화자 태그·허용되지 않은 라벨 제외</a:t>
            </a:r>
            <a:endParaRPr lang="en-US" sz="1060" dirty="0"/>
          </a:p>
        </p:txBody>
      </p:sp>
      <p:sp>
        <p:nvSpPr>
          <p:cNvPr id="23" name="Text 20"/>
          <p:cNvSpPr txBox="1"/>
          <p:nvPr/>
        </p:nvSpPr>
        <p:spPr>
          <a:xfrm>
            <a:off x="6355080" y="2258568"/>
            <a:ext cx="5196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학습 손실 설계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633472"/>
            <a:ext cx="519653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가중치</a:t>
            </a:r>
            <a:endParaRPr lang="en-US" sz="1080" dirty="0"/>
          </a:p>
        </p:txBody>
      </p:sp>
      <p:sp>
        <p:nvSpPr>
          <p:cNvPr id="25" name="Shape 22"/>
          <p:cNvSpPr/>
          <p:nvPr/>
        </p:nvSpPr>
        <p:spPr>
          <a:xfrm>
            <a:off x="6336792" y="2871216"/>
            <a:ext cx="5233111" cy="411480"/>
          </a:xfrm>
          <a:prstGeom prst="roundRect">
            <a:avLst>
              <a:gd name="adj" fmla="val 13333"/>
            </a:avLst>
          </a:prstGeom>
          <a:solidFill>
            <a:srgbClr val="EAF3FA"/>
          </a:solidFill>
          <a:ln w="7620">
            <a:solidFill>
              <a:srgbClr val="E0E0E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28232" y="2871216"/>
            <a:ext cx="50502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wⱼ = clip(0.5 × √((N − Pⱼ) / max(Pⱼ, 1)), 1, 6)</a:t>
            </a:r>
            <a:endParaRPr lang="en-US" sz="127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3328416"/>
            <a:ext cx="51050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N: Training 통화 수 · Pⱼ: 증상 j 양성 통화 수</a:t>
            </a:r>
            <a:endParaRPr lang="en-US" sz="101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3566160"/>
            <a:ext cx="510509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 증상의 양성 오류에 더 큰 가중치</a:t>
            </a:r>
            <a:endParaRPr lang="en-US" sz="1010" dirty="0"/>
          </a:p>
        </p:txBody>
      </p:sp>
      <p:sp>
        <p:nvSpPr>
          <p:cNvPr id="29" name="Text 26"/>
          <p:cNvSpPr txBox="1"/>
          <p:nvPr/>
        </p:nvSpPr>
        <p:spPr>
          <a:xfrm>
            <a:off x="6355080" y="3813048"/>
            <a:ext cx="519653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학습 손실</a:t>
            </a:r>
            <a:endParaRPr lang="en-US" sz="1080" dirty="0"/>
          </a:p>
        </p:txBody>
      </p:sp>
      <p:sp>
        <p:nvSpPr>
          <p:cNvPr id="30" name="Shape 27"/>
          <p:cNvSpPr/>
          <p:nvPr/>
        </p:nvSpPr>
        <p:spPr>
          <a:xfrm>
            <a:off x="6336792" y="4050792"/>
            <a:ext cx="5233111" cy="384048"/>
          </a:xfrm>
          <a:prstGeom prst="roundRect">
            <a:avLst>
              <a:gd name="adj" fmla="val 14286"/>
            </a:avLst>
          </a:prstGeom>
          <a:solidFill>
            <a:srgbClr val="F8F9FA"/>
          </a:solidFill>
          <a:ln w="7620">
            <a:solidFill>
              <a:srgbClr val="E0E0E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19088" y="4050792"/>
            <a:ext cx="50685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 = BCEWithLogits(pos_weight = wⱼ) + 1 − meanⱼ(SoftF1ⱼ)</a:t>
            </a:r>
            <a:endParaRPr lang="en-US" sz="1160" dirty="0"/>
          </a:p>
        </p:txBody>
      </p:sp>
      <p:sp>
        <p:nvSpPr>
          <p:cNvPr id="32" name="Text 29"/>
          <p:cNvSpPr txBox="1"/>
          <p:nvPr/>
        </p:nvSpPr>
        <p:spPr>
          <a:xfrm>
            <a:off x="6355080" y="4480560"/>
            <a:ext cx="519653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실효 batch 16 = micro batch 8 × 2 · Soft-F1은 micro batch별 계산</a:t>
            </a:r>
            <a:endParaRPr lang="en-US" sz="930" dirty="0"/>
          </a:p>
        </p:txBody>
      </p:sp>
      <p:sp>
        <p:nvSpPr>
          <p:cNvPr id="33" name="Shape 30"/>
          <p:cNvSpPr/>
          <p:nvPr/>
        </p:nvSpPr>
        <p:spPr>
          <a:xfrm>
            <a:off x="457200" y="4855464"/>
            <a:ext cx="1127729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9224" y="4928616"/>
            <a:ext cx="108932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최종 앙상블과 판정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40080" y="5257800"/>
            <a:ext cx="342900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9808" y="5358384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· RoBERTa 3-seed 평균</a:t>
            </a:r>
            <a:endParaRPr lang="en-US" sz="1020" dirty="0"/>
          </a:p>
        </p:txBody>
      </p:sp>
      <p:sp>
        <p:nvSpPr>
          <p:cNvPr id="37" name="Text 34"/>
          <p:cNvSpPr txBox="1"/>
          <p:nvPr/>
        </p:nvSpPr>
        <p:spPr>
          <a:xfrm>
            <a:off x="704088" y="5596128"/>
            <a:ext cx="3300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= (p42 + p43 + p44) / 3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082796" y="5486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4389120" y="5257800"/>
            <a:ext cx="3429000" cy="704088"/>
          </a:xfrm>
          <a:prstGeom prst="roundRect">
            <a:avLst>
              <a:gd name="adj" fmla="val 7792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98848" y="5358384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· 최종 앙상블 확률</a:t>
            </a:r>
            <a:endParaRPr lang="en-US" sz="1020" dirty="0"/>
          </a:p>
        </p:txBody>
      </p:sp>
      <p:sp>
        <p:nvSpPr>
          <p:cNvPr id="41" name="Text 38"/>
          <p:cNvSpPr txBox="1"/>
          <p:nvPr/>
        </p:nvSpPr>
        <p:spPr>
          <a:xfrm>
            <a:off x="4453128" y="5596128"/>
            <a:ext cx="3300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pfinal = 0.55 × pR + 0.45 × pTF-IDF</a:t>
            </a:r>
            <a:endParaRPr lang="en-US" sz="1360" dirty="0"/>
          </a:p>
        </p:txBody>
      </p:sp>
      <p:sp>
        <p:nvSpPr>
          <p:cNvPr id="42" name="Text 39"/>
          <p:cNvSpPr txBox="1"/>
          <p:nvPr/>
        </p:nvSpPr>
        <p:spPr>
          <a:xfrm>
            <a:off x="7831836" y="5486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8138160" y="5257800"/>
            <a:ext cx="342900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47888" y="5358384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· 최종 판정</a:t>
            </a:r>
            <a:endParaRPr lang="en-US" sz="1020" dirty="0"/>
          </a:p>
        </p:txBody>
      </p:sp>
      <p:sp>
        <p:nvSpPr>
          <p:cNvPr id="45" name="Text 42"/>
          <p:cNvSpPr txBox="1"/>
          <p:nvPr/>
        </p:nvSpPr>
        <p:spPr>
          <a:xfrm>
            <a:off x="8202168" y="5596128"/>
            <a:ext cx="3300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ŷⱼ = 1 if pfinal,ⱼ ≥ 0.5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40080" y="6016752"/>
            <a:ext cx="109115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증상에 동일한 threshold 0.5 적용 · 증상별 threshold 조정 및 별도 후처리 없음</a:t>
            </a:r>
            <a:endParaRPr lang="en-US" sz="101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1908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입력 길이와 512토큰 실험은 Training 내부 80:20 홀드아웃 기준이며, 공식 Validation은 모델 선택에 사용하지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별첨  Mission 3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입력 길이 확대 실험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512토큰은 성능이 개선됐지만 사전 채택 기준과 계산비용 조건을 충족하지 못함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240280"/>
          <a:ext cx="64008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1261872" y="3968496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0.6439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3063240" y="3429000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0.6504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882896" y="331927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0.6515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256토큰 초과 통화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2,359건 · 40.7%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512토큰 초과 통화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2.9%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256토큰 기준 Macro F1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0.6441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512토큰 최종 Macro F1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0.6515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개선폭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+0.0074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채택 기준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+0.0100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학습시간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77.5분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계산비용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4배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512토큰 확대안 기각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7086600" y="5669280"/>
            <a:ext cx="4645152" cy="621792"/>
          </a:xfrm>
          <a:prstGeom prst="roundRect">
            <a:avLst>
              <a:gd name="adj" fmla="val 8824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269480" y="5669280"/>
            <a:ext cx="42793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성능은 개선됐지만 사전 기준에 미달했고 계산비용이 증가해 앞 256토큰을 유지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Training 내부 80:20 홀드아웃, seed 42 기준. 공식 Validation은 사용하지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별첨  Mission 3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낮은 성능 3개 라벨의 오류 구조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표현이 없는 양성이 많았고, 두통과 오심은 표현 유무에 따라 recall 차이가 컸다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249424"/>
          <a:ext cx="5806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3952" y="2304288"/>
          <a:ext cx="525780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024128"/>
                <a:gridCol w="877824"/>
                <a:gridCol w="1234440"/>
                <a:gridCol w="1463040"/>
              </a:tblGrid>
              <a:tr h="438912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앙상블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 F1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(3,640건)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Training 내부 홀드아웃 오류 진단 (5,792건)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29F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5029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내부 홀드아웃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 수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2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표현 없음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2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내부 TF-IDF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TP / FP / FN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29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전신쇠약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0.5939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1,062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804건 · 75.7%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675 / 846 / 387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두통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0.5315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581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370건 · 63.7%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245 / 372 / 336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오심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0.4000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668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592건 · 88.6%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263 / 754 / 405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73952" y="4983480"/>
            <a:ext cx="5257800" cy="658368"/>
          </a:xfrm>
          <a:prstGeom prst="roundRect">
            <a:avLst>
              <a:gd name="adj" fmla="val 833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656832" y="502920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오심은 양성의 88.6%에서 직접 표현을 찾지 못했고, 두통은 표현이 없을 때 recall이 0.195까지 낮아졌다.</a:t>
            </a:r>
            <a:endParaRPr lang="en-US" sz="1120" dirty="0"/>
          </a:p>
        </p:txBody>
      </p:sp>
      <p:sp>
        <p:nvSpPr>
          <p:cNvPr id="13" name="Text 8"/>
          <p:cNvSpPr txBox="1"/>
          <p:nvPr/>
        </p:nvSpPr>
        <p:spPr>
          <a:xfrm>
            <a:off x="6656832" y="5358384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통화에서 관찰할 수 없는 정보가 성능을 제한했을 가능성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5797296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88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최종 F1은 최종 RoBERTa 3-seed + TF-IDF 앙상블의 공식 Validation 결과</a:t>
            </a:r>
            <a:endParaRPr lang="en-US" sz="88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88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오류 진단은 Training 80:20 홀드아웃 5,792건의 TF-IDF 모델 기준</a:t>
            </a:r>
            <a:endParaRPr lang="en-US" sz="88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88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직접 표현 여부는 증상별 정규식 탐색 결과이며, 구어체 변형을 모두 포착하지 못하므로 표현 비율은 하한값</a:t>
            </a:r>
            <a:endParaRPr lang="en-US" sz="88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88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직접 표현이 없다는 결과는 오라벨을 의미하지 않음</a:t>
            </a:r>
            <a:endParaRPr lang="en-US" sz="8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2026-10-13T02:41:55Z</dcterms:created>
  <dcterms:modified xsi:type="dcterms:W3CDTF">2026-10-13T02:41:55Z</dcterms:modified>
</cp:coreProperties>
</file>