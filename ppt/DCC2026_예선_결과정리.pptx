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2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3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charts/chart4.xml" ContentType="application/vnd.openxmlformats-officedocument.drawingml.chart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charts/chart5.xml" ContentType="application/vnd.openxmlformats-officedocument.drawingml.chart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notesMasterIdLst>
    <p:notesMasterId r:id="rId3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notesMaster" Target="notesMasters/notesMaster1.xml"/><Relationship Id="rId37" Type="http://schemas.openxmlformats.org/officeDocument/2006/relationships/presProps" Target="presProps.xml"/><Relationship Id="rId38" Type="http://schemas.openxmlformats.org/officeDocument/2006/relationships/viewProps" Target="viewProps.xml"/><Relationship Id="rId39" Type="http://schemas.openxmlformats.org/officeDocument/2006/relationships/theme" Target="theme/theme1.xml"/><Relationship Id="rId4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212121"/>
                </a:solidFill>
                <a:latin typeface="맑은 고딕"/>
              </a:defRPr>
            </a:pPr>
            <a:r>
              <a:rPr sz="1200" b="0" i="0" u="none" strike="noStrike">
                <a:solidFill>
                  <a:srgbClr val="212121"/>
                </a:solidFill>
                <a:latin typeface="맑은 고딕"/>
              </a:rPr>
              <a:t>모델별 Accuracy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Accuracy</c:v>
                </c:pt>
              </c:strCache>
            </c:strRef>
          </c:tx>
          <c:spPr>
            <a:solidFill>
              <a:srgbClr val="009DDA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09DD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F4E91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GBM</c:v>
                  </c:pt>
                  <c:pt idx="1">
                    <c:v>LR (채택)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94.92</c:v>
                </c:pt>
                <c:pt idx="1">
                  <c:v>95.11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1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12121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7"/>
          <c:min val="90"/>
        </c:scaling>
        <c:delete val="0"/>
        <c:axPos val="l"/>
        <c:majorGridlines>
          <c:spPr>
            <a:ln w="6350" cap="flat">
              <a:solidFill>
                <a:srgbClr val="E0E0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16161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212121"/>
                </a:solidFill>
                <a:latin typeface="맑은 고딕"/>
              </a:defRPr>
            </a:pPr>
            <a:r>
              <a:rPr sz="1200" b="0" i="0" u="none" strike="noStrike">
                <a:solidFill>
                  <a:srgbClr val="212121"/>
                </a:solidFill>
                <a:latin typeface="맑은 고딕"/>
              </a:rPr>
              <a:t>모델별 Accuracy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Accuracy</c:v>
                </c:pt>
              </c:strCache>
            </c:strRef>
          </c:tx>
          <c:spPr>
            <a:solidFill>
              <a:srgbClr val="009DDA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09DD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F4E91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GBM</c:v>
                  </c:pt>
                  <c:pt idx="1">
                    <c:v>LR (채택)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94.92</c:v>
                </c:pt>
                <c:pt idx="1">
                  <c:v>95.11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1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12121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7"/>
          <c:min val="90"/>
        </c:scaling>
        <c:delete val="0"/>
        <c:axPos val="l"/>
        <c:majorGridlines>
          <c:spPr>
            <a:ln w="6350" cap="flat">
              <a:solidFill>
                <a:srgbClr val="E0E0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16161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발화 수</c:v>
                </c:pt>
              </c:strCache>
            </c:strRef>
          </c:tx>
          <c:spPr>
            <a:solidFill>
              <a:srgbClr val="009DD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0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0.5초
미만</c:v>
                  </c:pt>
                  <c:pt idx="1">
                    <c:v>0.5~1초</c:v>
                  </c:pt>
                  <c:pt idx="2">
                    <c:v>1~2초</c:v>
                  </c:pt>
                  <c:pt idx="3">
                    <c:v>2초
이상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8954</c:v>
                </c:pt>
                <c:pt idx="1">
                  <c:v>27392</c:v>
                </c:pt>
                <c:pt idx="2">
                  <c:v>36858</c:v>
                </c:pt>
                <c:pt idx="3">
                  <c:v>38743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05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212121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212121"/>
                </a:solidFill>
                <a:latin typeface="맑은 고딕"/>
              </a:defRPr>
            </a:pPr>
            <a:r>
              <a:rPr sz="1200" b="0" i="0" u="none" strike="noStrike">
                <a:solidFill>
                  <a:srgbClr val="212121"/>
                </a:solidFill>
                <a:latin typeface="맑은 고딕"/>
              </a:rPr>
              <a:t>모델 수에 따른 공식 Validation Accuracy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Accuracy</c:v>
                </c:pt>
              </c:strCache>
            </c:strRef>
          </c:tx>
          <c:spPr>
            <a:solidFill>
              <a:srgbClr val="E0E0E0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0E0E0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09DD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2F4E91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모델 1개
(평균)</c:v>
                  </c:pt>
                  <c:pt idx="1">
                    <c:v>모델 2개
평균</c:v>
                  </c:pt>
                  <c:pt idx="2">
                    <c:v>모델 3개
평균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90.97</c:v>
                </c:pt>
                <c:pt idx="1">
                  <c:v>91.41</c:v>
                </c:pt>
                <c:pt idx="2">
                  <c:v>91.55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1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50" b="0" i="0" u="none" strike="noStrike">
                <a:solidFill>
                  <a:srgbClr val="212121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2"/>
          <c:min val="90"/>
        </c:scaling>
        <c:delete val="0"/>
        <c:axPos val="l"/>
        <c:majorGridlines>
          <c:spPr>
            <a:ln w="6350" cap="flat">
              <a:solidFill>
                <a:srgbClr val="E0E0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16161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Accuracy</c:v>
                </c:pt>
              </c:strCache>
            </c:strRef>
          </c:tx>
          <c:spPr>
            <a:solidFill>
              <a:srgbClr val="E0E0E0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0E0E0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09DD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2F4E91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GBM
(L1)</c:v>
                  </c:pt>
                  <c:pt idx="1">
                    <c:v>CNN 1개</c:v>
                  </c:pt>
                  <c:pt idx="2">
                    <c:v>CNN 3개
앙상블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86.44</c:v>
                </c:pt>
                <c:pt idx="1">
                  <c:v>90.97</c:v>
                </c:pt>
                <c:pt idx="2">
                  <c:v>91.49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1" i="0" strike="noStrike" sz="11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212121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3"/>
          <c:min val="84"/>
        </c:scaling>
        <c:delete val="0"/>
        <c:axPos val="l"/>
        <c:majorGridlines>
          <c:spPr>
            <a:ln w="6350" cap="flat">
              <a:solidFill>
                <a:srgbClr val="E0E0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16161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공식 템플릿(D+AICC PPT 대학부 템플릿.pptx) 슬라이드1 그대로. 이 장에는 글자를 추가하지 않음 — 프로젝트·팀 정보는 다음 장(2p)에서 제시.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프로젝트 타이틀. 공식 표지 바로 뒤에 배치해 제목·팀명을 보강.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step0 저장소 README의 W2~W6 로드맵 기준. 필요하면 각 주차 대표 산출물(타이타닉 EDA 그래프 등) 캡처를 작게 추가.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PR·브랜치 수는 제출 직전 gh pr list / git branch -r 로 갱신.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통계 수치는 build_manifest.py / 데이터 감사 보고서(reports/) 기준으로 채우기.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실제 EDA 산출 그래프(reports/eda/figures). 세 카드 모두 '발견 → 설계 반영' 한 쌍 — 심사위원은 말없이 읽으므로 그래프 제목만 보고도 결론이 보이게.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src/dcc_data 공통 모듈, scripts/ 진입점 기준. 제출 폴더 구조(미션별 3폴더)를 여기 작게 넣어도 좋음.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서면 심사라 '다른 건 안 해봤나' 질문에 답할 기회가 없음 — 분석 과정 자체를 슬라이드에 그대로 옮김.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제출 상태(2026-10-07 기준): scripts/mission1_inference.py 구현 완료, CSV 스모크 테스트(헤더·행 수·UTF-8)는 아직 미확인 — m1_submission_checklist.md 참고.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본선 전까지 KcBERT 등 결과가 나오면 M3-B(30p)의 수치를 갱신하고, 이 장은 '실제로 더 해본 것'으로 내용 교체.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출제문제 12쪽 필수 항목 '사회안전 시사점'이 이 장의 핵심. 미션별 결과 장의 시사점 한 줄과 표현을 맞출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공식 템플릿(슬라이드4) 그대로. 흰 여백(약 2.1~2.9in)에만 팀 정보를 얹음 — 배너 그래픽은 건드리지 않음.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1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1" Type="http://schemas.openxmlformats.org/officeDocument/2006/relationships/image" Target="../media/image-1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3.xml"/><Relationship Id="rId1" Type="http://schemas.openxmlformats.org/officeDocument/2006/relationships/image" Target="../media/image-17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4.xml"/><Relationship Id="rId1" Type="http://schemas.openxmlformats.org/officeDocument/2006/relationships/image" Target="../media/image-22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5.xml"/><Relationship Id="rId1" Type="http://schemas.openxmlformats.org/officeDocument/2006/relationships/image" Target="../media/image-24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cov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3716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8288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2860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7432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576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1148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0292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9436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8580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3152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7724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2296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6868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1440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6012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00584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05156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09728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14300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18872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457200"/>
            <a:ext cx="12191695" cy="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914400"/>
            <a:ext cx="12191695" cy="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1371600"/>
            <a:ext cx="12191695" cy="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1828800"/>
            <a:ext cx="12191695" cy="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2286000"/>
            <a:ext cx="12191695" cy="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2743200"/>
            <a:ext cx="12191695" cy="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3200400"/>
            <a:ext cx="12191695" cy="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0" y="3657600"/>
            <a:ext cx="12191695" cy="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0" y="4114800"/>
            <a:ext cx="12191695" cy="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0" y="4572000"/>
            <a:ext cx="12191695" cy="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0" y="5029200"/>
            <a:ext cx="12191695" cy="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0" y="5486400"/>
            <a:ext cx="12191695" cy="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0" y="5943600"/>
            <a:ext cx="12191695" cy="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0" y="6400800"/>
            <a:ext cx="12191695" cy="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0" y="6858000"/>
            <a:ext cx="12191695" cy="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090008" y="502920"/>
            <a:ext cx="2011680" cy="365760"/>
          </a:xfrm>
          <a:prstGeom prst="roundRect">
            <a:avLst>
              <a:gd name="adj" fmla="val 20000"/>
            </a:avLst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5090008" y="50292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대학부 예선</a:t>
            </a:r>
            <a:endParaRPr lang="en-US" sz="1400" dirty="0"/>
          </a:p>
        </p:txBody>
      </p:sp>
      <p:sp>
        <p:nvSpPr>
          <p:cNvPr id="47" name="Text 45"/>
          <p:cNvSpPr txBox="1"/>
          <p:nvPr/>
        </p:nvSpPr>
        <p:spPr>
          <a:xfrm>
            <a:off x="457200" y="105156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 데이터+AI 크리에이터 캠프  |  결과 정리</a:t>
            </a:r>
            <a:endParaRPr lang="en-US" sz="1300" dirty="0"/>
          </a:p>
        </p:txBody>
      </p:sp>
      <p:sp>
        <p:nvSpPr>
          <p:cNvPr id="48" name="Text 46"/>
          <p:cNvSpPr txBox="1"/>
          <p:nvPr/>
        </p:nvSpPr>
        <p:spPr>
          <a:xfrm>
            <a:off x="457200" y="2286000"/>
            <a:ext cx="11277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전화대화 음성 및 전사 데이터를 이용한</a:t>
            </a:r>
            <a:endParaRPr lang="en-US" sz="2800" dirty="0"/>
          </a:p>
        </p:txBody>
      </p:sp>
      <p:sp>
        <p:nvSpPr>
          <p:cNvPr id="49" name="Text 47"/>
          <p:cNvSpPr txBox="1"/>
          <p:nvPr/>
        </p:nvSpPr>
        <p:spPr>
          <a:xfrm>
            <a:off x="457200" y="2834640"/>
            <a:ext cx="112772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응급상황 인식</a:t>
            </a:r>
            <a:endParaRPr lang="en-US" sz="4400" dirty="0"/>
          </a:p>
        </p:txBody>
      </p:sp>
      <p:sp>
        <p:nvSpPr>
          <p:cNvPr id="50" name="Text 48"/>
          <p:cNvSpPr txBox="1"/>
          <p:nvPr/>
        </p:nvSpPr>
        <p:spPr>
          <a:xfrm>
            <a:off x="457200" y="3703320"/>
            <a:ext cx="11277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: Mission 1~3 수행 결과 정리</a:t>
            </a:r>
            <a:endParaRPr lang="en-US" sz="2000" dirty="0"/>
          </a:p>
        </p:txBody>
      </p:sp>
      <p:sp>
        <p:nvSpPr>
          <p:cNvPr id="51" name="Shape 49"/>
          <p:cNvSpPr/>
          <p:nvPr/>
        </p:nvSpPr>
        <p:spPr>
          <a:xfrm>
            <a:off x="3169768" y="4572000"/>
            <a:ext cx="585216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52" name="Text 50"/>
          <p:cNvSpPr txBox="1"/>
          <p:nvPr/>
        </p:nvSpPr>
        <p:spPr>
          <a:xfrm>
            <a:off x="3169768" y="4572000"/>
            <a:ext cx="5852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팀 eigensinn</a:t>
            </a:r>
            <a:pPr algn="ctr" indent="0" marL="0">
              <a:buNone/>
            </a:pPr>
            <a:r>
              <a:rPr lang="en-US" sz="15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김장수 · 김광희 · 지연우 · 이수빈 · 조지은</a:t>
            </a:r>
            <a:endParaRPr lang="en-US" sz="1500" dirty="0"/>
          </a:p>
        </p:txBody>
      </p:sp>
      <p:sp>
        <p:nvSpPr>
          <p:cNvPr id="53" name="Text 51"/>
          <p:cNvSpPr txBox="1"/>
          <p:nvPr/>
        </p:nvSpPr>
        <p:spPr>
          <a:xfrm>
            <a:off x="8076895" y="63093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제출일 2026. 10. 14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826618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목차</a:t>
            </a:r>
            <a:endParaRPr lang="en-US" sz="28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920240"/>
            <a:ext cx="261358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600" b="1" dirty="0">
                <a:solidFill>
                  <a:srgbClr val="DCE3E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</a:t>
            </a:r>
            <a:endParaRPr lang="en-US" sz="96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880360"/>
            <a:ext cx="25221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준비 과정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548640" y="3520440"/>
            <a:ext cx="2339264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3703320"/>
            <a:ext cx="252214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사전 학습 로드맵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팀 구성과 협업 체계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3345104" y="1920240"/>
            <a:ext cx="261358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600" b="1" dirty="0">
                <a:solidFill>
                  <a:srgbClr val="DCE3E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9600" dirty="0"/>
          </a:p>
        </p:txBody>
      </p:sp>
      <p:sp>
        <p:nvSpPr>
          <p:cNvPr id="9" name="Text 6"/>
          <p:cNvSpPr txBox="1"/>
          <p:nvPr/>
        </p:nvSpPr>
        <p:spPr>
          <a:xfrm>
            <a:off x="3436544" y="2880360"/>
            <a:ext cx="25221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분석</a:t>
            </a:r>
            <a:endParaRPr lang="en-US" sz="2200" dirty="0"/>
          </a:p>
        </p:txBody>
      </p:sp>
      <p:sp>
        <p:nvSpPr>
          <p:cNvPr id="10" name="Shape 7"/>
          <p:cNvSpPr/>
          <p:nvPr/>
        </p:nvSpPr>
        <p:spPr>
          <a:xfrm>
            <a:off x="3436544" y="3520440"/>
            <a:ext cx="2339264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436544" y="3703320"/>
            <a:ext cx="252214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데이터 개요와 대회 규칙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EDA 핵심 발견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공통 파이프라인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6233008" y="1920240"/>
            <a:ext cx="261358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600" b="1" dirty="0">
                <a:solidFill>
                  <a:srgbClr val="DCE3E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9600" dirty="0"/>
          </a:p>
        </p:txBody>
      </p:sp>
      <p:sp>
        <p:nvSpPr>
          <p:cNvPr id="13" name="Text 10"/>
          <p:cNvSpPr txBox="1"/>
          <p:nvPr/>
        </p:nvSpPr>
        <p:spPr>
          <a:xfrm>
            <a:off x="6324448" y="2880360"/>
            <a:ext cx="25221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미션별 수행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6324448" y="3520440"/>
            <a:ext cx="2339264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324448" y="3703320"/>
            <a:ext cx="252214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Mission 1  신고자 성별 분류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(+ 연구 방법·시행착오)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Mission 2  신고자/대원 분류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(+ 연구 방법·시행착오, 김광희 파트)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Mission 3  환자 증상 인식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(+ 확장 계획)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9120911" y="1920240"/>
            <a:ext cx="261358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600" b="1" dirty="0">
                <a:solidFill>
                  <a:srgbClr val="DCE3E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9600" dirty="0"/>
          </a:p>
        </p:txBody>
      </p:sp>
      <p:sp>
        <p:nvSpPr>
          <p:cNvPr id="17" name="Text 14"/>
          <p:cNvSpPr txBox="1"/>
          <p:nvPr/>
        </p:nvSpPr>
        <p:spPr>
          <a:xfrm>
            <a:off x="9212351" y="2880360"/>
            <a:ext cx="25221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종합 및 시사점</a:t>
            </a:r>
            <a:endParaRPr lang="en-US" sz="2200" dirty="0"/>
          </a:p>
        </p:txBody>
      </p:sp>
      <p:sp>
        <p:nvSpPr>
          <p:cNvPr id="18" name="Shape 15"/>
          <p:cNvSpPr/>
          <p:nvPr/>
        </p:nvSpPr>
        <p:spPr>
          <a:xfrm>
            <a:off x="9212351" y="3520440"/>
            <a:ext cx="2339264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9212351" y="3703320"/>
            <a:ext cx="252214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성능 요약과 교훈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사회안전 시사점과 향후 계획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  준비 과정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4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(1) 발대식 전 사전 학습 로드맵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처음 보는 데이터로도  QA → Baseline → 검증 → 통제 실험 → 제출  흐름을 끝까지 돌 수 있도록 대회 전에 미리 연습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2331720"/>
            <a:ext cx="1627632" cy="1920240"/>
          </a:xfrm>
          <a:prstGeom prst="roundRect">
            <a:avLst>
              <a:gd name="adj" fmla="val 5618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57200" y="2331720"/>
            <a:ext cx="1627632" cy="457200"/>
          </a:xfrm>
          <a:prstGeom prst="roundRect">
            <a:avLst>
              <a:gd name="adj" fmla="val 20000"/>
            </a:avLst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57200" y="2606040"/>
            <a:ext cx="1627632" cy="182880"/>
          </a:xfrm>
          <a:prstGeom prst="rect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57200" y="2331720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W1  기초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594360" y="2898648"/>
            <a:ext cx="135331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Python·pandas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타이타닉 EDA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(결측치·분포)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2135398" y="3108960"/>
            <a:ext cx="201168" cy="32004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2387133" y="2331720"/>
            <a:ext cx="1627632" cy="1920240"/>
          </a:xfrm>
          <a:prstGeom prst="roundRect">
            <a:avLst>
              <a:gd name="adj" fmla="val 5618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2387133" y="2331720"/>
            <a:ext cx="1627632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2387133" y="2606040"/>
            <a:ext cx="1627632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387133" y="2331720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W2  Baseline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2524293" y="2898648"/>
            <a:ext cx="135331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모델 학습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실험 로그 작성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(Titanic 등)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4065331" y="3108960"/>
            <a:ext cx="201168" cy="32004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317065" y="2331720"/>
            <a:ext cx="1627632" cy="1920240"/>
          </a:xfrm>
          <a:prstGeom prst="roundRect">
            <a:avLst>
              <a:gd name="adj" fmla="val 5618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4317065" y="2331720"/>
            <a:ext cx="1627632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317065" y="2606040"/>
            <a:ext cx="1627632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4317065" y="2331720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W3  데이터 QA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4454225" y="2898648"/>
            <a:ext cx="135331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CIFAR-10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누락·중복·분포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점검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5995264" y="3108960"/>
            <a:ext cx="201168" cy="32004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6246998" y="2331720"/>
            <a:ext cx="1627632" cy="1920240"/>
          </a:xfrm>
          <a:prstGeom prst="roundRect">
            <a:avLst>
              <a:gd name="adj" fmla="val 5618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6246998" y="2331720"/>
            <a:ext cx="1627632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246998" y="2606040"/>
            <a:ext cx="1627632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6246998" y="2331720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W4  통제 실험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6384158" y="2898648"/>
            <a:ext cx="135331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baseline 결함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감사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변수 하나씩 비교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25196" y="3108960"/>
            <a:ext cx="201168" cy="32004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8176931" y="2331720"/>
            <a:ext cx="1627632" cy="1920240"/>
          </a:xfrm>
          <a:prstGeom prst="roundRect">
            <a:avLst>
              <a:gd name="adj" fmla="val 5618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8176931" y="2331720"/>
            <a:ext cx="1627632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8176931" y="2606040"/>
            <a:ext cx="1627632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176931" y="2331720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W5  데이터 정제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8314091" y="2898648"/>
            <a:ext cx="135331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이상치 점수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기준값 사전 고정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3조건 비교</a:t>
            </a:r>
            <a:endParaRPr lang="en-US" sz="1200" dirty="0"/>
          </a:p>
        </p:txBody>
      </p:sp>
      <p:sp>
        <p:nvSpPr>
          <p:cNvPr id="38" name="Shape 35"/>
          <p:cNvSpPr/>
          <p:nvPr/>
        </p:nvSpPr>
        <p:spPr>
          <a:xfrm>
            <a:off x="9855129" y="3108960"/>
            <a:ext cx="201168" cy="32004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10106863" y="2331720"/>
            <a:ext cx="1627632" cy="1920240"/>
          </a:xfrm>
          <a:prstGeom prst="roundRect">
            <a:avLst>
              <a:gd name="adj" fmla="val 5618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40" name="Shape 37"/>
          <p:cNvSpPr/>
          <p:nvPr/>
        </p:nvSpPr>
        <p:spPr>
          <a:xfrm>
            <a:off x="10106863" y="2331720"/>
            <a:ext cx="1627632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10106863" y="2606040"/>
            <a:ext cx="1627632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10106863" y="2331720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W6  제출 연습</a:t>
            </a:r>
            <a:endParaRPr lang="en-US" sz="1400" dirty="0"/>
          </a:p>
        </p:txBody>
      </p:sp>
      <p:sp>
        <p:nvSpPr>
          <p:cNvPr id="43" name="Text 40"/>
          <p:cNvSpPr txBox="1"/>
          <p:nvPr/>
        </p:nvSpPr>
        <p:spPr>
          <a:xfrm>
            <a:off x="10244023" y="2898648"/>
            <a:ext cx="135331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제출 패키지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채점 스크립트</a:t>
            </a:r>
            <a:endParaRPr lang="en-US" sz="1200" dirty="0"/>
          </a:p>
        </p:txBody>
      </p:sp>
      <p:sp>
        <p:nvSpPr>
          <p:cNvPr id="44" name="Shape 41"/>
          <p:cNvSpPr/>
          <p:nvPr/>
        </p:nvSpPr>
        <p:spPr>
          <a:xfrm>
            <a:off x="457200" y="4572000"/>
            <a:ext cx="11277295" cy="1188720"/>
          </a:xfrm>
          <a:prstGeom prst="roundRect">
            <a:avLst>
              <a:gd name="adj" fmla="val 7692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594360" y="4572000"/>
            <a:ext cx="365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💡</a:t>
            </a:r>
            <a:endParaRPr lang="en-US" sz="1800" dirty="0"/>
          </a:p>
        </p:txBody>
      </p:sp>
      <p:sp>
        <p:nvSpPr>
          <p:cNvPr id="46" name="Text 43"/>
          <p:cNvSpPr txBox="1"/>
          <p:nvPr/>
        </p:nvSpPr>
        <p:spPr>
          <a:xfrm>
            <a:off x="1005840" y="4572000"/>
            <a:ext cx="1059149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예선에 그대로 가져온 습관  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무결성 점검을 모델보다 먼저  ·  실험마다 ID와 로그 남기기  ·  한 번에 변수 하나만 바꿔 비교  ·  기준값은 결과를 보기 전에 고정</a:t>
            </a:r>
            <a:endParaRPr lang="en-US" sz="1300" dirty="0"/>
          </a:p>
        </p:txBody>
      </p:sp>
      <p:sp>
        <p:nvSpPr>
          <p:cNvPr id="47" name="Text 44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GitHub eigensinn-dcc2026/step0 (2026.07.14 ~ 08.23), 팀원별 notebooks/ 및 outputs/ 실습 산출물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  준비 과정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5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(2) 팀 구성과 협업 체계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5명이 한 저장소에서 충돌 없이 일하도록  규칙 · 자동 검사 · 기록 체계를 먼저 만들고 미션에 들어감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21945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역할 분담</a:t>
            </a:r>
            <a:endParaRPr lang="en-US" sz="18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651760"/>
          <a:ext cx="914400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828800"/>
                <a:gridCol w="219456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팀원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준비기 역할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예선 담당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김장수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이미지 모델링·통합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Mission 1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김광희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데이터 품질·매핑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Mission 1 · 2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지연우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검증·오분류 분석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Mission 2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이수빈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시각화·리포팅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Mission 3 · 오류분석 취합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조지은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정형 모델링·EDA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Mission 3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7"/>
          <p:cNvSpPr txBox="1"/>
          <p:nvPr/>
        </p:nvSpPr>
        <p:spPr>
          <a:xfrm>
            <a:off x="6035040" y="2194560"/>
            <a:ext cx="56994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GitHub 작업 흐름</a:t>
            </a:r>
            <a:endParaRPr lang="en-US" sz="1800" dirty="0"/>
          </a:p>
        </p:txBody>
      </p:sp>
      <p:sp>
        <p:nvSpPr>
          <p:cNvPr id="12" name="Shape 8"/>
          <p:cNvSpPr/>
          <p:nvPr/>
        </p:nvSpPr>
        <p:spPr>
          <a:xfrm>
            <a:off x="6035040" y="2651760"/>
            <a:ext cx="960120" cy="868680"/>
          </a:xfrm>
          <a:prstGeom prst="roundRect">
            <a:avLst>
              <a:gd name="adj" fmla="val 10526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035040" y="2651760"/>
            <a:ext cx="960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main에서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브랜치 생성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7043509" y="2926080"/>
            <a:ext cx="128016" cy="27432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7219874" y="2651760"/>
            <a:ext cx="960120" cy="868680"/>
          </a:xfrm>
          <a:prstGeom prst="roundRect">
            <a:avLst>
              <a:gd name="adj" fmla="val 10526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7219874" y="2651760"/>
            <a:ext cx="960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실험·코드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작성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8228343" y="2926080"/>
            <a:ext cx="128016" cy="27432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8404708" y="2651760"/>
            <a:ext cx="960120" cy="868680"/>
          </a:xfrm>
          <a:prstGeom prst="roundRect">
            <a:avLst>
              <a:gd name="adj" fmla="val 10526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8404708" y="2651760"/>
            <a:ext cx="960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 작성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(템플릿)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9413177" y="2926080"/>
            <a:ext cx="128016" cy="27432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9589541" y="2651760"/>
            <a:ext cx="960120" cy="868680"/>
          </a:xfrm>
          <a:prstGeom prst="roundRect">
            <a:avLst>
              <a:gd name="adj" fmla="val 10526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9589541" y="2651760"/>
            <a:ext cx="960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자동 검사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(CI·병합 판정)</a:t>
            </a:r>
            <a:endParaRPr lang="en-US" sz="1100" dirty="0"/>
          </a:p>
        </p:txBody>
      </p:sp>
      <p:sp>
        <p:nvSpPr>
          <p:cNvPr id="23" name="Shape 19"/>
          <p:cNvSpPr/>
          <p:nvPr/>
        </p:nvSpPr>
        <p:spPr>
          <a:xfrm>
            <a:off x="10598010" y="2926080"/>
            <a:ext cx="128016" cy="27432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10774375" y="2651760"/>
            <a:ext cx="960120" cy="868680"/>
          </a:xfrm>
          <a:prstGeom prst="roundRect">
            <a:avLst>
              <a:gd name="adj" fmla="val 10526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10774375" y="2651760"/>
            <a:ext cx="960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팀원 리뷰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후 병합</a:t>
            </a:r>
            <a:endParaRPr lang="en-US" sz="1100" dirty="0"/>
          </a:p>
        </p:txBody>
      </p:sp>
      <p:sp>
        <p:nvSpPr>
          <p:cNvPr id="26" name="Shape 22"/>
          <p:cNvSpPr/>
          <p:nvPr/>
        </p:nvSpPr>
        <p:spPr>
          <a:xfrm>
            <a:off x="6035040" y="3749040"/>
            <a:ext cx="2712568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7" name="Text 23"/>
          <p:cNvSpPr txBox="1"/>
          <p:nvPr/>
        </p:nvSpPr>
        <p:spPr>
          <a:xfrm>
            <a:off x="6172200" y="3840480"/>
            <a:ext cx="2438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docs/experiment_log.md</a:t>
            </a:r>
            <a:endParaRPr lang="en-US" sz="1100" dirty="0"/>
          </a:p>
        </p:txBody>
      </p:sp>
      <p:sp>
        <p:nvSpPr>
          <p:cNvPr id="28" name="Text 24"/>
          <p:cNvSpPr txBox="1"/>
          <p:nvPr/>
        </p:nvSpPr>
        <p:spPr>
          <a:xfrm>
            <a:off x="6172200" y="4114800"/>
            <a:ext cx="24382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했고 결과는?</a:t>
            </a:r>
            <a:endParaRPr lang="en-US" sz="1400" dirty="0"/>
          </a:p>
        </p:txBody>
      </p:sp>
      <p:sp>
        <p:nvSpPr>
          <p:cNvPr id="29" name="Text 25"/>
          <p:cNvSpPr txBox="1"/>
          <p:nvPr/>
        </p:nvSpPr>
        <p:spPr>
          <a:xfrm>
            <a:off x="6172200" y="4434840"/>
            <a:ext cx="24382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실험 ID · 날짜 · 데이터 규모 · 분할 · seed · 결과</a:t>
            </a:r>
            <a:endParaRPr lang="en-US" sz="1100" dirty="0"/>
          </a:p>
        </p:txBody>
      </p:sp>
      <p:sp>
        <p:nvSpPr>
          <p:cNvPr id="30" name="Shape 26"/>
          <p:cNvSpPr/>
          <p:nvPr/>
        </p:nvSpPr>
        <p:spPr>
          <a:xfrm>
            <a:off x="9021928" y="3749040"/>
            <a:ext cx="2712568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31" name="Text 27"/>
          <p:cNvSpPr txBox="1"/>
          <p:nvPr/>
        </p:nvSpPr>
        <p:spPr>
          <a:xfrm>
            <a:off x="9159088" y="3840480"/>
            <a:ext cx="2438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docs/decisions.md</a:t>
            </a:r>
            <a:endParaRPr lang="en-US" sz="1100" dirty="0"/>
          </a:p>
        </p:txBody>
      </p:sp>
      <p:sp>
        <p:nvSpPr>
          <p:cNvPr id="32" name="Text 28"/>
          <p:cNvSpPr txBox="1"/>
          <p:nvPr/>
        </p:nvSpPr>
        <p:spPr>
          <a:xfrm>
            <a:off x="9159088" y="4114800"/>
            <a:ext cx="24382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채택·기각했나?</a:t>
            </a:r>
            <a:endParaRPr lang="en-US" sz="1400" dirty="0"/>
          </a:p>
        </p:txBody>
      </p:sp>
      <p:sp>
        <p:nvSpPr>
          <p:cNvPr id="33" name="Text 29"/>
          <p:cNvSpPr txBox="1"/>
          <p:nvPr/>
        </p:nvSpPr>
        <p:spPr>
          <a:xfrm>
            <a:off x="9159088" y="4434840"/>
            <a:ext cx="24382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결정 · 이유 · 후속 조치 (기각한 실험도 기록)</a:t>
            </a:r>
            <a:endParaRPr lang="en-US" sz="1100" dirty="0"/>
          </a:p>
        </p:txBody>
      </p:sp>
      <p:sp>
        <p:nvSpPr>
          <p:cNvPr id="34" name="Text 30"/>
          <p:cNvSpPr txBox="1"/>
          <p:nvPr/>
        </p:nvSpPr>
        <p:spPr>
          <a:xfrm>
            <a:off x="6035040" y="5074920"/>
            <a:ext cx="18998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32+</a:t>
            </a:r>
            <a:endParaRPr lang="en-US" sz="3000" dirty="0"/>
          </a:p>
        </p:txBody>
      </p:sp>
      <p:sp>
        <p:nvSpPr>
          <p:cNvPr id="35" name="Text 31"/>
          <p:cNvSpPr txBox="1"/>
          <p:nvPr/>
        </p:nvSpPr>
        <p:spPr>
          <a:xfrm>
            <a:off x="6035040" y="5788152"/>
            <a:ext cx="18998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Pull Request</a:t>
            </a:r>
            <a:endParaRPr lang="en-US" sz="1200" dirty="0"/>
          </a:p>
        </p:txBody>
      </p:sp>
      <p:sp>
        <p:nvSpPr>
          <p:cNvPr id="36" name="Text 32"/>
          <p:cNvSpPr txBox="1"/>
          <p:nvPr/>
        </p:nvSpPr>
        <p:spPr>
          <a:xfrm>
            <a:off x="7934858" y="5074920"/>
            <a:ext cx="18998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40+</a:t>
            </a:r>
            <a:endParaRPr lang="en-US" sz="3000" dirty="0"/>
          </a:p>
        </p:txBody>
      </p:sp>
      <p:sp>
        <p:nvSpPr>
          <p:cNvPr id="37" name="Text 33"/>
          <p:cNvSpPr txBox="1"/>
          <p:nvPr/>
        </p:nvSpPr>
        <p:spPr>
          <a:xfrm>
            <a:off x="7934858" y="5788152"/>
            <a:ext cx="18998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작업 브랜치</a:t>
            </a:r>
            <a:endParaRPr lang="en-US" sz="1200" dirty="0"/>
          </a:p>
        </p:txBody>
      </p:sp>
      <p:sp>
        <p:nvSpPr>
          <p:cNvPr id="38" name="Text 34"/>
          <p:cNvSpPr txBox="1"/>
          <p:nvPr/>
        </p:nvSpPr>
        <p:spPr>
          <a:xfrm>
            <a:off x="9834677" y="5074920"/>
            <a:ext cx="18998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M1–M3</a:t>
            </a:r>
            <a:endParaRPr lang="en-US" sz="3000" dirty="0"/>
          </a:p>
        </p:txBody>
      </p:sp>
      <p:sp>
        <p:nvSpPr>
          <p:cNvPr id="39" name="Text 35"/>
          <p:cNvSpPr txBox="1"/>
          <p:nvPr/>
        </p:nvSpPr>
        <p:spPr>
          <a:xfrm>
            <a:off x="9834677" y="5788152"/>
            <a:ext cx="18998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실험 ID 체계</a:t>
            </a:r>
            <a:endParaRPr lang="en-US" sz="1200" dirty="0"/>
          </a:p>
        </p:txBody>
      </p:sp>
      <p:sp>
        <p:nvSpPr>
          <p:cNvPr id="40" name="Shape 36"/>
          <p:cNvSpPr/>
          <p:nvPr/>
        </p:nvSpPr>
        <p:spPr>
          <a:xfrm>
            <a:off x="10180015" y="2240280"/>
            <a:ext cx="1554480" cy="274320"/>
          </a:xfrm>
          <a:prstGeom prst="roundRect">
            <a:avLst>
              <a:gd name="adj" fmla="val 26667"/>
            </a:avLst>
          </a:prstGeom>
          <a:solidFill>
            <a:srgbClr val="FFCDD2"/>
          </a:solidFill>
          <a:ln w="12700">
            <a:solidFill>
              <a:srgbClr val="FFCDD2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10180015" y="22402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539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수치 · 10/01 기준</a:t>
            </a:r>
            <a:endParaRPr lang="en-US" sz="1000" dirty="0"/>
          </a:p>
        </p:txBody>
      </p:sp>
      <p:sp>
        <p:nvSpPr>
          <p:cNvPr id="42" name="Text 38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GitHub eigensinn-dcc2026/prelim — WORKFLOW.md, .github/workflows (pr-ci, pr-verdict), docs/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  데이터 분석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6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(1) 데이터 개요와 대회 규칙 준수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AI-Hub 119 신고접수 음성·전사 데이터 — 규칙 위반 가능성을 설계 단계에서부터 차단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2240280"/>
            <a:ext cx="5120640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685800" y="237744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데이터셋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685800" y="2788920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AI-Hub 「위급상황 음성/음향(고도화) — 119 지능형 신고접수 음성 인식 데이터」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685800" y="3429000"/>
            <a:ext cx="2240280" cy="777240"/>
          </a:xfrm>
          <a:prstGeom prst="roundRect">
            <a:avLst>
              <a:gd name="adj" fmla="val 11765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77240" y="3429000"/>
            <a:ext cx="2057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음성(WAV)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통화 녹음 원본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3108960" y="3429000"/>
            <a:ext cx="2240280" cy="777240"/>
          </a:xfrm>
          <a:prstGeom prst="roundRect">
            <a:avLst>
              <a:gd name="adj" fmla="val 11765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200400" y="3429000"/>
            <a:ext cx="2057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전사·라벨(JSON)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발화 구간·화자·성별·증상 등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685800" y="448056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29,200</a:t>
            </a:r>
            <a:endParaRPr lang="en-US" sz="2600" dirty="0"/>
          </a:p>
        </p:txBody>
      </p:sp>
      <p:sp>
        <p:nvSpPr>
          <p:cNvPr id="17" name="Text 14"/>
          <p:cNvSpPr txBox="1"/>
          <p:nvPr/>
        </p:nvSpPr>
        <p:spPr>
          <a:xfrm>
            <a:off x="685800" y="519379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학습 통화 수 (서울)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2240280" y="448056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i="1" dirty="0">
                <a:solidFill>
                  <a:srgbClr val="9E9E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〔00,000〕</a:t>
            </a:r>
            <a:endParaRPr lang="en-US" sz="2600" dirty="0"/>
          </a:p>
        </p:txBody>
      </p:sp>
      <p:sp>
        <p:nvSpPr>
          <p:cNvPr id="19" name="Text 16"/>
          <p:cNvSpPr txBox="1"/>
          <p:nvPr/>
        </p:nvSpPr>
        <p:spPr>
          <a:xfrm>
            <a:off x="2240280" y="519379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학습 발화 수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3794760" y="448056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i="1" dirty="0">
                <a:solidFill>
                  <a:srgbClr val="9E9E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〔0,000〕</a:t>
            </a:r>
            <a:endParaRPr lang="en-US" sz="2600" dirty="0"/>
          </a:p>
        </p:txBody>
      </p:sp>
      <p:sp>
        <p:nvSpPr>
          <p:cNvPr id="21" name="Text 18"/>
          <p:cNvSpPr txBox="1"/>
          <p:nvPr/>
        </p:nvSpPr>
        <p:spPr>
          <a:xfrm>
            <a:off x="3794760" y="519379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Validation 통화 수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943600" y="2240280"/>
            <a:ext cx="5790895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3" name="Text 20"/>
          <p:cNvSpPr txBox="1"/>
          <p:nvPr/>
        </p:nvSpPr>
        <p:spPr>
          <a:xfrm>
            <a:off x="6172200" y="2377440"/>
            <a:ext cx="5333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우리가 지킨 대회 규칙</a:t>
            </a:r>
            <a:endParaRPr lang="en-US" sz="1800" dirty="0"/>
          </a:p>
        </p:txBody>
      </p:sp>
      <p:sp>
        <p:nvSpPr>
          <p:cNvPr id="24" name="Shape 21"/>
          <p:cNvSpPr/>
          <p:nvPr/>
        </p:nvSpPr>
        <p:spPr>
          <a:xfrm>
            <a:off x="6217920" y="2898648"/>
            <a:ext cx="292608" cy="292608"/>
          </a:xfrm>
          <a:prstGeom prst="ellipse">
            <a:avLst/>
          </a:prstGeom>
          <a:solidFill>
            <a:srgbClr val="8BC34A"/>
          </a:solidFill>
          <a:ln w="12700">
            <a:solidFill>
              <a:srgbClr val="8BC34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217920" y="28986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300" dirty="0"/>
          </a:p>
        </p:txBody>
      </p:sp>
      <p:sp>
        <p:nvSpPr>
          <p:cNvPr id="26" name="Text 23"/>
          <p:cNvSpPr txBox="1"/>
          <p:nvPr/>
        </p:nvSpPr>
        <p:spPr>
          <a:xfrm>
            <a:off x="6629400" y="2880360"/>
            <a:ext cx="483077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학습에는 서울 Training 데이터만 사용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6217920" y="3355848"/>
            <a:ext cx="292608" cy="292608"/>
          </a:xfrm>
          <a:prstGeom prst="ellipse">
            <a:avLst/>
          </a:prstGeom>
          <a:solidFill>
            <a:srgbClr val="8BC34A"/>
          </a:solidFill>
          <a:ln w="12700">
            <a:solidFill>
              <a:srgbClr val="8BC34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217920" y="33558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6629400" y="3337560"/>
            <a:ext cx="483077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Validation은 모델 선택·평가에만 사용 (학습 투입 없음)</a:t>
            </a:r>
            <a:endParaRPr lang="en-US" sz="1300" dirty="0"/>
          </a:p>
        </p:txBody>
      </p:sp>
      <p:sp>
        <p:nvSpPr>
          <p:cNvPr id="30" name="Shape 27"/>
          <p:cNvSpPr/>
          <p:nvPr/>
        </p:nvSpPr>
        <p:spPr>
          <a:xfrm>
            <a:off x="6217920" y="3813048"/>
            <a:ext cx="292608" cy="292608"/>
          </a:xfrm>
          <a:prstGeom prst="ellipse">
            <a:avLst/>
          </a:prstGeom>
          <a:solidFill>
            <a:srgbClr val="8BC34A"/>
          </a:solidFill>
          <a:ln w="12700">
            <a:solidFill>
              <a:srgbClr val="8BC34A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217920" y="38130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300" dirty="0"/>
          </a:p>
        </p:txBody>
      </p:sp>
      <p:sp>
        <p:nvSpPr>
          <p:cNvPr id="32" name="Text 29"/>
          <p:cNvSpPr txBox="1"/>
          <p:nvPr/>
        </p:nvSpPr>
        <p:spPr>
          <a:xfrm>
            <a:off x="6629400" y="3794760"/>
            <a:ext cx="483077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미션별 지정 입력만 사용 — M2는 발화 조각 하나만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6217920" y="4270248"/>
            <a:ext cx="292608" cy="292608"/>
          </a:xfrm>
          <a:prstGeom prst="ellipse">
            <a:avLst/>
          </a:prstGeom>
          <a:solidFill>
            <a:srgbClr val="8BC34A"/>
          </a:solidFill>
          <a:ln w="12700">
            <a:solidFill>
              <a:srgbClr val="8BC34A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217920" y="42702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300" dirty="0"/>
          </a:p>
        </p:txBody>
      </p:sp>
      <p:sp>
        <p:nvSpPr>
          <p:cNvPr id="35" name="Text 32"/>
          <p:cNvSpPr txBox="1"/>
          <p:nvPr/>
        </p:nvSpPr>
        <p:spPr>
          <a:xfrm>
            <a:off x="6629400" y="4251960"/>
            <a:ext cx="483077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라벨에 따라 다른 전처리, 평가 데이터 전용 전처리 없음</a:t>
            </a:r>
            <a:endParaRPr lang="en-US" sz="1300" dirty="0"/>
          </a:p>
        </p:txBody>
      </p:sp>
      <p:sp>
        <p:nvSpPr>
          <p:cNvPr id="36" name="Shape 33"/>
          <p:cNvSpPr/>
          <p:nvPr/>
        </p:nvSpPr>
        <p:spPr>
          <a:xfrm>
            <a:off x="6217920" y="4727448"/>
            <a:ext cx="292608" cy="292608"/>
          </a:xfrm>
          <a:prstGeom prst="ellipse">
            <a:avLst/>
          </a:prstGeom>
          <a:solidFill>
            <a:srgbClr val="8BC34A"/>
          </a:solidFill>
          <a:ln w="12700">
            <a:solidFill>
              <a:srgbClr val="8BC34A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6217920" y="47274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300" dirty="0"/>
          </a:p>
        </p:txBody>
      </p:sp>
      <p:sp>
        <p:nvSpPr>
          <p:cNvPr id="38" name="Text 35"/>
          <p:cNvSpPr txBox="1"/>
          <p:nvPr/>
        </p:nvSpPr>
        <p:spPr>
          <a:xfrm>
            <a:off x="6629400" y="4709160"/>
            <a:ext cx="483077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최종 판정 기준값 0.5 고정 (클래스별 조정 없음)</a:t>
            </a:r>
            <a:endParaRPr lang="en-US" sz="1300" dirty="0"/>
          </a:p>
        </p:txBody>
      </p:sp>
      <p:sp>
        <p:nvSpPr>
          <p:cNvPr id="39" name="Shape 36"/>
          <p:cNvSpPr/>
          <p:nvPr/>
        </p:nvSpPr>
        <p:spPr>
          <a:xfrm>
            <a:off x="6217920" y="5184648"/>
            <a:ext cx="292608" cy="292608"/>
          </a:xfrm>
          <a:prstGeom prst="ellipse">
            <a:avLst/>
          </a:prstGeom>
          <a:solidFill>
            <a:srgbClr val="8BC34A"/>
          </a:solidFill>
          <a:ln w="12700">
            <a:solidFill>
              <a:srgbClr val="8BC34A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6217920" y="51846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300" dirty="0"/>
          </a:p>
        </p:txBody>
      </p:sp>
      <p:sp>
        <p:nvSpPr>
          <p:cNvPr id="41" name="Text 38"/>
          <p:cNvSpPr txBox="1"/>
          <p:nvPr/>
        </p:nvSpPr>
        <p:spPr>
          <a:xfrm>
            <a:off x="6629400" y="5166360"/>
            <a:ext cx="483077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상용 AI API 미사용, 공개 오픈소스 라이브러리만 사용</a:t>
            </a:r>
            <a:endParaRPr lang="en-US" sz="1300" dirty="0"/>
          </a:p>
        </p:txBody>
      </p:sp>
      <p:sp>
        <p:nvSpPr>
          <p:cNvPr id="42" name="Shape 39"/>
          <p:cNvSpPr/>
          <p:nvPr/>
        </p:nvSpPr>
        <p:spPr>
          <a:xfrm>
            <a:off x="6217920" y="5641848"/>
            <a:ext cx="292608" cy="292608"/>
          </a:xfrm>
          <a:prstGeom prst="ellipse">
            <a:avLst/>
          </a:prstGeom>
          <a:solidFill>
            <a:srgbClr val="8BC34A"/>
          </a:solidFill>
          <a:ln w="12700">
            <a:solidFill>
              <a:srgbClr val="8BC34A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217920" y="56418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300" dirty="0"/>
          </a:p>
        </p:txBody>
      </p:sp>
      <p:sp>
        <p:nvSpPr>
          <p:cNvPr id="44" name="Text 41"/>
          <p:cNvSpPr txBox="1"/>
          <p:nvPr/>
        </p:nvSpPr>
        <p:spPr>
          <a:xfrm>
            <a:off x="6629400" y="5623560"/>
            <a:ext cx="483077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학습·검증 분할은 통화 단위 — 같은 통화가 양쪽에 섞이지 않게</a:t>
            </a:r>
            <a:endParaRPr lang="en-US" sz="13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대학부 예선 출제문제 5·8쪽 조건, 주최측 Q&amp;A 답변(2026.09.15, 기준값 안내 메일)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  데이터 분석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7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(2) EDA 핵심 발견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미션 모두 단일 변수로는 못 가른다 — 성별만 균형 잡혀 있고, 길이·증상 빈도는 모델이 함께 보정해야 할 불균형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2240280"/>
            <a:ext cx="3576218" cy="3977640"/>
          </a:xfrm>
          <a:prstGeom prst="roundRect">
            <a:avLst>
              <a:gd name="adj" fmla="val 2557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640080" y="2359152"/>
            <a:ext cx="32104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화자별 발화 길이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640080" y="2761488"/>
            <a:ext cx="3210458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pic>
        <p:nvPicPr>
          <p:cNvPr id="12" name="Image 1" descr="figures/speaker_duration_buckets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713232" y="2834640"/>
            <a:ext cx="3064154" cy="181965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40080" y="4846320"/>
            <a:ext cx="321045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15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발견  </a:t>
            </a:r>
            <a:endParaRPr lang="en-US" sz="11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신고자가 긴 발화(≥4초)에서 대원보다 비중이 높지만(14.0% vs 7.9%), 짧은 구간은 서로 겹침</a:t>
            </a:r>
            <a:endParaRPr lang="en-US" sz="11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설계 반영  </a:t>
            </a:r>
            <a:endParaRPr lang="en-US" sz="11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길이만으로는 못 가름 → 음향 특징(M2 L1)과 전체 소리 모양(M2 L2)까지 함께 사용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4307738" y="2240280"/>
            <a:ext cx="3576218" cy="3977640"/>
          </a:xfrm>
          <a:prstGeom prst="roundRect">
            <a:avLst>
              <a:gd name="adj" fmla="val 2557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5" name="Text 11"/>
          <p:cNvSpPr txBox="1"/>
          <p:nvPr/>
        </p:nvSpPr>
        <p:spPr>
          <a:xfrm>
            <a:off x="4490618" y="2359152"/>
            <a:ext cx="32104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성별 구성 (Mission 1)</a:t>
            </a:r>
            <a:endParaRPr lang="en-US" sz="1500" dirty="0"/>
          </a:p>
        </p:txBody>
      </p:sp>
      <p:sp>
        <p:nvSpPr>
          <p:cNvPr id="16" name="Shape 12"/>
          <p:cNvSpPr/>
          <p:nvPr/>
        </p:nvSpPr>
        <p:spPr>
          <a:xfrm>
            <a:off x="4490618" y="2761488"/>
            <a:ext cx="3210458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pic>
        <p:nvPicPr>
          <p:cNvPr id="17" name="Image 2" descr="figures/gender_distribution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563770" y="2834640"/>
            <a:ext cx="3064154" cy="1819656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4490618" y="4846320"/>
            <a:ext cx="321045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15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발견  </a:t>
            </a:r>
            <a:endParaRPr lang="en-US" sz="11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Training 53.2:46.8, Validation 53.8:46.2 — 분할 간 차이 1%p 이내로 균형</a:t>
            </a:r>
            <a:endParaRPr lang="en-US" sz="11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설계 반영  </a:t>
            </a:r>
            <a:endParaRPr lang="en-US" sz="11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클래스 불균형 보정이 불필요 → 기본 LR·GBM 그대로 사용</a:t>
            </a:r>
            <a:endParaRPr lang="en-US" sz="1150" dirty="0"/>
          </a:p>
        </p:txBody>
      </p:sp>
      <p:sp>
        <p:nvSpPr>
          <p:cNvPr id="19" name="Shape 14"/>
          <p:cNvSpPr/>
          <p:nvPr/>
        </p:nvSpPr>
        <p:spPr>
          <a:xfrm>
            <a:off x="8158277" y="2240280"/>
            <a:ext cx="3576218" cy="3977640"/>
          </a:xfrm>
          <a:prstGeom prst="roundRect">
            <a:avLst>
              <a:gd name="adj" fmla="val 2557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0" name="Text 15"/>
          <p:cNvSpPr txBox="1"/>
          <p:nvPr/>
        </p:nvSpPr>
        <p:spPr>
          <a:xfrm>
            <a:off x="8341157" y="2359152"/>
            <a:ext cx="32104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증상 9종 유병률 (Mission 3)</a:t>
            </a:r>
            <a:endParaRPr lang="en-US" sz="1500" dirty="0"/>
          </a:p>
        </p:txBody>
      </p:sp>
      <p:sp>
        <p:nvSpPr>
          <p:cNvPr id="21" name="Shape 16"/>
          <p:cNvSpPr/>
          <p:nvPr/>
        </p:nvSpPr>
        <p:spPr>
          <a:xfrm>
            <a:off x="8341157" y="2761488"/>
            <a:ext cx="3210458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pic>
        <p:nvPicPr>
          <p:cNvPr id="22" name="Image 3" descr="figures/symptom_prevalence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8414309" y="2834640"/>
            <a:ext cx="3064154" cy="1819656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8341157" y="4846320"/>
            <a:ext cx="321045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15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발견  </a:t>
            </a:r>
            <a:endParaRPr lang="en-US" sz="11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복통·어지러움 20%대 vs 두통·오심 10%대 — 최대 2배 이상 차이</a:t>
            </a:r>
            <a:endParaRPr lang="en-US" sz="11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설계 반영  </a:t>
            </a:r>
            <a:endParaRPr lang="en-US" sz="11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Macro F1은 희소 증상에 민감 → 증상별 성능을 따로 점검 (30p)</a:t>
            </a:r>
            <a:endParaRPr lang="en-US" sz="1150" dirty="0"/>
          </a:p>
        </p:txBody>
      </p:sp>
      <p:sp>
        <p:nvSpPr>
          <p:cNvPr id="24" name="Text 18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reports/eda/eda_report.md, reports/eda/figures/ (PR #23, 2026.09.21)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  데이터 분석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8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(3) 세 미션 공통 파이프라인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무결성 검증부터 inference.py 1회 실행까지 — 세 미션이 같은 뼈대 위에서 동작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2286000"/>
            <a:ext cx="192024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57200" y="2286000"/>
            <a:ext cx="1920240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57200" y="2560320"/>
            <a:ext cx="1920240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57200" y="22860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원본 데이터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594360" y="2852928"/>
            <a:ext cx="1645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WAV 음성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JSON 전사·라벨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2458936" y="3017520"/>
            <a:ext cx="256032" cy="36576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2796464" y="2286000"/>
            <a:ext cx="192024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2796464" y="2286000"/>
            <a:ext cx="1920240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2796464" y="2560320"/>
            <a:ext cx="1920240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796464" y="22860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무결성 검증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2933624" y="2852928"/>
            <a:ext cx="1645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WAV↔JSON 매칭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manifest 생성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누락·중복 점검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4798200" y="3017520"/>
            <a:ext cx="256032" cy="36576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5135728" y="2286000"/>
            <a:ext cx="192024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5135728" y="2286000"/>
            <a:ext cx="1920240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5135728" y="2560320"/>
            <a:ext cx="1920240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135728" y="22860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미션별 데이터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5272888" y="2852928"/>
            <a:ext cx="1645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음성: 발화 구간 추출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텍스트: 전사 정리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7137464" y="3017520"/>
            <a:ext cx="256032" cy="36576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474991" y="2286000"/>
            <a:ext cx="192024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7474991" y="2286000"/>
            <a:ext cx="1920240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474991" y="2560320"/>
            <a:ext cx="1920240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7474991" y="22860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학습 · 평가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7612151" y="2852928"/>
            <a:ext cx="1645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통화 단위 분할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공식 Validation 평가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9476727" y="3017520"/>
            <a:ext cx="256032" cy="36576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9814255" y="2286000"/>
            <a:ext cx="192024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9814255" y="2286000"/>
            <a:ext cx="1920240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9814255" y="2560320"/>
            <a:ext cx="1920240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9814255" y="22860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기록 · 제출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9951415" y="2852928"/>
            <a:ext cx="1645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실험 로그 JSON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inference.py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1회 실행 → CSV</a:t>
            </a:r>
            <a:endParaRPr lang="en-US" sz="1200" dirty="0"/>
          </a:p>
        </p:txBody>
      </p:sp>
      <p:sp>
        <p:nvSpPr>
          <p:cNvPr id="38" name="Shape 35"/>
          <p:cNvSpPr/>
          <p:nvPr/>
        </p:nvSpPr>
        <p:spPr>
          <a:xfrm>
            <a:off x="5135728" y="4343400"/>
            <a:ext cx="4259504" cy="411480"/>
          </a:xfrm>
          <a:prstGeom prst="roundRect">
            <a:avLst>
              <a:gd name="adj" fmla="val 17778"/>
            </a:avLst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5272888" y="4343400"/>
            <a:ext cx="3985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음성 경로   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M1 · M2  —  음향 특징 · 스펙트로그램</a:t>
            </a:r>
            <a:endParaRPr lang="en-US" sz="1200" dirty="0"/>
          </a:p>
        </p:txBody>
      </p:sp>
      <p:sp>
        <p:nvSpPr>
          <p:cNvPr id="40" name="Shape 37"/>
          <p:cNvSpPr/>
          <p:nvPr/>
        </p:nvSpPr>
        <p:spPr>
          <a:xfrm>
            <a:off x="5135728" y="4846320"/>
            <a:ext cx="4259504" cy="411480"/>
          </a:xfrm>
          <a:prstGeom prst="roundRect">
            <a:avLst>
              <a:gd name="adj" fmla="val 17778"/>
            </a:avLst>
          </a:prstGeom>
          <a:solidFill>
            <a:srgbClr val="8BC34A"/>
          </a:solidFill>
          <a:ln w="12700">
            <a:solidFill>
              <a:srgbClr val="8BC34A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5272888" y="4846320"/>
            <a:ext cx="3985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텍스트 경로   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M3  —  전사 텍스트</a:t>
            </a:r>
            <a:endParaRPr lang="en-US" sz="1200" dirty="0"/>
          </a:p>
        </p:txBody>
      </p:sp>
      <p:sp>
        <p:nvSpPr>
          <p:cNvPr id="42" name="Text 39"/>
          <p:cNvSpPr txBox="1"/>
          <p:nvPr/>
        </p:nvSpPr>
        <p:spPr>
          <a:xfrm>
            <a:off x="457200" y="54406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재현성 장치</a:t>
            </a:r>
            <a:endParaRPr lang="en-US" sz="1600" dirty="0"/>
          </a:p>
        </p:txBody>
      </p:sp>
      <p:sp>
        <p:nvSpPr>
          <p:cNvPr id="43" name="Shape 40"/>
          <p:cNvSpPr/>
          <p:nvPr/>
        </p:nvSpPr>
        <p:spPr>
          <a:xfrm>
            <a:off x="457200" y="5852160"/>
            <a:ext cx="2682164" cy="411480"/>
          </a:xfrm>
          <a:prstGeom prst="roundRect">
            <a:avLst>
              <a:gd name="adj" fmla="val 17778"/>
            </a:avLst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457200" y="5852160"/>
            <a:ext cx="26821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seed = 42 고정</a:t>
            </a:r>
            <a:endParaRPr lang="en-US" sz="1200" dirty="0"/>
          </a:p>
        </p:txBody>
      </p:sp>
      <p:sp>
        <p:nvSpPr>
          <p:cNvPr id="45" name="Shape 42"/>
          <p:cNvSpPr/>
          <p:nvPr/>
        </p:nvSpPr>
        <p:spPr>
          <a:xfrm>
            <a:off x="3322244" y="5852160"/>
            <a:ext cx="2682164" cy="411480"/>
          </a:xfrm>
          <a:prstGeom prst="roundRect">
            <a:avLst>
              <a:gd name="adj" fmla="val 17778"/>
            </a:avLst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3322244" y="5852160"/>
            <a:ext cx="26821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통화 단위 분할 (call_id · recordId)</a:t>
            </a:r>
            <a:endParaRPr lang="en-US" sz="1200" dirty="0"/>
          </a:p>
        </p:txBody>
      </p:sp>
      <p:sp>
        <p:nvSpPr>
          <p:cNvPr id="47" name="Shape 44"/>
          <p:cNvSpPr/>
          <p:nvPr/>
        </p:nvSpPr>
        <p:spPr>
          <a:xfrm>
            <a:off x="6187288" y="5852160"/>
            <a:ext cx="2682164" cy="411480"/>
          </a:xfrm>
          <a:prstGeom prst="roundRect">
            <a:avLst>
              <a:gd name="adj" fmla="val 17778"/>
            </a:avLst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6187288" y="5852160"/>
            <a:ext cx="26821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자동 테스트 (pytest · CI)</a:t>
            </a:r>
            <a:endParaRPr lang="en-US" sz="1200" dirty="0"/>
          </a:p>
        </p:txBody>
      </p:sp>
      <p:sp>
        <p:nvSpPr>
          <p:cNvPr id="49" name="Shape 46"/>
          <p:cNvSpPr/>
          <p:nvPr/>
        </p:nvSpPr>
        <p:spPr>
          <a:xfrm>
            <a:off x="9052331" y="5852160"/>
            <a:ext cx="2682164" cy="411480"/>
          </a:xfrm>
          <a:prstGeom prst="roundRect">
            <a:avLst>
              <a:gd name="adj" fmla="val 17778"/>
            </a:avLst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9052331" y="5852160"/>
            <a:ext cx="26821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결과는 JSON 로그로 저장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9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1  신고자 성별 분류 — 한눈에 보기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신고자 발화 음성 → 52차원 음향 특징 → 로지스틱 회귀 → 공식 Validation Accuracy 95.11%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224028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미션 정의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2542032"/>
            <a:ext cx="11277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입력 신고자 발화 음성(startAt·endAt·speaker만 사용)  ·  출력 남/여  ·  평가 Accuracy  ·  제약 그 외 라벨 사용 불가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457200" y="3035808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57200" y="3127248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모델 구성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457200" y="3456432"/>
            <a:ext cx="182880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57200" y="3456432"/>
            <a:ext cx="1828800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57200" y="3730752"/>
            <a:ext cx="1828800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57200" y="3456432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구간 추출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594360" y="402336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신고자 발화만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잘라내기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2836621" y="3977640"/>
            <a:ext cx="219456" cy="347472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3606698" y="3456432"/>
            <a:ext cx="182880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3606698" y="3456432"/>
            <a:ext cx="1828800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3606698" y="3730752"/>
            <a:ext cx="1828800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3606698" y="3456432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음향 특징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3743858" y="402336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음높이·음색 등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52차원 통계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5986120" y="3977640"/>
            <a:ext cx="219456" cy="347472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6756197" y="3456432"/>
            <a:ext cx="182880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6756197" y="3456432"/>
            <a:ext cx="1828800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6756197" y="3730752"/>
            <a:ext cx="1828800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756197" y="3456432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분류 모델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6893357" y="402336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로지스틱 회귀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(LR)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9135618" y="3977640"/>
            <a:ext cx="219456" cy="347472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9905695" y="3456432"/>
            <a:ext cx="182880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9905695" y="3456432"/>
            <a:ext cx="1828800" cy="457200"/>
          </a:xfrm>
          <a:prstGeom prst="roundRect">
            <a:avLst>
              <a:gd name="adj" fmla="val 20000"/>
            </a:avLst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9905695" y="3730752"/>
            <a:ext cx="1828800" cy="182880"/>
          </a:xfrm>
          <a:prstGeom prst="rect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9905695" y="3456432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10042855" y="402336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남/여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(기준값 0.5)</a:t>
            </a:r>
            <a:endParaRPr lang="en-US" sz="1200" dirty="0"/>
          </a:p>
        </p:txBody>
      </p:sp>
      <p:sp>
        <p:nvSpPr>
          <p:cNvPr id="36" name="Shape 33"/>
          <p:cNvSpPr/>
          <p:nvPr/>
        </p:nvSpPr>
        <p:spPr>
          <a:xfrm>
            <a:off x="457200" y="4846320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457200" y="493776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핵심 결과</a:t>
            </a:r>
            <a:endParaRPr lang="en-US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457200" y="5193792"/>
            <a:ext cx="112772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95.11%</a:t>
            </a:r>
            <a:endParaRPr lang="en-US" sz="4200" dirty="0"/>
          </a:p>
        </p:txBody>
      </p:sp>
      <p:sp>
        <p:nvSpPr>
          <p:cNvPr id="39" name="Text 36"/>
          <p:cNvSpPr txBox="1"/>
          <p:nvPr/>
        </p:nvSpPr>
        <p:spPr>
          <a:xfrm>
            <a:off x="457200" y="585216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Accuracy (공식 Validation, 3,640건)</a:t>
            </a:r>
            <a:endParaRPr lang="en-US" sz="1300" dirty="0"/>
          </a:p>
        </p:txBody>
      </p:sp>
      <p:sp>
        <p:nvSpPr>
          <p:cNvPr id="40" name="Text 37"/>
          <p:cNvSpPr txBox="1"/>
          <p:nvPr/>
        </p:nvSpPr>
        <p:spPr>
          <a:xfrm>
            <a:off x="457200" y="6108192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GBM 94.92% 대비 +0.19%p — 더 단순하고 해석 쉬운 LR 채택 (2026-10-05 고정)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10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1 — 연구 방법 ① 데이터 전처리와 학습 설정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52차원 음향 통계로 압축 — 통화 단위 분할과 seed 고정으로 재현 가능하게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2240280"/>
            <a:ext cx="5501488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640080" y="2359152"/>
            <a:ext cx="51357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52차원 음향 특징 구성</a:t>
            </a:r>
            <a:endParaRPr lang="en-US" sz="1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743200"/>
          <a:ext cx="91440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731520"/>
                <a:gridCol w="2651760"/>
              </a:tblGrid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구성 요소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차원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의미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MFCC 평균·표준편차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음색의 핵심 패턴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RMS 평균·표준편차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음량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ZCR 평균·표준편차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음높이 변화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Spectral 4종×2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음색의 "밝기"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 txBox="1"/>
          <p:nvPr/>
        </p:nvSpPr>
        <p:spPr>
          <a:xfrm>
            <a:off x="640080" y="4892040"/>
            <a:ext cx="513572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합계 52차원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duration_sec(발화 길이)는 의도적으로 제외 — 길이로 성별을 "눈치채는" shortcut 학습 방지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233008" y="2240280"/>
            <a:ext cx="5501488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4" name="Text 10"/>
          <p:cNvSpPr txBox="1"/>
          <p:nvPr/>
        </p:nvSpPr>
        <p:spPr>
          <a:xfrm>
            <a:off x="6415888" y="2359152"/>
            <a:ext cx="51357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학습 설정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6415888" y="2761488"/>
            <a:ext cx="292608" cy="292608"/>
          </a:xfrm>
          <a:prstGeom prst="ellipse">
            <a:avLst/>
          </a:prstGeom>
          <a:solidFill>
            <a:srgbClr val="8BC34A"/>
          </a:solidFill>
          <a:ln w="12700">
            <a:solidFill>
              <a:srgbClr val="8BC34A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415888" y="27614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300" dirty="0"/>
          </a:p>
        </p:txBody>
      </p:sp>
      <p:sp>
        <p:nvSpPr>
          <p:cNvPr id="17" name="Text 13"/>
          <p:cNvSpPr txBox="1"/>
          <p:nvPr/>
        </p:nvSpPr>
        <p:spPr>
          <a:xfrm>
            <a:off x="6827368" y="2743200"/>
            <a:ext cx="4724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Seoul Training 29,200건으로만 학습 (서울 데이터만 사용 규칙)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6415888" y="3383280"/>
            <a:ext cx="292608" cy="292608"/>
          </a:xfrm>
          <a:prstGeom prst="ellipse">
            <a:avLst/>
          </a:prstGeom>
          <a:solidFill>
            <a:srgbClr val="8BC34A"/>
          </a:solidFill>
          <a:ln w="12700">
            <a:solidFill>
              <a:srgbClr val="8BC34A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415888" y="33832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300" dirty="0"/>
          </a:p>
        </p:txBody>
      </p:sp>
      <p:sp>
        <p:nvSpPr>
          <p:cNvPr id="20" name="Text 16"/>
          <p:cNvSpPr txBox="1"/>
          <p:nvPr/>
        </p:nvSpPr>
        <p:spPr>
          <a:xfrm>
            <a:off x="6827368" y="3364992"/>
            <a:ext cx="4724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seed=42 고정, 통화 단위 split</a:t>
            </a:r>
            <a:endParaRPr lang="en-US" sz="1300" dirty="0"/>
          </a:p>
        </p:txBody>
      </p:sp>
      <p:sp>
        <p:nvSpPr>
          <p:cNvPr id="21" name="Shape 17"/>
          <p:cNvSpPr/>
          <p:nvPr/>
        </p:nvSpPr>
        <p:spPr>
          <a:xfrm>
            <a:off x="6415888" y="4005072"/>
            <a:ext cx="292608" cy="292608"/>
          </a:xfrm>
          <a:prstGeom prst="ellipse">
            <a:avLst/>
          </a:prstGeom>
          <a:solidFill>
            <a:srgbClr val="8BC34A"/>
          </a:solidFill>
          <a:ln w="12700">
            <a:solidFill>
              <a:srgbClr val="8BC34A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415888" y="40050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300" dirty="0"/>
          </a:p>
        </p:txBody>
      </p:sp>
      <p:sp>
        <p:nvSpPr>
          <p:cNvPr id="23" name="Text 19"/>
          <p:cNvSpPr txBox="1"/>
          <p:nvPr/>
        </p:nvSpPr>
        <p:spPr>
          <a:xfrm>
            <a:off x="6827368" y="3986784"/>
            <a:ext cx="4724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내부 holdout(8:2 stratified)으로 먼저 sanity check</a:t>
            </a:r>
            <a:endParaRPr lang="en-US" sz="1300" dirty="0"/>
          </a:p>
        </p:txBody>
      </p:sp>
      <p:sp>
        <p:nvSpPr>
          <p:cNvPr id="24" name="Shape 20"/>
          <p:cNvSpPr/>
          <p:nvPr/>
        </p:nvSpPr>
        <p:spPr>
          <a:xfrm>
            <a:off x="6415888" y="4626864"/>
            <a:ext cx="292608" cy="292608"/>
          </a:xfrm>
          <a:prstGeom prst="ellipse">
            <a:avLst/>
          </a:prstGeom>
          <a:solidFill>
            <a:srgbClr val="8BC34A"/>
          </a:solidFill>
          <a:ln w="12700">
            <a:solidFill>
              <a:srgbClr val="8BC34A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6415888" y="46268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300" dirty="0"/>
          </a:p>
        </p:txBody>
      </p:sp>
      <p:sp>
        <p:nvSpPr>
          <p:cNvPr id="26" name="Text 22"/>
          <p:cNvSpPr txBox="1"/>
          <p:nvPr/>
        </p:nvSpPr>
        <p:spPr>
          <a:xfrm>
            <a:off x="6827368" y="4608576"/>
            <a:ext cx="4724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공식 Validation(3,640건)은 모델 선택에만 사용 — 학습·scaler 적합에는 사용 금지</a:t>
            </a:r>
            <a:endParaRPr lang="en-US" sz="1300" dirty="0"/>
          </a:p>
        </p:txBody>
      </p:sp>
      <p:sp>
        <p:nvSpPr>
          <p:cNvPr id="27" name="Shape 23"/>
          <p:cNvSpPr/>
          <p:nvPr/>
        </p:nvSpPr>
        <p:spPr>
          <a:xfrm>
            <a:off x="6415888" y="5248656"/>
            <a:ext cx="292608" cy="292608"/>
          </a:xfrm>
          <a:prstGeom prst="ellipse">
            <a:avLst/>
          </a:prstGeom>
          <a:solidFill>
            <a:srgbClr val="8BC34A"/>
          </a:solidFill>
          <a:ln w="12700">
            <a:solidFill>
              <a:srgbClr val="8BC34A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6415888" y="524865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300" dirty="0"/>
          </a:p>
        </p:txBody>
      </p:sp>
      <p:sp>
        <p:nvSpPr>
          <p:cNvPr id="29" name="Text 25"/>
          <p:cNvSpPr txBox="1"/>
          <p:nvPr/>
        </p:nvSpPr>
        <p:spPr>
          <a:xfrm>
            <a:off x="6827368" y="5230368"/>
            <a:ext cx="4724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비교 모델 후보: GBM(LightGBM, 비선형 트리) vs LR(StandardScaler+로지스틱회귀, 선형) — 복잡도가 다른 두 모델을 일부러 비교</a:t>
            </a:r>
            <a:endParaRPr lang="en-US" sz="1300" dirty="0"/>
          </a:p>
        </p:txBody>
      </p:sp>
      <p:sp>
        <p:nvSpPr>
          <p:cNvPr id="30" name="Text 26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reports/mission1/m1_exp_log.json "고정 변수", 대학부 예선 출제문제 5쪽 조건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11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1 — 연구 방법 ② 시행착오: 어떤 모델을 왜 골랐나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GBM과 LR 차이는 0.19%p — 더 복잡한 모델이 꼭 낫지는 않았다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2240280"/>
            <a:ext cx="6675120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640080" y="2377440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LR 혼동행렬 (오분류 178건)</a:t>
            </a:r>
            <a:endParaRPr lang="en-US" sz="10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633472"/>
          <a:ext cx="9144000" cy="914400"/>
        </p:xfrm>
        <a:graphic>
          <a:graphicData uri="http://schemas.openxmlformats.org/drawingml/2006/table">
            <a:tbl>
              <a:tblPr/>
              <a:tblGrid>
                <a:gridCol w="685800"/>
                <a:gridCol w="845820"/>
                <a:gridCol w="845820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예측 F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예측 M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실제 F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F4E9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1,878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81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실제 M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97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F4E9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1,584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 txBox="1"/>
          <p:nvPr/>
        </p:nvSpPr>
        <p:spPr>
          <a:xfrm>
            <a:off x="640080" y="384048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95% 신뢰구간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[94.40, 95.82]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640080" y="4526280"/>
            <a:ext cx="2377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과적합 점검: 내부 94.8~95.0% vs 공식 95.1% — 차이 작아 뚜렷한 leakage 징후 없음(증명은 아님)</a:t>
            </a:r>
            <a:endParaRPr lang="en-US" sz="1050" dirty="0"/>
          </a:p>
        </p:txBody>
      </p:sp>
      <p:graphicFrame>
        <p:nvGraphicFramePr>
          <p:cNvPr id="14" name="Chart 0" descr=""/>
          <p:cNvGraphicFramePr/>
          <p:nvPr/>
        </p:nvGraphicFramePr>
        <p:xfrm>
          <a:off x="3108960" y="2377440"/>
          <a:ext cx="384048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5" name="Shape 10"/>
          <p:cNvSpPr/>
          <p:nvPr/>
        </p:nvSpPr>
        <p:spPr>
          <a:xfrm>
            <a:off x="7406640" y="2240280"/>
            <a:ext cx="4327855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6" name="Text 11"/>
          <p:cNvSpPr txBox="1"/>
          <p:nvPr/>
        </p:nvSpPr>
        <p:spPr>
          <a:xfrm>
            <a:off x="7589520" y="2359152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왜 LR을 골랐나</a:t>
            </a:r>
            <a:endParaRPr lang="en-US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7589520" y="2697480"/>
            <a:ext cx="338328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정확도 차이 0.19%p (오분류 7건 차이)로 작음</a:t>
            </a:r>
            <a:endParaRPr lang="en-US" sz="11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LR이 더 단순하고 해석하기 쉬움 — 계수로 어떤 특징이 영향 줬는지 바로 확인 가능</a:t>
            </a:r>
            <a:endParaRPr lang="en-US" sz="11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recall_F 95.87% / recall_M 94.23% 모두 93~96%대로 균형 — 다수 클래스(F)만 찍는 편향 없음</a:t>
            </a:r>
            <a:endParaRPr lang="en-US" sz="11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GBM은 폐기가 아니라 향후 feature 확장 실험용 비교 baseline으로 유지</a:t>
            </a:r>
            <a:endParaRPr lang="en-US" sz="1100" dirty="0"/>
          </a:p>
        </p:txBody>
      </p:sp>
      <p:sp>
        <p:nvSpPr>
          <p:cNvPr id="18" name="Text 13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reports/mission1/m1_val_eval.json, m1_val_bootstrap_ci.json, M1_error_analysis_report.md 1·2절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12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1 — 연구 방법 ③ 시행착오: 오류 원인을 찾아본 과정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길이·발화 수·겹침, 52차원 feature까지 들여다봤지만 뚜렷한 단일 원인은 못 찾음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2240280"/>
            <a:ext cx="5501488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640080" y="2359152"/>
            <a:ext cx="51357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발화 길이 · 조각 수 · 겹침 비율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640080" y="2670048"/>
            <a:ext cx="513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오분류 178건을 분위(quintile) 5구간으로 나눠 구간별 오류율 비교</a:t>
            </a:r>
            <a:endParaRPr lang="en-US" sz="105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3017520"/>
          <a:ext cx="91440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097280"/>
                <a:gridCol w="1097280"/>
                <a:gridCol w="1280160"/>
              </a:tblGrid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분석 축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Q1 오류율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Q5 오류율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차이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발화 길이(초)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6.04%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(최단)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4.40%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(최장)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1.65%p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발화 조각 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4.12%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(최소)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5.88%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(최대)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E5393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−1.77%p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E5393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(방향 반대)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겹침 비율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5.08%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(최소)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5.49%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(최대)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0.41%p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640080" y="5166360"/>
            <a:ext cx="513572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짧고 발화 수도 적은 조합(n=1,506) 오류율 4.38% — 전체 평균(4.89%)보다 오히려 낮음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겹침 0구간(n=137) 오류율 2.92%는 표본이 작아 참고용 (순위 판단에 쓰지 않음)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6233008" y="2240280"/>
            <a:ext cx="5501488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5" name="Text 11"/>
          <p:cNvSpPr txBox="1"/>
          <p:nvPr/>
        </p:nvSpPr>
        <p:spPr>
          <a:xfrm>
            <a:off x="6415888" y="2359152"/>
            <a:ext cx="51357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52차원 feature 탐색 (Cohen's d)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6415888" y="2670048"/>
            <a:ext cx="51357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LR 계수 절댓값 상위 15개 안에 피치 직결 지표(zcr_mean·spectral_centroid_mean·mfcc_mean_0~3)는 없음</a:t>
            </a:r>
            <a:endParaRPr lang="en-US" sz="1050" dirty="0"/>
          </a:p>
        </p:txBody>
      </p:sp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15888" y="3200400"/>
          <a:ext cx="91440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828800"/>
                <a:gridCol w="164592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오류 유형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상위 축 (|d|&gt;1)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F→M (n=81)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mfcc_std_19 / 17 / 16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−1.24 ~ −1.10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M→F (n=97)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mfcc_std_17 / 16 / 19 외 2개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+1.34 ~ +1.83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8" name="Text 13"/>
          <p:cNvSpPr txBox="1"/>
          <p:nvPr/>
        </p:nvSpPr>
        <p:spPr>
          <a:xfrm>
            <a:off x="6415888" y="4526280"/>
            <a:ext cx="51357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간접 spectral 지표 6개 중 반대 성별 평균에 더 가까운 개수: F 오류 2/6, M 오류 3/6 — 과반에 못 미치거나 절반 수준</a:t>
            </a:r>
            <a:endParaRPr lang="en-US" sz="1050" dirty="0"/>
          </a:p>
        </p:txBody>
      </p:sp>
      <p:sp>
        <p:nvSpPr>
          <p:cNvPr id="19" name="Shape 14"/>
          <p:cNvSpPr/>
          <p:nvPr/>
        </p:nvSpPr>
        <p:spPr>
          <a:xfrm>
            <a:off x="6233008" y="5166360"/>
            <a:ext cx="5501488" cy="868680"/>
          </a:xfrm>
          <a:prstGeom prst="roundRect">
            <a:avLst>
              <a:gd name="adj" fmla="val 10526"/>
            </a:avLst>
          </a:prstGeom>
          <a:solidFill>
            <a:srgbClr val="FFCDD2"/>
          </a:solidFill>
          <a:ln w="12700">
            <a:solidFill>
              <a:srgbClr val="FFCDD2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6415888" y="5166360"/>
            <a:ext cx="513572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539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⚠ 사후 탐색(post-hoc) 결과 — </a:t>
            </a:r>
            <a:pPr indent="0" marL="0">
              <a:buNone/>
            </a:pPr>
            <a:r>
              <a:rPr lang="en-US" sz="10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52개 feature를 전부 탐색한 뒤 값이 큰 축만 추려 보여준 것이라 다중비교 편향 가능. 오분류 표본도 81·97건으로 작아 "이게 원인이다"라고 확정하지 않음.</a:t>
            </a:r>
            <a:endParaRPr lang="en-US" sz="1050" dirty="0"/>
          </a:p>
        </p:txBody>
      </p:sp>
      <p:sp>
        <p:nvSpPr>
          <p:cNvPr id="21" name="Text 16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M1_error_analysis_report.md 3·4·5절, m1_val_error_analysis.json, m1_val_error_rows.parquet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13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1 — 최종 연구 결과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공식 Validation 3,640건 Accuracy 95.11%, 95% CI [94.40, 95.82] — LR을 제출 후보로 확정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2240280"/>
            <a:ext cx="11277295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731520" y="251460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95.11%</a:t>
            </a:r>
            <a:endParaRPr lang="en-US" sz="4200" dirty="0"/>
          </a:p>
        </p:txBody>
      </p:sp>
      <p:sp>
        <p:nvSpPr>
          <p:cNvPr id="11" name="Text 8"/>
          <p:cNvSpPr txBox="1"/>
          <p:nvPr/>
        </p:nvSpPr>
        <p:spPr>
          <a:xfrm>
            <a:off x="731520" y="3227832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Accuracy (공식 Validation)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731520" y="384048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95% 신뢰구간 [94.40, 95.82]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recall F 95.87% · recall M 94.23%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731520" y="539496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파라미터 53개(가중치 52+절편) · CPU 추론 · Validation 3,640건 일괄 처리</a:t>
            </a:r>
            <a:endParaRPr lang="en-US" sz="950" dirty="0"/>
          </a:p>
        </p:txBody>
      </p:sp>
      <p:graphicFrame>
        <p:nvGraphicFramePr>
          <p:cNvPr id="14" name="Chart 0" descr=""/>
          <p:cNvGraphicFramePr/>
          <p:nvPr/>
        </p:nvGraphicFramePr>
        <p:xfrm>
          <a:off x="3383280" y="2377440"/>
          <a:ext cx="365760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5" name="Text 11"/>
          <p:cNvSpPr txBox="1"/>
          <p:nvPr/>
        </p:nvSpPr>
        <p:spPr>
          <a:xfrm>
            <a:off x="7498080" y="237744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LR 혼동행렬 (오분류 178건)</a:t>
            </a:r>
            <a:endParaRPr lang="en-US" sz="11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98080" y="2651760"/>
          <a:ext cx="9144000" cy="914400"/>
        </p:xfrm>
        <a:graphic>
          <a:graphicData uri="http://schemas.openxmlformats.org/drawingml/2006/table">
            <a:tbl>
              <a:tblPr/>
              <a:tblGrid>
                <a:gridCol w="777240"/>
                <a:gridCol w="914400"/>
                <a:gridCol w="9144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예측 F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예측 M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실제 F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F4E9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1,878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81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실제 M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97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F4E9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1,584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7" name="Text 12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reports/mission1/ m1_val_eval.json, m1_val_bootstrap_ci.json, docs/decisions.md 2026-10-05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14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1  신고자 성별 분류 — 결론: 한계와 다음 계획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관찰(사실)과 해석(판단)을 구분해서 기록 — 추가 검증 전까지는 확정 결론을 내리지 않음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2240280"/>
            <a:ext cx="5501488" cy="2240280"/>
          </a:xfrm>
          <a:prstGeom prst="roundRect">
            <a:avLst>
              <a:gd name="adj" fmla="val 4082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640080" y="2359152"/>
            <a:ext cx="51357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데이터 자체의 한계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640080" y="2651760"/>
            <a:ext cx="51357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정보가 부족해 남도 못 맞추는 영역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640080" y="2926080"/>
            <a:ext cx="51357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관찰 가능한 조건(길이·발화 수·겹침)으로는 오류 패턴이 설명되지 않음 — 분위구간 차이 최대 1.8%p, 방향도 엇갈림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성별이 애매하게 들리는 통화 자체가 일부 있을 가능성(탐색적 추정, 확정 아님)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오분류 표본이 작아(81·97건) 어떤 조건에서 특히 어려운지 더 좁히기 어려움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6233008" y="2240280"/>
            <a:ext cx="5501488" cy="2240280"/>
          </a:xfrm>
          <a:prstGeom prst="roundRect">
            <a:avLst>
              <a:gd name="adj" fmla="val 4082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6415888" y="2359152"/>
            <a:ext cx="51357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모델 성능의 한계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6415888" y="2651760"/>
            <a:ext cx="51357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 잘 맞출 여지가 있는 영역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6415888" y="2926080"/>
            <a:ext cx="51357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52차원 통계에는 피치(F0, 기본주파수)가 직접 들어있지 않음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Cohen's d 탐색에서 일부 고차 MFCC에 패턴이 보였으나 사후 탐색이라 확정 아님 — F0를 직접 추가하면 개선 여지(후속 가설)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GBM·LR을 짝지어 검정(McNemar)하지 않아 두 모델 차이의 통계적 유의성은 미확인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457200" y="4663440"/>
            <a:ext cx="5501488" cy="1645920"/>
          </a:xfrm>
          <a:prstGeom prst="roundRect">
            <a:avLst>
              <a:gd name="adj" fmla="val 5556"/>
            </a:avLst>
          </a:prstGeom>
          <a:solidFill>
            <a:srgbClr val="E8F5E9"/>
          </a:solidFill>
          <a:ln w="12700">
            <a:solidFill>
              <a:srgbClr val="E8F5E9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94360" y="4663440"/>
            <a:ext cx="3657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💡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1005840" y="4663440"/>
            <a:ext cx="48156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사회안전 시사점  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성별 자동 인식으로 신고 접수 기록을 자동화 — 상담 인력 배치 참고 정보로 활용 가능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6233008" y="4663440"/>
            <a:ext cx="5501488" cy="1645920"/>
          </a:xfrm>
          <a:prstGeom prst="roundRect">
            <a:avLst>
              <a:gd name="adj" fmla="val 5556"/>
            </a:avLst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1" name="Text 18"/>
          <p:cNvSpPr txBox="1"/>
          <p:nvPr/>
        </p:nvSpPr>
        <p:spPr>
          <a:xfrm>
            <a:off x="6415888" y="4773168"/>
            <a:ext cx="513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향후 계획 (제출 기한 내 미착수)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6415888" y="5074920"/>
            <a:ext cx="513572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F0(기본 주파수) 추가 — 상대적 우선순위만 상승, 확정 아님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GBM vs LR paired test (McNemar / paired bootstrap)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오분류 화자 단위 정성 분석 — 소수 화자가 오류를 몰아서 만드는지 확인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15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2  신고자/119대원 분류 (김광희) — 한눈에 보기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발화 하나만 듣고 대원인지 신고자인지 — 목소리를 그림(스펙트로그램)으로 바꿔 CNN 3개로 판정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224028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미션 정의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2542032"/>
            <a:ext cx="11277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입력 한 사람의 한 발화(startAt~endAt만)  ·  출력 대원(0)/신고자(1)  ·  평가 Accuracy  ·  제약 text·순서·다른 발화 정보 사용 불가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457200" y="3035808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57200" y="3127248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모델 구성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457200" y="3456432"/>
            <a:ext cx="182880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57200" y="3456432"/>
            <a:ext cx="1828800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57200" y="3730752"/>
            <a:ext cx="1828800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57200" y="3456432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발화 추출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594360" y="402336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해당 구간만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잘라내기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2836621" y="3977640"/>
            <a:ext cx="219456" cy="347472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3606698" y="3456432"/>
            <a:ext cx="182880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3606698" y="3456432"/>
            <a:ext cx="1828800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3606698" y="3730752"/>
            <a:ext cx="1828800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3606698" y="3456432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스펙트로그램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3743858" y="402336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log-mel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그림으로 변환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5986120" y="3977640"/>
            <a:ext cx="219456" cy="347472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6756197" y="3456432"/>
            <a:ext cx="182880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6756197" y="3456432"/>
            <a:ext cx="1828800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6756197" y="3730752"/>
            <a:ext cx="1828800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756197" y="3456432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CNN × 3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6893357" y="402336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seed 다르게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학습 후 평균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9135618" y="3977640"/>
            <a:ext cx="219456" cy="347472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9905695" y="3456432"/>
            <a:ext cx="182880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9905695" y="3456432"/>
            <a:ext cx="1828800" cy="457200"/>
          </a:xfrm>
          <a:prstGeom prst="roundRect">
            <a:avLst>
              <a:gd name="adj" fmla="val 20000"/>
            </a:avLst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9905695" y="3730752"/>
            <a:ext cx="1828800" cy="182880"/>
          </a:xfrm>
          <a:prstGeom prst="rect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9905695" y="3456432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10042855" y="402336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평균 확률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(기준값 0.5)</a:t>
            </a:r>
            <a:endParaRPr lang="en-US" sz="1200" dirty="0"/>
          </a:p>
        </p:txBody>
      </p:sp>
      <p:sp>
        <p:nvSpPr>
          <p:cNvPr id="36" name="Shape 33"/>
          <p:cNvSpPr/>
          <p:nvPr/>
        </p:nvSpPr>
        <p:spPr>
          <a:xfrm>
            <a:off x="457200" y="4846320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457200" y="493776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핵심 결과</a:t>
            </a:r>
            <a:endParaRPr lang="en-US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457200" y="5193792"/>
            <a:ext cx="112772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91.49%</a:t>
            </a:r>
            <a:endParaRPr lang="en-US" sz="4200" dirty="0"/>
          </a:p>
        </p:txBody>
      </p:sp>
      <p:sp>
        <p:nvSpPr>
          <p:cNvPr id="39" name="Text 36"/>
          <p:cNvSpPr txBox="1"/>
          <p:nvPr/>
        </p:nvSpPr>
        <p:spPr>
          <a:xfrm>
            <a:off x="457200" y="585216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Accuracy (공식 Validation, 발화 111,947개)</a:t>
            </a:r>
            <a:endParaRPr lang="en-US" sz="1300" dirty="0"/>
          </a:p>
        </p:txBody>
      </p:sp>
      <p:sp>
        <p:nvSpPr>
          <p:cNvPr id="40" name="Text 37"/>
          <p:cNvSpPr txBox="1"/>
          <p:nvPr/>
        </p:nvSpPr>
        <p:spPr>
          <a:xfrm>
            <a:off x="457200" y="6108192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L1(LightGBM) 86.44% 대비 +5.05%p — CNN 3-seed 앙상블 채택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16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2 — 미션 정의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신고 통화의 발화 하나만 듣고, 말한 사람이 대원인지 신고자인지 맞힌다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2240280"/>
            <a:ext cx="4572000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40080" y="2514600"/>
            <a:ext cx="1051560" cy="347472"/>
          </a:xfrm>
          <a:prstGeom prst="roundRect">
            <a:avLst>
              <a:gd name="adj" fmla="val 21053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40080" y="2514600"/>
            <a:ext cx="1051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입력</a:t>
            </a:r>
            <a:endParaRPr lang="en-US" sz="1150" dirty="0"/>
          </a:p>
        </p:txBody>
      </p:sp>
      <p:sp>
        <p:nvSpPr>
          <p:cNvPr id="12" name="Text 9"/>
          <p:cNvSpPr txBox="1"/>
          <p:nvPr/>
        </p:nvSpPr>
        <p:spPr>
          <a:xfrm>
            <a:off x="1783080" y="2496312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통화 음성에서 잘라낸 한 사람의 한 발화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라벨 파일의 startAt·endAt만 사용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640080" y="3383280"/>
            <a:ext cx="1051560" cy="347472"/>
          </a:xfrm>
          <a:prstGeom prst="roundRect">
            <a:avLst>
              <a:gd name="adj" fmla="val 21053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40080" y="3383280"/>
            <a:ext cx="1051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출력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1783080" y="3364992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대원(0) 또는 신고자(1)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640080" y="4251960"/>
            <a:ext cx="1051560" cy="347472"/>
          </a:xfrm>
          <a:prstGeom prst="roundRect">
            <a:avLst>
              <a:gd name="adj" fmla="val 21053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" y="4251960"/>
            <a:ext cx="1051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평가 지표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1783080" y="4233672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Accuracy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640080" y="5120640"/>
            <a:ext cx="1051560" cy="347472"/>
          </a:xfrm>
          <a:prstGeom prst="roundRect">
            <a:avLst>
              <a:gd name="adj" fmla="val 21053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40080" y="5120640"/>
            <a:ext cx="1051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대회 제약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1783080" y="5102352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발화 내용(text)·발화 순서·같은 통화의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다른 발화 정보는 쓸 수 없음 — 목소리 그 자체만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5303520" y="2240280"/>
            <a:ext cx="6430975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3" name="Text 20"/>
          <p:cNvSpPr txBox="1"/>
          <p:nvPr/>
        </p:nvSpPr>
        <p:spPr>
          <a:xfrm>
            <a:off x="5486400" y="2377440"/>
            <a:ext cx="60652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한 발화만 보고 판단한다는 것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5486400" y="3017520"/>
            <a:ext cx="956005" cy="50292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6497269" y="3017520"/>
            <a:ext cx="956005" cy="50292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7508138" y="3017520"/>
            <a:ext cx="956005" cy="502920"/>
          </a:xfrm>
          <a:prstGeom prst="rect">
            <a:avLst/>
          </a:prstGeom>
          <a:solidFill>
            <a:srgbClr val="2F4E91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8519008" y="3017520"/>
            <a:ext cx="956005" cy="50292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9529877" y="3017520"/>
            <a:ext cx="956005" cy="50292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10540746" y="3017520"/>
            <a:ext cx="956005" cy="50292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5486400" y="3593592"/>
            <a:ext cx="6065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통화 하나 = 발화 여러 조각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7986141" y="3840480"/>
            <a:ext cx="0" cy="365760"/>
          </a:xfrm>
          <a:prstGeom prst="line">
            <a:avLst/>
          </a:prstGeom>
          <a:noFill/>
          <a:ln w="25400">
            <a:solidFill>
              <a:srgbClr val="2F4E91"/>
            </a:solidFill>
            <a:prstDash val="solid"/>
            <a:tailEnd type="triangle"/>
          </a:ln>
        </p:spPr>
      </p:sp>
      <p:sp>
        <p:nvSpPr>
          <p:cNvPr id="32" name="Shape 29"/>
          <p:cNvSpPr/>
          <p:nvPr/>
        </p:nvSpPr>
        <p:spPr>
          <a:xfrm>
            <a:off x="6959498" y="4251960"/>
            <a:ext cx="2108149" cy="502920"/>
          </a:xfrm>
          <a:prstGeom prst="roundRect">
            <a:avLst>
              <a:gd name="adj" fmla="val 14545"/>
            </a:avLst>
          </a:prstGeom>
          <a:solidFill>
            <a:srgbClr val="EAF3FA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6959498" y="4251960"/>
            <a:ext cx="210814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대원? 신고자?</a:t>
            </a:r>
            <a:endParaRPr lang="en-US" sz="1300" dirty="0"/>
          </a:p>
        </p:txBody>
      </p:sp>
      <p:sp>
        <p:nvSpPr>
          <p:cNvPr id="34" name="Text 31"/>
          <p:cNvSpPr txBox="1"/>
          <p:nvPr/>
        </p:nvSpPr>
        <p:spPr>
          <a:xfrm>
            <a:off x="5486400" y="5394960"/>
            <a:ext cx="60652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다른 조각(text·순서 포함)은 전혀 보지 않고, 강조된 조각의 소리만으로 판단</a:t>
            </a:r>
            <a:endParaRPr lang="en-US" sz="1100" dirty="0"/>
          </a:p>
        </p:txBody>
      </p:sp>
      <p:sp>
        <p:nvSpPr>
          <p:cNvPr id="35" name="Text 32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대학부 예선 출제문제 8쪽, 2026-10-05 주최측 공식 답변(같은 통화의 다른 발화 정보 사용 금지)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17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2 — 데이터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서울 지역 신고 통화 약 3만 건, 발화 100만 개 — 절반 이상이 1.5초 이하의 짧은 발화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2240280"/>
            <a:ext cx="5852160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423160"/>
          <a:ext cx="914400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2103120"/>
                <a:gridCol w="19202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학습용(Training, 서울)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공식 Validation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통화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29,200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3,640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발화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889,358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111,947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대원 발화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427,161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53,845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신고자 발화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462,197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58,102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7"/>
          <p:cNvSpPr txBox="1"/>
          <p:nvPr/>
        </p:nvSpPr>
        <p:spPr>
          <a:xfrm>
            <a:off x="640080" y="4572000"/>
            <a:ext cx="54864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5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음성 형식  </a:t>
            </a:r>
            <a:pPr indent="0" marL="0">
              <a:spcAft>
                <a:spcPts val="6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8kHz, 모노</a:t>
            </a:r>
            <a:endParaRPr lang="en-US" sz="11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5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클래스 비율  </a:t>
            </a:r>
            <a:pPr indent="0" marL="0">
              <a:spcAft>
                <a:spcPts val="6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거의 반반 (신고자 52%)</a:t>
            </a:r>
            <a:endParaRPr lang="en-US" sz="11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5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발화 길이  </a:t>
            </a:r>
            <a:pPr indent="0" marL="0">
              <a:spcAft>
                <a:spcPts val="6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평균 1.98초, 중간값 1.44초 — "네","예" 같은 짧은 맞장구가 많음. 이게 문제를 어렵게 만드는 핵심</a:t>
            </a:r>
            <a:endParaRPr lang="en-US" sz="1150" dirty="0"/>
          </a:p>
        </p:txBody>
      </p:sp>
      <p:sp>
        <p:nvSpPr>
          <p:cNvPr id="12" name="Shape 8"/>
          <p:cNvSpPr/>
          <p:nvPr/>
        </p:nvSpPr>
        <p:spPr>
          <a:xfrm>
            <a:off x="6492240" y="2240280"/>
            <a:ext cx="5242255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3" name="Text 9"/>
          <p:cNvSpPr txBox="1"/>
          <p:nvPr/>
        </p:nvSpPr>
        <p:spPr>
          <a:xfrm>
            <a:off x="6675120" y="2377440"/>
            <a:ext cx="48764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발화 길이 구간별 분포 (공식 Validation)</a:t>
            </a:r>
            <a:endParaRPr lang="en-US" sz="1150" dirty="0"/>
          </a:p>
        </p:txBody>
      </p:sp>
      <p:graphicFrame>
        <p:nvGraphicFramePr>
          <p:cNvPr id="14" name="Chart 0" descr=""/>
          <p:cNvGraphicFramePr/>
          <p:nvPr/>
        </p:nvGraphicFramePr>
        <p:xfrm>
          <a:off x="6583680" y="2697480"/>
          <a:ext cx="5059375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5" name="Text 10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미션2_PPT_제작의뢰_초안.md 2절, reports/mission2/m2_official_val_spec.md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18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2 — 연구 방법 ① 첫 번째 접근: 음향 통계 + LightGBM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발화마다 소리 특징을 숫자 53개로 요약해 분류 → 공식 Validation 86.44%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2240280"/>
            <a:ext cx="11277295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731520" y="2423160"/>
            <a:ext cx="107286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방법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731520" y="2743200"/>
            <a:ext cx="107286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3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특징  </a:t>
            </a:r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 높낮이·세기·음색(MFCC) 등 값의 평균과 분산 등 53개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모델  </a:t>
            </a:r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LightGBM (트리 기반 모델)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731520" y="3703320"/>
            <a:ext cx="1072865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914400" y="393192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86.44%</a:t>
            </a:r>
            <a:endParaRPr lang="en-US" sz="4200" dirty="0"/>
          </a:p>
        </p:txBody>
      </p:sp>
      <p:sp>
        <p:nvSpPr>
          <p:cNvPr id="14" name="Text 11"/>
          <p:cNvSpPr txBox="1"/>
          <p:nvPr/>
        </p:nvSpPr>
        <p:spPr>
          <a:xfrm>
            <a:off x="914400" y="4645152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공식 Validation Accuracy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4389120" y="3931920"/>
            <a:ext cx="70710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추가로 해 본 것 — 모두 큰 개선 없음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4389120" y="4334256"/>
            <a:ext cx="292608" cy="292608"/>
          </a:xfrm>
          <a:prstGeom prst="ellipse">
            <a:avLst/>
          </a:prstGeom>
          <a:solidFill>
            <a:srgbClr val="8BC34A"/>
          </a:solidFill>
          <a:ln w="12700">
            <a:solidFill>
              <a:srgbClr val="8BC34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389120" y="433425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4800600" y="4315968"/>
            <a:ext cx="29868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특징 추가 3회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8061808" y="4334256"/>
            <a:ext cx="292608" cy="292608"/>
          </a:xfrm>
          <a:prstGeom prst="ellipse">
            <a:avLst/>
          </a:prstGeom>
          <a:solidFill>
            <a:srgbClr val="8BC34A"/>
          </a:solidFill>
          <a:ln w="12700">
            <a:solidFill>
              <a:srgbClr val="8BC34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8061808" y="433425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8473288" y="4315968"/>
            <a:ext cx="29868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하이퍼파라미터 튜닝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4389120" y="4773168"/>
            <a:ext cx="292608" cy="292608"/>
          </a:xfrm>
          <a:prstGeom prst="ellipse">
            <a:avLst/>
          </a:prstGeom>
          <a:solidFill>
            <a:srgbClr val="8BC34A"/>
          </a:solidFill>
          <a:ln w="12700">
            <a:solidFill>
              <a:srgbClr val="8BC34A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4389120" y="47731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4800600" y="4754880"/>
            <a:ext cx="29868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클래스 가중치 조정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8061808" y="4773168"/>
            <a:ext cx="292608" cy="292608"/>
          </a:xfrm>
          <a:prstGeom prst="ellipse">
            <a:avLst/>
          </a:prstGeom>
          <a:solidFill>
            <a:srgbClr val="8BC34A"/>
          </a:solidFill>
          <a:ln w="12700">
            <a:solidFill>
              <a:srgbClr val="8BC34A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061808" y="47731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300" dirty="0"/>
          </a:p>
        </p:txBody>
      </p:sp>
      <p:sp>
        <p:nvSpPr>
          <p:cNvPr id="27" name="Text 24"/>
          <p:cNvSpPr txBox="1"/>
          <p:nvPr/>
        </p:nvSpPr>
        <p:spPr>
          <a:xfrm>
            <a:off x="8473288" y="4754880"/>
            <a:ext cx="29868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목소리 겹침 구간 처리</a:t>
            </a:r>
            <a:endParaRPr lang="en-US" sz="1300" dirty="0"/>
          </a:p>
        </p:txBody>
      </p:sp>
      <p:sp>
        <p:nvSpPr>
          <p:cNvPr id="28" name="Text 25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미션2_PPT_제작의뢰_초안.md 3절, docs/experiment_log.md M2-EXP-001~009, M2-COMPARE-001, M2-VAL-001/002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19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2 — 연구 방법 ② 한계 발견과 방향 전환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숫자 몇 개로 요약하는 순간, 목소리의 세부 정보가 사라진다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2240280"/>
            <a:ext cx="5501488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640080" y="2359152"/>
            <a:ext cx="51357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오류 분석에서 나온 약점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640080" y="2697480"/>
            <a:ext cx="51357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짧은 발화 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요약할 정보 자체가 적음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목소리 겹침 구간 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사람 소리가 섞인 구간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640080" y="3429000"/>
            <a:ext cx="5135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특징을 더 넣어도 이 약점은 그대로였음 (3절 "추가로 해 본 것")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640080" y="3886200"/>
            <a:ext cx="5135728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40080" y="4023360"/>
            <a:ext cx="513572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가설  </a:t>
            </a:r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평균·분산으로 요약하는 과정에서 시간에 따른 변화와 음색의 결 같은 정보가 버려진다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선택  </a:t>
            </a:r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요약하지 말고, 소리를 그림(스펙트로그램) 그대로 학습시키자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6233008" y="2240280"/>
            <a:ext cx="5501488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415888" y="2359152"/>
            <a:ext cx="51357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선행 연구 근거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6415888" y="2697480"/>
            <a:ext cx="5135728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05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Hershey et al., </a:t>
            </a:r>
            <a:pPr indent="0" marL="0">
              <a:spcAft>
                <a:spcPts val="600"/>
              </a:spcAft>
              <a:buNone/>
            </a:pPr>
            <a:r>
              <a:rPr lang="en-US" sz="1050" i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CNN Architectures for Large-Scale Audio Classification, ICASSP 2017</a:t>
            </a:r>
            <a:endParaRPr lang="en-US" sz="10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05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log-mel 스펙트로그램 + CNN이 대규모 오디오 분류에서 효과적임을 보임</a:t>
            </a:r>
            <a:endParaRPr lang="en-US" sz="10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05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Nagrani et al., </a:t>
            </a:r>
            <a:pPr indent="0" marL="0">
              <a:spcAft>
                <a:spcPts val="600"/>
              </a:spcAft>
              <a:buNone/>
            </a:pPr>
            <a:r>
              <a:rPr lang="en-US" sz="1050" i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VoxCeleb: a large-scale speaker identification dataset, Interspeech 2017</a:t>
            </a:r>
            <a:endParaRPr lang="en-US" sz="10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05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스펙트로그램 기반 CNN으로 화자 식별</a:t>
            </a:r>
            <a:endParaRPr lang="en-US" sz="10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05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Ozan, </a:t>
            </a:r>
            <a:pPr indent="0" marL="0">
              <a:spcAft>
                <a:spcPts val="600"/>
              </a:spcAft>
              <a:buNone/>
            </a:pPr>
            <a:r>
              <a:rPr lang="en-US" sz="1050" i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Classification of Audio Segments in Call Center Recordings using CRNN, arXiv:2106.02422 (2021)</a:t>
            </a:r>
            <a:endParaRPr lang="en-US" sz="10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05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콜센터 통화의 상담원/고객 구간을 CNN+RNN으로 자동 분류 — 본 미션과 가장 가까운 선행 사례</a:t>
            </a:r>
            <a:endParaRPr lang="en-US" sz="1050" dirty="0"/>
          </a:p>
        </p:txBody>
      </p:sp>
      <p:sp>
        <p:nvSpPr>
          <p:cNvPr id="18" name="Text 15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미션2_PPT_제작의뢰_초안.md 4절 (인용 2026-10-08 확인)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20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2 — 연구 방법 ③ 최종 모델 구조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발화를 소리 그림으로 바꿔 CNN으로 분류하고, 3개 모델의 판단을 평균한다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2286000"/>
            <a:ext cx="1920240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57200" y="2286000"/>
            <a:ext cx="1920240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57200" y="2560320"/>
            <a:ext cx="1920240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57200" y="22860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발화 추출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594360" y="2852928"/>
            <a:ext cx="16459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해당 구간만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잘라냄 (다른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발화는 안 봄)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2477224" y="3063240"/>
            <a:ext cx="219456" cy="347472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2796464" y="2286000"/>
            <a:ext cx="1920240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2796464" y="2286000"/>
            <a:ext cx="1920240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2796464" y="2560320"/>
            <a:ext cx="1920240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796464" y="22860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스펙트로그램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2933624" y="2852928"/>
            <a:ext cx="16459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log-mel, 주파수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40칸·20ms 단위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발화 내 정규화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4816488" y="3063240"/>
            <a:ext cx="219456" cy="347472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5135728" y="2286000"/>
            <a:ext cx="1920240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5135728" y="2286000"/>
            <a:ext cx="1920240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5135728" y="2560320"/>
            <a:ext cx="1920240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135728" y="22860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길이 맞춤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5272888" y="2852928"/>
            <a:ext cx="16459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짧은 발화는 무음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으로 6초까지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(자기 자신만)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7155752" y="3063240"/>
            <a:ext cx="219456" cy="347472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474991" y="2286000"/>
            <a:ext cx="1920240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7474991" y="2286000"/>
            <a:ext cx="1920240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474991" y="2560320"/>
            <a:ext cx="1920240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7474991" y="22860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CNN × 3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7612151" y="2852928"/>
            <a:ext cx="16459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4층 합성곱+전역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풀링, 각자 확률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계산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9495015" y="3063240"/>
            <a:ext cx="219456" cy="347472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9814255" y="2286000"/>
            <a:ext cx="1920240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9814255" y="2286000"/>
            <a:ext cx="1920240" cy="457200"/>
          </a:xfrm>
          <a:prstGeom prst="roundRect">
            <a:avLst>
              <a:gd name="adj" fmla="val 20000"/>
            </a:avLst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9814255" y="2560320"/>
            <a:ext cx="1920240" cy="182880"/>
          </a:xfrm>
          <a:prstGeom prst="rect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9814255" y="22860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⑤ 판정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9951415" y="2852928"/>
            <a:ext cx="16459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3개 확률 평균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≥0.5 신고자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(기준값 0.5)</a:t>
            </a:r>
            <a:endParaRPr lang="en-US" sz="1200" dirty="0"/>
          </a:p>
        </p:txBody>
      </p:sp>
      <p:sp>
        <p:nvSpPr>
          <p:cNvPr id="38" name="Shape 35"/>
          <p:cNvSpPr/>
          <p:nvPr/>
        </p:nvSpPr>
        <p:spPr>
          <a:xfrm>
            <a:off x="457200" y="4526280"/>
            <a:ext cx="11277295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39" name="Text 36"/>
          <p:cNvSpPr txBox="1"/>
          <p:nvPr/>
        </p:nvSpPr>
        <p:spPr>
          <a:xfrm>
            <a:off x="640080" y="4645152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CNN 구조</a:t>
            </a:r>
            <a:endParaRPr lang="en-US" sz="1300" dirty="0"/>
          </a:p>
        </p:txBody>
      </p:sp>
      <p:sp>
        <p:nvSpPr>
          <p:cNvPr id="40" name="Text 37"/>
          <p:cNvSpPr txBox="1"/>
          <p:nvPr/>
        </p:nvSpPr>
        <p:spPr>
          <a:xfrm>
            <a:off x="640080" y="4937760"/>
            <a:ext cx="1091153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합성곱 층 4개(32→64→128→256 채널) + 전역 평균 풀링 + 분류층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모델 1개당 파라미터 421,954개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사전학습 모델이나 외부 데이터 없이, 제공된 데이터만으로 처음부터 학습</a:t>
            </a:r>
            <a:endParaRPr lang="en-US" sz="1150" dirty="0"/>
          </a:p>
        </p:txBody>
      </p:sp>
      <p:sp>
        <p:nvSpPr>
          <p:cNvPr id="41" name="Text 38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미션2_PPT_제작의뢰_초안.md 5절, src/dcc_data/mission2_cnn.py (SpeakerCNNLarge)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21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2 — 연구 방법 ④ 핵심 아이디어 ① 발화 단독 무음 채우기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짧은 발화를 무음으로 6초까지 채우기만 해도 +1.16%p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2240280"/>
            <a:ext cx="6675120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640080" y="2377440"/>
            <a:ext cx="64008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문제 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학습 때는 여러 발화를 묶어 가장 긴 발화에 맞춰 무음을 채움 → 모델이 그 분포에 익숙해짐. 채점 때는 발화를 하나씩 넣다 보니, 짧은 발화가 무음 없이 들어가 성능이 떨어짐</a:t>
            </a:r>
            <a:endParaRPr lang="en-US" sz="12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해결 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추론 때 각 발화를 그 발화 자신만으로 무음을 채워 300프레임(6초)으로 맞춤 — 다른 발화 정보를 쓰지 않으니 규정에도 맞음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731520" y="448056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E539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+1.16%p</a:t>
            </a:r>
            <a:endParaRPr lang="en-US" sz="3000" dirty="0"/>
          </a:p>
        </p:txBody>
      </p:sp>
      <p:sp>
        <p:nvSpPr>
          <p:cNvPr id="12" name="Text 9"/>
          <p:cNvSpPr txBox="1"/>
          <p:nvPr/>
        </p:nvSpPr>
        <p:spPr>
          <a:xfrm>
            <a:off x="731520" y="5193792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89.73% → 90.89%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2926080" y="448056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+4.1%p</a:t>
            </a:r>
            <a:endParaRPr lang="en-US" sz="3000" dirty="0"/>
          </a:p>
        </p:txBody>
      </p:sp>
      <p:sp>
        <p:nvSpPr>
          <p:cNvPr id="14" name="Text 11"/>
          <p:cNvSpPr txBox="1"/>
          <p:nvPr/>
        </p:nvSpPr>
        <p:spPr>
          <a:xfrm>
            <a:off x="2926080" y="5193792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0.5초 미만: 86.2→90.3%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731520" y="5577840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채우는 길이(300프레임)는 공식 Validation이 아니라 학습 데이터 안의 검증 통화로 정했음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7406640" y="2240280"/>
            <a:ext cx="4327855" cy="3977640"/>
          </a:xfrm>
          <a:prstGeom prst="roundRect">
            <a:avLst>
              <a:gd name="adj" fmla="val 2299"/>
            </a:avLst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7" name="Text 14"/>
          <p:cNvSpPr txBox="1"/>
          <p:nvPr/>
        </p:nvSpPr>
        <p:spPr>
          <a:xfrm>
            <a:off x="7589520" y="237744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중요한가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7589520" y="2697480"/>
            <a:ext cx="33832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재학습 없이 추론 방식만 고쳐서 얻은 이득 — 모델이 아니라 "학습과 추론의 입력이 서로 달랐다"는 걸 찾아낸 것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미션2_PPT_제작의뢰_초안.md 6절, docs/experiment_log.md M2-PAD-001, M2-VAL-004/005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22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2 — 연구 방법 ⑤ 핵심 아이디어 ② seed 앙상블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CNN을 시작 조건만 바꿔 3번 학습하고 평균하면, 단일 모델보다 0.5%p 높음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2240280"/>
            <a:ext cx="6035040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graphicFrame>
        <p:nvGraphicFramePr>
          <p:cNvPr id="10" name="Chart 0" descr=""/>
          <p:cNvGraphicFramePr/>
          <p:nvPr/>
        </p:nvGraphicFramePr>
        <p:xfrm>
          <a:off x="640080" y="2423160"/>
          <a:ext cx="566928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Shape 7"/>
          <p:cNvSpPr/>
          <p:nvPr/>
        </p:nvSpPr>
        <p:spPr>
          <a:xfrm>
            <a:off x="6766560" y="2240280"/>
            <a:ext cx="4967935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2" name="Text 8"/>
          <p:cNvSpPr txBox="1"/>
          <p:nvPr/>
        </p:nvSpPr>
        <p:spPr>
          <a:xfrm>
            <a:off x="6949440" y="2377440"/>
            <a:ext cx="46021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방법</a:t>
            </a:r>
            <a:endParaRPr lang="en-US" sz="1300" dirty="0"/>
          </a:p>
        </p:txBody>
      </p:sp>
      <p:sp>
        <p:nvSpPr>
          <p:cNvPr id="13" name="Text 9"/>
          <p:cNvSpPr txBox="1"/>
          <p:nvPr/>
        </p:nvSpPr>
        <p:spPr>
          <a:xfrm>
            <a:off x="6949440" y="2697480"/>
            <a:ext cx="460217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모델 구조·데이터·학습 설정은 같고 무작위 시작값(seed 1/2/3)만 다름 — 실력은 비슷해도 틀리는 발화가 서로 달라서, 평균을 내면 서로의 실수를 보완</a:t>
            </a:r>
            <a:endParaRPr lang="en-US" sz="11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949440" y="4297680"/>
          <a:ext cx="91440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55448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구성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Accuracy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모델 1개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90.90~91.04%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모델 2개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91.39~91.45%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모델 3개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F4E9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91.55%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Text 10"/>
          <p:cNvSpPr txBox="1"/>
          <p:nvPr/>
        </p:nvSpPr>
        <p:spPr>
          <a:xfrm>
            <a:off x="6949440" y="5897880"/>
            <a:ext cx="46021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2개→3개는 오르는 폭이 +0.1%p로 줄어서 3개에서 멈춤</a:t>
            </a:r>
            <a:endParaRPr lang="en-US" sz="1050" dirty="0"/>
          </a:p>
        </p:txBody>
      </p:sp>
      <p:sp>
        <p:nvSpPr>
          <p:cNvPr id="16" name="Text 11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미션2_PPT_제작의뢰_초안.md 7절, docs/experiment_log.md M2-ENS-002/003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23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2 — 연구 방법 ⑥ 검증했지만 채택하지 않은 시도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아이디어마다 seed 3개로 반복 실험해 우연이 아닌지 확인했고, 기준에 못 미치면 버렸다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2240280"/>
            <a:ext cx="11277295" cy="3383280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450592"/>
          <a:ext cx="914400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4754880"/>
                <a:gridCol w="1737360"/>
              </a:tblGrid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시도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결과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판정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시간 해상도 2배 (hop80)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처음엔 좋아 보였지만 충분히 학습하면 역전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5393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기각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주파수 칸 수 2배 (40→80)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3번 모두 하락 (평균 −0.68%p)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5393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기각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주파수 눈금 변경 (mel→linear)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3번 모두 하락 (평균 −0.39%p)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5393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기각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데이터 보강 (SpecAugment)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평균 −0.12%p (우연 수준)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5393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기각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더 큰 모델 (ResNet, 파라미터 3배)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이득 없음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5393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기각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화자인식 전용 구조 (ECAPA-TDNN)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+0.27%p, 사전에 정한 기준(+0.5%p) 미달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5393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기각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457200" y="5760720"/>
            <a:ext cx="11277295" cy="594360"/>
          </a:xfrm>
          <a:prstGeom prst="roundRect">
            <a:avLst>
              <a:gd name="adj" fmla="val 15385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594360" y="5760720"/>
            <a:ext cx="365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💡</a:t>
            </a:r>
            <a:endParaRPr lang="en-US" sz="1800" dirty="0"/>
          </a:p>
        </p:txBody>
      </p:sp>
      <p:sp>
        <p:nvSpPr>
          <p:cNvPr id="13" name="Text 9"/>
          <p:cNvSpPr txBox="1"/>
          <p:nvPr/>
        </p:nvSpPr>
        <p:spPr>
          <a:xfrm>
            <a:off x="1005840" y="5760720"/>
            <a:ext cx="105914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메시지  </a:t>
            </a:r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 기준은 실험 전에 정했고, 결과를 보고 바꾸지 않았음</a:t>
            </a:r>
            <a:endParaRPr lang="en-US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미션2_PPT_제작의뢰_초안.md 8절, docs/experiment_log.md M2-CNN-005~009, M2-ECAPA-001, M2-FREQ-001, M2-AUG-001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24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2 — 최종 연구 결과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공식 Validation 정확도 91.49% (L1 GBM 대비 +5.05%p)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2240280"/>
            <a:ext cx="3840480" cy="3977640"/>
          </a:xfrm>
          <a:prstGeom prst="roundRect">
            <a:avLst>
              <a:gd name="adj" fmla="val 2381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640080" y="246888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91.49%</a:t>
            </a:r>
            <a:endParaRPr lang="en-US" sz="3800" dirty="0"/>
          </a:p>
        </p:txBody>
      </p:sp>
      <p:sp>
        <p:nvSpPr>
          <p:cNvPr id="11" name="Text 8"/>
          <p:cNvSpPr txBox="1"/>
          <p:nvPr/>
        </p:nvSpPr>
        <p:spPr>
          <a:xfrm>
            <a:off x="640080" y="3182112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Accuracy (공식 Validation)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640080" y="365760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111,947건 중 102,419건 정답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대원 recall 87.15% · 신고자 recall 95.51%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640080" y="4434840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혼동행렬</a:t>
            </a:r>
            <a:endParaRPr lang="en-US" sz="105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4690872"/>
          <a:ext cx="91440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143000"/>
                <a:gridCol w="11430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실제 ↓ · 예측 →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대원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신고자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대원 (53,845)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F4E9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46,926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6,919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신고자 (58,102)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2,609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F4E9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55,493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Shape 11"/>
          <p:cNvSpPr/>
          <p:nvPr/>
        </p:nvSpPr>
        <p:spPr>
          <a:xfrm>
            <a:off x="4572000" y="2240280"/>
            <a:ext cx="3931920" cy="397764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6" name="Text 12"/>
          <p:cNvSpPr txBox="1"/>
          <p:nvPr/>
        </p:nvSpPr>
        <p:spPr>
          <a:xfrm>
            <a:off x="4754880" y="237744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발전 과정 (공식 Validation)</a:t>
            </a:r>
            <a:endParaRPr lang="en-US" sz="1150" dirty="0"/>
          </a:p>
        </p:txBody>
      </p:sp>
      <p:graphicFrame>
        <p:nvGraphicFramePr>
          <p:cNvPr id="17" name="Chart 0" descr=""/>
          <p:cNvGraphicFramePr/>
          <p:nvPr/>
        </p:nvGraphicFramePr>
        <p:xfrm>
          <a:off x="4663440" y="2697480"/>
          <a:ext cx="374904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8" name="Shape 13"/>
          <p:cNvSpPr/>
          <p:nvPr/>
        </p:nvSpPr>
        <p:spPr>
          <a:xfrm>
            <a:off x="8778240" y="2240280"/>
            <a:ext cx="2956255" cy="3977640"/>
          </a:xfrm>
          <a:prstGeom prst="roundRect">
            <a:avLst>
              <a:gd name="adj" fmla="val 3093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9" name="Text 14"/>
          <p:cNvSpPr txBox="1"/>
          <p:nvPr/>
        </p:nvSpPr>
        <p:spPr>
          <a:xfrm>
            <a:off x="8961120" y="2377440"/>
            <a:ext cx="25904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발화 길이별 정확도</a:t>
            </a:r>
            <a:endParaRPr lang="en-US" sz="1150" dirty="0"/>
          </a:p>
        </p:txBody>
      </p:sp>
      <p:graphicFrame>
        <p:nvGraphicFramePr>
          <p:cNvPr id="4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961120" y="2697480"/>
          <a:ext cx="91440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005840"/>
                <a:gridCol w="1005840"/>
              </a:tblGrid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길이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발화 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정확도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0.5초 미만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8,954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90.95%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0.5~1초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27,392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E5393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87.60%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1~2초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36,858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89.71%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2초 이상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38,743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F4E9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96.05%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1" name="Text 15"/>
          <p:cNvSpPr txBox="1"/>
          <p:nvPr/>
        </p:nvSpPr>
        <p:spPr>
          <a:xfrm>
            <a:off x="8961120" y="5577840"/>
            <a:ext cx="25904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rgbClr val="9E9E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[확인 필요] 연우님 모델과 공식 Validation 비교 결과 반영 여부</a:t>
            </a:r>
            <a:endParaRPr lang="en-US" sz="950" dirty="0"/>
          </a:p>
        </p:txBody>
      </p:sp>
      <p:sp>
        <p:nvSpPr>
          <p:cNvPr id="22" name="Text 16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미션2_PPT_제작의뢰_초안.md 9절, docs/experiment_log.md M2-RERUN-001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25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2 — 오류 분석과 한계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남은 오류는 짧은 맞장구와 "대원을 신고자로 착각"하는 경우에 몰려 있음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2240280"/>
            <a:ext cx="5501488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640080" y="2359152"/>
            <a:ext cx="51357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가장 약한 구간: 0.5~1초 (87.60%)</a:t>
            </a:r>
            <a:endParaRPr lang="en-US" sz="1350" dirty="0"/>
          </a:p>
        </p:txBody>
      </p:sp>
      <p:sp>
        <p:nvSpPr>
          <p:cNvPr id="11" name="Text 8"/>
          <p:cNvSpPr txBox="1"/>
          <p:nvPr/>
        </p:nvSpPr>
        <p:spPr>
          <a:xfrm>
            <a:off x="640080" y="2697480"/>
            <a:ext cx="513572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"네", "예" 같은 짧은 대답은 대원·신고자가 똑같이 씀 — 목소리만으로는 구분 정보가 거의 없음</a:t>
            </a:r>
            <a:endParaRPr lang="en-US" sz="11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오류의 73%가 "대원을 신고자로" 판단한 경우 (6,919건 vs 반대 방향 2,609건)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640080" y="4114800"/>
            <a:ext cx="5135728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40080" y="4251960"/>
            <a:ext cx="51357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라벨 잡음  </a:t>
            </a:r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화자 라벨이 뒤바뀐 것으로 의심되는 통화가 있었음. 대회 규정(전사 텍스트로 라벨 수정 금지)에 따라 고치지 않고 제공된 라벨 그대로 학습 — 의심 사례는 한계로 따로 기록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6233008" y="2240280"/>
            <a:ext cx="5501488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6415888" y="2359152"/>
            <a:ext cx="51357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데이터 자체의 한계 vs 모델 성능의 한계</a:t>
            </a:r>
            <a:endParaRPr lang="en-US" sz="1350" dirty="0"/>
          </a:p>
        </p:txBody>
      </p:sp>
      <p:sp>
        <p:nvSpPr>
          <p:cNvPr id="16" name="Text 13"/>
          <p:cNvSpPr txBox="1"/>
          <p:nvPr/>
        </p:nvSpPr>
        <p:spPr>
          <a:xfrm>
            <a:off x="6415888" y="2697480"/>
            <a:ext cx="5135728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15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한계  </a:t>
            </a:r>
            <a:pPr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다른 방법(§8)으로도 비슷한 지점(짧은 발화)에서 성능이 멈춤 — 오류 상당 부분은 "한 발화만 보고 판단"이라는 조건 자체의 한계로 봄</a:t>
            </a:r>
            <a:endParaRPr lang="en-US" sz="11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5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모델 한계  </a:t>
            </a:r>
            <a:pPr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대원→신고자 쏠림(73%)은 비대칭 — 구조·입력을 여러 방향(§8)으로 바꿔도 못 줄였다는 점에서, 지금 접근으로는 쉽게 안 줄어드는 영역으로 판단</a:t>
            </a:r>
            <a:endParaRPr lang="en-US" sz="1150" dirty="0"/>
          </a:p>
        </p:txBody>
      </p:sp>
      <p:sp>
        <p:nvSpPr>
          <p:cNvPr id="17" name="Text 14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미션2_PPT_제작의뢰_초안.md 10절, docs/experiment_log.md M2-COMPARE-002, M2-LABEL-001~003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26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2 — 결과의 신뢰성: 규정 준수와 재현성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공식 Validation은 마지막 확인에만 썼고, 원본 데이터부터 전 과정을 다시 실행해 기록을 남김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2240280"/>
            <a:ext cx="11277295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40080" y="2468880"/>
            <a:ext cx="1371600" cy="457200"/>
          </a:xfrm>
          <a:prstGeom prst="roundRect">
            <a:avLst>
              <a:gd name="adj" fmla="val 16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40080" y="246888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모델 고르기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2148840" y="2450592"/>
            <a:ext cx="94027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학습 데이터의 20%(5,840통화)를 떼어 둔 내부 검증으로만 함. 공식 Validation은 학습·선택에 쓰지 않음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640080" y="3154680"/>
            <a:ext cx="1371600" cy="457200"/>
          </a:xfrm>
          <a:prstGeom prst="roundRect">
            <a:avLst>
              <a:gd name="adj" fmla="val 16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40080" y="315468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라벨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2148840" y="3136392"/>
            <a:ext cx="94027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제공된 라벨 그대로 사용. 학습 코드가 라벨 출처를 검사해 수정된 라벨이면 학습을 거부함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640080" y="3840480"/>
            <a:ext cx="1371600" cy="457200"/>
          </a:xfrm>
          <a:prstGeom prst="roundRect">
            <a:avLst>
              <a:gd name="adj" fmla="val 16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" y="384048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 기준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2148840" y="3822192"/>
            <a:ext cx="94027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0.5로 고정 (대회 공지 준수)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640080" y="4526280"/>
            <a:ext cx="1371600" cy="457200"/>
          </a:xfrm>
          <a:prstGeom prst="roundRect">
            <a:avLst>
              <a:gd name="adj" fmla="val 16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40080" y="452628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재현성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2148840" y="4507992"/>
            <a:ext cx="94027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노트북 하나로 원본 zip부터 음성 추출→스펙트로그램→학습→평가까지 다시 실행. 에폭별 학습 로그를 전부 보존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640080" y="5212080"/>
            <a:ext cx="1371600" cy="457200"/>
          </a:xfrm>
          <a:prstGeom prst="roundRect">
            <a:avLst>
              <a:gd name="adj" fmla="val 16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40080" y="521208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실행 기록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2148840" y="5193792"/>
            <a:ext cx="94027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런타임이 끊기면 마지막 저장 지점부터 이어서 학습 — 저장 직전 끊긴 에폭 2개는 다시 학습되어 로그에 두 번 나타남</a:t>
            </a:r>
            <a:endParaRPr lang="en-US" sz="1150" dirty="0"/>
          </a:p>
        </p:txBody>
      </p:sp>
      <p:sp>
        <p:nvSpPr>
          <p:cNvPr id="25" name="Text 22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미션2_PPT_제작의뢰_초안.md 11절, docs/decisions.md 2026-10-05 규정 준수 종합 검토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27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2 — 계산 효율성 (대회 권장 항목)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학습 속도를 개선해 에폭당 약 25분 → 약 7분(약 3.5배)으로 줄임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2240280"/>
            <a:ext cx="11277295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2560320"/>
          <a:ext cx="91440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6400800"/>
              </a:tblGrid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항목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값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파라미터 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모델 1개 421,954 × 3 = Total 1,265,862 / Active 1,265,862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학습 환경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Colab NVIDIA Tesla T4 1개, 혼합 정밀도, 에폭당 약 7분, 시드별 20~24에폭(자동 조기 종료)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추론 환경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CPU (Intel Xeon 2.0GHz 2코어), GPU 미사용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Validation 추론 batch size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 (발화 하나씩)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Validation 추론 시간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전체 85.3분, 발화당 평균 45.7ms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7"/>
          <p:cNvSpPr txBox="1"/>
          <p:nvPr/>
        </p:nvSpPr>
        <p:spPr>
          <a:xfrm>
            <a:off x="731520" y="5760720"/>
            <a:ext cx="107286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저장 방식 개선(스펙트로그램을 float16 하나로 묶어 메모리 매핑) + 혼합 정밀도(AMP) 적용 덕분</a:t>
            </a:r>
            <a:endParaRPr lang="en-US" sz="1100" dirty="0"/>
          </a:p>
        </p:txBody>
      </p:sp>
      <p:sp>
        <p:nvSpPr>
          <p:cNvPr id="12" name="Text 8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미션2_PPT_제작의뢰_초안.md 12절, docs/decisions.md 2026-10-05 (학습 속도 개선 항목)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28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2 — 사회안전 시사점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목소리만으로 "누가 말했는지"를 자동으로 나누면, 신고 접수 기록과 분석을 빠르게 만들 수 있음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2240280"/>
            <a:ext cx="5501488" cy="1828800"/>
          </a:xfrm>
          <a:prstGeom prst="roundRect">
            <a:avLst>
              <a:gd name="adj" fmla="val 5000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94360" y="2240280"/>
            <a:ext cx="365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💡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1005840" y="2240280"/>
            <a:ext cx="481568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신고 내용 자동 정리  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통화를 대원·신고자 발화로 자동 분리하면, 신고자가 말한 증상·위치만 골라 요약하거나 다음 단계(증상 분류 등, Mission 3)에 넘길 수 있음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457200" y="4206240"/>
            <a:ext cx="5501488" cy="2011680"/>
          </a:xfrm>
          <a:prstGeom prst="roundRect">
            <a:avLst>
              <a:gd name="adj" fmla="val 4545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94360" y="4206240"/>
            <a:ext cx="365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💡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1005840" y="4206240"/>
            <a:ext cx="4815688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접수 품질 관리  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대원 발화만 모아 응대 절차 준수 여부를 점검하는 등, 사후 분석 시간을 줄일 수 있음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6233008" y="2240280"/>
            <a:ext cx="5501488" cy="1828800"/>
          </a:xfrm>
          <a:prstGeom prst="roundRect">
            <a:avLst>
              <a:gd name="adj" fmla="val 5000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370168" y="2240280"/>
            <a:ext cx="365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💡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6781648" y="2240280"/>
            <a:ext cx="481568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개인정보 측면  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발화 내용(텍스트) 없이 음향만으로 동작해서, 내용을 보지 않고도 1차 분류가 가능함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233008" y="4206240"/>
            <a:ext cx="5501488" cy="2011680"/>
          </a:xfrm>
          <a:prstGeom prst="roundRect">
            <a:avLst>
              <a:gd name="adj" fmla="val 4545"/>
            </a:avLst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6415888" y="4315968"/>
            <a:ext cx="513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현실 적용 시 개선점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6415888" y="4617720"/>
            <a:ext cx="51357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2초 이상 발화는 96%로 믿을 만함</a:t>
            </a:r>
            <a:endParaRPr lang="en-US" sz="11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짧은 맞장구는 실제 서비스에서 앞뒤 발화 맥락을 함께 쓰면 보완 가능 — 대회에서는 금지된 정보라 쓰지 않음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미션2_PPT_제작의뢰_초안.md 13절</a:t>
            </a:r>
            <a:endParaRPr lang="en-US" sz="1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29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3  환자 증상 인식 — 문제 정의와 접근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증상 단어가 대화에 직접 등장하는 경우가 많음 — 단어 기반 모델로 출발해 문맥 모델로 확장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2240280"/>
            <a:ext cx="3749040" cy="3977640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685800" y="23774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문제 정의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85800" y="2880360"/>
            <a:ext cx="868680" cy="329184"/>
          </a:xfrm>
          <a:prstGeom prst="roundRect">
            <a:avLst>
              <a:gd name="adj" fmla="val 22222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85800" y="288036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입력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1691640" y="2862072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신고자·대원 대화 전사 텍스트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(그 외 라벨 사용 불가)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85800" y="3703320"/>
            <a:ext cx="868680" cy="329184"/>
          </a:xfrm>
          <a:prstGeom prst="roundRect">
            <a:avLst>
              <a:gd name="adj" fmla="val 22222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85800" y="370332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출력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1691640" y="3685032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증상 9종 중 0~9개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(다중 레이블)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85800" y="4526280"/>
            <a:ext cx="868680" cy="329184"/>
          </a:xfrm>
          <a:prstGeom prst="roundRect">
            <a:avLst>
              <a:gd name="adj" fmla="val 22222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85800" y="452628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평가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1691640" y="4507992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Macro F1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(증상별 F1의 평균)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685800" y="5349240"/>
            <a:ext cx="868680" cy="329184"/>
          </a:xfrm>
          <a:prstGeom prst="roundRect">
            <a:avLst>
              <a:gd name="adj" fmla="val 22222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85800" y="534924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대상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1691640" y="5330952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고열·구토·두통·복통·어지러움·열상·오심·전신쇠약·호흡곤란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4572000" y="2240280"/>
            <a:ext cx="7162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모델 구성</a:t>
            </a:r>
            <a:endParaRPr lang="en-US" sz="1800" dirty="0"/>
          </a:p>
        </p:txBody>
      </p:sp>
      <p:sp>
        <p:nvSpPr>
          <p:cNvPr id="24" name="Shape 21"/>
          <p:cNvSpPr/>
          <p:nvPr/>
        </p:nvSpPr>
        <p:spPr>
          <a:xfrm>
            <a:off x="4572000" y="2697480"/>
            <a:ext cx="1572768" cy="1600200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4572000" y="2697480"/>
            <a:ext cx="1572768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4572000" y="2971800"/>
            <a:ext cx="1572768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4572000" y="2697480"/>
            <a:ext cx="157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전처리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4709160" y="3264408"/>
            <a:ext cx="12984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발화 시간순 정렬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9종 외 증상 제거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6189421" y="3291840"/>
            <a:ext cx="201168" cy="32004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6435242" y="2697480"/>
            <a:ext cx="1572768" cy="1600200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6435242" y="2697480"/>
            <a:ext cx="1572768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6435242" y="2971800"/>
            <a:ext cx="1572768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6435242" y="2697480"/>
            <a:ext cx="157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텍스트 표현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6572402" y="3264408"/>
            <a:ext cx="12984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TF-IDF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(단어·2단어 묶음)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8052664" y="3291840"/>
            <a:ext cx="201168" cy="32004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8298485" y="2697480"/>
            <a:ext cx="1572768" cy="1600200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37" name="Shape 34"/>
          <p:cNvSpPr/>
          <p:nvPr/>
        </p:nvSpPr>
        <p:spPr>
          <a:xfrm>
            <a:off x="8298485" y="2697480"/>
            <a:ext cx="1572768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8298485" y="2971800"/>
            <a:ext cx="1572768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8298485" y="2697480"/>
            <a:ext cx="157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분류 모델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8435645" y="3264408"/>
            <a:ext cx="12984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증상별 로지스틱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회귀 (9개)</a:t>
            </a:r>
            <a:endParaRPr lang="en-US" sz="1200" dirty="0"/>
          </a:p>
        </p:txBody>
      </p:sp>
      <p:sp>
        <p:nvSpPr>
          <p:cNvPr id="41" name="Shape 38"/>
          <p:cNvSpPr/>
          <p:nvPr/>
        </p:nvSpPr>
        <p:spPr>
          <a:xfrm>
            <a:off x="9915906" y="3291840"/>
            <a:ext cx="201168" cy="32004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10161727" y="2697480"/>
            <a:ext cx="1572768" cy="1600200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43" name="Shape 40"/>
          <p:cNvSpPr/>
          <p:nvPr/>
        </p:nvSpPr>
        <p:spPr>
          <a:xfrm>
            <a:off x="10161727" y="2697480"/>
            <a:ext cx="1572768" cy="457200"/>
          </a:xfrm>
          <a:prstGeom prst="roundRect">
            <a:avLst>
              <a:gd name="adj" fmla="val 20000"/>
            </a:avLst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10161727" y="2971800"/>
            <a:ext cx="1572768" cy="182880"/>
          </a:xfrm>
          <a:prstGeom prst="rect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10161727" y="2697480"/>
            <a:ext cx="157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</a:t>
            </a:r>
            <a:endParaRPr lang="en-US" sz="1400" dirty="0"/>
          </a:p>
        </p:txBody>
      </p:sp>
      <p:sp>
        <p:nvSpPr>
          <p:cNvPr id="46" name="Text 43"/>
          <p:cNvSpPr txBox="1"/>
          <p:nvPr/>
        </p:nvSpPr>
        <p:spPr>
          <a:xfrm>
            <a:off x="10298887" y="3264408"/>
            <a:ext cx="12984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증상별 판정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(기준값 0.5)</a:t>
            </a:r>
            <a:endParaRPr lang="en-US" sz="1200" dirty="0"/>
          </a:p>
        </p:txBody>
      </p:sp>
      <p:sp>
        <p:nvSpPr>
          <p:cNvPr id="47" name="Text 44"/>
          <p:cNvSpPr txBox="1"/>
          <p:nvPr/>
        </p:nvSpPr>
        <p:spPr>
          <a:xfrm>
            <a:off x="4572000" y="4526280"/>
            <a:ext cx="7162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왜 이 방법인가</a:t>
            </a:r>
            <a:endParaRPr lang="en-US" sz="1800" dirty="0"/>
          </a:p>
        </p:txBody>
      </p:sp>
      <p:sp>
        <p:nvSpPr>
          <p:cNvPr id="48" name="Text 45"/>
          <p:cNvSpPr txBox="1"/>
          <p:nvPr/>
        </p:nvSpPr>
        <p:spPr>
          <a:xfrm>
            <a:off x="4572000" y="4937760"/>
            <a:ext cx="716249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증상 이름·표현("머리가 아파요")이 전사에 직접 드러나 단어 기반이 강한 출발점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희귀 증상이 많아 Macro F1에 불리 → 증상별 성능을 따로 점검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i="1" dirty="0">
                <a:solidFill>
                  <a:srgbClr val="9E9E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〔KcBERT 등 문맥 모델 결과 반영 시 갱신〕</a:t>
            </a:r>
            <a:endParaRPr lang="en-US" sz="13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30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3  환자 증상 인식 — 결과와 시사점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〔최종 모델과 Macro F1 한 문장〕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10180015" y="868680"/>
            <a:ext cx="1554480" cy="274320"/>
          </a:xfrm>
          <a:prstGeom prst="roundRect">
            <a:avLst>
              <a:gd name="adj" fmla="val 26667"/>
            </a:avLst>
          </a:prstGeom>
          <a:solidFill>
            <a:srgbClr val="FFCDD2"/>
          </a:solidFill>
          <a:ln w="12700">
            <a:solidFill>
              <a:srgbClr val="FFCDD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0180015" y="8686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539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잠정 · 10/01 기준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2240280"/>
            <a:ext cx="6675120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640080" y="242316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i="1" dirty="0">
                <a:solidFill>
                  <a:srgbClr val="9E9E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〔0.000〕</a:t>
            </a:r>
            <a:endParaRPr lang="en-US" sz="4000" dirty="0"/>
          </a:p>
        </p:txBody>
      </p:sp>
      <p:sp>
        <p:nvSpPr>
          <p:cNvPr id="13" name="Text 10"/>
          <p:cNvSpPr txBox="1"/>
          <p:nvPr/>
        </p:nvSpPr>
        <p:spPr>
          <a:xfrm>
            <a:off x="640080" y="3136392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Macro F1 (공식 Validation)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40080" y="3931920"/>
            <a:ext cx="2377440" cy="2103120"/>
          </a:xfrm>
          <a:prstGeom prst="roundRect">
            <a:avLst>
              <a:gd name="adj" fmla="val 4348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77240" y="3931920"/>
            <a:ext cx="3657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💡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1188720" y="3931920"/>
            <a:ext cx="16916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 먼저  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개선 수치(0.40→0.45)가 데이터 분할 방식 차이일 수 있어, 통화 중복 검사 후에만 채택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3200400" y="2423160"/>
            <a:ext cx="3749040" cy="3611880"/>
          </a:xfrm>
          <a:prstGeom prst="roundRect">
            <a:avLst>
              <a:gd name="adj" fmla="val 2532"/>
            </a:avLst>
          </a:prstGeom>
          <a:solidFill>
            <a:srgbClr val="F8F9FA"/>
          </a:solidFill>
          <a:ln w="12700">
            <a:solidFill>
              <a:srgbClr val="BDBDBD"/>
            </a:solidFill>
            <a:prstDash val="dash"/>
          </a:ln>
        </p:spPr>
      </p:sp>
      <p:sp>
        <p:nvSpPr>
          <p:cNvPr id="18" name="Text 15"/>
          <p:cNvSpPr txBox="1"/>
          <p:nvPr/>
        </p:nvSpPr>
        <p:spPr>
          <a:xfrm>
            <a:off x="3383280" y="2423160"/>
            <a:ext cx="3383280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9E9E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자리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9E9E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증상 9종별 F1 가로 막대그래프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9E9E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(최고/최저 증상 강조)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7406640" y="2240280"/>
            <a:ext cx="4327855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7589520" y="2331720"/>
            <a:ext cx="39620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결과 분석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7589520" y="2697480"/>
            <a:ext cx="396209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 맞춘 증상  </a:t>
            </a:r>
            <a:pPr indent="0" marL="0">
              <a:spcAft>
                <a:spcPts val="400"/>
              </a:spcAft>
              <a:buNone/>
            </a:pPr>
            <a:r>
              <a:rPr lang="en-US" sz="1200" i="1" dirty="0">
                <a:solidFill>
                  <a:srgbClr val="9E9E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〔예: 호흡곤란〕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어려운 증상  </a:t>
            </a:r>
            <a:pPr indent="0" marL="0">
              <a:spcAft>
                <a:spcPts val="400"/>
              </a:spcAft>
              <a:buNone/>
            </a:pPr>
            <a:r>
              <a:rPr lang="en-US" sz="1200" i="1" dirty="0">
                <a:solidFill>
                  <a:srgbClr val="9E9E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〔희귀 증상 · 표현이 다양한 증상〕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7406640" y="3977640"/>
            <a:ext cx="4327855" cy="960120"/>
          </a:xfrm>
          <a:prstGeom prst="roundRect">
            <a:avLst>
              <a:gd name="adj" fmla="val 9524"/>
            </a:avLst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3" name="Text 20"/>
          <p:cNvSpPr txBox="1"/>
          <p:nvPr/>
        </p:nvSpPr>
        <p:spPr>
          <a:xfrm>
            <a:off x="7589520" y="4050792"/>
            <a:ext cx="3962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재현 정보</a:t>
            </a:r>
            <a:endParaRPr lang="en-US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7589520" y="4343400"/>
            <a:ext cx="39620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파라미터 수 </a:t>
            </a:r>
            <a:pPr indent="0" marL="0">
              <a:buNone/>
            </a:pPr>
            <a:r>
              <a:rPr lang="en-US" sz="1100" i="1" dirty="0">
                <a:solidFill>
                  <a:srgbClr val="9E9E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〔0〕</a:t>
            </a:r>
            <a:pPr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학습/추론 환경 </a:t>
            </a:r>
            <a:pPr indent="0" marL="0">
              <a:buNone/>
            </a:pPr>
            <a:r>
              <a:rPr lang="en-US" sz="1100" i="1" dirty="0">
                <a:solidFill>
                  <a:srgbClr val="9E9E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〔GPU/CPU〕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추론 배치 </a:t>
            </a:r>
            <a:pPr indent="0" marL="0">
              <a:buNone/>
            </a:pPr>
            <a:r>
              <a:rPr lang="en-US" sz="1100" i="1" dirty="0">
                <a:solidFill>
                  <a:srgbClr val="9E9E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〔0〕</a:t>
            </a:r>
            <a:pPr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Validation 추론 시간 </a:t>
            </a:r>
            <a:pPr indent="0" marL="0">
              <a:buNone/>
            </a:pPr>
            <a:r>
              <a:rPr lang="en-US" sz="1100" i="1" dirty="0">
                <a:solidFill>
                  <a:srgbClr val="9E9E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〔0.0초/샘플〕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7406640" y="5074920"/>
            <a:ext cx="4327855" cy="1143000"/>
          </a:xfrm>
          <a:prstGeom prst="roundRect">
            <a:avLst>
              <a:gd name="adj" fmla="val 8000"/>
            </a:avLst>
          </a:prstGeom>
          <a:solidFill>
            <a:srgbClr val="E8F5E9"/>
          </a:solidFill>
          <a:ln w="12700">
            <a:solidFill>
              <a:srgbClr val="E8F5E9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543800" y="5074920"/>
            <a:ext cx="3657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💡</a:t>
            </a:r>
            <a:endParaRPr lang="en-US" sz="1800" dirty="0"/>
          </a:p>
        </p:txBody>
      </p:sp>
      <p:sp>
        <p:nvSpPr>
          <p:cNvPr id="27" name="Text 24"/>
          <p:cNvSpPr txBox="1"/>
          <p:nvPr/>
        </p:nvSpPr>
        <p:spPr>
          <a:xfrm>
            <a:off x="7955280" y="5074920"/>
            <a:ext cx="364205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사회안전 시사점  </a:t>
            </a:r>
            <a:endParaRPr lang="en-US" sz="1300" dirty="0"/>
          </a:p>
          <a:p>
            <a:pPr indent="0" marL="0">
              <a:buNone/>
            </a:pPr>
            <a:r>
              <a:rPr lang="en-US" sz="1300" i="1" dirty="0">
                <a:solidFill>
                  <a:srgbClr val="9E9E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〔예: 증상 자동 태깅 → 출동 우선순위·병원 선정 보조〕</a:t>
            </a:r>
            <a:endParaRPr lang="en-US" sz="1300" dirty="0"/>
          </a:p>
        </p:txBody>
      </p:sp>
      <p:sp>
        <p:nvSpPr>
          <p:cNvPr id="28" name="Text 25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docs/experiment_log.md (M3-EXP-001~), docs/decisions.md 2026-09-20 분할 감사 항목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31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3  환자 증상 인식 — 확장 계획과 검증 일정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분할 감사부터 끝낸 뒤 TF-IDF 모델을 확정하고, 남은 기간 동안 문맥 모델로 확장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2286000"/>
            <a:ext cx="192024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57200" y="2286000"/>
            <a:ext cx="1920240" cy="457200"/>
          </a:xfrm>
          <a:prstGeom prst="roundRect">
            <a:avLst>
              <a:gd name="adj" fmla="val 20000"/>
            </a:avLst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57200" y="2560320"/>
            <a:ext cx="1920240" cy="182880"/>
          </a:xfrm>
          <a:prstGeom prst="rect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57200" y="22860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분할 감사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594360" y="2852928"/>
            <a:ext cx="1645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recordId 중복·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overlap 검사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2458936" y="3017520"/>
            <a:ext cx="256032" cy="36576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2796464" y="2286000"/>
            <a:ext cx="192024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2796464" y="2286000"/>
            <a:ext cx="1920240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2796464" y="2560320"/>
            <a:ext cx="1920240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796464" y="22860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TF-IDF 확정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2933624" y="2852928"/>
            <a:ext cx="1645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공식 Validation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Macro F1 확정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4798200" y="3017520"/>
            <a:ext cx="256032" cy="36576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5135728" y="2286000"/>
            <a:ext cx="192024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5135728" y="2286000"/>
            <a:ext cx="1920240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5135728" y="2560320"/>
            <a:ext cx="1920240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135728" y="22860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문맥 모델 비교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5272888" y="2852928"/>
            <a:ext cx="1645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KcBERT 등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fine-tuning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7137464" y="3017520"/>
            <a:ext cx="256032" cy="36576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474991" y="2286000"/>
            <a:ext cx="192024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7474991" y="2286000"/>
            <a:ext cx="1920240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474991" y="2560320"/>
            <a:ext cx="1920240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7474991" y="22860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불균형 보정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7612151" y="2852928"/>
            <a:ext cx="1645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희귀 증상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보정 (기준값 유지)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9476727" y="3017520"/>
            <a:ext cx="256032" cy="36576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9814255" y="2286000"/>
            <a:ext cx="192024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9814255" y="2286000"/>
            <a:ext cx="1920240" cy="457200"/>
          </a:xfrm>
          <a:prstGeom prst="roundRect">
            <a:avLst>
              <a:gd name="adj" fmla="val 20000"/>
            </a:avLst>
          </a:prstGeom>
          <a:solidFill>
            <a:srgbClr val="8BC34A"/>
          </a:solidFill>
          <a:ln w="12700">
            <a:solidFill>
              <a:srgbClr val="8BC34A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9814255" y="2560320"/>
            <a:ext cx="1920240" cy="182880"/>
          </a:xfrm>
          <a:prstGeom prst="rect">
            <a:avLst/>
          </a:prstGeom>
          <a:solidFill>
            <a:srgbClr val="8BC34A"/>
          </a:solidFill>
          <a:ln w="12700">
            <a:solidFill>
              <a:srgbClr val="8BC34A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9814255" y="22860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최종 선정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9951415" y="2852928"/>
            <a:ext cx="1645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10/14 이전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모델 확정</a:t>
            </a:r>
            <a:endParaRPr lang="en-US" sz="1200" dirty="0"/>
          </a:p>
        </p:txBody>
      </p:sp>
      <p:sp>
        <p:nvSpPr>
          <p:cNvPr id="38" name="Shape 35"/>
          <p:cNvSpPr/>
          <p:nvPr/>
        </p:nvSpPr>
        <p:spPr>
          <a:xfrm>
            <a:off x="457200" y="4526280"/>
            <a:ext cx="11277295" cy="914400"/>
          </a:xfrm>
          <a:prstGeom prst="roundRect">
            <a:avLst>
              <a:gd name="adj" fmla="val 10000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594360" y="4526280"/>
            <a:ext cx="365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💡</a:t>
            </a:r>
            <a:endParaRPr lang="en-US" sz="1800" dirty="0"/>
          </a:p>
        </p:txBody>
      </p:sp>
      <p:sp>
        <p:nvSpPr>
          <p:cNvPr id="40" name="Text 37"/>
          <p:cNvSpPr txBox="1"/>
          <p:nvPr/>
        </p:nvSpPr>
        <p:spPr>
          <a:xfrm>
            <a:off x="1005840" y="4526280"/>
            <a:ext cx="105914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 위치  </a:t>
            </a:r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분할 감사 단계 — 개선 수치(0.40→0.45)가 데이터 분할 차이인지 먼저 확인 중</a:t>
            </a:r>
            <a:endParaRPr lang="en-US" sz="1300" dirty="0"/>
          </a:p>
        </p:txBody>
      </p:sp>
      <p:sp>
        <p:nvSpPr>
          <p:cNvPr id="41" name="Shape 38"/>
          <p:cNvSpPr/>
          <p:nvPr/>
        </p:nvSpPr>
        <p:spPr>
          <a:xfrm>
            <a:off x="457200" y="5577840"/>
            <a:ext cx="11277295" cy="914400"/>
          </a:xfrm>
          <a:prstGeom prst="roundRect">
            <a:avLst>
              <a:gd name="adj" fmla="val 10000"/>
            </a:avLst>
          </a:prstGeom>
          <a:solidFill>
            <a:srgbClr val="E8F5E9"/>
          </a:solidFill>
          <a:ln w="12700">
            <a:solidFill>
              <a:srgbClr val="E8F5E9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594360" y="5577840"/>
            <a:ext cx="365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💡</a:t>
            </a:r>
            <a:endParaRPr lang="en-US" sz="1800" dirty="0"/>
          </a:p>
        </p:txBody>
      </p:sp>
      <p:sp>
        <p:nvSpPr>
          <p:cNvPr id="43" name="Text 40"/>
          <p:cNvSpPr txBox="1"/>
          <p:nvPr/>
        </p:nvSpPr>
        <p:spPr>
          <a:xfrm>
            <a:off x="1005840" y="5577840"/>
            <a:ext cx="105914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본선 전 열어둔 방향  </a:t>
            </a:r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문맥 모델이 TF-IDF보다 뚜렷이 낫지 않으면, 단순하고 설명 가능한 TF-IDF+LR을 최종안으로 유지</a:t>
            </a:r>
            <a:endParaRPr lang="en-US" sz="13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docs/decisions.md 2026-09-20 분할 감사 항목, docs/experiment_log.md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  종합 및 시사점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32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(1) 성능 요약과 교훈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미션 모두 공식 Validation 기준으로 평가하고, 점수보다 검증의 정직함을 우선함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10180015" y="868680"/>
            <a:ext cx="1554480" cy="274320"/>
          </a:xfrm>
          <a:prstGeom prst="roundRect">
            <a:avLst>
              <a:gd name="adj" fmla="val 26667"/>
            </a:avLst>
          </a:prstGeom>
          <a:solidFill>
            <a:srgbClr val="FFCDD2"/>
          </a:solidFill>
          <a:ln w="12700">
            <a:solidFill>
              <a:srgbClr val="FFCDD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0180015" y="8686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539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잠정 · 10/01 기준</a:t>
            </a:r>
            <a:endParaRPr lang="en-US" sz="10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240280"/>
          <a:ext cx="914400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2377440"/>
                <a:gridCol w="2743200"/>
                <a:gridCol w="1371600"/>
                <a:gridCol w="2011680"/>
                <a:gridCol w="1490472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미션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과제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최종 모델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공식 Validation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상태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Mission 1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신고자 성별 분류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음향 특징 + LR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Accuracy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F4E9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95.11%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1차 확정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Mission 2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신고자/119대원 분류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Mel-spectrogram + CNN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Accuracy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F4E9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90.89%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개선 중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Mission 3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환자 증상 인식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9E9E9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〔최종 모델〕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Macro F1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9E9E9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〔0.000〕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개선 중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Shape 8"/>
          <p:cNvSpPr/>
          <p:nvPr/>
        </p:nvSpPr>
        <p:spPr>
          <a:xfrm>
            <a:off x="457200" y="4343400"/>
            <a:ext cx="3576218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685800" y="4526280"/>
            <a:ext cx="457200" cy="457200"/>
          </a:xfrm>
          <a:prstGeom prst="ellipse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685800" y="4526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600" dirty="0"/>
          </a:p>
        </p:txBody>
      </p:sp>
      <p:sp>
        <p:nvSpPr>
          <p:cNvPr id="15" name="Text 11"/>
          <p:cNvSpPr txBox="1"/>
          <p:nvPr/>
        </p:nvSpPr>
        <p:spPr>
          <a:xfrm>
            <a:off x="1280160" y="4526280"/>
            <a:ext cx="25703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점수보다 검증 먼저</a:t>
            </a:r>
            <a:endParaRPr lang="en-US" sz="1600" dirty="0"/>
          </a:p>
        </p:txBody>
      </p:sp>
      <p:sp>
        <p:nvSpPr>
          <p:cNvPr id="16" name="Text 12"/>
          <p:cNvSpPr txBox="1"/>
          <p:nvPr/>
        </p:nvSpPr>
        <p:spPr>
          <a:xfrm>
            <a:off x="685800" y="5120640"/>
            <a:ext cx="311901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통화가 학습·검증에 섞이는 누수를 매번 점검하고, 의심되는 개선은 보류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4307738" y="4343400"/>
            <a:ext cx="3576218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4536338" y="4526280"/>
            <a:ext cx="457200" cy="457200"/>
          </a:xfrm>
          <a:prstGeom prst="ellipse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4536338" y="4526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600" dirty="0"/>
          </a:p>
        </p:txBody>
      </p:sp>
      <p:sp>
        <p:nvSpPr>
          <p:cNvPr id="20" name="Text 16"/>
          <p:cNvSpPr txBox="1"/>
          <p:nvPr/>
        </p:nvSpPr>
        <p:spPr>
          <a:xfrm>
            <a:off x="5130698" y="4526280"/>
            <a:ext cx="25703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기각도 기록한다</a:t>
            </a:r>
            <a:endParaRPr lang="en-US" sz="1600" dirty="0"/>
          </a:p>
        </p:txBody>
      </p:sp>
      <p:sp>
        <p:nvSpPr>
          <p:cNvPr id="21" name="Text 17"/>
          <p:cNvSpPr txBox="1"/>
          <p:nvPr/>
        </p:nvSpPr>
        <p:spPr>
          <a:xfrm>
            <a:off x="4536338" y="5120640"/>
            <a:ext cx="311901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효과 없던 실험과 그 이유를 decisions.md에 남겨 같은 시도를 반복하지 않음</a:t>
            </a:r>
            <a:endParaRPr lang="en-US" sz="1200" dirty="0"/>
          </a:p>
        </p:txBody>
      </p:sp>
      <p:sp>
        <p:nvSpPr>
          <p:cNvPr id="22" name="Shape 18"/>
          <p:cNvSpPr/>
          <p:nvPr/>
        </p:nvSpPr>
        <p:spPr>
          <a:xfrm>
            <a:off x="8158277" y="4343400"/>
            <a:ext cx="3576218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3" name="Shape 19"/>
          <p:cNvSpPr/>
          <p:nvPr/>
        </p:nvSpPr>
        <p:spPr>
          <a:xfrm>
            <a:off x="8386877" y="4526280"/>
            <a:ext cx="457200" cy="457200"/>
          </a:xfrm>
          <a:prstGeom prst="ellipse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8386877" y="4526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600" dirty="0"/>
          </a:p>
        </p:txBody>
      </p:sp>
      <p:sp>
        <p:nvSpPr>
          <p:cNvPr id="25" name="Text 21"/>
          <p:cNvSpPr txBox="1"/>
          <p:nvPr/>
        </p:nvSpPr>
        <p:spPr>
          <a:xfrm>
            <a:off x="8981237" y="4526280"/>
            <a:ext cx="25703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규칙은 설계 단계에서</a:t>
            </a:r>
            <a:endParaRPr lang="en-US" sz="1600" dirty="0"/>
          </a:p>
        </p:txBody>
      </p:sp>
      <p:sp>
        <p:nvSpPr>
          <p:cNvPr id="26" name="Text 22"/>
          <p:cNvSpPr txBox="1"/>
          <p:nvPr/>
        </p:nvSpPr>
        <p:spPr>
          <a:xfrm>
            <a:off x="8386877" y="5120640"/>
            <a:ext cx="311901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규칙 위반 소지가 있는 특징은 성능이 좋아도 제거 (M2 통화 단위 정보)</a:t>
            </a:r>
            <a:endParaRPr lang="en-US" sz="12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  종합 및 시사점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33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(2) 사회안전 시사점과 향후 계획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미션을 이으면 — 119 신고 접수 순간부터 출동 판단까지를 돕는 하나의 흐름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2240280"/>
            <a:ext cx="192024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57200" y="2240280"/>
            <a:ext cx="1920240" cy="457200"/>
          </a:xfrm>
          <a:prstGeom prst="roundRect">
            <a:avLst>
              <a:gd name="adj" fmla="val 20000"/>
            </a:avLst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57200" y="2514600"/>
            <a:ext cx="1920240" cy="182880"/>
          </a:xfrm>
          <a:prstGeom prst="rect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57200" y="224028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신고 접수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594360" y="2807208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119 통화 음성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2458936" y="2743200"/>
            <a:ext cx="256032" cy="36576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2796464" y="2240280"/>
            <a:ext cx="192024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2796464" y="2240280"/>
            <a:ext cx="1920240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2796464" y="2514600"/>
            <a:ext cx="1920240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796464" y="224028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2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2933624" y="2807208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신고자 발화만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자동 분리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4798200" y="2743200"/>
            <a:ext cx="256032" cy="36576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5135728" y="2240280"/>
            <a:ext cx="192024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5135728" y="2240280"/>
            <a:ext cx="1920240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5135728" y="2514600"/>
            <a:ext cx="1920240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135728" y="224028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1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5272888" y="2807208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신고자 성별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자동 기록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7137464" y="2743200"/>
            <a:ext cx="256032" cy="36576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474991" y="2240280"/>
            <a:ext cx="192024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7474991" y="2240280"/>
            <a:ext cx="1920240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474991" y="2514600"/>
            <a:ext cx="1920240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7474991" y="224028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3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7612151" y="2807208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환자 증상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자동 인식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9476727" y="2743200"/>
            <a:ext cx="256032" cy="36576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9814255" y="2240280"/>
            <a:ext cx="192024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9814255" y="2240280"/>
            <a:ext cx="1920240" cy="457200"/>
          </a:xfrm>
          <a:prstGeom prst="roundRect">
            <a:avLst>
              <a:gd name="adj" fmla="val 20000"/>
            </a:avLst>
          </a:prstGeom>
          <a:solidFill>
            <a:srgbClr val="8BC34A"/>
          </a:solidFill>
          <a:ln w="12700">
            <a:solidFill>
              <a:srgbClr val="8BC34A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9814255" y="2514600"/>
            <a:ext cx="1920240" cy="182880"/>
          </a:xfrm>
          <a:prstGeom prst="rect">
            <a:avLst/>
          </a:prstGeom>
          <a:solidFill>
            <a:srgbClr val="8BC34A"/>
          </a:solidFill>
          <a:ln w="12700">
            <a:solidFill>
              <a:srgbClr val="8BC34A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9814255" y="224028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출동 판단 보조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9951415" y="2807208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우선순위 · 병원 선정</a:t>
            </a:r>
            <a:endParaRPr lang="en-US" sz="1200" dirty="0"/>
          </a:p>
        </p:txBody>
      </p:sp>
      <p:sp>
        <p:nvSpPr>
          <p:cNvPr id="38" name="Shape 35"/>
          <p:cNvSpPr/>
          <p:nvPr/>
        </p:nvSpPr>
        <p:spPr>
          <a:xfrm>
            <a:off x="457200" y="3931920"/>
            <a:ext cx="5455768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39" name="Text 36"/>
          <p:cNvSpPr txBox="1"/>
          <p:nvPr/>
        </p:nvSpPr>
        <p:spPr>
          <a:xfrm>
            <a:off x="685800" y="4041648"/>
            <a:ext cx="4998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기대효과</a:t>
            </a:r>
            <a:endParaRPr lang="en-US" sz="1800" dirty="0"/>
          </a:p>
        </p:txBody>
      </p:sp>
      <p:sp>
        <p:nvSpPr>
          <p:cNvPr id="40" name="Text 37"/>
          <p:cNvSpPr txBox="1"/>
          <p:nvPr/>
        </p:nvSpPr>
        <p:spPr>
          <a:xfrm>
            <a:off x="685800" y="4480560"/>
            <a:ext cx="49985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접수 시간 단축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— 상황실 요원의 수기 기록 부담 감소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누락 방지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— 긴박한 통화 속 증상 언급을 자동으로 표시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판단 보조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— 증상 정보로 출동 우선순위 결정 지원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i="1" dirty="0">
                <a:solidFill>
                  <a:srgbClr val="9E9E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〔추가 시사점〕</a:t>
            </a:r>
            <a:endParaRPr lang="en-US" sz="1300" dirty="0"/>
          </a:p>
        </p:txBody>
      </p:sp>
      <p:sp>
        <p:nvSpPr>
          <p:cNvPr id="41" name="Shape 38"/>
          <p:cNvSpPr/>
          <p:nvPr/>
        </p:nvSpPr>
        <p:spPr>
          <a:xfrm>
            <a:off x="6278728" y="3931920"/>
            <a:ext cx="5455768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42" name="Text 39"/>
          <p:cNvSpPr txBox="1"/>
          <p:nvPr/>
        </p:nvSpPr>
        <p:spPr>
          <a:xfrm>
            <a:off x="6507328" y="4041648"/>
            <a:ext cx="4998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본선까지 향후 계획</a:t>
            </a:r>
            <a:endParaRPr lang="en-US" sz="1800" dirty="0"/>
          </a:p>
        </p:txBody>
      </p:sp>
      <p:sp>
        <p:nvSpPr>
          <p:cNvPr id="43" name="Text 40"/>
          <p:cNvSpPr txBox="1"/>
          <p:nvPr/>
        </p:nvSpPr>
        <p:spPr>
          <a:xfrm>
            <a:off x="6507328" y="4480560"/>
            <a:ext cx="49985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1  </a:t>
            </a:r>
            <a:pPr indent="0" marL="0">
              <a:spcAft>
                <a:spcPts val="600"/>
              </a:spcAft>
              <a:buNone/>
            </a:pPr>
            <a:r>
              <a:rPr lang="en-US" sz="1300" i="1" dirty="0">
                <a:solidFill>
                  <a:srgbClr val="9E9E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〔다음 단계〕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2  </a:t>
            </a:r>
            <a:pPr indent="0" marL="0">
              <a:spcAft>
                <a:spcPts val="600"/>
              </a:spcAft>
              <a:buNone/>
            </a:pPr>
            <a:r>
              <a:rPr lang="en-US" sz="1300" i="1" dirty="0">
                <a:solidFill>
                  <a:srgbClr val="9E9E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〔예: 여러 CNN 앙상블 · 짧은 발화 보강〕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3  </a:t>
            </a:r>
            <a:pPr indent="0" marL="0">
              <a:spcAft>
                <a:spcPts val="600"/>
              </a:spcAft>
              <a:buNone/>
            </a:pPr>
            <a:r>
              <a:rPr lang="en-US" sz="1300" i="1" dirty="0">
                <a:solidFill>
                  <a:srgbClr val="9E9E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〔예: KcBERT 문맥 모델 적용〕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공통  </a:t>
            </a:r>
            <a:pPr indent="0" marL="0">
              <a:spcAft>
                <a:spcPts val="600"/>
              </a:spcAft>
              <a:buNone/>
            </a:pPr>
            <a:r>
              <a:rPr lang="en-US" sz="1300" i="1" dirty="0">
                <a:solidFill>
                  <a:srgbClr val="9E9E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〔예: 실제 상황실 적용 시나리오 검토〕</a:t>
            </a:r>
            <a:endParaRPr lang="en-US" sz="13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closing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20116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팀 eigensinn  |  김장수 · 김광희 · 지연우 · 이수빈 · 조지은</a:t>
            </a:r>
            <a:endParaRPr lang="en-US" sz="16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2359152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코드 · 실험 기록: GitHub eigensinn-dcc2026/prelim  (docs/experiment_log.md, docs/decisions.md)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DCC 2026 대학부 예선 결과 정리 — eigensinn</dc:title>
  <dc:subject>PptxGenJS Presentation</dc:subject>
  <dc:creator>PptxGenJS</dc:creator>
  <cp:lastModifiedBy>PptxGenJS</cp:lastModifiedBy>
  <cp:revision>1</cp:revision>
  <dcterms:created xsi:type="dcterms:W3CDTF">2026-10-07T16:22:54Z</dcterms:created>
  <dcterms:modified xsi:type="dcterms:W3CDTF">2026-10-07T16:22:54Z</dcterms:modified>
</cp:coreProperties>
</file>